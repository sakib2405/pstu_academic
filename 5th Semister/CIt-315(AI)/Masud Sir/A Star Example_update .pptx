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y="6858000" cx="12192000"/>
  <p:notesSz cx="6858000" cy="9144000"/>
  <p:embeddedFontLst>
    <p:embeddedFont>
      <p:font typeface="Raleway"/>
      <p:regular r:id="rId53"/>
      <p:bold r:id="rId54"/>
      <p:italic r:id="rId55"/>
      <p:boldItalic r:id="rId56"/>
    </p:embeddedFont>
    <p:embeddedFont>
      <p:font typeface="Roboto"/>
      <p:regular r:id="rId57"/>
      <p:bold r:id="rId58"/>
      <p:italic r:id="rId59"/>
      <p:boldItalic r:id="rId60"/>
    </p:embeddedFont>
    <p:embeddedFont>
      <p:font typeface="Century Gothic"/>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CenturyGothic-bold.fntdata"/><Relationship Id="rId61" Type="http://schemas.openxmlformats.org/officeDocument/2006/relationships/font" Target="fonts/CenturyGothic-regular.fntdata"/><Relationship Id="rId20" Type="http://schemas.openxmlformats.org/officeDocument/2006/relationships/slide" Target="slides/slide16.xml"/><Relationship Id="rId64" Type="http://schemas.openxmlformats.org/officeDocument/2006/relationships/font" Target="fonts/CenturyGothic-boldItalic.fntdata"/><Relationship Id="rId63" Type="http://schemas.openxmlformats.org/officeDocument/2006/relationships/font" Target="fonts/CenturyGothic-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Roboto-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font" Target="fonts/Raleway-regular.fntdata"/><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font" Target="fonts/Raleway-italic.fntdata"/><Relationship Id="rId10" Type="http://schemas.openxmlformats.org/officeDocument/2006/relationships/slide" Target="slides/slide6.xml"/><Relationship Id="rId54" Type="http://schemas.openxmlformats.org/officeDocument/2006/relationships/font" Target="fonts/Raleway-bold.fntdata"/><Relationship Id="rId13" Type="http://schemas.openxmlformats.org/officeDocument/2006/relationships/slide" Target="slides/slide9.xml"/><Relationship Id="rId57" Type="http://schemas.openxmlformats.org/officeDocument/2006/relationships/font" Target="fonts/Roboto-regular.fntdata"/><Relationship Id="rId12" Type="http://schemas.openxmlformats.org/officeDocument/2006/relationships/slide" Target="slides/slide8.xml"/><Relationship Id="rId56" Type="http://schemas.openxmlformats.org/officeDocument/2006/relationships/font" Target="fonts/Raleway-boldItalic.fntdata"/><Relationship Id="rId15" Type="http://schemas.openxmlformats.org/officeDocument/2006/relationships/slide" Target="slides/slide11.xml"/><Relationship Id="rId59" Type="http://schemas.openxmlformats.org/officeDocument/2006/relationships/font" Target="fonts/Roboto-italic.fntdata"/><Relationship Id="rId14" Type="http://schemas.openxmlformats.org/officeDocument/2006/relationships/slide" Target="slides/slide10.xml"/><Relationship Id="rId58" Type="http://schemas.openxmlformats.org/officeDocument/2006/relationships/font" Target="fonts/Roboto-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1" name="Google Shape;41;p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5" name="Shape 45"/>
        <p:cNvGrpSpPr/>
        <p:nvPr/>
      </p:nvGrpSpPr>
      <p:grpSpPr>
        <a:xfrm>
          <a:off x="0" y="0"/>
          <a:ext cx="0" cy="0"/>
          <a:chOff x="0" y="0"/>
          <a:chExt cx="0" cy="0"/>
        </a:xfrm>
      </p:grpSpPr>
      <p:sp>
        <p:nvSpPr>
          <p:cNvPr id="46" name="Google Shape;46;p3"/>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8" name="Google Shape;48;p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4"/>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5"/>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6"/>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6"/>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6"/>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7"/>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9"/>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9"/>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9"/>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10"/>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0"/>
          <p:cNvSpPr/>
          <p:nvPr>
            <p:ph idx="2" type="pic"/>
          </p:nvPr>
        </p:nvSpPr>
        <p:spPr>
          <a:xfrm>
            <a:off x="2589212" y="634965"/>
            <a:ext cx="8915400" cy="3854970"/>
          </a:xfrm>
          <a:prstGeom prst="rect">
            <a:avLst/>
          </a:prstGeom>
          <a:noFill/>
          <a:ln>
            <a:noFill/>
          </a:ln>
        </p:spPr>
      </p:sp>
      <p:sp>
        <p:nvSpPr>
          <p:cNvPr id="99" name="Google Shape;99;p10"/>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0"/>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11"/>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1"/>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1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2"/>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12"/>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1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20" name="Google Shape;120;p1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13"/>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3"/>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14"/>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4"/>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14"/>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14"/>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37" name="Google Shape;137;p14"/>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15"/>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5"/>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15"/>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1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6"/>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17"/>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17"/>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5" name="Shape 5"/>
        <p:cNvGrpSpPr/>
        <p:nvPr/>
      </p:nvGrpSpPr>
      <p:grpSpPr>
        <a:xfrm>
          <a:off x="0" y="0"/>
          <a:ext cx="0" cy="0"/>
          <a:chOff x="0" y="0"/>
          <a:chExt cx="0" cy="0"/>
        </a:xfrm>
      </p:grpSpPr>
      <p:grpSp>
        <p:nvGrpSpPr>
          <p:cNvPr id="6" name="Google Shape;6;p1"/>
          <p:cNvGrpSpPr/>
          <p:nvPr/>
        </p:nvGrpSpPr>
        <p:grpSpPr>
          <a:xfrm>
            <a:off x="1" y="228600"/>
            <a:ext cx="2851516" cy="6638628"/>
            <a:chOff x="2487613" y="285750"/>
            <a:chExt cx="2428875" cy="5654676"/>
          </a:xfrm>
        </p:grpSpPr>
        <p:sp>
          <p:nvSpPr>
            <p:cNvPr id="7" name="Google Shape;7;p1"/>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1"/>
          <p:cNvGrpSpPr/>
          <p:nvPr/>
        </p:nvGrpSpPr>
        <p:grpSpPr>
          <a:xfrm>
            <a:off x="27221" y="-786"/>
            <a:ext cx="2356674" cy="6854039"/>
            <a:chOff x="6627813" y="194833"/>
            <a:chExt cx="1952625" cy="5678918"/>
          </a:xfrm>
        </p:grpSpPr>
        <p:sp>
          <p:nvSpPr>
            <p:cNvPr id="20" name="Google Shape;20;p1"/>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1"/>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www.simplilearn.com/tutorials/data-structure-tutorial/what-is-an-algorith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hyperlink" Target="https://www.youtube.com/watch?v=5__0M9oezyA" TargetMode="External"/><Relationship Id="rId4" Type="http://schemas.openxmlformats.org/officeDocument/2006/relationships/hyperlink" Target="https://www.youtube.com/watch?v=bFuYpf6-06o"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hyperlink" Target="https://en.wikipedia.org/wiki/Domain_of_a_func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A* Search Algorithm</a:t>
            </a:r>
            <a:endParaRPr/>
          </a:p>
        </p:txBody>
      </p:sp>
      <p:pic>
        <p:nvPicPr>
          <p:cNvPr id="165" name="Google Shape;165;p18"/>
          <p:cNvPicPr preferRelativeResize="0"/>
          <p:nvPr/>
        </p:nvPicPr>
        <p:blipFill rotWithShape="1">
          <a:blip r:embed="rId3">
            <a:alphaModFix/>
          </a:blip>
          <a:srcRect b="0" l="0" r="0" t="0"/>
          <a:stretch/>
        </p:blipFill>
        <p:spPr>
          <a:xfrm>
            <a:off x="1772419" y="1321324"/>
            <a:ext cx="9505950" cy="472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171" name="Google Shape;171;p19"/>
          <p:cNvPicPr preferRelativeResize="0"/>
          <p:nvPr/>
        </p:nvPicPr>
        <p:blipFill rotWithShape="1">
          <a:blip r:embed="rId3">
            <a:alphaModFix/>
          </a:blip>
          <a:srcRect b="0" l="0" r="0" t="0"/>
          <a:stretch/>
        </p:blipFill>
        <p:spPr>
          <a:xfrm>
            <a:off x="1669182" y="1111577"/>
            <a:ext cx="9324975" cy="518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177" name="Google Shape;177;p20"/>
          <p:cNvPicPr preferRelativeResize="0"/>
          <p:nvPr/>
        </p:nvPicPr>
        <p:blipFill rotWithShape="1">
          <a:blip r:embed="rId3">
            <a:alphaModFix/>
          </a:blip>
          <a:srcRect b="0" l="0" r="0" t="0"/>
          <a:stretch/>
        </p:blipFill>
        <p:spPr>
          <a:xfrm>
            <a:off x="1925228" y="982891"/>
            <a:ext cx="8115300" cy="5457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183" name="Google Shape;183;p21"/>
          <p:cNvPicPr preferRelativeResize="0"/>
          <p:nvPr/>
        </p:nvPicPr>
        <p:blipFill rotWithShape="1">
          <a:blip r:embed="rId3">
            <a:alphaModFix/>
          </a:blip>
          <a:srcRect b="0" l="0" r="0" t="0"/>
          <a:stretch/>
        </p:blipFill>
        <p:spPr>
          <a:xfrm>
            <a:off x="1625534" y="867266"/>
            <a:ext cx="9563100" cy="561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189" name="Google Shape;189;p22"/>
          <p:cNvPicPr preferRelativeResize="0"/>
          <p:nvPr/>
        </p:nvPicPr>
        <p:blipFill rotWithShape="1">
          <a:blip r:embed="rId3">
            <a:alphaModFix/>
          </a:blip>
          <a:srcRect b="0" l="0" r="0" t="0"/>
          <a:stretch/>
        </p:blipFill>
        <p:spPr>
          <a:xfrm>
            <a:off x="1696219" y="935070"/>
            <a:ext cx="9582150" cy="5591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195" name="Google Shape;195;p23"/>
          <p:cNvPicPr preferRelativeResize="0"/>
          <p:nvPr/>
        </p:nvPicPr>
        <p:blipFill rotWithShape="1">
          <a:blip r:embed="rId3">
            <a:alphaModFix/>
          </a:blip>
          <a:srcRect b="0" l="0" r="0" t="0"/>
          <a:stretch/>
        </p:blipFill>
        <p:spPr>
          <a:xfrm>
            <a:off x="1940962" y="939636"/>
            <a:ext cx="9763125" cy="5619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201" name="Google Shape;201;p24"/>
          <p:cNvPicPr preferRelativeResize="0"/>
          <p:nvPr/>
        </p:nvPicPr>
        <p:blipFill rotWithShape="1">
          <a:blip r:embed="rId3">
            <a:alphaModFix/>
          </a:blip>
          <a:srcRect b="0" l="0" r="0" t="0"/>
          <a:stretch/>
        </p:blipFill>
        <p:spPr>
          <a:xfrm>
            <a:off x="1775382" y="942507"/>
            <a:ext cx="9753600" cy="577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pic>
        <p:nvPicPr>
          <p:cNvPr id="207" name="Google Shape;207;p25"/>
          <p:cNvPicPr preferRelativeResize="0"/>
          <p:nvPr/>
        </p:nvPicPr>
        <p:blipFill rotWithShape="1">
          <a:blip r:embed="rId3">
            <a:alphaModFix/>
          </a:blip>
          <a:srcRect b="0" l="0" r="0" t="0"/>
          <a:stretch/>
        </p:blipFill>
        <p:spPr>
          <a:xfrm>
            <a:off x="1827473" y="867266"/>
            <a:ext cx="9705975" cy="565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and its application</a:t>
            </a:r>
            <a:endParaRPr/>
          </a:p>
        </p:txBody>
      </p:sp>
      <p:sp>
        <p:nvSpPr>
          <p:cNvPr id="213" name="Google Shape;213;p26"/>
          <p:cNvSpPr txBox="1"/>
          <p:nvPr>
            <p:ph idx="1" type="body"/>
          </p:nvPr>
        </p:nvSpPr>
        <p:spPr>
          <a:xfrm>
            <a:off x="1545995" y="867265"/>
            <a:ext cx="10567447" cy="584739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0" i="0" lang="en-US">
                <a:solidFill>
                  <a:srgbClr val="51565E"/>
                </a:solidFill>
                <a:latin typeface="Roboto"/>
                <a:ea typeface="Roboto"/>
                <a:cs typeface="Roboto"/>
                <a:sym typeface="Roboto"/>
              </a:rPr>
              <a:t>If there are no specific answers to a problem or the time required to find one is too great, a heuristic function is used to solve the problem. The aim is to find a quicker or more approximate answer, even if it is not ideal.</a:t>
            </a:r>
            <a:endParaRPr/>
          </a:p>
          <a:p>
            <a:pPr indent="-342900" lvl="0" marL="342900" rtl="0" algn="l">
              <a:spcBef>
                <a:spcPts val="1000"/>
              </a:spcBef>
              <a:spcAft>
                <a:spcPts val="0"/>
              </a:spcAft>
              <a:buSzPts val="1800"/>
              <a:buChar char="🠶"/>
            </a:pPr>
            <a:r>
              <a:rPr b="0" i="0" lang="en-US">
                <a:solidFill>
                  <a:srgbClr val="000000"/>
                </a:solidFill>
                <a:latin typeface="Raleway"/>
                <a:ea typeface="Raleway"/>
                <a:cs typeface="Raleway"/>
                <a:sym typeface="Raleway"/>
              </a:rPr>
              <a:t>A heuristic function (algorithm) or simply a heuristic is a shortcut to solving a problem when there are no exact solutions for it or the time to obtain the solution is too long.</a:t>
            </a:r>
            <a:endParaRPr b="0" i="0">
              <a:solidFill>
                <a:srgbClr val="51565E"/>
              </a:solidFill>
              <a:latin typeface="Roboto"/>
              <a:ea typeface="Roboto"/>
              <a:cs typeface="Roboto"/>
              <a:sym typeface="Roboto"/>
            </a:endParaRPr>
          </a:p>
          <a:p>
            <a:pPr indent="-228600" lvl="0" marL="342900" rtl="0" algn="l">
              <a:spcBef>
                <a:spcPts val="1000"/>
              </a:spcBef>
              <a:spcAft>
                <a:spcPts val="0"/>
              </a:spcAft>
              <a:buSzPts val="1800"/>
              <a:buNone/>
            </a:pPr>
            <a:r>
              <a:t/>
            </a:r>
            <a:endParaRPr b="0" i="0">
              <a:solidFill>
                <a:srgbClr val="51565E"/>
              </a:solidFill>
              <a:latin typeface="Roboto"/>
              <a:ea typeface="Roboto"/>
              <a:cs typeface="Roboto"/>
              <a:sym typeface="Roboto"/>
            </a:endParaRPr>
          </a:p>
          <a:p>
            <a:pPr indent="-342900" lvl="0" marL="342900" rtl="0" algn="l">
              <a:spcBef>
                <a:spcPts val="1000"/>
              </a:spcBef>
              <a:spcAft>
                <a:spcPts val="0"/>
              </a:spcAft>
              <a:buSzPts val="1800"/>
              <a:buChar char="🠶"/>
            </a:pPr>
            <a:r>
              <a:rPr b="0" i="0" lang="en-US">
                <a:solidFill>
                  <a:srgbClr val="51565E"/>
                </a:solidFill>
                <a:latin typeface="Roboto"/>
                <a:ea typeface="Roboto"/>
                <a:cs typeface="Roboto"/>
                <a:sym typeface="Roboto"/>
              </a:rPr>
              <a:t>Heuristic search algorithms have the following properties: </a:t>
            </a:r>
            <a:endParaRPr/>
          </a:p>
          <a:p>
            <a:pPr indent="-342900" lvl="0" marL="342900" rtl="0" algn="l">
              <a:spcBef>
                <a:spcPts val="1000"/>
              </a:spcBef>
              <a:spcAft>
                <a:spcPts val="0"/>
              </a:spcAft>
              <a:buSzPts val="1800"/>
              <a:buFont typeface="Arial"/>
              <a:buChar char="•"/>
            </a:pPr>
            <a:r>
              <a:rPr b="0" i="0" lang="en-US">
                <a:solidFill>
                  <a:srgbClr val="51565E"/>
                </a:solidFill>
                <a:latin typeface="Roboto"/>
                <a:ea typeface="Roboto"/>
                <a:cs typeface="Roboto"/>
                <a:sym typeface="Roboto"/>
              </a:rPr>
              <a:t>Admissible Condition: If an algorithm produces an optimal result, it is considered admissible.</a:t>
            </a:r>
            <a:endParaRPr/>
          </a:p>
          <a:p>
            <a:pPr indent="-342900" lvl="0" marL="342900" rtl="0" algn="l">
              <a:spcBef>
                <a:spcPts val="1000"/>
              </a:spcBef>
              <a:spcAft>
                <a:spcPts val="0"/>
              </a:spcAft>
              <a:buSzPts val="1800"/>
              <a:buFont typeface="Arial"/>
              <a:buChar char="•"/>
            </a:pPr>
            <a:r>
              <a:rPr b="0" i="0" lang="en-US">
                <a:solidFill>
                  <a:srgbClr val="51565E"/>
                </a:solidFill>
                <a:latin typeface="Roboto"/>
                <a:ea typeface="Roboto"/>
                <a:cs typeface="Roboto"/>
                <a:sym typeface="Roboto"/>
              </a:rPr>
              <a:t>Completeness: If an algorithm ends with a solution, it is considered complete.</a:t>
            </a:r>
            <a:endParaRPr/>
          </a:p>
          <a:p>
            <a:pPr indent="-342900" lvl="0" marL="342900" rtl="0" algn="l">
              <a:spcBef>
                <a:spcPts val="1000"/>
              </a:spcBef>
              <a:spcAft>
                <a:spcPts val="0"/>
              </a:spcAft>
              <a:buSzPts val="1800"/>
              <a:buFont typeface="Arial"/>
              <a:buChar char="•"/>
            </a:pPr>
            <a:r>
              <a:rPr b="0" i="0" lang="en-US">
                <a:solidFill>
                  <a:srgbClr val="51565E"/>
                </a:solidFill>
                <a:latin typeface="Roboto"/>
                <a:ea typeface="Roboto"/>
                <a:cs typeface="Roboto"/>
                <a:sym typeface="Roboto"/>
              </a:rPr>
              <a:t>Dominance Property: If A1 and A2 are two heuristic algorithms and have h1 and h2 heuristic functions, respectively, then A1 Will dominate A2 if h1 is superior to h2 for all possible values of node n.</a:t>
            </a:r>
            <a:endParaRPr/>
          </a:p>
          <a:p>
            <a:pPr indent="-342900" lvl="0" marL="342900" rtl="0" algn="l">
              <a:spcBef>
                <a:spcPts val="1000"/>
              </a:spcBef>
              <a:spcAft>
                <a:spcPts val="0"/>
              </a:spcAft>
              <a:buSzPts val="1800"/>
              <a:buFont typeface="Arial"/>
              <a:buChar char="•"/>
            </a:pPr>
            <a:r>
              <a:rPr b="0" i="0" lang="en-US">
                <a:solidFill>
                  <a:srgbClr val="51565E"/>
                </a:solidFill>
                <a:latin typeface="Roboto"/>
                <a:ea typeface="Roboto"/>
                <a:cs typeface="Roboto"/>
                <a:sym typeface="Roboto"/>
              </a:rPr>
              <a:t>Optimality Property: If an algorithm is thorough, allowable, and dominates the other </a:t>
            </a:r>
            <a:r>
              <a:rPr b="0" i="0" lang="en-US" u="sng" strike="noStrike">
                <a:solidFill>
                  <a:schemeClr val="hlink"/>
                </a:solidFill>
                <a:latin typeface="Roboto"/>
                <a:ea typeface="Roboto"/>
                <a:cs typeface="Roboto"/>
                <a:sym typeface="Roboto"/>
                <a:hlinkClick r:id="rId3"/>
              </a:rPr>
              <a:t>algorithms</a:t>
            </a:r>
            <a:r>
              <a:rPr b="0" i="0" lang="en-US">
                <a:solidFill>
                  <a:srgbClr val="51565E"/>
                </a:solidFill>
                <a:latin typeface="Roboto"/>
                <a:ea typeface="Roboto"/>
                <a:cs typeface="Roboto"/>
                <a:sym typeface="Roboto"/>
              </a:rPr>
              <a:t>, that'll be the optimal one and will unquestionably produce an optimal result.</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h(n) and how to make it</a:t>
            </a:r>
            <a:endParaRPr/>
          </a:p>
        </p:txBody>
      </p:sp>
      <p:pic>
        <p:nvPicPr>
          <p:cNvPr id="219" name="Google Shape;219;p27"/>
          <p:cNvPicPr preferRelativeResize="0"/>
          <p:nvPr/>
        </p:nvPicPr>
        <p:blipFill rotWithShape="1">
          <a:blip r:embed="rId3">
            <a:alphaModFix/>
          </a:blip>
          <a:srcRect b="0" l="0" r="0" t="0"/>
          <a:stretch/>
        </p:blipFill>
        <p:spPr>
          <a:xfrm>
            <a:off x="1696825" y="942682"/>
            <a:ext cx="9601200" cy="56278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Heuristic Function h(n) and how to make it</a:t>
            </a:r>
            <a:endParaRPr/>
          </a:p>
        </p:txBody>
      </p:sp>
      <p:pic>
        <p:nvPicPr>
          <p:cNvPr id="225" name="Google Shape;225;p28"/>
          <p:cNvPicPr preferRelativeResize="0"/>
          <p:nvPr/>
        </p:nvPicPr>
        <p:blipFill rotWithShape="1">
          <a:blip r:embed="rId3">
            <a:alphaModFix/>
          </a:blip>
          <a:srcRect b="0" l="0" r="0" t="0"/>
          <a:stretch/>
        </p:blipFill>
        <p:spPr>
          <a:xfrm>
            <a:off x="2242106" y="999241"/>
            <a:ext cx="8820150" cy="55900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2366682" y="143343"/>
            <a:ext cx="891168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A* Search Algorithm</a:t>
            </a:r>
            <a:endParaRPr/>
          </a:p>
        </p:txBody>
      </p:sp>
      <p:pic>
        <p:nvPicPr>
          <p:cNvPr id="231" name="Google Shape;231;p29"/>
          <p:cNvPicPr preferRelativeResize="0"/>
          <p:nvPr/>
        </p:nvPicPr>
        <p:blipFill rotWithShape="1">
          <a:blip r:embed="rId3">
            <a:alphaModFix/>
          </a:blip>
          <a:srcRect b="0" l="0" r="0" t="0"/>
          <a:stretch/>
        </p:blipFill>
        <p:spPr>
          <a:xfrm>
            <a:off x="1715678" y="1478159"/>
            <a:ext cx="10096108" cy="4996730"/>
          </a:xfrm>
          <a:prstGeom prst="rect">
            <a:avLst/>
          </a:prstGeom>
          <a:noFill/>
          <a:ln>
            <a:noFill/>
          </a:ln>
        </p:spPr>
      </p:pic>
      <p:sp>
        <p:nvSpPr>
          <p:cNvPr id="232" name="Google Shape;232;p29"/>
          <p:cNvSpPr txBox="1"/>
          <p:nvPr>
            <p:ph idx="1" type="body"/>
          </p:nvPr>
        </p:nvSpPr>
        <p:spPr>
          <a:xfrm>
            <a:off x="1545995" y="867265"/>
            <a:ext cx="10567447" cy="584739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A* Search Algorithm solved with numeric example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38" name="Google Shape;238;p30"/>
          <p:cNvPicPr preferRelativeResize="0"/>
          <p:nvPr/>
        </p:nvPicPr>
        <p:blipFill rotWithShape="1">
          <a:blip r:embed="rId3">
            <a:alphaModFix/>
          </a:blip>
          <a:srcRect b="0" l="0" r="0" t="0"/>
          <a:stretch/>
        </p:blipFill>
        <p:spPr>
          <a:xfrm>
            <a:off x="1574277" y="1055802"/>
            <a:ext cx="10001839" cy="52695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44" name="Google Shape;244;p31"/>
          <p:cNvPicPr preferRelativeResize="0"/>
          <p:nvPr/>
        </p:nvPicPr>
        <p:blipFill rotWithShape="1">
          <a:blip r:embed="rId3">
            <a:alphaModFix/>
          </a:blip>
          <a:srcRect b="0" l="0" r="0" t="0"/>
          <a:stretch/>
        </p:blipFill>
        <p:spPr>
          <a:xfrm>
            <a:off x="1602558" y="1216058"/>
            <a:ext cx="10011266" cy="51753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50" name="Google Shape;250;p32"/>
          <p:cNvPicPr preferRelativeResize="0"/>
          <p:nvPr/>
        </p:nvPicPr>
        <p:blipFill rotWithShape="1">
          <a:blip r:embed="rId3">
            <a:alphaModFix/>
          </a:blip>
          <a:srcRect b="0" l="0" r="0" t="0"/>
          <a:stretch/>
        </p:blipFill>
        <p:spPr>
          <a:xfrm>
            <a:off x="1696825" y="1236212"/>
            <a:ext cx="9898145" cy="517401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56" name="Google Shape;256;p33"/>
          <p:cNvPicPr preferRelativeResize="0"/>
          <p:nvPr/>
        </p:nvPicPr>
        <p:blipFill rotWithShape="1">
          <a:blip r:embed="rId3">
            <a:alphaModFix/>
          </a:blip>
          <a:srcRect b="0" l="0" r="0" t="0"/>
          <a:stretch/>
        </p:blipFill>
        <p:spPr>
          <a:xfrm>
            <a:off x="1696825" y="939833"/>
            <a:ext cx="9972184" cy="5581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62" name="Google Shape;262;p34"/>
          <p:cNvPicPr preferRelativeResize="0"/>
          <p:nvPr/>
        </p:nvPicPr>
        <p:blipFill rotWithShape="1">
          <a:blip r:embed="rId3">
            <a:alphaModFix/>
          </a:blip>
          <a:srcRect b="0" l="0" r="0" t="0"/>
          <a:stretch/>
        </p:blipFill>
        <p:spPr>
          <a:xfrm>
            <a:off x="1696825" y="1046375"/>
            <a:ext cx="10237509" cy="55806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5"/>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68" name="Google Shape;268;p35"/>
          <p:cNvPicPr preferRelativeResize="0"/>
          <p:nvPr/>
        </p:nvPicPr>
        <p:blipFill rotWithShape="1">
          <a:blip r:embed="rId3">
            <a:alphaModFix/>
          </a:blip>
          <a:srcRect b="0" l="0" r="0" t="0"/>
          <a:stretch/>
        </p:blipFill>
        <p:spPr>
          <a:xfrm>
            <a:off x="1619840" y="1102936"/>
            <a:ext cx="10191946" cy="536404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6"/>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74" name="Google Shape;274;p36"/>
          <p:cNvPicPr preferRelativeResize="0"/>
          <p:nvPr/>
        </p:nvPicPr>
        <p:blipFill rotWithShape="1">
          <a:blip r:embed="rId3">
            <a:alphaModFix/>
          </a:blip>
          <a:srcRect b="0" l="0" r="0" t="0"/>
          <a:stretch/>
        </p:blipFill>
        <p:spPr>
          <a:xfrm>
            <a:off x="1696824" y="1027522"/>
            <a:ext cx="10162096" cy="53449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262626"/>
              </a:buClr>
              <a:buSzPct val="100000"/>
              <a:buFont typeface="Century Gothic"/>
              <a:buNone/>
            </a:pPr>
            <a:r>
              <a:rPr lang="en-US"/>
              <a:t>A* Search Algorithm solved with numeric example</a:t>
            </a:r>
            <a:endParaRPr/>
          </a:p>
        </p:txBody>
      </p:sp>
      <p:pic>
        <p:nvPicPr>
          <p:cNvPr id="280" name="Google Shape;280;p37"/>
          <p:cNvPicPr preferRelativeResize="0"/>
          <p:nvPr/>
        </p:nvPicPr>
        <p:blipFill rotWithShape="1">
          <a:blip r:embed="rId3">
            <a:alphaModFix/>
          </a:blip>
          <a:srcRect b="0" l="0" r="0" t="0"/>
          <a:stretch/>
        </p:blipFill>
        <p:spPr>
          <a:xfrm>
            <a:off x="1696826" y="658905"/>
            <a:ext cx="10011266" cy="60557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286" name="Google Shape;286;p38"/>
          <p:cNvSpPr txBox="1"/>
          <p:nvPr>
            <p:ph idx="1" type="body"/>
          </p:nvPr>
        </p:nvSpPr>
        <p:spPr>
          <a:xfrm>
            <a:off x="1564850" y="1540189"/>
            <a:ext cx="10492032" cy="5105708"/>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Heuristic may be:</a:t>
            </a:r>
            <a:endParaRPr/>
          </a:p>
          <a:p>
            <a:pPr indent="-342900" lvl="0" marL="342900" rtl="0" algn="l">
              <a:spcBef>
                <a:spcPts val="1000"/>
              </a:spcBef>
              <a:spcAft>
                <a:spcPts val="0"/>
              </a:spcAft>
              <a:buSzPts val="1800"/>
              <a:buChar char="🠶"/>
            </a:pPr>
            <a:r>
              <a:rPr lang="en-US"/>
              <a:t>  h(n) &gt;  actual cost</a:t>
            </a:r>
            <a:endParaRPr/>
          </a:p>
          <a:p>
            <a:pPr indent="-342900" lvl="0" marL="342900" rtl="0" algn="l">
              <a:spcBef>
                <a:spcPts val="1000"/>
              </a:spcBef>
              <a:spcAft>
                <a:spcPts val="0"/>
              </a:spcAft>
              <a:buSzPts val="1800"/>
              <a:buChar char="🠶"/>
            </a:pPr>
            <a:r>
              <a:rPr lang="en-US"/>
              <a:t>  h(n) =  actual cost </a:t>
            </a:r>
            <a:endParaRPr/>
          </a:p>
          <a:p>
            <a:pPr indent="-342900" lvl="0" marL="342900" rtl="0" algn="l">
              <a:spcBef>
                <a:spcPts val="1000"/>
              </a:spcBef>
              <a:spcAft>
                <a:spcPts val="0"/>
              </a:spcAft>
              <a:buSzPts val="1800"/>
              <a:buChar char="🠶"/>
            </a:pPr>
            <a:r>
              <a:rPr lang="en-US"/>
              <a:t>  h(n)  &lt;  actual cost  </a:t>
            </a:r>
            <a:endParaRPr/>
          </a:p>
          <a:p>
            <a:pPr indent="-228600" lvl="0" marL="34290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(1)   h(n) &gt;  actual cost [Optimum solution can be overlooked, optimum solution is not  possible]</a:t>
            </a:r>
            <a:endParaRPr/>
          </a:p>
          <a:p>
            <a:pPr indent="-342900" lvl="0" marL="342900" rtl="0" algn="l">
              <a:spcBef>
                <a:spcPts val="1000"/>
              </a:spcBef>
              <a:spcAft>
                <a:spcPts val="0"/>
              </a:spcAft>
              <a:buSzPts val="1800"/>
              <a:buChar char="🠶"/>
            </a:pPr>
            <a:r>
              <a:rPr lang="en-US"/>
              <a:t>(2)   h(n) =  actual cost [Best case scenario, if h(n) approximates actual cost, searching uses minimum of node to the goal]</a:t>
            </a:r>
            <a:endParaRPr/>
          </a:p>
          <a:p>
            <a:pPr indent="-342900" lvl="0" marL="342900" rtl="0" algn="l">
              <a:spcBef>
                <a:spcPts val="1000"/>
              </a:spcBef>
              <a:spcAft>
                <a:spcPts val="0"/>
              </a:spcAft>
              <a:buSzPts val="1800"/>
              <a:buChar char="🠶"/>
            </a:pPr>
            <a:r>
              <a:rPr lang="en-US"/>
              <a:t>(3) h(n)  &lt;  actual cost  [ Admissible, Consistent Heuristics]</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292" name="Google Shape;292;p39"/>
          <p:cNvPicPr preferRelativeResize="0"/>
          <p:nvPr/>
        </p:nvPicPr>
        <p:blipFill rotWithShape="1">
          <a:blip r:embed="rId3">
            <a:alphaModFix/>
          </a:blip>
          <a:srcRect b="0" l="0" r="0" t="0"/>
          <a:stretch/>
        </p:blipFill>
        <p:spPr>
          <a:xfrm>
            <a:off x="2247900" y="2255313"/>
            <a:ext cx="7696200" cy="3667125"/>
          </a:xfrm>
          <a:prstGeom prst="rect">
            <a:avLst/>
          </a:prstGeom>
          <a:noFill/>
          <a:ln>
            <a:noFill/>
          </a:ln>
        </p:spPr>
      </p:pic>
      <p:sp>
        <p:nvSpPr>
          <p:cNvPr id="293" name="Google Shape;293;p39"/>
          <p:cNvSpPr txBox="1"/>
          <p:nvPr/>
        </p:nvSpPr>
        <p:spPr>
          <a:xfrm>
            <a:off x="2247900" y="1156843"/>
            <a:ext cx="924337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entury Gothic"/>
                <a:ea typeface="Century Gothic"/>
                <a:cs typeface="Century Gothic"/>
                <a:sym typeface="Century Gothic"/>
              </a:rPr>
              <a:t>h(n) &gt;  actual cost [Optimum solution can be overlooked, optimum solution is not  possible]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299" name="Google Shape;299;p40"/>
          <p:cNvSpPr txBox="1"/>
          <p:nvPr/>
        </p:nvSpPr>
        <p:spPr>
          <a:xfrm>
            <a:off x="2247900" y="1156843"/>
            <a:ext cx="924337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h(n) &gt;  actual cost [Optimum solution can be overlooked, optimum solution is not  possible]</a:t>
            </a:r>
            <a:endParaRPr/>
          </a:p>
        </p:txBody>
      </p:sp>
      <p:pic>
        <p:nvPicPr>
          <p:cNvPr id="300" name="Google Shape;300;p40"/>
          <p:cNvPicPr preferRelativeResize="0"/>
          <p:nvPr/>
        </p:nvPicPr>
        <p:blipFill rotWithShape="1">
          <a:blip r:embed="rId3">
            <a:alphaModFix/>
          </a:blip>
          <a:srcRect b="0" l="0" r="0" t="0"/>
          <a:stretch/>
        </p:blipFill>
        <p:spPr>
          <a:xfrm>
            <a:off x="2360432" y="2092751"/>
            <a:ext cx="7810500" cy="3800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06" name="Google Shape;306;p41"/>
          <p:cNvSpPr txBox="1"/>
          <p:nvPr/>
        </p:nvSpPr>
        <p:spPr>
          <a:xfrm>
            <a:off x="443060" y="1156843"/>
            <a:ext cx="1161382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h(n) &gt;  actual cost [Optimum solution can be overlooked, optimum solution is not  possible]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for node a</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From start s to node a, push at priority queue (2+9(h)=11)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From start to b and push at priority queue (7+3(h)=10) )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So, here we will pop b then explore the neighbors of b, which are a and dest</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Now, a is visited, we will pop dest now the cost to dest = 7+2+0=9. This is the solution using A* search.</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But, the optimal solution is s-&gt;a-&gt;b-&gt;dest, opt. cost = 2+3+2=7.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A* is doe not provide optimal solution because heuristic cost is more than actual cost.</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t>
            </a:r>
            <a:endParaRPr/>
          </a:p>
        </p:txBody>
      </p:sp>
      <p:pic>
        <p:nvPicPr>
          <p:cNvPr id="307" name="Google Shape;307;p41"/>
          <p:cNvPicPr preferRelativeResize="0"/>
          <p:nvPr/>
        </p:nvPicPr>
        <p:blipFill rotWithShape="1">
          <a:blip r:embed="rId3">
            <a:alphaModFix/>
          </a:blip>
          <a:srcRect b="0" l="0" r="0" t="0"/>
          <a:stretch/>
        </p:blipFill>
        <p:spPr>
          <a:xfrm>
            <a:off x="6023728" y="3638746"/>
            <a:ext cx="5637229" cy="286232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2"/>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13" name="Google Shape;313;p42"/>
          <p:cNvSpPr txBox="1"/>
          <p:nvPr/>
        </p:nvSpPr>
        <p:spPr>
          <a:xfrm>
            <a:off x="2255166" y="867266"/>
            <a:ext cx="9243373"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h(n) &gt;  actual cost [Optimum solution can be overlooked, optimum solution is not  possible]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b………….&gt; dest and cost (7+2+0=9) , or ……….&gt;a and cost (2+9=11)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Actual cost from  S🡪a🡪b🡪dest =2+3+2=7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h(n)=10 &gt; actual cost = 7</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t>
            </a:r>
            <a:endParaRPr/>
          </a:p>
        </p:txBody>
      </p:sp>
      <p:pic>
        <p:nvPicPr>
          <p:cNvPr id="314" name="Google Shape;314;p42"/>
          <p:cNvPicPr preferRelativeResize="0"/>
          <p:nvPr/>
        </p:nvPicPr>
        <p:blipFill rotWithShape="1">
          <a:blip r:embed="rId3">
            <a:alphaModFix/>
          </a:blip>
          <a:srcRect b="0" l="0" r="0" t="0"/>
          <a:stretch/>
        </p:blipFill>
        <p:spPr>
          <a:xfrm>
            <a:off x="2247900" y="2911169"/>
            <a:ext cx="7810500" cy="3800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3"/>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20" name="Google Shape;320;p43"/>
          <p:cNvSpPr txBox="1"/>
          <p:nvPr>
            <p:ph idx="1" type="body"/>
          </p:nvPr>
        </p:nvSpPr>
        <p:spPr>
          <a:xfrm>
            <a:off x="318410" y="1464773"/>
            <a:ext cx="7297310" cy="524988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Admissible heuristic:  </a:t>
            </a:r>
            <a:r>
              <a:rPr b="0" i="0" lang="en-US" sz="1800" u="none" strike="noStrike"/>
              <a:t>An admissible heuristic is one that </a:t>
            </a:r>
            <a:r>
              <a:rPr b="0" i="1" lang="en-US" sz="1800" u="none" strike="noStrike"/>
              <a:t>never overestimates </a:t>
            </a:r>
            <a:r>
              <a:rPr b="0" i="0" lang="en-US" sz="1800" u="none" strike="noStrike"/>
              <a:t>the cost to reach the goal. Because g(n) is the actual cost to reach n along the current path, and f(n)=g(n) + h(n), we have as an immediate consequence that f(n) never overestimates the true cost of a solution along the current path through n.</a:t>
            </a:r>
            <a:endParaRPr b="1"/>
          </a:p>
          <a:p>
            <a:pPr indent="0" lvl="0" marL="0" rtl="0" algn="l">
              <a:spcBef>
                <a:spcPts val="1000"/>
              </a:spcBef>
              <a:spcAft>
                <a:spcPts val="0"/>
              </a:spcAft>
              <a:buSzPts val="1800"/>
              <a:buNone/>
            </a:pPr>
            <a:r>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Consistent heuristic: </a:t>
            </a:r>
            <a:r>
              <a:rPr b="0" i="0" lang="en-US" sz="1800" u="none" strike="noStrike"/>
              <a:t>A heuristic </a:t>
            </a:r>
            <a:r>
              <a:rPr b="0" i="1" lang="en-US" sz="1800" u="none" strike="noStrike"/>
              <a:t>h(n) </a:t>
            </a:r>
            <a:r>
              <a:rPr b="0" i="0" lang="en-US" sz="1800" u="none" strike="noStrike"/>
              <a:t>is consistent if, for every node n and every successor </a:t>
            </a:r>
            <a:r>
              <a:rPr b="0" i="1" lang="en-US" sz="1800" u="none" strike="noStrike"/>
              <a:t>n’</a:t>
            </a:r>
            <a:r>
              <a:rPr b="0" i="0" lang="en-US" sz="1800" u="none" strike="noStrike"/>
              <a:t> of n generated by any action </a:t>
            </a:r>
            <a:r>
              <a:rPr b="0" i="1" lang="en-US" sz="1800" u="none" strike="noStrike"/>
              <a:t>a</a:t>
            </a:r>
            <a:r>
              <a:rPr b="0" i="0" lang="en-US" sz="1800" u="none" strike="noStrike"/>
              <a:t>, the estimated cost of reaching the goal from </a:t>
            </a:r>
            <a:r>
              <a:rPr b="0" i="1" lang="en-US" sz="1800" u="none" strike="noStrike"/>
              <a:t>n</a:t>
            </a:r>
            <a:r>
              <a:rPr b="0" i="0" lang="en-US" sz="1800" u="none" strike="noStrike"/>
              <a:t> is no greater than the step cost of getting to </a:t>
            </a:r>
            <a:r>
              <a:rPr b="0" i="1" lang="en-US" sz="1800" u="none" strike="noStrike"/>
              <a:t>n’</a:t>
            </a:r>
            <a:r>
              <a:rPr b="0" i="0" lang="en-US" sz="1800" u="none" strike="noStrike"/>
              <a:t>  plus the estimated cost of reaching the goal from </a:t>
            </a:r>
            <a:r>
              <a:rPr b="0" i="1" lang="en-US" sz="1800" u="none" strike="noStrike"/>
              <a:t>n’:</a:t>
            </a:r>
            <a:endParaRPr/>
          </a:p>
          <a:p>
            <a:pPr indent="-228600" lvl="0" marL="342900" rtl="0" algn="l">
              <a:spcBef>
                <a:spcPts val="1000"/>
              </a:spcBef>
              <a:spcAft>
                <a:spcPts val="0"/>
              </a:spcAft>
              <a:buSzPts val="1800"/>
              <a:buNone/>
            </a:pPr>
            <a:r>
              <a:t/>
            </a:r>
            <a:endParaRPr i="1"/>
          </a:p>
          <a:p>
            <a:pPr indent="0" lvl="0" marL="0" rtl="0" algn="l">
              <a:spcBef>
                <a:spcPts val="1000"/>
              </a:spcBef>
              <a:spcAft>
                <a:spcPts val="0"/>
              </a:spcAft>
              <a:buSzPts val="1800"/>
              <a:buNone/>
            </a:pPr>
            <a:r>
              <a:t/>
            </a:r>
            <a:endParaRPr b="0" i="1" sz="1800" u="none" strike="noStrike"/>
          </a:p>
          <a:p>
            <a:pPr indent="-342900" lvl="0" marL="342900" rtl="0" algn="l">
              <a:spcBef>
                <a:spcPts val="1000"/>
              </a:spcBef>
              <a:spcAft>
                <a:spcPts val="0"/>
              </a:spcAft>
              <a:buSzPts val="1800"/>
              <a:buChar char="🠶"/>
            </a:pPr>
            <a:r>
              <a:rPr lang="en-US">
                <a:latin typeface="Times"/>
                <a:ea typeface="Times"/>
                <a:cs typeface="Times"/>
                <a:sym typeface="Times"/>
              </a:rPr>
              <a:t> </a:t>
            </a:r>
            <a:r>
              <a:rPr lang="en-US"/>
              <a:t>Optimal solution is guaranteed in this case.</a:t>
            </a:r>
            <a:endParaRPr/>
          </a:p>
          <a:p>
            <a:pPr indent="0" lvl="0" marL="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21" name="Google Shape;321;p43"/>
          <p:cNvPicPr preferRelativeResize="0"/>
          <p:nvPr/>
        </p:nvPicPr>
        <p:blipFill rotWithShape="1">
          <a:blip r:embed="rId3">
            <a:alphaModFix/>
          </a:blip>
          <a:srcRect b="0" l="0" r="0" t="0"/>
          <a:stretch/>
        </p:blipFill>
        <p:spPr>
          <a:xfrm>
            <a:off x="7675423" y="1199729"/>
            <a:ext cx="4198167" cy="2416159"/>
          </a:xfrm>
          <a:prstGeom prst="rect">
            <a:avLst/>
          </a:prstGeom>
          <a:noFill/>
          <a:ln>
            <a:noFill/>
          </a:ln>
        </p:spPr>
      </p:pic>
      <p:pic>
        <p:nvPicPr>
          <p:cNvPr id="322" name="Google Shape;322;p43"/>
          <p:cNvPicPr preferRelativeResize="0"/>
          <p:nvPr/>
        </p:nvPicPr>
        <p:blipFill rotWithShape="1">
          <a:blip r:embed="rId4">
            <a:alphaModFix/>
          </a:blip>
          <a:srcRect b="0" l="0" r="0" t="0"/>
          <a:stretch/>
        </p:blipFill>
        <p:spPr>
          <a:xfrm>
            <a:off x="5327650" y="2676525"/>
            <a:ext cx="114300" cy="177800"/>
          </a:xfrm>
          <a:prstGeom prst="rect">
            <a:avLst/>
          </a:prstGeom>
          <a:noFill/>
          <a:ln>
            <a:noFill/>
          </a:ln>
        </p:spPr>
      </p:pic>
      <p:pic>
        <p:nvPicPr>
          <p:cNvPr id="323" name="Google Shape;323;p43"/>
          <p:cNvPicPr preferRelativeResize="0"/>
          <p:nvPr/>
        </p:nvPicPr>
        <p:blipFill rotWithShape="1">
          <a:blip r:embed="rId5">
            <a:alphaModFix/>
          </a:blip>
          <a:srcRect b="0" l="0" r="0" t="0"/>
          <a:stretch/>
        </p:blipFill>
        <p:spPr>
          <a:xfrm>
            <a:off x="4927600" y="2667000"/>
            <a:ext cx="914400" cy="198438"/>
          </a:xfrm>
          <a:prstGeom prst="rect">
            <a:avLst/>
          </a:prstGeom>
          <a:noFill/>
          <a:ln>
            <a:noFill/>
          </a:ln>
        </p:spPr>
      </p:pic>
      <p:pic>
        <p:nvPicPr>
          <p:cNvPr id="324" name="Google Shape;324;p43"/>
          <p:cNvPicPr preferRelativeResize="0"/>
          <p:nvPr/>
        </p:nvPicPr>
        <p:blipFill rotWithShape="1">
          <a:blip r:embed="rId6">
            <a:alphaModFix/>
          </a:blip>
          <a:srcRect b="0" l="0" r="0" t="0"/>
          <a:stretch/>
        </p:blipFill>
        <p:spPr>
          <a:xfrm>
            <a:off x="1461154" y="5529817"/>
            <a:ext cx="3306191" cy="531501"/>
          </a:xfrm>
          <a:prstGeom prst="rect">
            <a:avLst/>
          </a:prstGeom>
          <a:noFill/>
          <a:ln>
            <a:noFill/>
          </a:ln>
        </p:spPr>
      </p:pic>
      <p:grpSp>
        <p:nvGrpSpPr>
          <p:cNvPr id="325" name="Google Shape;325;p43"/>
          <p:cNvGrpSpPr/>
          <p:nvPr/>
        </p:nvGrpSpPr>
        <p:grpSpPr>
          <a:xfrm>
            <a:off x="6853287" y="4084758"/>
            <a:ext cx="4798243" cy="2412238"/>
            <a:chOff x="6398795" y="4322883"/>
            <a:chExt cx="4798243" cy="2412238"/>
          </a:xfrm>
        </p:grpSpPr>
        <p:sp>
          <p:nvSpPr>
            <p:cNvPr id="326" name="Google Shape;326;p43"/>
            <p:cNvSpPr/>
            <p:nvPr/>
          </p:nvSpPr>
          <p:spPr>
            <a:xfrm>
              <a:off x="7579151" y="4835951"/>
              <a:ext cx="414779" cy="424206"/>
            </a:xfrm>
            <a:prstGeom prst="ellipse">
              <a:avLst/>
            </a:prstGeom>
            <a:solidFill>
              <a:schemeClr val="lt1"/>
            </a:solidFill>
            <a:ln cap="rnd"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n</a:t>
              </a:r>
              <a:endParaRPr/>
            </a:p>
          </p:txBody>
        </p:sp>
        <p:sp>
          <p:nvSpPr>
            <p:cNvPr id="327" name="Google Shape;327;p43"/>
            <p:cNvSpPr/>
            <p:nvPr/>
          </p:nvSpPr>
          <p:spPr>
            <a:xfrm>
              <a:off x="8899058" y="5924744"/>
              <a:ext cx="678576" cy="571305"/>
            </a:xfrm>
            <a:prstGeom prst="ellipse">
              <a:avLst/>
            </a:prstGeom>
            <a:solidFill>
              <a:schemeClr val="lt1"/>
            </a:solidFill>
            <a:ln cap="rnd"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n’</a:t>
              </a:r>
              <a:endParaRPr/>
            </a:p>
          </p:txBody>
        </p:sp>
        <p:sp>
          <p:nvSpPr>
            <p:cNvPr id="328" name="Google Shape;328;p43"/>
            <p:cNvSpPr/>
            <p:nvPr/>
          </p:nvSpPr>
          <p:spPr>
            <a:xfrm>
              <a:off x="9741032" y="4424315"/>
              <a:ext cx="414779" cy="424206"/>
            </a:xfrm>
            <a:prstGeom prst="ellipse">
              <a:avLst/>
            </a:prstGeom>
            <a:solidFill>
              <a:schemeClr val="lt1"/>
            </a:solidFill>
            <a:ln cap="rnd" cmpd="sng" w="1587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entury Gothic"/>
                  <a:ea typeface="Century Gothic"/>
                  <a:cs typeface="Century Gothic"/>
                  <a:sym typeface="Century Gothic"/>
                </a:rPr>
                <a:t>d</a:t>
              </a:r>
              <a:endParaRPr/>
            </a:p>
          </p:txBody>
        </p:sp>
        <p:sp>
          <p:nvSpPr>
            <p:cNvPr id="329" name="Google Shape;329;p43"/>
            <p:cNvSpPr/>
            <p:nvPr/>
          </p:nvSpPr>
          <p:spPr>
            <a:xfrm>
              <a:off x="7099957" y="4322883"/>
              <a:ext cx="1682688" cy="42420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600">
                  <a:solidFill>
                    <a:schemeClr val="dk1"/>
                  </a:solidFill>
                  <a:latin typeface="Century Gothic"/>
                  <a:ea typeface="Century Gothic"/>
                  <a:cs typeface="Century Gothic"/>
                  <a:sym typeface="Century Gothic"/>
                </a:rPr>
                <a:t>h(n)=h</a:t>
              </a:r>
              <a:r>
                <a:rPr baseline="-25000" i="1" lang="en-US" sz="1600">
                  <a:solidFill>
                    <a:schemeClr val="dk1"/>
                  </a:solidFill>
                  <a:latin typeface="Century Gothic"/>
                  <a:ea typeface="Century Gothic"/>
                  <a:cs typeface="Century Gothic"/>
                  <a:sym typeface="Century Gothic"/>
                </a:rPr>
                <a:t>SLD</a:t>
              </a:r>
              <a:endParaRPr baseline="-25000" i="1" sz="1600">
                <a:solidFill>
                  <a:schemeClr val="dk1"/>
                </a:solidFill>
                <a:latin typeface="Century Gothic"/>
                <a:ea typeface="Century Gothic"/>
                <a:cs typeface="Century Gothic"/>
                <a:sym typeface="Century Gothic"/>
              </a:endParaRPr>
            </a:p>
          </p:txBody>
        </p:sp>
        <p:sp>
          <p:nvSpPr>
            <p:cNvPr id="330" name="Google Shape;330;p43"/>
            <p:cNvSpPr/>
            <p:nvPr/>
          </p:nvSpPr>
          <p:spPr>
            <a:xfrm>
              <a:off x="6398795" y="5592450"/>
              <a:ext cx="2383849" cy="810377"/>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600">
                  <a:solidFill>
                    <a:schemeClr val="dk1"/>
                  </a:solidFill>
                  <a:latin typeface="Century Gothic"/>
                  <a:ea typeface="Century Gothic"/>
                  <a:cs typeface="Century Gothic"/>
                  <a:sym typeface="Century Gothic"/>
                </a:rPr>
                <a:t>c(n,n’)</a:t>
              </a:r>
              <a:br>
                <a:rPr i="1" lang="en-US" sz="1600">
                  <a:solidFill>
                    <a:schemeClr val="dk1"/>
                  </a:solidFill>
                  <a:latin typeface="Century Gothic"/>
                  <a:ea typeface="Century Gothic"/>
                  <a:cs typeface="Century Gothic"/>
                  <a:sym typeface="Century Gothic"/>
                </a:rPr>
              </a:br>
              <a:r>
                <a:rPr i="1" lang="en-US" sz="1600">
                  <a:solidFill>
                    <a:schemeClr val="dk1"/>
                  </a:solidFill>
                  <a:latin typeface="Century Gothic"/>
                  <a:ea typeface="Century Gothic"/>
                  <a:cs typeface="Century Gothic"/>
                  <a:sym typeface="Century Gothic"/>
                </a:rPr>
                <a:t>actual cost</a:t>
              </a:r>
              <a:endParaRPr/>
            </a:p>
          </p:txBody>
        </p:sp>
        <p:sp>
          <p:nvSpPr>
            <p:cNvPr id="331" name="Google Shape;331;p43"/>
            <p:cNvSpPr/>
            <p:nvPr/>
          </p:nvSpPr>
          <p:spPr>
            <a:xfrm>
              <a:off x="9247170" y="6310915"/>
              <a:ext cx="1949868" cy="424206"/>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600">
                  <a:solidFill>
                    <a:schemeClr val="dk1"/>
                  </a:solidFill>
                  <a:latin typeface="Century Gothic"/>
                  <a:ea typeface="Century Gothic"/>
                  <a:cs typeface="Century Gothic"/>
                  <a:sym typeface="Century Gothic"/>
                </a:rPr>
                <a:t>h(n’)=h</a:t>
              </a:r>
              <a:r>
                <a:rPr baseline="-25000" i="1" lang="en-US" sz="1600">
                  <a:solidFill>
                    <a:schemeClr val="dk1"/>
                  </a:solidFill>
                  <a:latin typeface="Century Gothic"/>
                  <a:ea typeface="Century Gothic"/>
                  <a:cs typeface="Century Gothic"/>
                  <a:sym typeface="Century Gothic"/>
                </a:rPr>
                <a:t>SLD</a:t>
              </a:r>
              <a:endParaRPr baseline="-25000" i="1" sz="1600">
                <a:solidFill>
                  <a:schemeClr val="dk1"/>
                </a:solidFill>
                <a:latin typeface="Century Gothic"/>
                <a:ea typeface="Century Gothic"/>
                <a:cs typeface="Century Gothic"/>
                <a:sym typeface="Century Gothic"/>
              </a:endParaRPr>
            </a:p>
          </p:txBody>
        </p:sp>
        <p:cxnSp>
          <p:nvCxnSpPr>
            <p:cNvPr id="332" name="Google Shape;332;p43"/>
            <p:cNvCxnSpPr/>
            <p:nvPr/>
          </p:nvCxnSpPr>
          <p:spPr>
            <a:xfrm flipH="1" rot="10800000">
              <a:off x="7998641" y="4636418"/>
              <a:ext cx="1682688" cy="331508"/>
            </a:xfrm>
            <a:prstGeom prst="straightConnector1">
              <a:avLst/>
            </a:prstGeom>
            <a:noFill/>
            <a:ln cap="flat" cmpd="sng" w="9525">
              <a:solidFill>
                <a:schemeClr val="dk1"/>
              </a:solidFill>
              <a:prstDash val="dash"/>
              <a:round/>
              <a:headEnd len="sm" w="sm" type="none"/>
              <a:tailEnd len="sm" w="sm" type="none"/>
            </a:ln>
          </p:spPr>
        </p:cxnSp>
        <p:cxnSp>
          <p:nvCxnSpPr>
            <p:cNvPr id="333" name="Google Shape;333;p43"/>
            <p:cNvCxnSpPr>
              <a:stCxn id="327" idx="7"/>
            </p:cNvCxnSpPr>
            <p:nvPr/>
          </p:nvCxnSpPr>
          <p:spPr>
            <a:xfrm flipH="1" rot="10800000">
              <a:off x="9478259" y="4788910"/>
              <a:ext cx="355500" cy="1219500"/>
            </a:xfrm>
            <a:prstGeom prst="straightConnector1">
              <a:avLst/>
            </a:prstGeom>
            <a:noFill/>
            <a:ln cap="flat" cmpd="sng" w="9525">
              <a:solidFill>
                <a:schemeClr val="dk1"/>
              </a:solidFill>
              <a:prstDash val="dash"/>
              <a:round/>
              <a:headEnd len="sm" w="sm" type="none"/>
              <a:tailEnd len="sm" w="sm" type="none"/>
            </a:ln>
          </p:spPr>
        </p:cxnSp>
        <p:cxnSp>
          <p:nvCxnSpPr>
            <p:cNvPr id="334" name="Google Shape;334;p43"/>
            <p:cNvCxnSpPr>
              <a:stCxn id="326" idx="5"/>
              <a:endCxn id="327" idx="1"/>
            </p:cNvCxnSpPr>
            <p:nvPr/>
          </p:nvCxnSpPr>
          <p:spPr>
            <a:xfrm>
              <a:off x="7933187" y="5198033"/>
              <a:ext cx="1065300" cy="810300"/>
            </a:xfrm>
            <a:prstGeom prst="straightConnector1">
              <a:avLst/>
            </a:prstGeom>
            <a:noFill/>
            <a:ln cap="rnd" cmpd="sng" w="9525">
              <a:solidFill>
                <a:schemeClr val="dk1"/>
              </a:solidFill>
              <a:prstDash val="solid"/>
              <a:round/>
              <a:headEnd len="sm" w="sm" type="none"/>
              <a:tailEnd len="sm" w="sm" type="none"/>
            </a:ln>
          </p:spPr>
        </p:cxnSp>
      </p:grpSp>
      <p:pic>
        <p:nvPicPr>
          <p:cNvPr id="335" name="Google Shape;335;p43"/>
          <p:cNvPicPr preferRelativeResize="0"/>
          <p:nvPr/>
        </p:nvPicPr>
        <p:blipFill rotWithShape="1">
          <a:blip r:embed="rId7">
            <a:alphaModFix/>
          </a:blip>
          <a:srcRect b="0" l="0" r="0" t="0"/>
          <a:stretch/>
        </p:blipFill>
        <p:spPr>
          <a:xfrm>
            <a:off x="2405963" y="3367857"/>
            <a:ext cx="2668588" cy="473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txBox="1"/>
          <p:nvPr>
            <p:ph type="title"/>
          </p:nvPr>
        </p:nvSpPr>
        <p:spPr>
          <a:xfrm>
            <a:off x="2083878" y="132368"/>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341" name="Google Shape;341;p44"/>
          <p:cNvPicPr preferRelativeResize="0"/>
          <p:nvPr/>
        </p:nvPicPr>
        <p:blipFill rotWithShape="1">
          <a:blip r:embed="rId3">
            <a:alphaModFix/>
          </a:blip>
          <a:srcRect b="0" l="0" r="0" t="0"/>
          <a:stretch/>
        </p:blipFill>
        <p:spPr>
          <a:xfrm>
            <a:off x="1835576" y="1772632"/>
            <a:ext cx="9048750" cy="4953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5"/>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347" name="Google Shape;347;p45"/>
          <p:cNvPicPr preferRelativeResize="0"/>
          <p:nvPr/>
        </p:nvPicPr>
        <p:blipFill rotWithShape="1">
          <a:blip r:embed="rId3">
            <a:alphaModFix/>
          </a:blip>
          <a:srcRect b="0" l="0" r="0" t="0"/>
          <a:stretch/>
        </p:blipFill>
        <p:spPr>
          <a:xfrm>
            <a:off x="1594160" y="1414316"/>
            <a:ext cx="9248775" cy="49720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6"/>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353" name="Google Shape;353;p46"/>
          <p:cNvPicPr preferRelativeResize="0"/>
          <p:nvPr/>
        </p:nvPicPr>
        <p:blipFill rotWithShape="1">
          <a:blip r:embed="rId3">
            <a:alphaModFix/>
          </a:blip>
          <a:srcRect b="0" l="0" r="0" t="0"/>
          <a:stretch/>
        </p:blipFill>
        <p:spPr>
          <a:xfrm>
            <a:off x="1551200" y="1248904"/>
            <a:ext cx="9353550" cy="5057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7"/>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8"/>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64" name="Google Shape;364;p48"/>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65" name="Google Shape;365;p48"/>
          <p:cNvPicPr preferRelativeResize="0"/>
          <p:nvPr/>
        </p:nvPicPr>
        <p:blipFill rotWithShape="1">
          <a:blip r:embed="rId3">
            <a:alphaModFix/>
          </a:blip>
          <a:srcRect b="0" l="0" r="0" t="0"/>
          <a:stretch/>
        </p:blipFill>
        <p:spPr>
          <a:xfrm>
            <a:off x="2344115" y="2366064"/>
            <a:ext cx="7105650" cy="3400425"/>
          </a:xfrm>
          <a:prstGeom prst="rect">
            <a:avLst/>
          </a:prstGeom>
          <a:noFill/>
          <a:ln>
            <a:noFill/>
          </a:ln>
        </p:spPr>
      </p:pic>
      <p:sp>
        <p:nvSpPr>
          <p:cNvPr id="366" name="Google Shape;366;p48"/>
          <p:cNvSpPr txBox="1"/>
          <p:nvPr/>
        </p:nvSpPr>
        <p:spPr>
          <a:xfrm>
            <a:off x="1972559" y="1323809"/>
            <a:ext cx="90379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We will see the case that the heuristic admissible but not consistent……………..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9"/>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72" name="Google Shape;372;p49"/>
          <p:cNvSpPr txBox="1"/>
          <p:nvPr>
            <p:ph idx="1" type="body"/>
          </p:nvPr>
        </p:nvSpPr>
        <p:spPr>
          <a:xfrm>
            <a:off x="1696824" y="980388"/>
            <a:ext cx="10209229" cy="5734269"/>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Is it admissible?</a:t>
            </a:r>
            <a:endParaRPr/>
          </a:p>
          <a:p>
            <a:pPr indent="-342900" lvl="0" marL="342900" rtl="0" algn="l">
              <a:spcBef>
                <a:spcPts val="1000"/>
              </a:spcBef>
              <a:spcAft>
                <a:spcPts val="0"/>
              </a:spcAft>
              <a:buSzPts val="1800"/>
              <a:buChar char="🠶"/>
            </a:pPr>
            <a:r>
              <a:rPr lang="en-US"/>
              <a:t>Shortest distance from   </a:t>
            </a:r>
            <a:r>
              <a:rPr b="1" i="1" lang="en-US"/>
              <a:t>S ---🡪 dest   </a:t>
            </a:r>
            <a:r>
              <a:rPr lang="en-US"/>
              <a:t>is 1+1+10 =12        [12]</a:t>
            </a:r>
            <a:endParaRPr/>
          </a:p>
          <a:p>
            <a:pPr indent="-342900" lvl="0" marL="342900" rtl="0" algn="l">
              <a:spcBef>
                <a:spcPts val="1000"/>
              </a:spcBef>
              <a:spcAft>
                <a:spcPts val="0"/>
              </a:spcAft>
              <a:buSzPts val="1800"/>
              <a:buChar char="🠶"/>
            </a:pPr>
            <a:r>
              <a:rPr lang="en-US"/>
              <a:t>For node S, h(s)=12 ≤ 1+1+10 = 12 [S-&gt;a-&gt;b-&gt;d]  or h(S)=12 ≤ 3+10=13 [S-&gt;b-&gt;dest]</a:t>
            </a:r>
            <a:endParaRPr/>
          </a:p>
          <a:p>
            <a:pPr indent="-342900" lvl="0" marL="342900" rtl="0" algn="l">
              <a:spcBef>
                <a:spcPts val="1000"/>
              </a:spcBef>
              <a:spcAft>
                <a:spcPts val="0"/>
              </a:spcAft>
              <a:buSzPts val="1800"/>
              <a:buChar char="🠶"/>
            </a:pPr>
            <a:r>
              <a:rPr lang="en-US"/>
              <a:t>For node a, h(a)=11 ≤1+10=11[a-&gt;b-&gt;d]</a:t>
            </a:r>
            <a:endParaRPr/>
          </a:p>
          <a:p>
            <a:pPr indent="-342900" lvl="0" marL="342900" rtl="0" algn="l">
              <a:spcBef>
                <a:spcPts val="1000"/>
              </a:spcBef>
              <a:spcAft>
                <a:spcPts val="0"/>
              </a:spcAft>
              <a:buSzPts val="1800"/>
              <a:buChar char="🠶"/>
            </a:pPr>
            <a:r>
              <a:rPr lang="en-US"/>
              <a:t>For node b, h(b)=0 ≤10</a:t>
            </a:r>
            <a:endParaRPr/>
          </a:p>
          <a:p>
            <a:pPr indent="-342900" lvl="0" marL="342900" rtl="0" algn="l">
              <a:spcBef>
                <a:spcPts val="1000"/>
              </a:spcBef>
              <a:spcAft>
                <a:spcPts val="0"/>
              </a:spcAft>
              <a:buSzPts val="1800"/>
              <a:buChar char="🠶"/>
            </a:pPr>
            <a:r>
              <a:rPr lang="en-US"/>
              <a:t>Therefore, this is admissible heuristic.</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73" name="Google Shape;373;p49"/>
          <p:cNvPicPr preferRelativeResize="0"/>
          <p:nvPr/>
        </p:nvPicPr>
        <p:blipFill rotWithShape="1">
          <a:blip r:embed="rId3">
            <a:alphaModFix/>
          </a:blip>
          <a:srcRect b="0" l="0" r="0" t="0"/>
          <a:stretch/>
        </p:blipFill>
        <p:spPr>
          <a:xfrm>
            <a:off x="2303265" y="3505568"/>
            <a:ext cx="7143750" cy="299227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79" name="Google Shape;379;p50"/>
          <p:cNvSpPr txBox="1"/>
          <p:nvPr>
            <p:ph idx="1" type="body"/>
          </p:nvPr>
        </p:nvSpPr>
        <p:spPr>
          <a:xfrm>
            <a:off x="2095108" y="1063448"/>
            <a:ext cx="9320752"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80" name="Google Shape;380;p50"/>
          <p:cNvPicPr preferRelativeResize="0"/>
          <p:nvPr/>
        </p:nvPicPr>
        <p:blipFill rotWithShape="1">
          <a:blip r:embed="rId3">
            <a:alphaModFix/>
          </a:blip>
          <a:srcRect b="0" l="0" r="0" t="0"/>
          <a:stretch/>
        </p:blipFill>
        <p:spPr>
          <a:xfrm>
            <a:off x="1305890" y="2952259"/>
            <a:ext cx="9953625" cy="3038475"/>
          </a:xfrm>
          <a:prstGeom prst="rect">
            <a:avLst/>
          </a:prstGeom>
          <a:noFill/>
          <a:ln>
            <a:noFill/>
          </a:ln>
        </p:spPr>
      </p:pic>
      <p:sp>
        <p:nvSpPr>
          <p:cNvPr id="381" name="Google Shape;381;p50"/>
          <p:cNvSpPr txBox="1"/>
          <p:nvPr/>
        </p:nvSpPr>
        <p:spPr>
          <a:xfrm>
            <a:off x="1972559" y="1323809"/>
            <a:ext cx="90379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We will see the case that the heuristic admissible but not consistent……………..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1"/>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87" name="Google Shape;387;p51"/>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88" name="Google Shape;388;p51"/>
          <p:cNvPicPr preferRelativeResize="0"/>
          <p:nvPr/>
        </p:nvPicPr>
        <p:blipFill rotWithShape="1">
          <a:blip r:embed="rId3">
            <a:alphaModFix/>
          </a:blip>
          <a:srcRect b="0" l="0" r="0" t="0"/>
          <a:stretch/>
        </p:blipFill>
        <p:spPr>
          <a:xfrm>
            <a:off x="857838" y="2543893"/>
            <a:ext cx="10051723" cy="3888557"/>
          </a:xfrm>
          <a:prstGeom prst="rect">
            <a:avLst/>
          </a:prstGeom>
          <a:noFill/>
          <a:ln>
            <a:noFill/>
          </a:ln>
        </p:spPr>
      </p:pic>
      <p:sp>
        <p:nvSpPr>
          <p:cNvPr id="389" name="Google Shape;389;p51"/>
          <p:cNvSpPr txBox="1"/>
          <p:nvPr/>
        </p:nvSpPr>
        <p:spPr>
          <a:xfrm>
            <a:off x="1991412" y="867266"/>
            <a:ext cx="903794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We will see       </a:t>
            </a:r>
            <a:r>
              <a:rPr i="1" lang="en-US" sz="1800">
                <a:solidFill>
                  <a:schemeClr val="dk1"/>
                </a:solidFill>
                <a:latin typeface="Century Gothic"/>
                <a:ea typeface="Century Gothic"/>
                <a:cs typeface="Century Gothic"/>
                <a:sym typeface="Century Gothic"/>
              </a:rPr>
              <a:t>h(n)                  c(n,n’)          +            h(n’)</a:t>
            </a:r>
            <a:endParaRPr/>
          </a:p>
          <a:p>
            <a:pPr indent="0" lvl="0" marL="0" marR="0" rtl="0" algn="l">
              <a:spcBef>
                <a:spcPts val="0"/>
              </a:spcBef>
              <a:spcAft>
                <a:spcPts val="0"/>
              </a:spcAft>
              <a:buNone/>
            </a:pPr>
            <a:r>
              <a:rPr i="1" lang="en-US" sz="1800">
                <a:solidFill>
                  <a:schemeClr val="dk1"/>
                </a:solidFill>
                <a:latin typeface="Century Gothic"/>
                <a:ea typeface="Century Gothic"/>
                <a:cs typeface="Century Gothic"/>
                <a:sym typeface="Century Gothic"/>
              </a:rPr>
              <a:t>S to a                  12         </a:t>
            </a:r>
            <a:r>
              <a:rPr lang="en-US" sz="1800">
                <a:solidFill>
                  <a:schemeClr val="dk1"/>
                </a:solidFill>
                <a:latin typeface="Century Gothic"/>
                <a:ea typeface="Century Gothic"/>
                <a:cs typeface="Century Gothic"/>
                <a:sym typeface="Century Gothic"/>
              </a:rPr>
              <a:t>≤           1                  +            11</a:t>
            </a:r>
            <a:endParaRPr/>
          </a:p>
          <a:p>
            <a:pPr indent="0" lvl="0" marL="0" marR="0" rtl="0" algn="l">
              <a:spcBef>
                <a:spcPts val="0"/>
              </a:spcBef>
              <a:spcAft>
                <a:spcPts val="0"/>
              </a:spcAft>
              <a:buNone/>
            </a:pPr>
            <a:r>
              <a:rPr i="1" lang="en-US" sz="1800">
                <a:solidFill>
                  <a:schemeClr val="dk1"/>
                </a:solidFill>
                <a:latin typeface="Century Gothic"/>
                <a:ea typeface="Century Gothic"/>
                <a:cs typeface="Century Gothic"/>
                <a:sym typeface="Century Gothic"/>
              </a:rPr>
              <a:t>S to b                  12         ≥             3                  +             0  </a:t>
            </a:r>
            <a:r>
              <a:rPr b="1" i="1" lang="en-US" sz="1800">
                <a:solidFill>
                  <a:srgbClr val="FF0000"/>
                </a:solidFill>
                <a:latin typeface="Century Gothic"/>
                <a:ea typeface="Century Gothic"/>
                <a:cs typeface="Century Gothic"/>
                <a:sym typeface="Century Gothic"/>
              </a:rPr>
              <a:t>[not satisfied condition]</a:t>
            </a:r>
            <a:endParaRPr/>
          </a:p>
          <a:p>
            <a:pPr indent="0" lvl="0" marL="0" marR="0" rtl="0" algn="l">
              <a:spcBef>
                <a:spcPts val="0"/>
              </a:spcBef>
              <a:spcAft>
                <a:spcPts val="0"/>
              </a:spcAft>
              <a:buNone/>
            </a:pPr>
            <a:r>
              <a:t/>
            </a:r>
            <a:endParaRPr b="1" i="1" sz="1800">
              <a:solidFill>
                <a:srgbClr val="FF0000"/>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Therefore, this heuristic is admissible but not consistent.</a:t>
            </a:r>
            <a:endParaRPr b="1" i="1" sz="1800">
              <a:solidFill>
                <a:srgbClr val="FF0000"/>
              </a:solidFill>
              <a:latin typeface="Century Gothic"/>
              <a:ea typeface="Century Gothic"/>
              <a:cs typeface="Century Gothic"/>
              <a:sym typeface="Century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2"/>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395" name="Google Shape;395;p52"/>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396" name="Google Shape;396;p52"/>
          <p:cNvPicPr preferRelativeResize="0"/>
          <p:nvPr/>
        </p:nvPicPr>
        <p:blipFill rotWithShape="1">
          <a:blip r:embed="rId3">
            <a:alphaModFix/>
          </a:blip>
          <a:srcRect b="0" l="0" r="0" t="0"/>
          <a:stretch/>
        </p:blipFill>
        <p:spPr>
          <a:xfrm>
            <a:off x="2344115" y="3429000"/>
            <a:ext cx="8563449" cy="3292368"/>
          </a:xfrm>
          <a:prstGeom prst="rect">
            <a:avLst/>
          </a:prstGeom>
          <a:noFill/>
          <a:ln>
            <a:noFill/>
          </a:ln>
        </p:spPr>
      </p:pic>
      <p:sp>
        <p:nvSpPr>
          <p:cNvPr id="397" name="Google Shape;397;p52"/>
          <p:cNvSpPr txBox="1"/>
          <p:nvPr/>
        </p:nvSpPr>
        <p:spPr>
          <a:xfrm>
            <a:off x="1564849" y="867266"/>
            <a:ext cx="10492033"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If Heuristic admissible but not consistent, it may not be provided optimum solution.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If we apply A* search algorithm in this example.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Starting node, S has two successors a and b.  S push two value into priority queue</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[a=1+11=12, b=3+0=3], we pop the value of b and remained [a=1+11=12</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Node b has two successors a and d whereas a is visited, so we will push the value of d</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                 [a=12, d=3+10=13] then we pop a and remained [d=13], d=13 is the solution.</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The solution is not optimal. We know, here, optimal solution is 12.</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If Heuristic admissible but not consistent, it may not be provided optimum solution. </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3"/>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03" name="Google Shape;403;p53"/>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228600" lvl="0" marL="342900" rtl="0" algn="l">
              <a:spcBef>
                <a:spcPts val="1000"/>
              </a:spcBef>
              <a:spcAft>
                <a:spcPts val="0"/>
              </a:spcAft>
              <a:buSzPts val="1800"/>
              <a:buNone/>
            </a:pPr>
            <a:r>
              <a:t/>
            </a:r>
            <a:endParaRPr/>
          </a:p>
          <a:p>
            <a:pPr indent="-228600" lvl="0" marL="342900" rtl="0" algn="l">
              <a:spcBef>
                <a:spcPts val="1000"/>
              </a:spcBef>
              <a:spcAft>
                <a:spcPts val="0"/>
              </a:spcAft>
              <a:buSzPts val="1800"/>
              <a:buNone/>
            </a:pPr>
            <a:r>
              <a:t/>
            </a:r>
            <a:endParaRPr/>
          </a:p>
        </p:txBody>
      </p:sp>
      <p:pic>
        <p:nvPicPr>
          <p:cNvPr id="404" name="Google Shape;404;p53"/>
          <p:cNvPicPr preferRelativeResize="0"/>
          <p:nvPr/>
        </p:nvPicPr>
        <p:blipFill rotWithShape="1">
          <a:blip r:embed="rId3">
            <a:alphaModFix/>
          </a:blip>
          <a:srcRect b="0" l="0" r="0" t="0"/>
          <a:stretch/>
        </p:blipFill>
        <p:spPr>
          <a:xfrm>
            <a:off x="1449420" y="1540189"/>
            <a:ext cx="9896475" cy="5143500"/>
          </a:xfrm>
          <a:prstGeom prst="rect">
            <a:avLst/>
          </a:prstGeom>
          <a:noFill/>
          <a:ln>
            <a:noFill/>
          </a:ln>
        </p:spPr>
      </p:pic>
      <p:sp>
        <p:nvSpPr>
          <p:cNvPr id="405" name="Google Shape;405;p53"/>
          <p:cNvSpPr txBox="1"/>
          <p:nvPr/>
        </p:nvSpPr>
        <p:spPr>
          <a:xfrm>
            <a:off x="1696825" y="834395"/>
            <a:ext cx="981683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If Heuristic admissible but not consistent, it may not be provided optimum solution. </a:t>
            </a:r>
            <a:endParaRPr/>
          </a:p>
          <a:p>
            <a:pPr indent="0" lvl="0" marL="0" marR="0" rtl="0" algn="l">
              <a:spcBef>
                <a:spcPts val="0"/>
              </a:spcBef>
              <a:spcAft>
                <a:spcPts val="0"/>
              </a:spcAft>
              <a:buNone/>
            </a:pPr>
            <a:r>
              <a:rPr lang="en-US" sz="1800">
                <a:solidFill>
                  <a:schemeClr val="dk1"/>
                </a:solidFill>
                <a:latin typeface="Century Gothic"/>
                <a:ea typeface="Century Gothic"/>
                <a:cs typeface="Century Gothic"/>
                <a:sym typeface="Century Gothic"/>
              </a:rPr>
              <a:t>For optimum solution, heuristic must be consistent. If it consistent, it must be admissible.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4"/>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11" name="Google Shape;411;p54"/>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a:t> </a:t>
            </a:r>
            <a:endParaRPr/>
          </a:p>
        </p:txBody>
      </p:sp>
      <p:pic>
        <p:nvPicPr>
          <p:cNvPr id="412" name="Google Shape;412;p54"/>
          <p:cNvPicPr preferRelativeResize="0"/>
          <p:nvPr/>
        </p:nvPicPr>
        <p:blipFill rotWithShape="1">
          <a:blip r:embed="rId3">
            <a:alphaModFix/>
          </a:blip>
          <a:srcRect b="0" l="0" r="0" t="0"/>
          <a:stretch/>
        </p:blipFill>
        <p:spPr>
          <a:xfrm>
            <a:off x="3338512" y="2362200"/>
            <a:ext cx="5514975" cy="2133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5"/>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418" name="Google Shape;418;p55"/>
          <p:cNvPicPr preferRelativeResize="0"/>
          <p:nvPr/>
        </p:nvPicPr>
        <p:blipFill rotWithShape="1">
          <a:blip r:embed="rId3">
            <a:alphaModFix/>
          </a:blip>
          <a:srcRect b="0" l="0" r="0" t="0"/>
          <a:stretch/>
        </p:blipFill>
        <p:spPr>
          <a:xfrm>
            <a:off x="1696825" y="1119924"/>
            <a:ext cx="8829675" cy="5391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6"/>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424" name="Google Shape;424;p56"/>
          <p:cNvPicPr preferRelativeResize="0"/>
          <p:nvPr/>
        </p:nvPicPr>
        <p:blipFill rotWithShape="1">
          <a:blip r:embed="rId3">
            <a:alphaModFix/>
          </a:blip>
          <a:srcRect b="0" l="0" r="0" t="0"/>
          <a:stretch/>
        </p:blipFill>
        <p:spPr>
          <a:xfrm>
            <a:off x="1443037" y="1119433"/>
            <a:ext cx="9305925" cy="5486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430" name="Google Shape;430;p57"/>
          <p:cNvPicPr preferRelativeResize="0"/>
          <p:nvPr/>
        </p:nvPicPr>
        <p:blipFill rotWithShape="1">
          <a:blip r:embed="rId3">
            <a:alphaModFix/>
          </a:blip>
          <a:srcRect b="0" l="0" r="0" t="0"/>
          <a:stretch/>
        </p:blipFill>
        <p:spPr>
          <a:xfrm>
            <a:off x="1696825" y="1111381"/>
            <a:ext cx="9486900" cy="5219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8"/>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436" name="Google Shape;436;p58"/>
          <p:cNvPicPr preferRelativeResize="0"/>
          <p:nvPr/>
        </p:nvPicPr>
        <p:blipFill rotWithShape="1">
          <a:blip r:embed="rId3">
            <a:alphaModFix/>
          </a:blip>
          <a:srcRect b="0" l="0" r="0" t="0"/>
          <a:stretch/>
        </p:blipFill>
        <p:spPr>
          <a:xfrm>
            <a:off x="1696825" y="1256857"/>
            <a:ext cx="9029700" cy="5343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9"/>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pic>
        <p:nvPicPr>
          <p:cNvPr id="442" name="Google Shape;442;p59"/>
          <p:cNvPicPr preferRelativeResize="0"/>
          <p:nvPr/>
        </p:nvPicPr>
        <p:blipFill rotWithShape="1">
          <a:blip r:embed="rId3">
            <a:alphaModFix/>
          </a:blip>
          <a:srcRect b="0" l="0" r="0" t="0"/>
          <a:stretch/>
        </p:blipFill>
        <p:spPr>
          <a:xfrm>
            <a:off x="1945996" y="1044706"/>
            <a:ext cx="8658225" cy="53530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0"/>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48" name="Google Shape;448;p60"/>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a:t>mmm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1"/>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54" name="Google Shape;454;p61"/>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a:t>mmm</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2"/>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60" name="Google Shape;460;p62"/>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a:t>mmm</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3"/>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66" name="Google Shape;466;p63"/>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a:t>mmm</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type="title"/>
          </p:nvPr>
        </p:nvSpPr>
        <p:spPr>
          <a:xfrm>
            <a:off x="1696825" y="143343"/>
            <a:ext cx="10360057" cy="7239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Optimality of A* Search Algorithm </a:t>
            </a:r>
            <a:endParaRPr/>
          </a:p>
        </p:txBody>
      </p:sp>
      <p:sp>
        <p:nvSpPr>
          <p:cNvPr id="472" name="Google Shape;472;p64"/>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228600" lvl="0" marL="342900" rtl="0" algn="l">
              <a:spcBef>
                <a:spcPts val="0"/>
              </a:spcBef>
              <a:spcAft>
                <a:spcPts val="0"/>
              </a:spcAft>
              <a:buSzPts val="1800"/>
              <a:buNone/>
            </a:pPr>
            <a:r>
              <a:t/>
            </a:r>
            <a:endParaRPr/>
          </a:p>
          <a:p>
            <a:pPr indent="-342900" lvl="0" marL="342900" rtl="0" algn="l">
              <a:spcBef>
                <a:spcPts val="1000"/>
              </a:spcBef>
              <a:spcAft>
                <a:spcPts val="0"/>
              </a:spcAft>
              <a:buSzPts val="1800"/>
              <a:buChar char="🠶"/>
            </a:pPr>
            <a:r>
              <a:rPr lang="en-US" u="sng">
                <a:solidFill>
                  <a:schemeClr val="hlink"/>
                </a:solidFill>
                <a:hlinkClick r:id="rId3"/>
              </a:rPr>
              <a:t>https://www.youtube.com/watch?v=5__0M9oezyA</a:t>
            </a:r>
            <a:endParaRPr/>
          </a:p>
          <a:p>
            <a:pPr indent="-342900" lvl="0" marL="342900" rtl="0" algn="l">
              <a:spcBef>
                <a:spcPts val="1000"/>
              </a:spcBef>
              <a:spcAft>
                <a:spcPts val="0"/>
              </a:spcAft>
              <a:buSzPts val="1800"/>
              <a:buChar char="🠶"/>
            </a:pPr>
            <a:r>
              <a:rPr lang="en-US" u="sng">
                <a:solidFill>
                  <a:schemeClr val="hlink"/>
                </a:solidFill>
                <a:hlinkClick r:id="rId4"/>
              </a:rPr>
              <a:t>https://www.youtube.com/watch?v=bFuYpf6-06o</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Century Gothic"/>
              <a:buNone/>
            </a:pPr>
            <a:r>
              <a:rPr lang="en-US"/>
              <a:t>Random Variable</a:t>
            </a:r>
            <a:endParaRPr/>
          </a:p>
        </p:txBody>
      </p:sp>
      <p:sp>
        <p:nvSpPr>
          <p:cNvPr id="478" name="Google Shape;478;p65"/>
          <p:cNvSpPr txBox="1"/>
          <p:nvPr>
            <p:ph idx="1" type="body"/>
          </p:nvPr>
        </p:nvSpPr>
        <p:spPr>
          <a:xfrm>
            <a:off x="2344115" y="1540189"/>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The </a:t>
            </a:r>
            <a:r>
              <a:rPr lang="en-US" u="sng">
                <a:solidFill>
                  <a:schemeClr val="hlink"/>
                </a:solidFill>
                <a:hlinkClick r:id="rId3"/>
              </a:rPr>
              <a:t>domain</a:t>
            </a:r>
            <a:r>
              <a:rPr lang="en-US"/>
              <a:t> </a:t>
            </a:r>
            <a:endParaRPr/>
          </a:p>
          <a:p>
            <a:pPr indent="-228600" lvl="0" marL="342900" rtl="0" algn="l">
              <a:spcBef>
                <a:spcPts val="100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