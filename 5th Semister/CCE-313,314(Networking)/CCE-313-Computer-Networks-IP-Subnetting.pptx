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ricolage Grotesque Semi Bold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Tw Cen MT" panose="020B06020201040206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80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587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594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858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474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2373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911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651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569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710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5825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651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838283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719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6399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7619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718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2751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559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771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14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055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926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3894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922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5110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9685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62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80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19" Type="http://schemas.openxmlformats.org/officeDocument/2006/relationships/image" Target="../media/image39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83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CCE 313 – Computer Networks: IP Subnetting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280190" y="35760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Nazmus Sakib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ID: 2102066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B.Sc. CSE – 5th Semester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6048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24/11/2025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9C5DD3C-EDA7-A13F-A574-1B10FCC4EFD1}"/>
              </a:ext>
            </a:extLst>
          </p:cNvPr>
          <p:cNvSpPr/>
          <p:nvPr/>
        </p:nvSpPr>
        <p:spPr>
          <a:xfrm>
            <a:off x="6252114" y="48397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Reg: 10193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25"/>
    </mc:Choice>
    <mc:Fallback>
      <p:transition spd="slow" advTm="294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452" y="1536118"/>
            <a:ext cx="7273966" cy="493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Introduction to IP Subnetting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38276" y="2389126"/>
            <a:ext cx="1522452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53452" y="2770823"/>
            <a:ext cx="7158790" cy="394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Subnetting is the strategic division of a large network into smaller, more manageable logical networks. This process is fundamental for the efficient organisation and allocation of IP addresses within any robust network infrastructure.</a:t>
            </a:r>
          </a:p>
          <a:p>
            <a:pPr marL="0" indent="0" algn="l">
              <a:buNone/>
            </a:pPr>
            <a:endParaRPr lang="en-US" sz="2400" dirty="0">
              <a:solidFill>
                <a:srgbClr val="2C292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serves as a critical tool for network administrators to optimize network performance and resource utilization.</a:t>
            </a:r>
            <a:endParaRPr lang="en-US" sz="2400" dirty="0"/>
          </a:p>
          <a:p>
            <a:pPr marL="0" indent="0" algn="l">
              <a:buNone/>
            </a:pPr>
            <a:endParaRPr lang="en-US" sz="2400" dirty="0">
              <a:solidFill>
                <a:srgbClr val="2C2926"/>
              </a:solidFill>
              <a:latin typeface="Inter" pitchFamily="34" charset="0"/>
              <a:ea typeface="Inter" pitchFamily="34" charset="-122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183" y="974489"/>
            <a:ext cx="6379217" cy="59718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60"/>
    </mc:Choice>
    <mc:Fallback>
      <p:transition spd="slow" advTm="193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402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184" y="6056311"/>
            <a:ext cx="12702659" cy="14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Subnetting is used to split a large network into smaller logical sub-networks. Without subnetting, large networks face broadcast storms, inefficient IP usage, congestion, and weak security </a:t>
            </a:r>
            <a:r>
              <a:rPr lang="en-US" sz="2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Subnetting helps optimise performance and ensures better management of IP addresses.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55691" y="5966670"/>
            <a:ext cx="45719" cy="1599009"/>
          </a:xfrm>
          <a:prstGeom prst="rect">
            <a:avLst/>
          </a:prstGeom>
          <a:solidFill>
            <a:srgbClr val="E7BF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2180" y="3069515"/>
            <a:ext cx="1522452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02180" y="3362035"/>
            <a:ext cx="674036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proper subnetting, large networks are prone to </a:t>
            </a:r>
          </a:p>
          <a:p>
            <a:pPr marL="0" indent="0" algn="l">
              <a:buNone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critical issues: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02180" y="3910140"/>
            <a:ext cx="674036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storms: Excessive broadcast traffic can </a:t>
            </a:r>
          </a:p>
          <a:p>
            <a:pPr algn="l">
              <a:buSzPct val="100000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overwhelm network devices.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02180" y="4593802"/>
            <a:ext cx="674036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wastage: Inefficient allocation leads to unused IP addresses.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02180" y="4936004"/>
            <a:ext cx="674036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Congestion: Unnecessary traffic causes network slowdowns.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02180" y="5211162"/>
            <a:ext cx="674036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security segmentation: Difficulty in isolating </a:t>
            </a:r>
          </a:p>
          <a:p>
            <a:pPr algn="l">
              <a:buSzPct val="100000"/>
            </a:pPr>
            <a:r>
              <a:rPr lang="en-US" sz="1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vulnerable sections.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048916" y="3242067"/>
            <a:ext cx="1522452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Importance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48916" y="3617960"/>
            <a:ext cx="6740366" cy="1444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IP subnetting profoundly enhances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performance, significantly reducing broadcast traffic and bolstering security segmentation across the network. This results in a more stable, secure, and efficient operating environment.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298"/>
    </mc:Choice>
    <mc:Fallback>
      <p:transition spd="slow" advTm="4729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7189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3753" y="395764"/>
            <a:ext cx="6328291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IP Address Structure &amp; Subnet Mask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3753" y="1205151"/>
            <a:ext cx="1799153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IPv4 Structure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3753" y="1573768"/>
            <a:ext cx="3892748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IPv4 address is a 32-bit numerical label assigned to devices connected to a computer network. It is conventionally represented in dot-decimal notation.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3753" y="2394109"/>
            <a:ext cx="3892748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comprises two main parts: a Network part and a Host part.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3753" y="2905006"/>
            <a:ext cx="389274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</a:t>
            </a:r>
            <a:r>
              <a:rPr lang="en-US" sz="120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5118" y="1205151"/>
            <a:ext cx="1799153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Subnet Mask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55118" y="1573768"/>
            <a:ext cx="3892748" cy="921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subnet mask is a 32-bit number that distinguishes the network part of an IP address from the host part. It effectively determines how many bits are used for the network identification.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5118" y="2624376"/>
            <a:ext cx="389274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5118" y="2905006"/>
            <a:ext cx="3892748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255.255.255.0 (/24)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A common mask for smaller networks.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5118" y="3415903"/>
            <a:ext cx="3892748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255.255.255.192 (/26)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A mask indicating more subnets.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5118" y="3926800"/>
            <a:ext cx="3892748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255.255.255.252 (/30)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Often used for point-to-point links.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" y="3876437"/>
            <a:ext cx="7500722" cy="35346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54481" y="4385871"/>
            <a:ext cx="1757220" cy="22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Host Bits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754481" y="4649268"/>
            <a:ext cx="1936847" cy="359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Specifies individual device addresses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0" y="5195085"/>
            <a:ext cx="1757221" cy="22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Subnet Bits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1373" y="5549350"/>
            <a:ext cx="1780651" cy="359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subnetwork segmentation and mask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54481" y="6122145"/>
            <a:ext cx="1757220" cy="224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Network Bits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733068" y="6379064"/>
            <a:ext cx="1936847" cy="359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the routing network portion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986"/>
    </mc:Choice>
    <mc:Fallback>
      <p:transition spd="slow" advTm="3598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20351" y="3133844"/>
            <a:ext cx="7588944" cy="2225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IPv4 address has 32 bits divided into network and host portions. The subnet mask indicates how many bits belong to the network. For example, /24 uses 24 bits for the network. When we create subnets, we adjust this mask to allocate bits differently.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448633" y="3061652"/>
            <a:ext cx="45719" cy="1961912"/>
          </a:xfrm>
          <a:prstGeom prst="rect">
            <a:avLst/>
          </a:prstGeom>
          <a:solidFill>
            <a:srgbClr val="E7BF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8" name="Picture 4" descr="What is a Network Engineer?">
            <a:extLst>
              <a:ext uri="{FF2B5EF4-FFF2-40B4-BE49-F238E27FC236}">
                <a16:creationId xmlns:a16="http://schemas.microsoft.com/office/drawing/2014/main" id="{E55D86BA-0137-812D-5711-D62DD2CC2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7885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598"/>
    </mc:Choice>
    <mc:Fallback>
      <p:transition spd="slow" advTm="3459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693" y="594241"/>
            <a:ext cx="4653201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How Subnetting Works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3" y="1454706"/>
            <a:ext cx="4484965" cy="671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571" y="2294215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Borrow Bits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5571" y="2657237"/>
            <a:ext cx="4149209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Subnetting fundamentally involves 'borrowing' bits from the host portion of an IP address. These borrowed bits are then used to create additional network addresses, effectively segmenting the larger network.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658" y="1454706"/>
            <a:ext cx="4484965" cy="671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0536" y="2294215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Create Subnets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240536" y="2657237"/>
            <a:ext cx="4149209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borrowing bits, we create multiple, smaller, independent networks, known as subnets. Each subnet operates as its own broadcast domain, reducing overall network traffic and improving efficiency.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623" y="1454706"/>
            <a:ext cx="4484965" cy="671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25501" y="2294215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Apply Formulas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725501" y="2657237"/>
            <a:ext cx="4149209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formulas are used to calculate the number of subnets and the number of usable hosts within each subnet, ensuring precise network planning.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87693" y="4356973"/>
            <a:ext cx="6643568" cy="219134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91" y="4532471"/>
            <a:ext cx="503634" cy="50363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660" y="4670941"/>
            <a:ext cx="226576" cy="2265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3191" y="5203984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Number of Subnets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763191" y="5567005"/>
            <a:ext cx="629257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 as 2ⁿ, where 'n' represents the number of borrowed bits from the host portion. This directly determines how many subnets can be created.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399139" y="4356973"/>
            <a:ext cx="6643568" cy="219134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4637" y="4532471"/>
            <a:ext cx="503634" cy="50363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3107" y="4670941"/>
            <a:ext cx="226576" cy="22657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574637" y="5203984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Hosts per Subnet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7574637" y="5567005"/>
            <a:ext cx="6292572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Determined by 2ʰ – 2, where 'h' is the number of remaining host bits. The subtraction of two accounts for the network address and the broadcast address, which are not assignable to hosts.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018"/>
    </mc:Choice>
    <mc:Fallback>
      <p:transition spd="slow" advTm="4801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7412" y="5974033"/>
            <a:ext cx="127026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Subnetting works by borrowing bits from the host portion. If we borrow </a:t>
            </a:r>
            <a:r>
              <a:rPr lang="en-US" sz="240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bits, we get 2ⁿ subnets. If we have </a:t>
            </a:r>
            <a:r>
              <a:rPr lang="en-US" sz="240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remaining host bits, we get 2ʰ minus 2 usable hosts. For example, turning /24 into /26 involves borrowing 2 bits, which creates 4 equal-sized subnets.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62432" y="5718882"/>
            <a:ext cx="30480" cy="1599009"/>
          </a:xfrm>
          <a:prstGeom prst="rect">
            <a:avLst/>
          </a:prstGeom>
          <a:solidFill>
            <a:srgbClr val="E7BF6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2" name="Text 13"/>
          <p:cNvSpPr/>
          <p:nvPr/>
        </p:nvSpPr>
        <p:spPr>
          <a:xfrm>
            <a:off x="816295" y="3795932"/>
            <a:ext cx="462117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Example: Transitioning from /24 to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/26</a:t>
            </a:r>
            <a:endParaRPr lang="en-US" sz="2400" dirty="0"/>
          </a:p>
        </p:txBody>
      </p:sp>
      <p:sp>
        <p:nvSpPr>
          <p:cNvPr id="23" name="Text 14"/>
          <p:cNvSpPr/>
          <p:nvPr/>
        </p:nvSpPr>
        <p:spPr>
          <a:xfrm>
            <a:off x="735695" y="4696961"/>
            <a:ext cx="13566095" cy="64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borrowing 2 bits from the host portion of a /24 network, we generate </a:t>
            </a:r>
            <a:r>
              <a:rPr lang="en-US" sz="240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distinct subnets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provides a granular control over network segmentation and IP allocation.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35"/>
    </mc:Choice>
    <mc:Fallback>
      <p:transition spd="slow" advTm="1403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48388" y="520184"/>
            <a:ext cx="7820025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Subnetting Example (Worked Solution)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48388" y="2175272"/>
            <a:ext cx="2364462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Given: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148388" y="2659856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192.168.10.0/24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148388" y="3151584"/>
            <a:ext cx="2364462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Required: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148388" y="3636169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subnets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48388" y="4127897"/>
            <a:ext cx="2364462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Step 1: Borrow Bits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148388" y="4612481"/>
            <a:ext cx="3679269" cy="121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achieve 4 subnets, we need to borrow 2 bits (since 2² = 4). This changes the subnet mask from /24 to </a:t>
            </a: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/26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296763" y="2175272"/>
            <a:ext cx="3679269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Step 2: Determine Subnet Ranges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296763" y="2955369"/>
            <a:ext cx="3679269" cy="90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subnet will have a block size of 64 addresses (2^(32-26) = 2^6 = 64). The ranges are as follows: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296763" y="4033480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192.168.10.0 – 192.168.10.63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296763" y="4402336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192.168.10.64 – 192.168.10.127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296763" y="4771192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192.168.10.128 – 192.168.10.191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296763" y="5140047"/>
            <a:ext cx="367926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192.168.10.192 – 192.168.10.255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48388" y="6206014"/>
            <a:ext cx="7820025" cy="1504355"/>
          </a:xfrm>
          <a:prstGeom prst="roundRect">
            <a:avLst>
              <a:gd name="adj" fmla="val 729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28" y="6206014"/>
            <a:ext cx="91440" cy="150435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28899" y="6417945"/>
            <a:ext cx="2364462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Each Subnet: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428899" y="6826925"/>
            <a:ext cx="7327583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hosts: </a:t>
            </a:r>
            <a:r>
              <a:rPr lang="en-US" sz="1450" dirty="0">
                <a:solidFill>
                  <a:srgbClr val="C49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(64 total addresses - 2 for network/broadcast)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428899" y="7195780"/>
            <a:ext cx="7327583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address: Always the last address in each range.</a:t>
            </a:r>
            <a:endParaRPr lang="en-US" sz="1450" dirty="0"/>
          </a:p>
        </p:txBody>
      </p:sp>
      <p:pic>
        <p:nvPicPr>
          <p:cNvPr id="2054" name="Picture 6" descr="Subnetting Explained">
            <a:extLst>
              <a:ext uri="{FF2B5EF4-FFF2-40B4-BE49-F238E27FC236}">
                <a16:creationId xmlns:a16="http://schemas.microsoft.com/office/drawing/2014/main" id="{C70CE744-10A2-5ACD-E71D-3D69C4BF4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50495"/>
            <a:ext cx="5913597" cy="525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838"/>
    </mc:Choice>
    <mc:Fallback>
      <p:transition spd="slow" advTm="2583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86021" y="4434769"/>
            <a:ext cx="9393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 is a practical subnetting example. For the network 192.168.10.0/24, we need 4 subnets. By borrowing 2 bits we get a /26 mask. This gives us four subnets, each providing 62 usable host addresses. These ranges are clearly separated and help organise networks efficiently.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2345859" y="4179618"/>
            <a:ext cx="45719" cy="2324814"/>
          </a:xfrm>
          <a:prstGeom prst="rect">
            <a:avLst/>
          </a:prstGeom>
          <a:solidFill>
            <a:srgbClr val="E7BF6A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3074" name="Picture 2" descr="CCENT &amp; CCNA Exam Static Routing Overview | CertificationKits.com">
            <a:extLst>
              <a:ext uri="{FF2B5EF4-FFF2-40B4-BE49-F238E27FC236}">
                <a16:creationId xmlns:a16="http://schemas.microsoft.com/office/drawing/2014/main" id="{08264A83-A207-AC20-9653-BD8779A8F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74" y="452814"/>
            <a:ext cx="9227419" cy="3517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494"/>
    </mc:Choice>
    <mc:Fallback>
      <p:transition spd="slow" advTm="734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1607" y="584002"/>
            <a:ext cx="5300543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Analysis &amp; Practical Implications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607" y="1274445"/>
            <a:ext cx="404217" cy="404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4178" y="1388031"/>
            <a:ext cx="1684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Large Organisations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44178" y="1679377"/>
            <a:ext cx="3877508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for segmenting departments and improving network security and performance.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0041" y="1274445"/>
            <a:ext cx="404217" cy="4042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2613" y="1388031"/>
            <a:ext cx="267450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Universities &amp; Campus Networks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2613" y="1679377"/>
            <a:ext cx="3877627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vast numbers of devices and users across different faculties and dormitories.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8594" y="1274445"/>
            <a:ext cx="404217" cy="4042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81166" y="1388031"/>
            <a:ext cx="1684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ISPs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281166" y="1679377"/>
            <a:ext cx="3877627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for allocating IP addresses to millions of customers efficiently and managing network traffic.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607" y="2380059"/>
            <a:ext cx="404217" cy="4042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4178" y="2493645"/>
            <a:ext cx="183546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VLAN-based Networks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044178" y="2784991"/>
            <a:ext cx="3877508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seamlessly with VLANs to create logical broadcast domains, further enhancing network control.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90041" y="2380059"/>
            <a:ext cx="404217" cy="4042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62613" y="2493645"/>
            <a:ext cx="22201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Routers and Routing Tables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662613" y="2784991"/>
            <a:ext cx="3877627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for routers to correctly forward packets between different subnets, maintaining efficient data flow.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471607" y="3418284"/>
            <a:ext cx="2611160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Key Benefits of Subnetting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471607" y="3872984"/>
            <a:ext cx="13687187" cy="1783437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479227" y="3880604"/>
            <a:ext cx="6835973" cy="776288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13886" y="4015264"/>
            <a:ext cx="21444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Efficient IP Address Usage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13886" y="4306610"/>
            <a:ext cx="6364486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Minimises wastage of valuable IP addresses, ensuring resources are optimally utilised.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315200" y="3880604"/>
            <a:ext cx="6835973" cy="776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7315200" y="3880604"/>
            <a:ext cx="15240" cy="776288"/>
          </a:xfrm>
          <a:prstGeom prst="roundRect">
            <a:avLst>
              <a:gd name="adj" fmla="val 371356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7652028" y="4015264"/>
            <a:ext cx="224992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Smaller Broadcast Domains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652028" y="4306610"/>
            <a:ext cx="6364486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network congestion and enhances performance by limiting the scope of broadcast traffic.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146846" y="4100334"/>
            <a:ext cx="336828" cy="336828"/>
          </a:xfrm>
          <a:prstGeom prst="roundRect">
            <a:avLst>
              <a:gd name="adj" fmla="val 16802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31023" y="4184511"/>
            <a:ext cx="168354" cy="16835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79227" y="4656892"/>
            <a:ext cx="6835973" cy="9919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79227" y="4656892"/>
            <a:ext cx="6835973" cy="15240"/>
          </a:xfrm>
          <a:prstGeom prst="roundRect">
            <a:avLst>
              <a:gd name="adj" fmla="val 371356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613886" y="4791551"/>
            <a:ext cx="188154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Improved Performance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13886" y="5082897"/>
            <a:ext cx="6364486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to faster network response times and greater overall operational efficiency.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315200" y="4656892"/>
            <a:ext cx="6835973" cy="9919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7315200" y="4656892"/>
            <a:ext cx="15240" cy="991910"/>
          </a:xfrm>
          <a:prstGeom prst="roundRect">
            <a:avLst>
              <a:gd name="adj" fmla="val 371356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315200" y="4656892"/>
            <a:ext cx="6835973" cy="15240"/>
          </a:xfrm>
          <a:prstGeom prst="roundRect">
            <a:avLst>
              <a:gd name="adj" fmla="val 371356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7652028" y="4791551"/>
            <a:ext cx="242018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Better Security Segmentation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652028" y="5082897"/>
            <a:ext cx="6364486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for the isolation of network segments, preventing security breaches from spreading across the entire network.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146846" y="4984373"/>
            <a:ext cx="336828" cy="336828"/>
          </a:xfrm>
          <a:prstGeom prst="roundRect">
            <a:avLst>
              <a:gd name="adj" fmla="val 16802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31023" y="5068550"/>
            <a:ext cx="168354" cy="168354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9227" y="5897761"/>
            <a:ext cx="4485442" cy="1616988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2420" y="5897761"/>
            <a:ext cx="4485442" cy="1616988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65613" y="5897761"/>
            <a:ext cx="4485442" cy="1616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75"/>
    </mc:Choice>
    <mc:Fallback>
      <p:transition spd="slow" advTm="5967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1">
            <a:extLst>
              <a:ext uri="{FF2B5EF4-FFF2-40B4-BE49-F238E27FC236}">
                <a16:creationId xmlns:a16="http://schemas.microsoft.com/office/drawing/2014/main" id="{6995BA5A-7600-16D8-7679-2E4DFFEEBCC1}"/>
              </a:ext>
            </a:extLst>
          </p:cNvPr>
          <p:cNvSpPr/>
          <p:nvPr/>
        </p:nvSpPr>
        <p:spPr>
          <a:xfrm>
            <a:off x="2767264" y="1311441"/>
            <a:ext cx="9348536" cy="4993105"/>
          </a:xfrm>
          <a:prstGeom prst="pentago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C2BA2-297E-0E3D-9A96-F6E0E2809A68}"/>
              </a:ext>
            </a:extLst>
          </p:cNvPr>
          <p:cNvSpPr txBox="1"/>
          <p:nvPr/>
        </p:nvSpPr>
        <p:spPr>
          <a:xfrm>
            <a:off x="5654841" y="2526632"/>
            <a:ext cx="34771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Thank</a:t>
            </a:r>
          </a:p>
          <a:p>
            <a:pPr algn="ctr"/>
            <a:r>
              <a:rPr lang="en-US" sz="96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074657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144"/>
    </mc:Choice>
    <mc:Fallback>
      <p:transition spd="slow" advTm="20144"/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67</TotalTime>
  <Words>1037</Words>
  <Application>Microsoft Office PowerPoint</Application>
  <PresentationFormat>Custom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Bricolage Grotesque Semi Bold</vt:lpstr>
      <vt:lpstr>Tw Cen MT</vt:lpstr>
      <vt:lpstr>Inter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Nazmus Sakib</dc:creator>
  <cp:lastModifiedBy>Nazmus Sakib</cp:lastModifiedBy>
  <cp:revision>7</cp:revision>
  <dcterms:created xsi:type="dcterms:W3CDTF">2025-11-24T10:52:44Z</dcterms:created>
  <dcterms:modified xsi:type="dcterms:W3CDTF">2025-11-24T12:53:12Z</dcterms:modified>
</cp:coreProperties>
</file>