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4630400" cy="8229600"/>
  <p:notesSz cx="8229600" cy="14630400"/>
  <p:embeddedFontLst>
    <p:embeddedFont>
      <p:font typeface="Inter"/>
      <p:regular r:id="rId23"/>
    </p:embeddedFont>
    <p:embeddedFont>
      <p:font typeface="Inter"/>
      <p:regular r:id="rId24"/>
    </p:embeddedFont>
    <p:embeddedFont>
      <p:font typeface="Inter"/>
      <p:regular r:id="rId25"/>
    </p:embeddedFont>
    <p:embeddedFont>
      <p:font typeface="Inter"/>
      <p:regular r:id="rId26"/>
    </p:embeddedFont>
    <p:embeddedFont>
      <p:font typeface="Inter"/>
      <p:regular r:id="rId27"/>
    </p:embeddedFont>
    <p:embeddedFont>
      <p:font typeface="Inter"/>
      <p:regular r:id="rId28"/>
    </p:embeddedFont>
    <p:embeddedFont>
      <p:font typeface="Inter"/>
      <p:regular r:id="rId29"/>
    </p:embeddedFont>
    <p:embeddedFont>
      <p:font typeface="Inter"/>
      <p:regular r:id="rId3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font" Target="fonts/font5.fntdata"/><Relationship Id="rId28" Type="http://schemas.openxmlformats.org/officeDocument/2006/relationships/font" Target="fonts/font6.fntdata"/><Relationship Id="rId29" Type="http://schemas.openxmlformats.org/officeDocument/2006/relationships/font" Target="fonts/font7.fntdata"/><Relationship Id="rId3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slideLayout" Target="../slideLayouts/slideLayout1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svg"/><Relationship Id="rId4" Type="http://schemas.openxmlformats.org/officeDocument/2006/relationships/image" Target="../media/image-13-4.png"/><Relationship Id="rId5" Type="http://schemas.openxmlformats.org/officeDocument/2006/relationships/image" Target="../media/image-13-5.svg"/><Relationship Id="rId6" Type="http://schemas.openxmlformats.org/officeDocument/2006/relationships/image" Target="../media/image-13-6.png"/><Relationship Id="rId7" Type="http://schemas.openxmlformats.org/officeDocument/2006/relationships/image" Target="../media/image-13-7.svg"/><Relationship Id="rId8" Type="http://schemas.openxmlformats.org/officeDocument/2006/relationships/image" Target="../media/image-13-8.png"/><Relationship Id="rId9" Type="http://schemas.openxmlformats.org/officeDocument/2006/relationships/image" Target="../media/image-13-9.svg"/><Relationship Id="rId10" Type="http://schemas.openxmlformats.org/officeDocument/2006/relationships/slideLayout" Target="../slideLayouts/slideLayout14.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16-4.png"/><Relationship Id="rId5" Type="http://schemas.openxmlformats.org/officeDocument/2006/relationships/image" Target="../media/image-16-5.svg"/><Relationship Id="rId6" Type="http://schemas.openxmlformats.org/officeDocument/2006/relationships/image" Target="../media/image-16-6.png"/><Relationship Id="rId7" Type="http://schemas.openxmlformats.org/officeDocument/2006/relationships/image" Target="../media/image-16-7.svg"/><Relationship Id="rId8" Type="http://schemas.openxmlformats.org/officeDocument/2006/relationships/image" Target="../media/image-16-8.png"/><Relationship Id="rId9" Type="http://schemas.openxmlformats.org/officeDocument/2006/relationships/image" Target="../media/image-16-9.svg"/><Relationship Id="rId10" Type="http://schemas.openxmlformats.org/officeDocument/2006/relationships/image" Target="../media/image-16-10.png"/><Relationship Id="rId11" Type="http://schemas.openxmlformats.org/officeDocument/2006/relationships/image" Target="../media/image-16-11.svg"/><Relationship Id="rId12" Type="http://schemas.openxmlformats.org/officeDocument/2006/relationships/slideLayout" Target="../slideLayouts/slideLayout17.xml"/><Relationship Id="rId1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751177"/>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The Web and HTTP</a:t>
            </a:r>
            <a:endParaRPr lang="en-US" sz="4450" dirty="0"/>
          </a:p>
        </p:txBody>
      </p:sp>
      <p:sp>
        <p:nvSpPr>
          <p:cNvPr id="4" name="Text 1"/>
          <p:cNvSpPr/>
          <p:nvPr/>
        </p:nvSpPr>
        <p:spPr>
          <a:xfrm>
            <a:off x="793790" y="3550682"/>
            <a:ext cx="7556421" cy="1133951"/>
          </a:xfrm>
          <a:prstGeom prst="rect">
            <a:avLst/>
          </a:prstGeom>
          <a:noFill/>
          <a:ln/>
        </p:spPr>
        <p:txBody>
          <a:bodyPr wrap="squar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Understanding HTTP, HTTPS &amp; Network Behavior</a:t>
            </a:r>
            <a:endParaRPr lang="en-US" sz="3550" dirty="0"/>
          </a:p>
        </p:txBody>
      </p:sp>
      <p:sp>
        <p:nvSpPr>
          <p:cNvPr id="5" name="Text 2"/>
          <p:cNvSpPr/>
          <p:nvPr/>
        </p:nvSpPr>
        <p:spPr>
          <a:xfrm>
            <a:off x="793790" y="5024795"/>
            <a:ext cx="7556421" cy="453509"/>
          </a:xfrm>
          <a:prstGeom prst="rect">
            <a:avLst/>
          </a:prstGeom>
          <a:noFill/>
          <a:ln/>
        </p:spPr>
        <p:txBody>
          <a:bodyPr wrap="none" lIns="0" tIns="0" rIns="0" bIns="0" rtlCol="0" anchor="t"/>
          <a:lstStyle/>
          <a:p>
            <a:pPr algn="l" indent="0" marL="0">
              <a:lnSpc>
                <a:spcPts val="3550"/>
              </a:lnSpc>
              <a:buNone/>
            </a:pPr>
            <a:r>
              <a:rPr lang="en-US" sz="2200" dirty="0">
                <a:solidFill>
                  <a:srgbClr val="272525"/>
                </a:solidFill>
                <a:latin typeface="Inter" pitchFamily="34" charset="0"/>
                <a:ea typeface="Inter" pitchFamily="34" charset="-122"/>
                <a:cs typeface="Inter" pitchFamily="34" charset="-120"/>
              </a:rPr>
              <a:t>Presented by Sandipta Saha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4012" y="521613"/>
            <a:ext cx="8848011" cy="592931"/>
          </a:xfrm>
          <a:prstGeom prst="rect">
            <a:avLst/>
          </a:prstGeom>
          <a:noFill/>
          <a:ln/>
        </p:spPr>
        <p:txBody>
          <a:bodyPr wrap="none" lIns="0" tIns="0" rIns="0" bIns="0" rtlCol="0" anchor="t"/>
          <a:lstStyle/>
          <a:p>
            <a:pPr algn="l" indent="0" marL="0">
              <a:lnSpc>
                <a:spcPts val="4650"/>
              </a:lnSpc>
              <a:buNone/>
            </a:pPr>
            <a:r>
              <a:rPr lang="en-US" sz="3700" b="1" dirty="0">
                <a:solidFill>
                  <a:srgbClr val="000000"/>
                </a:solidFill>
                <a:latin typeface="Inter Bold" pitchFamily="34" charset="0"/>
                <a:ea typeface="Inter Bold" pitchFamily="34" charset="-122"/>
                <a:cs typeface="Inter Bold" pitchFamily="34" charset="-120"/>
              </a:rPr>
              <a:t>What Happens When You Type a URL?</a:t>
            </a:r>
            <a:endParaRPr lang="en-US" sz="3700" dirty="0"/>
          </a:p>
        </p:txBody>
      </p:sp>
      <p:sp>
        <p:nvSpPr>
          <p:cNvPr id="3" name="Text 1"/>
          <p:cNvSpPr/>
          <p:nvPr/>
        </p:nvSpPr>
        <p:spPr>
          <a:xfrm>
            <a:off x="664012" y="1493877"/>
            <a:ext cx="13302377" cy="60674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Ever wondered what intricate dance unfolds when you type a URL and hit Enter? It's a complex interplay of protocols and systems working seamlessly.</a:t>
            </a:r>
            <a:endParaRPr lang="en-US" sz="1450" dirty="0"/>
          </a:p>
        </p:txBody>
      </p:sp>
      <p:sp>
        <p:nvSpPr>
          <p:cNvPr id="4" name="Shape 2"/>
          <p:cNvSpPr/>
          <p:nvPr/>
        </p:nvSpPr>
        <p:spPr>
          <a:xfrm>
            <a:off x="664012" y="2598539"/>
            <a:ext cx="4307681" cy="1400413"/>
          </a:xfrm>
          <a:prstGeom prst="roundRect">
            <a:avLst>
              <a:gd name="adj" fmla="val 7835"/>
            </a:avLst>
          </a:prstGeom>
          <a:solidFill>
            <a:srgbClr val="FFFFFF"/>
          </a:solidFill>
          <a:ln/>
        </p:spPr>
      </p:sp>
      <p:sp>
        <p:nvSpPr>
          <p:cNvPr id="5" name="Shape 3"/>
          <p:cNvSpPr/>
          <p:nvPr/>
        </p:nvSpPr>
        <p:spPr>
          <a:xfrm>
            <a:off x="664012" y="2575679"/>
            <a:ext cx="4307681" cy="91440"/>
          </a:xfrm>
          <a:prstGeom prst="roundRect">
            <a:avLst>
              <a:gd name="adj" fmla="val 87141"/>
            </a:avLst>
          </a:prstGeom>
          <a:solidFill>
            <a:srgbClr val="4950BC"/>
          </a:solidFill>
          <a:ln/>
        </p:spPr>
      </p:sp>
      <p:sp>
        <p:nvSpPr>
          <p:cNvPr id="6" name="Shape 4"/>
          <p:cNvSpPr/>
          <p:nvPr/>
        </p:nvSpPr>
        <p:spPr>
          <a:xfrm>
            <a:off x="2533293" y="2313980"/>
            <a:ext cx="569119" cy="569119"/>
          </a:xfrm>
          <a:prstGeom prst="roundRect">
            <a:avLst>
              <a:gd name="adj" fmla="val 160669"/>
            </a:avLst>
          </a:prstGeom>
          <a:solidFill>
            <a:srgbClr val="4950BC"/>
          </a:solidFill>
          <a:ln/>
        </p:spPr>
      </p:sp>
      <p:sp>
        <p:nvSpPr>
          <p:cNvPr id="7" name="Text 5"/>
          <p:cNvSpPr/>
          <p:nvPr/>
        </p:nvSpPr>
        <p:spPr>
          <a:xfrm>
            <a:off x="2704028" y="2456259"/>
            <a:ext cx="227647" cy="284559"/>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Inter Bold" pitchFamily="34" charset="0"/>
                <a:ea typeface="Inter Bold" pitchFamily="34" charset="-122"/>
                <a:cs typeface="Inter Bold" pitchFamily="34" charset="-120"/>
              </a:rPr>
              <a:t>1</a:t>
            </a:r>
            <a:endParaRPr lang="en-US" sz="1750" dirty="0"/>
          </a:p>
        </p:txBody>
      </p:sp>
      <p:sp>
        <p:nvSpPr>
          <p:cNvPr id="8" name="Text 6"/>
          <p:cNvSpPr/>
          <p:nvPr/>
        </p:nvSpPr>
        <p:spPr>
          <a:xfrm>
            <a:off x="876538" y="3072765"/>
            <a:ext cx="2371368" cy="296466"/>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HTTP/HTTPS</a:t>
            </a:r>
            <a:endParaRPr lang="en-US" sz="1850" dirty="0"/>
          </a:p>
        </p:txBody>
      </p:sp>
      <p:sp>
        <p:nvSpPr>
          <p:cNvPr id="9" name="Text 7"/>
          <p:cNvSpPr/>
          <p:nvPr/>
        </p:nvSpPr>
        <p:spPr>
          <a:xfrm>
            <a:off x="876538" y="3483054"/>
            <a:ext cx="3882628" cy="303371"/>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The language of the web.</a:t>
            </a:r>
            <a:endParaRPr lang="en-US" sz="1450" dirty="0"/>
          </a:p>
        </p:txBody>
      </p:sp>
      <p:sp>
        <p:nvSpPr>
          <p:cNvPr id="10" name="Shape 8"/>
          <p:cNvSpPr/>
          <p:nvPr/>
        </p:nvSpPr>
        <p:spPr>
          <a:xfrm>
            <a:off x="5161359" y="2598539"/>
            <a:ext cx="4307681" cy="1400413"/>
          </a:xfrm>
          <a:prstGeom prst="roundRect">
            <a:avLst>
              <a:gd name="adj" fmla="val 7835"/>
            </a:avLst>
          </a:prstGeom>
          <a:solidFill>
            <a:srgbClr val="FFFFFF"/>
          </a:solidFill>
          <a:ln/>
        </p:spPr>
      </p:sp>
      <p:sp>
        <p:nvSpPr>
          <p:cNvPr id="11" name="Shape 9"/>
          <p:cNvSpPr/>
          <p:nvPr/>
        </p:nvSpPr>
        <p:spPr>
          <a:xfrm>
            <a:off x="5161359" y="2575679"/>
            <a:ext cx="4307681" cy="91440"/>
          </a:xfrm>
          <a:prstGeom prst="roundRect">
            <a:avLst>
              <a:gd name="adj" fmla="val 87141"/>
            </a:avLst>
          </a:prstGeom>
          <a:solidFill>
            <a:srgbClr val="4950BC"/>
          </a:solidFill>
          <a:ln/>
        </p:spPr>
      </p:sp>
      <p:sp>
        <p:nvSpPr>
          <p:cNvPr id="12" name="Shape 10"/>
          <p:cNvSpPr/>
          <p:nvPr/>
        </p:nvSpPr>
        <p:spPr>
          <a:xfrm>
            <a:off x="7030641" y="2313980"/>
            <a:ext cx="569119" cy="569119"/>
          </a:xfrm>
          <a:prstGeom prst="roundRect">
            <a:avLst>
              <a:gd name="adj" fmla="val 160669"/>
            </a:avLst>
          </a:prstGeom>
          <a:solidFill>
            <a:srgbClr val="4950BC"/>
          </a:solidFill>
          <a:ln/>
        </p:spPr>
      </p:sp>
      <p:sp>
        <p:nvSpPr>
          <p:cNvPr id="13" name="Text 11"/>
          <p:cNvSpPr/>
          <p:nvPr/>
        </p:nvSpPr>
        <p:spPr>
          <a:xfrm>
            <a:off x="7201376" y="2456259"/>
            <a:ext cx="227647" cy="284559"/>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Inter Bold" pitchFamily="34" charset="0"/>
                <a:ea typeface="Inter Bold" pitchFamily="34" charset="-122"/>
                <a:cs typeface="Inter Bold" pitchFamily="34" charset="-120"/>
              </a:rPr>
              <a:t>2</a:t>
            </a:r>
            <a:endParaRPr lang="en-US" sz="1750" dirty="0"/>
          </a:p>
        </p:txBody>
      </p:sp>
      <p:sp>
        <p:nvSpPr>
          <p:cNvPr id="14" name="Text 12"/>
          <p:cNvSpPr/>
          <p:nvPr/>
        </p:nvSpPr>
        <p:spPr>
          <a:xfrm>
            <a:off x="5373886" y="3072765"/>
            <a:ext cx="2371368" cy="296466"/>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TCP</a:t>
            </a:r>
            <a:endParaRPr lang="en-US" sz="1850" dirty="0"/>
          </a:p>
        </p:txBody>
      </p:sp>
      <p:sp>
        <p:nvSpPr>
          <p:cNvPr id="15" name="Text 13"/>
          <p:cNvSpPr/>
          <p:nvPr/>
        </p:nvSpPr>
        <p:spPr>
          <a:xfrm>
            <a:off x="5373886" y="3483054"/>
            <a:ext cx="3882628" cy="303371"/>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Ensuring reliable data delivery.</a:t>
            </a:r>
            <a:endParaRPr lang="en-US" sz="1450" dirty="0"/>
          </a:p>
        </p:txBody>
      </p:sp>
      <p:sp>
        <p:nvSpPr>
          <p:cNvPr id="16" name="Shape 14"/>
          <p:cNvSpPr/>
          <p:nvPr/>
        </p:nvSpPr>
        <p:spPr>
          <a:xfrm>
            <a:off x="9658707" y="2598539"/>
            <a:ext cx="4307681" cy="1400413"/>
          </a:xfrm>
          <a:prstGeom prst="roundRect">
            <a:avLst>
              <a:gd name="adj" fmla="val 7835"/>
            </a:avLst>
          </a:prstGeom>
          <a:solidFill>
            <a:srgbClr val="FFFFFF"/>
          </a:solidFill>
          <a:ln/>
        </p:spPr>
      </p:sp>
      <p:sp>
        <p:nvSpPr>
          <p:cNvPr id="17" name="Shape 15"/>
          <p:cNvSpPr/>
          <p:nvPr/>
        </p:nvSpPr>
        <p:spPr>
          <a:xfrm>
            <a:off x="9658707" y="2575679"/>
            <a:ext cx="4307681" cy="91440"/>
          </a:xfrm>
          <a:prstGeom prst="roundRect">
            <a:avLst>
              <a:gd name="adj" fmla="val 87141"/>
            </a:avLst>
          </a:prstGeom>
          <a:solidFill>
            <a:srgbClr val="4950BC"/>
          </a:solidFill>
          <a:ln/>
        </p:spPr>
      </p:sp>
      <p:sp>
        <p:nvSpPr>
          <p:cNvPr id="18" name="Shape 16"/>
          <p:cNvSpPr/>
          <p:nvPr/>
        </p:nvSpPr>
        <p:spPr>
          <a:xfrm>
            <a:off x="11527988" y="2313980"/>
            <a:ext cx="569119" cy="569119"/>
          </a:xfrm>
          <a:prstGeom prst="roundRect">
            <a:avLst>
              <a:gd name="adj" fmla="val 160669"/>
            </a:avLst>
          </a:prstGeom>
          <a:solidFill>
            <a:srgbClr val="4950BC"/>
          </a:solidFill>
          <a:ln/>
        </p:spPr>
      </p:sp>
      <p:sp>
        <p:nvSpPr>
          <p:cNvPr id="19" name="Text 17"/>
          <p:cNvSpPr/>
          <p:nvPr/>
        </p:nvSpPr>
        <p:spPr>
          <a:xfrm>
            <a:off x="11698724" y="2456259"/>
            <a:ext cx="227647" cy="284559"/>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Inter Bold" pitchFamily="34" charset="0"/>
                <a:ea typeface="Inter Bold" pitchFamily="34" charset="-122"/>
                <a:cs typeface="Inter Bold" pitchFamily="34" charset="-120"/>
              </a:rPr>
              <a:t>3</a:t>
            </a:r>
            <a:endParaRPr lang="en-US" sz="1750" dirty="0"/>
          </a:p>
        </p:txBody>
      </p:sp>
      <p:sp>
        <p:nvSpPr>
          <p:cNvPr id="20" name="Text 18"/>
          <p:cNvSpPr/>
          <p:nvPr/>
        </p:nvSpPr>
        <p:spPr>
          <a:xfrm>
            <a:off x="9871234" y="3072765"/>
            <a:ext cx="2371368" cy="296466"/>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Web Servers</a:t>
            </a:r>
            <a:endParaRPr lang="en-US" sz="1850" dirty="0"/>
          </a:p>
        </p:txBody>
      </p:sp>
      <p:sp>
        <p:nvSpPr>
          <p:cNvPr id="21" name="Text 19"/>
          <p:cNvSpPr/>
          <p:nvPr/>
        </p:nvSpPr>
        <p:spPr>
          <a:xfrm>
            <a:off x="9871234" y="3483054"/>
            <a:ext cx="3882628" cy="303371"/>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Serving up content.</a:t>
            </a:r>
            <a:endParaRPr lang="en-US" sz="1450" dirty="0"/>
          </a:p>
        </p:txBody>
      </p:sp>
      <p:sp>
        <p:nvSpPr>
          <p:cNvPr id="22" name="Shape 20"/>
          <p:cNvSpPr/>
          <p:nvPr/>
        </p:nvSpPr>
        <p:spPr>
          <a:xfrm>
            <a:off x="664012" y="4473178"/>
            <a:ext cx="6556296" cy="1400413"/>
          </a:xfrm>
          <a:prstGeom prst="roundRect">
            <a:avLst>
              <a:gd name="adj" fmla="val 7835"/>
            </a:avLst>
          </a:prstGeom>
          <a:solidFill>
            <a:srgbClr val="FFFFFF"/>
          </a:solidFill>
          <a:ln/>
        </p:spPr>
      </p:sp>
      <p:sp>
        <p:nvSpPr>
          <p:cNvPr id="23" name="Shape 21"/>
          <p:cNvSpPr/>
          <p:nvPr/>
        </p:nvSpPr>
        <p:spPr>
          <a:xfrm>
            <a:off x="664012" y="4450318"/>
            <a:ext cx="6556296" cy="91440"/>
          </a:xfrm>
          <a:prstGeom prst="roundRect">
            <a:avLst>
              <a:gd name="adj" fmla="val 87141"/>
            </a:avLst>
          </a:prstGeom>
          <a:solidFill>
            <a:srgbClr val="4950BC"/>
          </a:solidFill>
          <a:ln/>
        </p:spPr>
      </p:sp>
      <p:sp>
        <p:nvSpPr>
          <p:cNvPr id="24" name="Shape 22"/>
          <p:cNvSpPr/>
          <p:nvPr/>
        </p:nvSpPr>
        <p:spPr>
          <a:xfrm>
            <a:off x="3657600" y="4188619"/>
            <a:ext cx="569119" cy="569119"/>
          </a:xfrm>
          <a:prstGeom prst="roundRect">
            <a:avLst>
              <a:gd name="adj" fmla="val 160669"/>
            </a:avLst>
          </a:prstGeom>
          <a:solidFill>
            <a:srgbClr val="4950BC"/>
          </a:solidFill>
          <a:ln/>
        </p:spPr>
      </p:sp>
      <p:sp>
        <p:nvSpPr>
          <p:cNvPr id="25" name="Text 23"/>
          <p:cNvSpPr/>
          <p:nvPr/>
        </p:nvSpPr>
        <p:spPr>
          <a:xfrm>
            <a:off x="3828336" y="4330898"/>
            <a:ext cx="227647" cy="284559"/>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Inter Bold" pitchFamily="34" charset="0"/>
                <a:ea typeface="Inter Bold" pitchFamily="34" charset="-122"/>
                <a:cs typeface="Inter Bold" pitchFamily="34" charset="-120"/>
              </a:rPr>
              <a:t>4</a:t>
            </a:r>
            <a:endParaRPr lang="en-US" sz="1750" dirty="0"/>
          </a:p>
        </p:txBody>
      </p:sp>
      <p:sp>
        <p:nvSpPr>
          <p:cNvPr id="26" name="Text 24"/>
          <p:cNvSpPr/>
          <p:nvPr/>
        </p:nvSpPr>
        <p:spPr>
          <a:xfrm>
            <a:off x="876538" y="4947404"/>
            <a:ext cx="2371368" cy="296466"/>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Browsers</a:t>
            </a:r>
            <a:endParaRPr lang="en-US" sz="1850" dirty="0"/>
          </a:p>
        </p:txBody>
      </p:sp>
      <p:sp>
        <p:nvSpPr>
          <p:cNvPr id="27" name="Text 25"/>
          <p:cNvSpPr/>
          <p:nvPr/>
        </p:nvSpPr>
        <p:spPr>
          <a:xfrm>
            <a:off x="876538" y="5357693"/>
            <a:ext cx="6131243" cy="303371"/>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Rendering the experience.</a:t>
            </a:r>
            <a:endParaRPr lang="en-US" sz="1450" dirty="0"/>
          </a:p>
        </p:txBody>
      </p:sp>
      <p:sp>
        <p:nvSpPr>
          <p:cNvPr id="28" name="Shape 26"/>
          <p:cNvSpPr/>
          <p:nvPr/>
        </p:nvSpPr>
        <p:spPr>
          <a:xfrm>
            <a:off x="7409974" y="4473178"/>
            <a:ext cx="6556415" cy="1400413"/>
          </a:xfrm>
          <a:prstGeom prst="roundRect">
            <a:avLst>
              <a:gd name="adj" fmla="val 7835"/>
            </a:avLst>
          </a:prstGeom>
          <a:solidFill>
            <a:srgbClr val="FFFFFF"/>
          </a:solidFill>
          <a:ln/>
        </p:spPr>
      </p:sp>
      <p:sp>
        <p:nvSpPr>
          <p:cNvPr id="29" name="Shape 27"/>
          <p:cNvSpPr/>
          <p:nvPr/>
        </p:nvSpPr>
        <p:spPr>
          <a:xfrm>
            <a:off x="7409974" y="4450318"/>
            <a:ext cx="6556415" cy="91440"/>
          </a:xfrm>
          <a:prstGeom prst="roundRect">
            <a:avLst>
              <a:gd name="adj" fmla="val 87141"/>
            </a:avLst>
          </a:prstGeom>
          <a:solidFill>
            <a:srgbClr val="4950BC"/>
          </a:solidFill>
          <a:ln/>
        </p:spPr>
      </p:sp>
      <p:sp>
        <p:nvSpPr>
          <p:cNvPr id="30" name="Shape 28"/>
          <p:cNvSpPr/>
          <p:nvPr/>
        </p:nvSpPr>
        <p:spPr>
          <a:xfrm>
            <a:off x="10403562" y="4188619"/>
            <a:ext cx="569119" cy="569119"/>
          </a:xfrm>
          <a:prstGeom prst="roundRect">
            <a:avLst>
              <a:gd name="adj" fmla="val 160669"/>
            </a:avLst>
          </a:prstGeom>
          <a:solidFill>
            <a:srgbClr val="4950BC"/>
          </a:solidFill>
          <a:ln/>
        </p:spPr>
      </p:sp>
      <p:sp>
        <p:nvSpPr>
          <p:cNvPr id="31" name="Text 29"/>
          <p:cNvSpPr/>
          <p:nvPr/>
        </p:nvSpPr>
        <p:spPr>
          <a:xfrm>
            <a:off x="10574298" y="4330898"/>
            <a:ext cx="227647" cy="284559"/>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Inter Bold" pitchFamily="34" charset="0"/>
                <a:ea typeface="Inter Bold" pitchFamily="34" charset="-122"/>
                <a:cs typeface="Inter Bold" pitchFamily="34" charset="-120"/>
              </a:rPr>
              <a:t>5</a:t>
            </a:r>
            <a:endParaRPr lang="en-US" sz="1750" dirty="0"/>
          </a:p>
        </p:txBody>
      </p:sp>
      <p:sp>
        <p:nvSpPr>
          <p:cNvPr id="32" name="Text 30"/>
          <p:cNvSpPr/>
          <p:nvPr/>
        </p:nvSpPr>
        <p:spPr>
          <a:xfrm>
            <a:off x="7622500" y="4947404"/>
            <a:ext cx="2371368" cy="296466"/>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Security</a:t>
            </a:r>
            <a:endParaRPr lang="en-US" sz="1850" dirty="0"/>
          </a:p>
        </p:txBody>
      </p:sp>
      <p:sp>
        <p:nvSpPr>
          <p:cNvPr id="33" name="Text 31"/>
          <p:cNvSpPr/>
          <p:nvPr/>
        </p:nvSpPr>
        <p:spPr>
          <a:xfrm>
            <a:off x="7622500" y="5357693"/>
            <a:ext cx="6131362" cy="303371"/>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Protecting your data.</a:t>
            </a:r>
            <a:endParaRPr lang="en-US" sz="1450" dirty="0"/>
          </a:p>
        </p:txBody>
      </p:sp>
      <p:sp>
        <p:nvSpPr>
          <p:cNvPr id="34" name="Text 32"/>
          <p:cNvSpPr/>
          <p:nvPr/>
        </p:nvSpPr>
        <p:spPr>
          <a:xfrm>
            <a:off x="664012" y="6158151"/>
            <a:ext cx="2845713" cy="355640"/>
          </a:xfrm>
          <a:prstGeom prst="rect">
            <a:avLst/>
          </a:prstGeom>
          <a:noFill/>
          <a:ln/>
        </p:spPr>
        <p:txBody>
          <a:bodyPr wrap="none" lIns="0" tIns="0" rIns="0" bIns="0" rtlCol="0" anchor="t"/>
          <a:lstStyle/>
          <a:p>
            <a:pPr algn="l" indent="0" marL="0">
              <a:lnSpc>
                <a:spcPts val="2800"/>
              </a:lnSpc>
              <a:buNone/>
            </a:pPr>
            <a:r>
              <a:rPr lang="en-US" sz="2200" b="1" dirty="0">
                <a:solidFill>
                  <a:srgbClr val="000000"/>
                </a:solidFill>
                <a:latin typeface="Inter Bold" pitchFamily="34" charset="0"/>
                <a:ea typeface="Inter Bold" pitchFamily="34" charset="-122"/>
                <a:cs typeface="Inter Bold" pitchFamily="34" charset="-120"/>
              </a:rPr>
              <a:t>Today's Goals</a:t>
            </a:r>
            <a:endParaRPr lang="en-US" sz="2200" dirty="0"/>
          </a:p>
        </p:txBody>
      </p:sp>
      <p:pic>
        <p:nvPicPr>
          <p:cNvPr id="3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5092" y="6807696"/>
            <a:ext cx="284559" cy="284559"/>
          </a:xfrm>
          <a:prstGeom prst="rect">
            <a:avLst/>
          </a:prstGeom>
        </p:spPr>
      </p:pic>
      <p:sp>
        <p:nvSpPr>
          <p:cNvPr id="36" name="Text 33"/>
          <p:cNvSpPr/>
          <p:nvPr/>
        </p:nvSpPr>
        <p:spPr>
          <a:xfrm>
            <a:off x="1280517" y="6798350"/>
            <a:ext cx="3659505" cy="60674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Learn core HTTP concepts and its foundational role in web communication.</a:t>
            </a:r>
            <a:endParaRPr lang="en-US" sz="1450" dirty="0"/>
          </a:p>
        </p:txBody>
      </p:sp>
      <p:pic>
        <p:nvPicPr>
          <p:cNvPr id="3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8156" y="6807696"/>
            <a:ext cx="284559" cy="284559"/>
          </a:xfrm>
          <a:prstGeom prst="rect">
            <a:avLst/>
          </a:prstGeom>
        </p:spPr>
      </p:pic>
      <p:sp>
        <p:nvSpPr>
          <p:cNvPr id="38" name="Text 34"/>
          <p:cNvSpPr/>
          <p:nvPr/>
        </p:nvSpPr>
        <p:spPr>
          <a:xfrm>
            <a:off x="5793581" y="6798350"/>
            <a:ext cx="3659624" cy="60674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Understand the critical differences and benefits of HTTP vs HTTPS.</a:t>
            </a:r>
            <a:endParaRPr lang="en-US" sz="1450" dirty="0"/>
          </a:p>
        </p:txBody>
      </p:sp>
      <p:pic>
        <p:nvPicPr>
          <p:cNvPr id="3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61339" y="6807696"/>
            <a:ext cx="284559" cy="284559"/>
          </a:xfrm>
          <a:prstGeom prst="rect">
            <a:avLst/>
          </a:prstGeom>
        </p:spPr>
      </p:pic>
      <p:sp>
        <p:nvSpPr>
          <p:cNvPr id="40" name="Text 35"/>
          <p:cNvSpPr/>
          <p:nvPr/>
        </p:nvSpPr>
        <p:spPr>
          <a:xfrm>
            <a:off x="10306764" y="6798350"/>
            <a:ext cx="3659624" cy="910114"/>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Connect theoretical knowledge with practical application using a Wireshark-based demo.</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9847" y="534829"/>
            <a:ext cx="2428161" cy="303371"/>
          </a:xfrm>
          <a:prstGeom prst="rect">
            <a:avLst/>
          </a:prstGeom>
          <a:noFill/>
          <a:ln/>
        </p:spPr>
        <p:txBody>
          <a:bodyPr wrap="none" lIns="0" tIns="0" rIns="0" bIns="0" rtlCol="0" anchor="t"/>
          <a:lstStyle/>
          <a:p>
            <a:pPr algn="l" indent="0" marL="0">
              <a:lnSpc>
                <a:spcPts val="2350"/>
              </a:lnSpc>
              <a:buNone/>
            </a:pPr>
            <a:r>
              <a:rPr lang="en-US" sz="1900" b="1" dirty="0">
                <a:solidFill>
                  <a:srgbClr val="000000"/>
                </a:solidFill>
                <a:latin typeface="Inter Bold" pitchFamily="34" charset="0"/>
                <a:ea typeface="Inter Bold" pitchFamily="34" charset="-122"/>
                <a:cs typeface="Inter Bold" pitchFamily="34" charset="-120"/>
              </a:rPr>
              <a:t>SECTION 1</a:t>
            </a:r>
            <a:endParaRPr lang="en-US" sz="1900" dirty="0"/>
          </a:p>
        </p:txBody>
      </p:sp>
      <p:sp>
        <p:nvSpPr>
          <p:cNvPr id="3" name="Text 1"/>
          <p:cNvSpPr/>
          <p:nvPr/>
        </p:nvSpPr>
        <p:spPr>
          <a:xfrm>
            <a:off x="679847" y="915829"/>
            <a:ext cx="13270706" cy="1213961"/>
          </a:xfrm>
          <a:prstGeom prst="rect">
            <a:avLst/>
          </a:prstGeom>
          <a:noFill/>
          <a:ln/>
        </p:spPr>
        <p:txBody>
          <a:bodyPr wrap="square" lIns="0" tIns="0" rIns="0" bIns="0" rtlCol="0" anchor="t"/>
          <a:lstStyle/>
          <a:p>
            <a:pPr algn="l" indent="0" marL="0">
              <a:lnSpc>
                <a:spcPts val="4750"/>
              </a:lnSpc>
              <a:buNone/>
            </a:pPr>
            <a:r>
              <a:rPr lang="en-US" sz="3800" b="1" dirty="0">
                <a:solidFill>
                  <a:srgbClr val="000000"/>
                </a:solidFill>
                <a:latin typeface="Inter Bold" pitchFamily="34" charset="0"/>
                <a:ea typeface="Inter Bold" pitchFamily="34" charset="-122"/>
                <a:cs typeface="Inter Bold" pitchFamily="34" charset="-120"/>
              </a:rPr>
              <a:t>Overview of HTTP: The Foundation of Web Communication</a:t>
            </a:r>
            <a:endParaRPr lang="en-US" sz="3800" dirty="0"/>
          </a:p>
        </p:txBody>
      </p:sp>
      <p:sp>
        <p:nvSpPr>
          <p:cNvPr id="4" name="Text 2"/>
          <p:cNvSpPr/>
          <p:nvPr/>
        </p:nvSpPr>
        <p:spPr>
          <a:xfrm>
            <a:off x="679847" y="2421136"/>
            <a:ext cx="13270706" cy="621744"/>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HTTP, or HyperText Transfer Protocol, is the backbone of data communication on the World Wide Web. It's the protocol that allows web browsers and web servers to "talk" to each other.</a:t>
            </a:r>
            <a:endParaRPr lang="en-US" sz="15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9847" y="3261360"/>
            <a:ext cx="582692" cy="582692"/>
          </a:xfrm>
          <a:prstGeom prst="rect">
            <a:avLst/>
          </a:prstGeom>
        </p:spPr>
      </p:pic>
      <p:sp>
        <p:nvSpPr>
          <p:cNvPr id="6" name="Text 3"/>
          <p:cNvSpPr/>
          <p:nvPr/>
        </p:nvSpPr>
        <p:spPr>
          <a:xfrm>
            <a:off x="679847" y="4086820"/>
            <a:ext cx="3126224" cy="303371"/>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Inter Bold" pitchFamily="34" charset="0"/>
                <a:ea typeface="Inter Bold" pitchFamily="34" charset="-122"/>
                <a:cs typeface="Inter Bold" pitchFamily="34" charset="-120"/>
              </a:rPr>
              <a:t>Application Layer Protocol</a:t>
            </a:r>
            <a:endParaRPr lang="en-US" sz="1900" dirty="0"/>
          </a:p>
        </p:txBody>
      </p:sp>
      <p:sp>
        <p:nvSpPr>
          <p:cNvPr id="7" name="Text 4"/>
          <p:cNvSpPr/>
          <p:nvPr/>
        </p:nvSpPr>
        <p:spPr>
          <a:xfrm>
            <a:off x="679847" y="4506635"/>
            <a:ext cx="6513909" cy="621744"/>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HTTP operates at the highest layer of the TCP/IP model, directly interacting with user applications like web browsers.</a:t>
            </a:r>
            <a:endParaRPr lang="en-US" sz="15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6525" y="3261360"/>
            <a:ext cx="582692" cy="582692"/>
          </a:xfrm>
          <a:prstGeom prst="rect">
            <a:avLst/>
          </a:prstGeom>
        </p:spPr>
      </p:pic>
      <p:sp>
        <p:nvSpPr>
          <p:cNvPr id="9" name="Text 5"/>
          <p:cNvSpPr/>
          <p:nvPr/>
        </p:nvSpPr>
        <p:spPr>
          <a:xfrm>
            <a:off x="7436525" y="4086820"/>
            <a:ext cx="2428161" cy="303371"/>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Inter Bold" pitchFamily="34" charset="0"/>
                <a:ea typeface="Inter Bold" pitchFamily="34" charset="-122"/>
                <a:cs typeface="Inter Bold" pitchFamily="34" charset="-120"/>
              </a:rPr>
              <a:t>Client–Server Model</a:t>
            </a:r>
            <a:endParaRPr lang="en-US" sz="1900" dirty="0"/>
          </a:p>
        </p:txBody>
      </p:sp>
      <p:sp>
        <p:nvSpPr>
          <p:cNvPr id="10" name="Text 6"/>
          <p:cNvSpPr/>
          <p:nvPr/>
        </p:nvSpPr>
        <p:spPr>
          <a:xfrm>
            <a:off x="7436525" y="4506635"/>
            <a:ext cx="6514028" cy="621744"/>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It follows a request-response paradigm where clients (browsers) send requests and servers send back responses.</a:t>
            </a:r>
            <a:endParaRPr lang="en-US" sz="15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9847" y="5516880"/>
            <a:ext cx="582692" cy="582692"/>
          </a:xfrm>
          <a:prstGeom prst="rect">
            <a:avLst/>
          </a:prstGeom>
        </p:spPr>
      </p:pic>
      <p:sp>
        <p:nvSpPr>
          <p:cNvPr id="12" name="Text 7"/>
          <p:cNvSpPr/>
          <p:nvPr/>
        </p:nvSpPr>
        <p:spPr>
          <a:xfrm>
            <a:off x="679847" y="6342340"/>
            <a:ext cx="2428161" cy="303371"/>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Inter Bold" pitchFamily="34" charset="0"/>
                <a:ea typeface="Inter Bold" pitchFamily="34" charset="-122"/>
                <a:cs typeface="Inter Bold" pitchFamily="34" charset="-120"/>
              </a:rPr>
              <a:t>Stateless by Nature</a:t>
            </a:r>
            <a:endParaRPr lang="en-US" sz="1900" dirty="0"/>
          </a:p>
        </p:txBody>
      </p:sp>
      <p:sp>
        <p:nvSpPr>
          <p:cNvPr id="13" name="Text 8"/>
          <p:cNvSpPr/>
          <p:nvPr/>
        </p:nvSpPr>
        <p:spPr>
          <a:xfrm>
            <a:off x="679847" y="6762155"/>
            <a:ext cx="6513909" cy="932617"/>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Each request is independent; the server doesn't remember past interactions, which simplifies server design but requires other mechanisms for session management.</a:t>
            </a:r>
            <a:endParaRPr lang="en-US" sz="15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6525" y="5516880"/>
            <a:ext cx="582692" cy="582692"/>
          </a:xfrm>
          <a:prstGeom prst="rect">
            <a:avLst/>
          </a:prstGeom>
        </p:spPr>
      </p:pic>
      <p:sp>
        <p:nvSpPr>
          <p:cNvPr id="15" name="Text 9"/>
          <p:cNvSpPr/>
          <p:nvPr/>
        </p:nvSpPr>
        <p:spPr>
          <a:xfrm>
            <a:off x="7436525" y="6342340"/>
            <a:ext cx="2701766" cy="303371"/>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Inter Bold" pitchFamily="34" charset="0"/>
                <a:ea typeface="Inter Bold" pitchFamily="34" charset="-122"/>
                <a:cs typeface="Inter Bold" pitchFamily="34" charset="-120"/>
              </a:rPr>
              <a:t>Default on TCP Port 80</a:t>
            </a:r>
            <a:endParaRPr lang="en-US" sz="1900" dirty="0"/>
          </a:p>
        </p:txBody>
      </p:sp>
      <p:sp>
        <p:nvSpPr>
          <p:cNvPr id="16" name="Text 10"/>
          <p:cNvSpPr/>
          <p:nvPr/>
        </p:nvSpPr>
        <p:spPr>
          <a:xfrm>
            <a:off x="7436525" y="6762155"/>
            <a:ext cx="6514028" cy="621744"/>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Traditionally, HTTP communicates over Transmission Control Protocol (TCP) using port 80, ensuring reliable data transfer.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6250" y="374213"/>
            <a:ext cx="6545223" cy="425291"/>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Inter Bold" pitchFamily="34" charset="0"/>
                <a:ea typeface="Inter Bold" pitchFamily="34" charset="-122"/>
                <a:cs typeface="Inter Bold" pitchFamily="34" charset="-120"/>
              </a:rPr>
              <a:t>How HTTP Works: A Step-by-Step Flow</a:t>
            </a:r>
            <a:endParaRPr lang="en-US" sz="2650" dirty="0"/>
          </a:p>
        </p:txBody>
      </p:sp>
      <p:sp>
        <p:nvSpPr>
          <p:cNvPr id="3" name="Text 1"/>
          <p:cNvSpPr/>
          <p:nvPr/>
        </p:nvSpPr>
        <p:spPr>
          <a:xfrm>
            <a:off x="476250" y="1071682"/>
            <a:ext cx="13677900" cy="217646"/>
          </a:xfrm>
          <a:prstGeom prst="rect">
            <a:avLst/>
          </a:prstGeom>
          <a:noFill/>
          <a:ln/>
        </p:spPr>
        <p:txBody>
          <a:bodyPr wrap="non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Understanding the mechanics of HTTP is crucial to grasping web communication. It's a simple yet powerful request-response cycle.</a:t>
            </a:r>
            <a:endParaRPr lang="en-US" sz="1050" dirty="0"/>
          </a:p>
        </p:txBody>
      </p:sp>
      <p:pic>
        <p:nvPicPr>
          <p:cNvPr id="4" name="Image 0" descr="preencoded.png">    </p:cNvPr>
          <p:cNvPicPr>
            <a:picLocks noChangeAspect="1"/>
          </p:cNvPicPr>
          <p:nvPr/>
        </p:nvPicPr>
        <p:blipFill>
          <a:blip r:embed="rId1"/>
          <a:stretch>
            <a:fillRect/>
          </a:stretch>
        </p:blipFill>
        <p:spPr>
          <a:xfrm>
            <a:off x="532567" y="1442323"/>
            <a:ext cx="13565148" cy="5849660"/>
          </a:xfrm>
          <a:prstGeom prst="rect">
            <a:avLst/>
          </a:prstGeom>
        </p:spPr>
      </p:pic>
      <p:sp>
        <p:nvSpPr>
          <p:cNvPr id="5" name="Text 2"/>
          <p:cNvSpPr/>
          <p:nvPr/>
        </p:nvSpPr>
        <p:spPr>
          <a:xfrm>
            <a:off x="1445305" y="6182668"/>
            <a:ext cx="3077504" cy="384688"/>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Return Response</a:t>
            </a:r>
            <a:endParaRPr lang="en-US" sz="1350" dirty="0"/>
          </a:p>
        </p:txBody>
      </p:sp>
      <p:sp>
        <p:nvSpPr>
          <p:cNvPr id="6" name="Text 3"/>
          <p:cNvSpPr/>
          <p:nvPr/>
        </p:nvSpPr>
        <p:spPr>
          <a:xfrm>
            <a:off x="1445305" y="4828567"/>
            <a:ext cx="3077504" cy="384688"/>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Process on Server</a:t>
            </a:r>
            <a:endParaRPr lang="en-US" sz="1350" dirty="0"/>
          </a:p>
        </p:txBody>
      </p:sp>
      <p:sp>
        <p:nvSpPr>
          <p:cNvPr id="7" name="Text 4"/>
          <p:cNvSpPr/>
          <p:nvPr/>
        </p:nvSpPr>
        <p:spPr>
          <a:xfrm>
            <a:off x="1445305" y="3488143"/>
            <a:ext cx="3077504" cy="384688"/>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Send HTTP Request</a:t>
            </a:r>
            <a:endParaRPr lang="en-US" sz="1350" dirty="0"/>
          </a:p>
        </p:txBody>
      </p:sp>
      <p:sp>
        <p:nvSpPr>
          <p:cNvPr id="8" name="Text 5"/>
          <p:cNvSpPr/>
          <p:nvPr/>
        </p:nvSpPr>
        <p:spPr>
          <a:xfrm>
            <a:off x="1445305" y="2134041"/>
            <a:ext cx="3077504" cy="384688"/>
          </a:xfrm>
          <a:prstGeom prst="rect">
            <a:avLst/>
          </a:prstGeom>
          <a:noFill/>
          <a:ln/>
        </p:spPr>
        <p:txBody>
          <a:bodyPr wrap="none" lIns="0" tIns="0" rIns="0" bIns="0" rtlCol="0" anchor="t"/>
          <a:lstStyle/>
          <a:p>
            <a:pPr algn="l" indent="0" marL="0">
              <a:lnSpc>
                <a:spcPts val="1650"/>
              </a:lnSpc>
              <a:buNone/>
            </a:pPr>
            <a:r>
              <a:rPr lang="en-US" sz="1350" b="1" dirty="0">
                <a:solidFill>
                  <a:srgbClr val="FFFFFF"/>
                </a:solidFill>
                <a:latin typeface="Inter Bold" pitchFamily="34" charset="0"/>
                <a:ea typeface="Inter Bold" pitchFamily="34" charset="-122"/>
                <a:cs typeface="Inter Bold" pitchFamily="34" charset="-120"/>
              </a:rPr>
              <a:t>Open TCP</a:t>
            </a:r>
            <a:endParaRPr lang="en-US" sz="1350" dirty="0"/>
          </a:p>
        </p:txBody>
      </p:sp>
      <p:sp>
        <p:nvSpPr>
          <p:cNvPr id="9" name="Text 6"/>
          <p:cNvSpPr/>
          <p:nvPr/>
        </p:nvSpPr>
        <p:spPr>
          <a:xfrm>
            <a:off x="476250" y="7496056"/>
            <a:ext cx="3333155" cy="255151"/>
          </a:xfrm>
          <a:prstGeom prst="rect">
            <a:avLst/>
          </a:prstGeom>
          <a:noFill/>
          <a:ln/>
        </p:spPr>
        <p:txBody>
          <a:bodyPr wrap="none" lIns="0" tIns="0" rIns="0" bIns="0" rtlCol="0" anchor="t"/>
          <a:lstStyle/>
          <a:p>
            <a:pPr algn="l" indent="0" marL="0">
              <a:lnSpc>
                <a:spcPts val="2000"/>
              </a:lnSpc>
              <a:buNone/>
            </a:pPr>
            <a:r>
              <a:rPr lang="en-US" sz="1600" b="1" dirty="0">
                <a:solidFill>
                  <a:srgbClr val="000000"/>
                </a:solidFill>
                <a:latin typeface="Inter Bold" pitchFamily="34" charset="0"/>
                <a:ea typeface="Inter Bold" pitchFamily="34" charset="-122"/>
                <a:cs typeface="Inter Bold" pitchFamily="34" charset="-120"/>
              </a:rPr>
              <a:t>Key Steps in the HTTP Interaction</a:t>
            </a:r>
            <a:endParaRPr lang="en-US" sz="1600" dirty="0"/>
          </a:p>
        </p:txBody>
      </p:sp>
      <p:sp>
        <p:nvSpPr>
          <p:cNvPr id="10" name="Text 7"/>
          <p:cNvSpPr/>
          <p:nvPr/>
        </p:nvSpPr>
        <p:spPr>
          <a:xfrm>
            <a:off x="476250" y="7955280"/>
            <a:ext cx="13677900" cy="217646"/>
          </a:xfrm>
          <a:prstGeom prst="rect">
            <a:avLst/>
          </a:prstGeom>
          <a:noFill/>
          <a:ln/>
        </p:spPr>
        <p:txBody>
          <a:bodyPr wrap="none" lIns="0" tIns="0" rIns="0" bIns="0" rtlCol="0" anchor="t"/>
          <a:lstStyle/>
          <a:p>
            <a:pPr algn="l" marL="342900" indent="-342900">
              <a:lnSpc>
                <a:spcPts val="1700"/>
              </a:lnSpc>
              <a:buSzPct val="100000"/>
              <a:buChar char="•"/>
            </a:pPr>
            <a:r>
              <a:rPr lang="en-US" sz="1050" b="1" dirty="0">
                <a:solidFill>
                  <a:srgbClr val="272525"/>
                </a:solidFill>
                <a:latin typeface="Inter" pitchFamily="34" charset="0"/>
                <a:ea typeface="Inter" pitchFamily="34" charset="-122"/>
                <a:cs typeface="Inter" pitchFamily="34" charset="-120"/>
              </a:rPr>
              <a:t>Browser Initiates TCP Connection:</a:t>
            </a:r>
            <a:pPr algn="l" indent="0" marL="0">
              <a:lnSpc>
                <a:spcPts val="1700"/>
              </a:lnSpc>
              <a:buNone/>
            </a:pPr>
            <a:r>
              <a:rPr lang="en-US" sz="1050" dirty="0">
                <a:solidFill>
                  <a:srgbClr val="272525"/>
                </a:solidFill>
                <a:latin typeface="Inter" pitchFamily="34" charset="0"/>
                <a:ea typeface="Inter" pitchFamily="34" charset="-122"/>
                <a:cs typeface="Inter" pitchFamily="34" charset="-120"/>
              </a:rPr>
              <a:t> Your browser first establishes a reliable connection with the web server.</a:t>
            </a:r>
            <a:endParaRPr lang="en-US" sz="1050" dirty="0"/>
          </a:p>
        </p:txBody>
      </p:sp>
      <p:sp>
        <p:nvSpPr>
          <p:cNvPr id="11" name="Text 8"/>
          <p:cNvSpPr/>
          <p:nvPr/>
        </p:nvSpPr>
        <p:spPr>
          <a:xfrm>
            <a:off x="476250" y="8220551"/>
            <a:ext cx="13677900" cy="217646"/>
          </a:xfrm>
          <a:prstGeom prst="rect">
            <a:avLst/>
          </a:prstGeom>
          <a:noFill/>
          <a:ln/>
        </p:spPr>
        <p:txBody>
          <a:bodyPr wrap="none" lIns="0" tIns="0" rIns="0" bIns="0" rtlCol="0" anchor="t"/>
          <a:lstStyle/>
          <a:p>
            <a:pPr algn="l" marL="342900" indent="-342900">
              <a:lnSpc>
                <a:spcPts val="1700"/>
              </a:lnSpc>
              <a:buSzPct val="100000"/>
              <a:buChar char="•"/>
            </a:pPr>
            <a:r>
              <a:rPr lang="en-US" sz="1050" b="1" dirty="0">
                <a:solidFill>
                  <a:srgbClr val="272525"/>
                </a:solidFill>
                <a:latin typeface="Inter" pitchFamily="34" charset="0"/>
                <a:ea typeface="Inter" pitchFamily="34" charset="-122"/>
                <a:cs typeface="Inter" pitchFamily="34" charset="-120"/>
              </a:rPr>
              <a:t>Sends HTTP Request:</a:t>
            </a:r>
            <a:pPr algn="l" indent="0" marL="0">
              <a:lnSpc>
                <a:spcPts val="1700"/>
              </a:lnSpc>
              <a:buNone/>
            </a:pPr>
            <a:r>
              <a:rPr lang="en-US" sz="1050" dirty="0">
                <a:solidFill>
                  <a:srgbClr val="272525"/>
                </a:solidFill>
                <a:latin typeface="Inter" pitchFamily="34" charset="0"/>
                <a:ea typeface="Inter" pitchFamily="34" charset="-122"/>
                <a:cs typeface="Inter" pitchFamily="34" charset="-120"/>
              </a:rPr>
              <a:t> It then sends a specific HTTP request, asking for a resource (e.g., an HTML page, an image).</a:t>
            </a:r>
            <a:endParaRPr lang="en-US" sz="1050" dirty="0"/>
          </a:p>
        </p:txBody>
      </p:sp>
      <p:sp>
        <p:nvSpPr>
          <p:cNvPr id="12" name="Text 9"/>
          <p:cNvSpPr/>
          <p:nvPr/>
        </p:nvSpPr>
        <p:spPr>
          <a:xfrm>
            <a:off x="476250" y="8485823"/>
            <a:ext cx="13677900" cy="217646"/>
          </a:xfrm>
          <a:prstGeom prst="rect">
            <a:avLst/>
          </a:prstGeom>
          <a:noFill/>
          <a:ln/>
        </p:spPr>
        <p:txBody>
          <a:bodyPr wrap="none" lIns="0" tIns="0" rIns="0" bIns="0" rtlCol="0" anchor="t"/>
          <a:lstStyle/>
          <a:p>
            <a:pPr algn="l" marL="342900" indent="-342900">
              <a:lnSpc>
                <a:spcPts val="1700"/>
              </a:lnSpc>
              <a:buSzPct val="100000"/>
              <a:buChar char="•"/>
            </a:pPr>
            <a:r>
              <a:rPr lang="en-US" sz="1050" b="1" dirty="0">
                <a:solidFill>
                  <a:srgbClr val="272525"/>
                </a:solidFill>
                <a:latin typeface="Inter" pitchFamily="34" charset="0"/>
                <a:ea typeface="Inter" pitchFamily="34" charset="-122"/>
                <a:cs typeface="Inter" pitchFamily="34" charset="-120"/>
              </a:rPr>
              <a:t>Server Processes Request:</a:t>
            </a:r>
            <a:pPr algn="l" indent="0" marL="0">
              <a:lnSpc>
                <a:spcPts val="1700"/>
              </a:lnSpc>
              <a:buNone/>
            </a:pPr>
            <a:r>
              <a:rPr lang="en-US" sz="1050" dirty="0">
                <a:solidFill>
                  <a:srgbClr val="272525"/>
                </a:solidFill>
                <a:latin typeface="Inter" pitchFamily="34" charset="0"/>
                <a:ea typeface="Inter" pitchFamily="34" charset="-122"/>
                <a:cs typeface="Inter" pitchFamily="34" charset="-120"/>
              </a:rPr>
              <a:t> The server interprets the request and locates the desired resource.</a:t>
            </a:r>
            <a:endParaRPr lang="en-US" sz="1050" dirty="0"/>
          </a:p>
        </p:txBody>
      </p:sp>
      <p:sp>
        <p:nvSpPr>
          <p:cNvPr id="13" name="Text 10"/>
          <p:cNvSpPr/>
          <p:nvPr/>
        </p:nvSpPr>
        <p:spPr>
          <a:xfrm>
            <a:off x="476250" y="8751094"/>
            <a:ext cx="13677900" cy="217646"/>
          </a:xfrm>
          <a:prstGeom prst="rect">
            <a:avLst/>
          </a:prstGeom>
          <a:noFill/>
          <a:ln/>
        </p:spPr>
        <p:txBody>
          <a:bodyPr wrap="none" lIns="0" tIns="0" rIns="0" bIns="0" rtlCol="0" anchor="t"/>
          <a:lstStyle/>
          <a:p>
            <a:pPr algn="l" marL="342900" indent="-342900">
              <a:lnSpc>
                <a:spcPts val="1700"/>
              </a:lnSpc>
              <a:buSzPct val="100000"/>
              <a:buChar char="•"/>
            </a:pPr>
            <a:r>
              <a:rPr lang="en-US" sz="1050" b="1" dirty="0">
                <a:solidFill>
                  <a:srgbClr val="272525"/>
                </a:solidFill>
                <a:latin typeface="Inter" pitchFamily="34" charset="0"/>
                <a:ea typeface="Inter" pitchFamily="34" charset="-122"/>
                <a:cs typeface="Inter" pitchFamily="34" charset="-120"/>
              </a:rPr>
              <a:t>Sends HTTP Response:</a:t>
            </a:r>
            <a:pPr algn="l" indent="0" marL="0">
              <a:lnSpc>
                <a:spcPts val="1700"/>
              </a:lnSpc>
              <a:buNone/>
            </a:pPr>
            <a:r>
              <a:rPr lang="en-US" sz="1050" dirty="0">
                <a:solidFill>
                  <a:srgbClr val="272525"/>
                </a:solidFill>
                <a:latin typeface="Inter" pitchFamily="34" charset="0"/>
                <a:ea typeface="Inter" pitchFamily="34" charset="-122"/>
                <a:cs typeface="Inter" pitchFamily="34" charset="-120"/>
              </a:rPr>
              <a:t> The server sends back an HTTP response containing the requested data (HTML, CSS, JavaScript, images, etc.).</a:t>
            </a:r>
            <a:endParaRPr lang="en-US" sz="1050" dirty="0"/>
          </a:p>
        </p:txBody>
      </p:sp>
      <p:sp>
        <p:nvSpPr>
          <p:cNvPr id="14" name="Text 11"/>
          <p:cNvSpPr/>
          <p:nvPr/>
        </p:nvSpPr>
        <p:spPr>
          <a:xfrm>
            <a:off x="476250" y="9016365"/>
            <a:ext cx="13677900" cy="217646"/>
          </a:xfrm>
          <a:prstGeom prst="rect">
            <a:avLst/>
          </a:prstGeom>
          <a:noFill/>
          <a:ln/>
        </p:spPr>
        <p:txBody>
          <a:bodyPr wrap="none" lIns="0" tIns="0" rIns="0" bIns="0" rtlCol="0" anchor="t"/>
          <a:lstStyle/>
          <a:p>
            <a:pPr algn="l" marL="342900" indent="-342900">
              <a:lnSpc>
                <a:spcPts val="1700"/>
              </a:lnSpc>
              <a:buSzPct val="100000"/>
              <a:buChar char="•"/>
            </a:pPr>
            <a:r>
              <a:rPr lang="en-US" sz="1050" b="1" dirty="0">
                <a:solidFill>
                  <a:srgbClr val="272525"/>
                </a:solidFill>
                <a:latin typeface="Inter" pitchFamily="34" charset="0"/>
                <a:ea typeface="Inter" pitchFamily="34" charset="-122"/>
                <a:cs typeface="Inter" pitchFamily="34" charset="-120"/>
              </a:rPr>
              <a:t>Browser Renders Page:</a:t>
            </a:r>
            <a:pPr algn="l" indent="0" marL="0">
              <a:lnSpc>
                <a:spcPts val="1700"/>
              </a:lnSpc>
              <a:buNone/>
            </a:pPr>
            <a:r>
              <a:rPr lang="en-US" sz="1050" dirty="0">
                <a:solidFill>
                  <a:srgbClr val="272525"/>
                </a:solidFill>
                <a:latin typeface="Inter" pitchFamily="34" charset="0"/>
                <a:ea typeface="Inter" pitchFamily="34" charset="-122"/>
                <a:cs typeface="Inter" pitchFamily="34" charset="-120"/>
              </a:rPr>
              <a:t> Finally, your browser interprets the received data and displays the web page for you to see.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97073" y="311944"/>
            <a:ext cx="1418153" cy="177165"/>
          </a:xfrm>
          <a:prstGeom prst="rect">
            <a:avLst/>
          </a:prstGeom>
          <a:noFill/>
          <a:ln/>
        </p:spPr>
        <p:txBody>
          <a:bodyPr wrap="none" lIns="0" tIns="0" rIns="0" bIns="0" rtlCol="0" anchor="t"/>
          <a:lstStyle/>
          <a:p>
            <a:pPr algn="l" indent="0" marL="0">
              <a:lnSpc>
                <a:spcPts val="1350"/>
              </a:lnSpc>
              <a:buNone/>
            </a:pPr>
            <a:r>
              <a:rPr lang="en-US" sz="1100" b="1" dirty="0">
                <a:solidFill>
                  <a:srgbClr val="000000"/>
                </a:solidFill>
                <a:latin typeface="Inter Bold" pitchFamily="34" charset="0"/>
                <a:ea typeface="Inter Bold" pitchFamily="34" charset="-122"/>
                <a:cs typeface="Inter Bold" pitchFamily="34" charset="-120"/>
              </a:rPr>
              <a:t>SECTION 2</a:t>
            </a:r>
            <a:endParaRPr lang="en-US" sz="1100" dirty="0"/>
          </a:p>
        </p:txBody>
      </p:sp>
      <p:sp>
        <p:nvSpPr>
          <p:cNvPr id="3" name="Text 1"/>
          <p:cNvSpPr/>
          <p:nvPr/>
        </p:nvSpPr>
        <p:spPr>
          <a:xfrm>
            <a:off x="397073" y="534472"/>
            <a:ext cx="7593449" cy="35444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Connection Types: Non-Persistent vs. Persistent HTTP</a:t>
            </a:r>
            <a:endParaRPr lang="en-US" sz="2200" dirty="0"/>
          </a:p>
        </p:txBody>
      </p:sp>
      <p:sp>
        <p:nvSpPr>
          <p:cNvPr id="4" name="Text 2"/>
          <p:cNvSpPr/>
          <p:nvPr/>
        </p:nvSpPr>
        <p:spPr>
          <a:xfrm>
            <a:off x="397073" y="1059061"/>
            <a:ext cx="13836253" cy="181451"/>
          </a:xfrm>
          <a:prstGeom prst="rect">
            <a:avLst/>
          </a:prstGeom>
          <a:noFill/>
          <a:ln/>
        </p:spPr>
        <p:txBody>
          <a:bodyPr wrap="none" lIns="0" tIns="0" rIns="0" bIns="0" rtlCol="0" anchor="t"/>
          <a:lstStyle/>
          <a:p>
            <a:pPr algn="l" indent="0" marL="0">
              <a:lnSpc>
                <a:spcPts val="1400"/>
              </a:lnSpc>
              <a:buNone/>
            </a:pPr>
            <a:r>
              <a:rPr lang="en-US" sz="850" dirty="0">
                <a:solidFill>
                  <a:srgbClr val="272525"/>
                </a:solidFill>
                <a:latin typeface="Inter" pitchFamily="34" charset="0"/>
                <a:ea typeface="Inter" pitchFamily="34" charset="-122"/>
                <a:cs typeface="Inter" pitchFamily="34" charset="-120"/>
              </a:rPr>
              <a:t>The way a web browser and server maintain (or don't maintain) a connection significantly impacts performance.</a:t>
            </a:r>
            <a:endParaRPr lang="en-US" sz="850" dirty="0"/>
          </a:p>
        </p:txBody>
      </p:sp>
      <p:sp>
        <p:nvSpPr>
          <p:cNvPr id="5" name="Text 3"/>
          <p:cNvSpPr/>
          <p:nvPr/>
        </p:nvSpPr>
        <p:spPr>
          <a:xfrm>
            <a:off x="397073" y="1481495"/>
            <a:ext cx="2712839" cy="212646"/>
          </a:xfrm>
          <a:prstGeom prst="rect">
            <a:avLst/>
          </a:prstGeom>
          <a:noFill/>
          <a:ln/>
        </p:spPr>
        <p:txBody>
          <a:bodyPr wrap="none" lIns="0" tIns="0" rIns="0" bIns="0" rtlCol="0" anchor="t"/>
          <a:lstStyle/>
          <a:p>
            <a:pPr algn="l" indent="0" marL="0">
              <a:lnSpc>
                <a:spcPts val="1650"/>
              </a:lnSpc>
              <a:buNone/>
            </a:pPr>
            <a:r>
              <a:rPr lang="en-US" sz="1300" b="1" dirty="0">
                <a:solidFill>
                  <a:srgbClr val="000000"/>
                </a:solidFill>
                <a:latin typeface="Inter Bold" pitchFamily="34" charset="0"/>
                <a:ea typeface="Inter Bold" pitchFamily="34" charset="-122"/>
                <a:cs typeface="Inter Bold" pitchFamily="34" charset="-120"/>
              </a:rPr>
              <a:t>Non-Persistent HTTP (HTTP/1.0)</a:t>
            </a:r>
            <a:endParaRPr lang="en-US" sz="1300" dirty="0"/>
          </a:p>
        </p:txBody>
      </p:sp>
      <p:pic>
        <p:nvPicPr>
          <p:cNvPr id="6" name="Image 0" descr="preencoded.png">    </p:cNvPr>
          <p:cNvPicPr>
            <a:picLocks noChangeAspect="1"/>
          </p:cNvPicPr>
          <p:nvPr/>
        </p:nvPicPr>
        <p:blipFill>
          <a:blip r:embed="rId1"/>
          <a:stretch>
            <a:fillRect/>
          </a:stretch>
        </p:blipFill>
        <p:spPr>
          <a:xfrm>
            <a:off x="397073" y="1821775"/>
            <a:ext cx="6779776" cy="6779776"/>
          </a:xfrm>
          <a:prstGeom prst="rect">
            <a:avLst/>
          </a:prstGeom>
        </p:spPr>
      </p:pic>
      <p:sp>
        <p:nvSpPr>
          <p:cNvPr id="7" name="Text 4"/>
          <p:cNvSpPr/>
          <p:nvPr/>
        </p:nvSpPr>
        <p:spPr>
          <a:xfrm>
            <a:off x="397073" y="8729186"/>
            <a:ext cx="6779776"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72525"/>
                </a:solidFill>
                <a:latin typeface="Inter" pitchFamily="34" charset="0"/>
                <a:ea typeface="Inter" pitchFamily="34" charset="-122"/>
                <a:cs typeface="Inter" pitchFamily="34" charset="-120"/>
              </a:rPr>
              <a:t>One Connection Per Object:</a:t>
            </a:r>
            <a:pPr algn="l" indent="0" marL="0">
              <a:lnSpc>
                <a:spcPts val="1400"/>
              </a:lnSpc>
              <a:buNone/>
            </a:pPr>
            <a:r>
              <a:rPr lang="en-US" sz="850" dirty="0">
                <a:solidFill>
                  <a:srgbClr val="272525"/>
                </a:solidFill>
                <a:latin typeface="Inter" pitchFamily="34" charset="0"/>
                <a:ea typeface="Inter" pitchFamily="34" charset="-122"/>
                <a:cs typeface="Inter" pitchFamily="34" charset="-120"/>
              </a:rPr>
              <a:t> A new TCP connection is opened for every single object (e.g., HTML file, image, CSS file).</a:t>
            </a:r>
            <a:endParaRPr lang="en-US" sz="850" dirty="0"/>
          </a:p>
        </p:txBody>
      </p:sp>
      <p:sp>
        <p:nvSpPr>
          <p:cNvPr id="8" name="Text 5"/>
          <p:cNvSpPr/>
          <p:nvPr/>
        </p:nvSpPr>
        <p:spPr>
          <a:xfrm>
            <a:off x="397073" y="8950285"/>
            <a:ext cx="6779776"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72525"/>
                </a:solidFill>
                <a:latin typeface="Inter" pitchFamily="34" charset="0"/>
                <a:ea typeface="Inter" pitchFamily="34" charset="-122"/>
                <a:cs typeface="Inter" pitchFamily="34" charset="-120"/>
              </a:rPr>
              <a:t>Connection Closes After Response:</a:t>
            </a:r>
            <a:pPr algn="l" indent="0" marL="0">
              <a:lnSpc>
                <a:spcPts val="1400"/>
              </a:lnSpc>
              <a:buNone/>
            </a:pPr>
            <a:r>
              <a:rPr lang="en-US" sz="850" dirty="0">
                <a:solidFill>
                  <a:srgbClr val="272525"/>
                </a:solidFill>
                <a:latin typeface="Inter" pitchFamily="34" charset="0"/>
                <a:ea typeface="Inter" pitchFamily="34" charset="-122"/>
                <a:cs typeface="Inter" pitchFamily="34" charset="-120"/>
              </a:rPr>
              <a:t> Once an object is transmitted, the TCP connection is immediately terminated.</a:t>
            </a:r>
            <a:endParaRPr lang="en-US" sz="850" dirty="0"/>
          </a:p>
        </p:txBody>
      </p:sp>
      <p:sp>
        <p:nvSpPr>
          <p:cNvPr id="9" name="Text 6"/>
          <p:cNvSpPr/>
          <p:nvPr/>
        </p:nvSpPr>
        <p:spPr>
          <a:xfrm>
            <a:off x="397073" y="9171384"/>
            <a:ext cx="6779776" cy="362903"/>
          </a:xfrm>
          <a:prstGeom prst="rect">
            <a:avLst/>
          </a:prstGeom>
          <a:noFill/>
          <a:ln/>
        </p:spPr>
        <p:txBody>
          <a:bodyPr wrap="square" lIns="0" tIns="0" rIns="0" bIns="0" rtlCol="0" anchor="t"/>
          <a:lstStyle/>
          <a:p>
            <a:pPr algn="l" marL="342900" indent="-342900">
              <a:lnSpc>
                <a:spcPts val="1400"/>
              </a:lnSpc>
              <a:buSzPct val="100000"/>
              <a:buChar char="•"/>
            </a:pPr>
            <a:r>
              <a:rPr lang="en-US" sz="850" b="1" dirty="0">
                <a:solidFill>
                  <a:srgbClr val="272525"/>
                </a:solidFill>
                <a:latin typeface="Inter" pitchFamily="34" charset="0"/>
                <a:ea typeface="Inter" pitchFamily="34" charset="-122"/>
                <a:cs typeface="Inter" pitchFamily="34" charset="-120"/>
              </a:rPr>
              <a:t>Slower Performance:</a:t>
            </a:r>
            <a:pPr algn="l" indent="0" marL="0">
              <a:lnSpc>
                <a:spcPts val="1400"/>
              </a:lnSpc>
              <a:buNone/>
            </a:pPr>
            <a:r>
              <a:rPr lang="en-US" sz="850" dirty="0">
                <a:solidFill>
                  <a:srgbClr val="272525"/>
                </a:solidFill>
                <a:latin typeface="Inter" pitchFamily="34" charset="0"/>
                <a:ea typeface="Inter" pitchFamily="34" charset="-122"/>
                <a:cs typeface="Inter" pitchFamily="34" charset="-120"/>
              </a:rPr>
              <a:t> This method incurs significant overhead due to repeated TCP handshakes and connection teardowns for each resource, leading to higher latency.</a:t>
            </a:r>
            <a:endParaRPr lang="en-US" sz="850" dirty="0"/>
          </a:p>
        </p:txBody>
      </p:sp>
      <p:sp>
        <p:nvSpPr>
          <p:cNvPr id="10" name="Text 7"/>
          <p:cNvSpPr/>
          <p:nvPr/>
        </p:nvSpPr>
        <p:spPr>
          <a:xfrm>
            <a:off x="7461171" y="1481495"/>
            <a:ext cx="3060383" cy="212646"/>
          </a:xfrm>
          <a:prstGeom prst="rect">
            <a:avLst/>
          </a:prstGeom>
          <a:noFill/>
          <a:ln/>
        </p:spPr>
        <p:txBody>
          <a:bodyPr wrap="none" lIns="0" tIns="0" rIns="0" bIns="0" rtlCol="0" anchor="t"/>
          <a:lstStyle/>
          <a:p>
            <a:pPr algn="l" indent="0" marL="0">
              <a:lnSpc>
                <a:spcPts val="1650"/>
              </a:lnSpc>
              <a:buNone/>
            </a:pPr>
            <a:r>
              <a:rPr lang="en-US" sz="1300" b="1" dirty="0">
                <a:solidFill>
                  <a:srgbClr val="000000"/>
                </a:solidFill>
                <a:latin typeface="Inter Bold" pitchFamily="34" charset="0"/>
                <a:ea typeface="Inter Bold" pitchFamily="34" charset="-122"/>
                <a:cs typeface="Inter Bold" pitchFamily="34" charset="-120"/>
              </a:rPr>
              <a:t>Persistent HTTP (HTTP/1.1 and Later)</a:t>
            </a:r>
            <a:endParaRPr lang="en-US" sz="1300" dirty="0"/>
          </a:p>
        </p:txBody>
      </p:sp>
      <p:pic>
        <p:nvPicPr>
          <p:cNvPr id="11" name="Image 1" descr="preencoded.png">    </p:cNvPr>
          <p:cNvPicPr>
            <a:picLocks noChangeAspect="1"/>
          </p:cNvPicPr>
          <p:nvPr/>
        </p:nvPicPr>
        <p:blipFill>
          <a:blip r:embed="rId2"/>
          <a:stretch>
            <a:fillRect/>
          </a:stretch>
        </p:blipFill>
        <p:spPr>
          <a:xfrm>
            <a:off x="7461171" y="1821775"/>
            <a:ext cx="6779776" cy="6779776"/>
          </a:xfrm>
          <a:prstGeom prst="rect">
            <a:avLst/>
          </a:prstGeom>
        </p:spPr>
      </p:pic>
      <p:sp>
        <p:nvSpPr>
          <p:cNvPr id="12" name="Text 8"/>
          <p:cNvSpPr/>
          <p:nvPr/>
        </p:nvSpPr>
        <p:spPr>
          <a:xfrm>
            <a:off x="7461171" y="8729186"/>
            <a:ext cx="6779776"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72525"/>
                </a:solidFill>
                <a:latin typeface="Inter" pitchFamily="34" charset="0"/>
                <a:ea typeface="Inter" pitchFamily="34" charset="-122"/>
                <a:cs typeface="Inter" pitchFamily="34" charset="-120"/>
              </a:rPr>
              <a:t>Single Long-Lived Connection:</a:t>
            </a:r>
            <a:pPr algn="l" indent="0" marL="0">
              <a:lnSpc>
                <a:spcPts val="1400"/>
              </a:lnSpc>
              <a:buNone/>
            </a:pPr>
            <a:r>
              <a:rPr lang="en-US" sz="850" dirty="0">
                <a:solidFill>
                  <a:srgbClr val="272525"/>
                </a:solidFill>
                <a:latin typeface="Inter" pitchFamily="34" charset="0"/>
                <a:ea typeface="Inter" pitchFamily="34" charset="-122"/>
                <a:cs typeface="Inter" pitchFamily="34" charset="-120"/>
              </a:rPr>
              <a:t> A single TCP connection is established and kept open to fetch multiple objects.</a:t>
            </a:r>
            <a:endParaRPr lang="en-US" sz="850" dirty="0"/>
          </a:p>
        </p:txBody>
      </p:sp>
      <p:sp>
        <p:nvSpPr>
          <p:cNvPr id="13" name="Text 9"/>
          <p:cNvSpPr/>
          <p:nvPr/>
        </p:nvSpPr>
        <p:spPr>
          <a:xfrm>
            <a:off x="7461171" y="8950285"/>
            <a:ext cx="6779776" cy="362903"/>
          </a:xfrm>
          <a:prstGeom prst="rect">
            <a:avLst/>
          </a:prstGeom>
          <a:noFill/>
          <a:ln/>
        </p:spPr>
        <p:txBody>
          <a:bodyPr wrap="square" lIns="0" tIns="0" rIns="0" bIns="0" rtlCol="0" anchor="t"/>
          <a:lstStyle/>
          <a:p>
            <a:pPr algn="l" marL="342900" indent="-342900">
              <a:lnSpc>
                <a:spcPts val="1400"/>
              </a:lnSpc>
              <a:buSzPct val="100000"/>
              <a:buChar char="•"/>
            </a:pPr>
            <a:r>
              <a:rPr lang="en-US" sz="850" b="1" dirty="0">
                <a:solidFill>
                  <a:srgbClr val="272525"/>
                </a:solidFill>
                <a:latin typeface="Inter" pitchFamily="34" charset="0"/>
                <a:ea typeface="Inter" pitchFamily="34" charset="-122"/>
                <a:cs typeface="Inter" pitchFamily="34" charset="-120"/>
              </a:rPr>
              <a:t>Multiple Objects Over Same Connection:</a:t>
            </a:r>
            <a:pPr algn="l" indent="0" marL="0">
              <a:lnSpc>
                <a:spcPts val="1400"/>
              </a:lnSpc>
              <a:buNone/>
            </a:pPr>
            <a:r>
              <a:rPr lang="en-US" sz="850" dirty="0">
                <a:solidFill>
                  <a:srgbClr val="272525"/>
                </a:solidFill>
                <a:latin typeface="Inter" pitchFamily="34" charset="0"/>
                <a:ea typeface="Inter" pitchFamily="34" charset="-122"/>
                <a:cs typeface="Inter" pitchFamily="34" charset="-120"/>
              </a:rPr>
              <a:t> All necessary resources for a page can be transmitted sequentially over this one connection.</a:t>
            </a:r>
            <a:endParaRPr lang="en-US" sz="850" dirty="0"/>
          </a:p>
        </p:txBody>
      </p:sp>
      <p:sp>
        <p:nvSpPr>
          <p:cNvPr id="14" name="Text 10"/>
          <p:cNvSpPr/>
          <p:nvPr/>
        </p:nvSpPr>
        <p:spPr>
          <a:xfrm>
            <a:off x="7461171" y="9352836"/>
            <a:ext cx="6779776" cy="362903"/>
          </a:xfrm>
          <a:prstGeom prst="rect">
            <a:avLst/>
          </a:prstGeom>
          <a:noFill/>
          <a:ln/>
        </p:spPr>
        <p:txBody>
          <a:bodyPr wrap="square" lIns="0" tIns="0" rIns="0" bIns="0" rtlCol="0" anchor="t"/>
          <a:lstStyle/>
          <a:p>
            <a:pPr algn="l" marL="342900" indent="-342900">
              <a:lnSpc>
                <a:spcPts val="1400"/>
              </a:lnSpc>
              <a:buSzPct val="100000"/>
              <a:buChar char="•"/>
            </a:pPr>
            <a:r>
              <a:rPr lang="en-US" sz="850" b="1" dirty="0">
                <a:solidFill>
                  <a:srgbClr val="272525"/>
                </a:solidFill>
                <a:latin typeface="Inter" pitchFamily="34" charset="0"/>
                <a:ea typeface="Inter" pitchFamily="34" charset="-122"/>
                <a:cs typeface="Inter" pitchFamily="34" charset="-120"/>
              </a:rPr>
              <a:t>Faster &amp; Efficient:</a:t>
            </a:r>
            <a:pPr algn="l" indent="0" marL="0">
              <a:lnSpc>
                <a:spcPts val="1400"/>
              </a:lnSpc>
              <a:buNone/>
            </a:pPr>
            <a:r>
              <a:rPr lang="en-US" sz="850" dirty="0">
                <a:solidFill>
                  <a:srgbClr val="272525"/>
                </a:solidFill>
                <a:latin typeface="Inter" pitchFamily="34" charset="0"/>
                <a:ea typeface="Inter" pitchFamily="34" charset="-122"/>
                <a:cs typeface="Inter" pitchFamily="34" charset="-120"/>
              </a:rPr>
              <a:t> This is the default in modern web browsers and servers, drastically reducing overhead and improving load times.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3295" y="653653"/>
            <a:ext cx="9333548" cy="574477"/>
          </a:xfrm>
          <a:prstGeom prst="rect">
            <a:avLst/>
          </a:prstGeom>
          <a:noFill/>
          <a:ln/>
        </p:spPr>
        <p:txBody>
          <a:bodyPr wrap="none" lIns="0" tIns="0" rIns="0" bIns="0" rtlCol="0" anchor="t"/>
          <a:lstStyle/>
          <a:p>
            <a:pPr algn="l" indent="0" marL="0">
              <a:lnSpc>
                <a:spcPts val="4500"/>
              </a:lnSpc>
              <a:buNone/>
            </a:pPr>
            <a:r>
              <a:rPr lang="en-US" sz="3600" b="1" dirty="0">
                <a:solidFill>
                  <a:srgbClr val="000000"/>
                </a:solidFill>
                <a:latin typeface="Inter Bold" pitchFamily="34" charset="0"/>
                <a:ea typeface="Inter Bold" pitchFamily="34" charset="-122"/>
                <a:cs typeface="Inter Bold" pitchFamily="34" charset="-120"/>
              </a:rPr>
              <a:t>Why Persistent Connections Are Superior</a:t>
            </a:r>
            <a:endParaRPr lang="en-US" sz="3600" dirty="0"/>
          </a:p>
        </p:txBody>
      </p:sp>
      <p:sp>
        <p:nvSpPr>
          <p:cNvPr id="3" name="Text 1"/>
          <p:cNvSpPr/>
          <p:nvPr/>
        </p:nvSpPr>
        <p:spPr>
          <a:xfrm>
            <a:off x="643295" y="1595676"/>
            <a:ext cx="13343811" cy="588169"/>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Inter" pitchFamily="34" charset="0"/>
                <a:ea typeface="Inter" pitchFamily="34" charset="-122"/>
                <a:cs typeface="Inter" pitchFamily="34" charset="-120"/>
              </a:rPr>
              <a:t>The evolution from non-persistent to persistent HTTP dramatically enhanced web browsing efficiency and speed, a crucial factor in today's rich web experiences.</a:t>
            </a:r>
            <a:endParaRPr lang="en-US" sz="1400" dirty="0"/>
          </a:p>
        </p:txBody>
      </p:sp>
      <p:sp>
        <p:nvSpPr>
          <p:cNvPr id="4" name="Shape 2"/>
          <p:cNvSpPr/>
          <p:nvPr/>
        </p:nvSpPr>
        <p:spPr>
          <a:xfrm>
            <a:off x="643295" y="2390537"/>
            <a:ext cx="6579989" cy="2103358"/>
          </a:xfrm>
          <a:prstGeom prst="roundRect">
            <a:avLst>
              <a:gd name="adj" fmla="val 3671"/>
            </a:avLst>
          </a:prstGeom>
          <a:solidFill>
            <a:srgbClr val="DADBF1"/>
          </a:solidFill>
          <a:ln w="7620">
            <a:solidFill>
              <a:srgbClr val="C0C1D7"/>
            </a:solidFill>
            <a:prstDash val="solid"/>
          </a:ln>
        </p:spPr>
      </p:sp>
      <p:sp>
        <p:nvSpPr>
          <p:cNvPr id="5" name="Shape 3"/>
          <p:cNvSpPr/>
          <p:nvPr/>
        </p:nvSpPr>
        <p:spPr>
          <a:xfrm>
            <a:off x="834628" y="2581870"/>
            <a:ext cx="551378" cy="551378"/>
          </a:xfrm>
          <a:prstGeom prst="roundRect">
            <a:avLst>
              <a:gd name="adj" fmla="val 16582246"/>
            </a:avLst>
          </a:prstGeom>
          <a:solidFill>
            <a:srgbClr val="4950BC"/>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6195" y="2733437"/>
            <a:ext cx="248126" cy="248126"/>
          </a:xfrm>
          <a:prstGeom prst="rect">
            <a:avLst/>
          </a:prstGeom>
        </p:spPr>
      </p:pic>
      <p:sp>
        <p:nvSpPr>
          <p:cNvPr id="7" name="Text 4"/>
          <p:cNvSpPr/>
          <p:nvPr/>
        </p:nvSpPr>
        <p:spPr>
          <a:xfrm>
            <a:off x="834628" y="3316962"/>
            <a:ext cx="2649022" cy="28717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Fewer TCP Handshakes</a:t>
            </a:r>
            <a:endParaRPr lang="en-US" sz="1800" dirty="0"/>
          </a:p>
        </p:txBody>
      </p:sp>
      <p:sp>
        <p:nvSpPr>
          <p:cNvPr id="8" name="Text 5"/>
          <p:cNvSpPr/>
          <p:nvPr/>
        </p:nvSpPr>
        <p:spPr>
          <a:xfrm>
            <a:off x="834628" y="3714393"/>
            <a:ext cx="6197322" cy="588169"/>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Inter" pitchFamily="34" charset="0"/>
                <a:ea typeface="Inter" pitchFamily="34" charset="-122"/>
                <a:cs typeface="Inter" pitchFamily="34" charset="-120"/>
              </a:rPr>
              <a:t>Reduces the time spent establishing connections, as only one initial handshake is needed for multiple requests.</a:t>
            </a:r>
            <a:endParaRPr lang="en-US" sz="1400" dirty="0"/>
          </a:p>
        </p:txBody>
      </p:sp>
      <p:sp>
        <p:nvSpPr>
          <p:cNvPr id="9" name="Shape 6"/>
          <p:cNvSpPr/>
          <p:nvPr/>
        </p:nvSpPr>
        <p:spPr>
          <a:xfrm>
            <a:off x="7406997" y="2390537"/>
            <a:ext cx="6580108" cy="2103358"/>
          </a:xfrm>
          <a:prstGeom prst="roundRect">
            <a:avLst>
              <a:gd name="adj" fmla="val 3671"/>
            </a:avLst>
          </a:prstGeom>
          <a:solidFill>
            <a:srgbClr val="DADBF1"/>
          </a:solidFill>
          <a:ln w="7620">
            <a:solidFill>
              <a:srgbClr val="C0C1D7"/>
            </a:solidFill>
            <a:prstDash val="solid"/>
          </a:ln>
        </p:spPr>
      </p:sp>
      <p:sp>
        <p:nvSpPr>
          <p:cNvPr id="10" name="Shape 7"/>
          <p:cNvSpPr/>
          <p:nvPr/>
        </p:nvSpPr>
        <p:spPr>
          <a:xfrm>
            <a:off x="7598331" y="2581870"/>
            <a:ext cx="551378" cy="551378"/>
          </a:xfrm>
          <a:prstGeom prst="roundRect">
            <a:avLst>
              <a:gd name="adj" fmla="val 16582246"/>
            </a:avLst>
          </a:prstGeom>
          <a:solidFill>
            <a:srgbClr val="4950BC"/>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9897" y="2733437"/>
            <a:ext cx="248126" cy="248126"/>
          </a:xfrm>
          <a:prstGeom prst="rect">
            <a:avLst/>
          </a:prstGeom>
        </p:spPr>
      </p:pic>
      <p:sp>
        <p:nvSpPr>
          <p:cNvPr id="12" name="Text 8"/>
          <p:cNvSpPr/>
          <p:nvPr/>
        </p:nvSpPr>
        <p:spPr>
          <a:xfrm>
            <a:off x="7598331" y="3316962"/>
            <a:ext cx="2297787" cy="28717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Lower Latency</a:t>
            </a:r>
            <a:endParaRPr lang="en-US" sz="1800" dirty="0"/>
          </a:p>
        </p:txBody>
      </p:sp>
      <p:sp>
        <p:nvSpPr>
          <p:cNvPr id="13" name="Text 9"/>
          <p:cNvSpPr/>
          <p:nvPr/>
        </p:nvSpPr>
        <p:spPr>
          <a:xfrm>
            <a:off x="7598331" y="3714393"/>
            <a:ext cx="6197441" cy="588169"/>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Inter" pitchFamily="34" charset="0"/>
                <a:ea typeface="Inter" pitchFamily="34" charset="-122"/>
                <a:cs typeface="Inter" pitchFamily="34" charset="-120"/>
              </a:rPr>
              <a:t>Minimizes delays by avoiding the setup and teardown overhead for each individual resource.</a:t>
            </a:r>
            <a:endParaRPr lang="en-US" sz="1400" dirty="0"/>
          </a:p>
        </p:txBody>
      </p:sp>
      <p:sp>
        <p:nvSpPr>
          <p:cNvPr id="14" name="Shape 10"/>
          <p:cNvSpPr/>
          <p:nvPr/>
        </p:nvSpPr>
        <p:spPr>
          <a:xfrm>
            <a:off x="643295" y="4677608"/>
            <a:ext cx="6579989" cy="2397442"/>
          </a:xfrm>
          <a:prstGeom prst="roundRect">
            <a:avLst>
              <a:gd name="adj" fmla="val 3220"/>
            </a:avLst>
          </a:prstGeom>
          <a:solidFill>
            <a:srgbClr val="DADBF1"/>
          </a:solidFill>
          <a:ln w="7620">
            <a:solidFill>
              <a:srgbClr val="C0C1D7"/>
            </a:solidFill>
            <a:prstDash val="solid"/>
          </a:ln>
        </p:spPr>
      </p:sp>
      <p:sp>
        <p:nvSpPr>
          <p:cNvPr id="15" name="Shape 11"/>
          <p:cNvSpPr/>
          <p:nvPr/>
        </p:nvSpPr>
        <p:spPr>
          <a:xfrm>
            <a:off x="834628" y="4868942"/>
            <a:ext cx="551378" cy="551378"/>
          </a:xfrm>
          <a:prstGeom prst="roundRect">
            <a:avLst>
              <a:gd name="adj" fmla="val 16582246"/>
            </a:avLst>
          </a:prstGeom>
          <a:solidFill>
            <a:srgbClr val="4950BC"/>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6195" y="5020508"/>
            <a:ext cx="248126" cy="248126"/>
          </a:xfrm>
          <a:prstGeom prst="rect">
            <a:avLst/>
          </a:prstGeom>
        </p:spPr>
      </p:pic>
      <p:sp>
        <p:nvSpPr>
          <p:cNvPr id="17" name="Text 12"/>
          <p:cNvSpPr/>
          <p:nvPr/>
        </p:nvSpPr>
        <p:spPr>
          <a:xfrm>
            <a:off x="834628" y="5604034"/>
            <a:ext cx="2966085" cy="28717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Crucial for Complex Pages</a:t>
            </a:r>
            <a:endParaRPr lang="en-US" sz="1800" dirty="0"/>
          </a:p>
        </p:txBody>
      </p:sp>
      <p:sp>
        <p:nvSpPr>
          <p:cNvPr id="18" name="Text 13"/>
          <p:cNvSpPr/>
          <p:nvPr/>
        </p:nvSpPr>
        <p:spPr>
          <a:xfrm>
            <a:off x="834628" y="6001464"/>
            <a:ext cx="6197322" cy="588169"/>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Inter" pitchFamily="34" charset="0"/>
                <a:ea typeface="Inter" pitchFamily="34" charset="-122"/>
                <a:cs typeface="Inter" pitchFamily="34" charset="-120"/>
              </a:rPr>
              <a:t>Indispensable for modern web pages laden with numerous assets like images, CSS stylesheets, and JavaScript files.</a:t>
            </a:r>
            <a:endParaRPr lang="en-US" sz="1400" dirty="0"/>
          </a:p>
        </p:txBody>
      </p:sp>
      <p:sp>
        <p:nvSpPr>
          <p:cNvPr id="19" name="Shape 14"/>
          <p:cNvSpPr/>
          <p:nvPr/>
        </p:nvSpPr>
        <p:spPr>
          <a:xfrm>
            <a:off x="7406997" y="4677608"/>
            <a:ext cx="6580108" cy="2397442"/>
          </a:xfrm>
          <a:prstGeom prst="roundRect">
            <a:avLst>
              <a:gd name="adj" fmla="val 3220"/>
            </a:avLst>
          </a:prstGeom>
          <a:solidFill>
            <a:srgbClr val="DADBF1"/>
          </a:solidFill>
          <a:ln w="7620">
            <a:solidFill>
              <a:srgbClr val="C0C1D7"/>
            </a:solidFill>
            <a:prstDash val="solid"/>
          </a:ln>
        </p:spPr>
      </p:sp>
      <p:sp>
        <p:nvSpPr>
          <p:cNvPr id="20" name="Shape 15"/>
          <p:cNvSpPr/>
          <p:nvPr/>
        </p:nvSpPr>
        <p:spPr>
          <a:xfrm>
            <a:off x="7598331" y="4868942"/>
            <a:ext cx="551378" cy="551378"/>
          </a:xfrm>
          <a:prstGeom prst="roundRect">
            <a:avLst>
              <a:gd name="adj" fmla="val 16582246"/>
            </a:avLst>
          </a:prstGeom>
          <a:solidFill>
            <a:srgbClr val="4950BC"/>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49897" y="5020508"/>
            <a:ext cx="248126" cy="248126"/>
          </a:xfrm>
          <a:prstGeom prst="rect">
            <a:avLst/>
          </a:prstGeom>
        </p:spPr>
      </p:pic>
      <p:sp>
        <p:nvSpPr>
          <p:cNvPr id="22" name="Text 16"/>
          <p:cNvSpPr/>
          <p:nvPr/>
        </p:nvSpPr>
        <p:spPr>
          <a:xfrm>
            <a:off x="7598331" y="5604034"/>
            <a:ext cx="3701415" cy="28717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Supports Pipelining &amp; Keep-Alive</a:t>
            </a:r>
            <a:endParaRPr lang="en-US" sz="1800" dirty="0"/>
          </a:p>
        </p:txBody>
      </p:sp>
      <p:sp>
        <p:nvSpPr>
          <p:cNvPr id="23" name="Text 17"/>
          <p:cNvSpPr/>
          <p:nvPr/>
        </p:nvSpPr>
        <p:spPr>
          <a:xfrm>
            <a:off x="7598331" y="6001464"/>
            <a:ext cx="6197441" cy="882253"/>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Inter" pitchFamily="34" charset="0"/>
                <a:ea typeface="Inter" pitchFamily="34" charset="-122"/>
                <a:cs typeface="Inter" pitchFamily="34" charset="-120"/>
              </a:rPr>
              <a:t>Allows multiple requests to be sent without waiting for individual responses (pipelining) and keeps connections open for future requests (keep-alive).</a:t>
            </a:r>
            <a:endParaRPr lang="en-US" sz="1400" dirty="0"/>
          </a:p>
        </p:txBody>
      </p:sp>
      <p:sp>
        <p:nvSpPr>
          <p:cNvPr id="24" name="Text 18"/>
          <p:cNvSpPr/>
          <p:nvPr/>
        </p:nvSpPr>
        <p:spPr>
          <a:xfrm>
            <a:off x="643295" y="7281743"/>
            <a:ext cx="13343811" cy="294084"/>
          </a:xfrm>
          <a:prstGeom prst="rect">
            <a:avLst/>
          </a:prstGeom>
          <a:noFill/>
          <a:ln/>
        </p:spPr>
        <p:txBody>
          <a:bodyPr wrap="none" lIns="0" tIns="0" rIns="0" bIns="0" rtlCol="0" anchor="t"/>
          <a:lstStyle/>
          <a:p>
            <a:pPr algn="l" indent="0" marL="0">
              <a:lnSpc>
                <a:spcPts val="2300"/>
              </a:lnSpc>
              <a:buNone/>
            </a:pPr>
            <a:r>
              <a:rPr lang="en-US" sz="1400" dirty="0">
                <a:solidFill>
                  <a:srgbClr val="272525"/>
                </a:solidFill>
                <a:latin typeface="Inter" pitchFamily="34" charset="0"/>
                <a:ea typeface="Inter" pitchFamily="34" charset="-122"/>
                <a:cs typeface="Inter" pitchFamily="34" charset="-120"/>
              </a:rPr>
              <a:t>Imagine a busy highway where cars (data) can travel continuously without stopping at every intersection. That's the advantage of persistent HTTP.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5077"/>
          </a:xfrm>
          <a:prstGeom prst="rect">
            <a:avLst/>
          </a:prstGeom>
        </p:spPr>
      </p:pic>
      <p:sp>
        <p:nvSpPr>
          <p:cNvPr id="3" name="Text 0"/>
          <p:cNvSpPr/>
          <p:nvPr/>
        </p:nvSpPr>
        <p:spPr>
          <a:xfrm>
            <a:off x="6030278" y="427315"/>
            <a:ext cx="1942505" cy="242888"/>
          </a:xfrm>
          <a:prstGeom prst="rect">
            <a:avLst/>
          </a:prstGeom>
          <a:noFill/>
          <a:ln/>
        </p:spPr>
        <p:txBody>
          <a:bodyPr wrap="none" lIns="0" tIns="0" rIns="0" bIns="0" rtlCol="0" anchor="t"/>
          <a:lstStyle/>
          <a:p>
            <a:pPr algn="l" indent="0" marL="0">
              <a:lnSpc>
                <a:spcPts val="1900"/>
              </a:lnSpc>
              <a:buNone/>
            </a:pPr>
            <a:r>
              <a:rPr lang="en-US" sz="1500" b="1" dirty="0">
                <a:solidFill>
                  <a:srgbClr val="000000"/>
                </a:solidFill>
                <a:latin typeface="Inter Bold" pitchFamily="34" charset="0"/>
                <a:ea typeface="Inter Bold" pitchFamily="34" charset="-122"/>
                <a:cs typeface="Inter Bold" pitchFamily="34" charset="-120"/>
              </a:rPr>
              <a:t>SECTION 3</a:t>
            </a:r>
            <a:endParaRPr lang="en-US" sz="1500" dirty="0"/>
          </a:p>
        </p:txBody>
      </p:sp>
      <p:sp>
        <p:nvSpPr>
          <p:cNvPr id="4" name="Text 1"/>
          <p:cNvSpPr/>
          <p:nvPr/>
        </p:nvSpPr>
        <p:spPr>
          <a:xfrm>
            <a:off x="6030278" y="732353"/>
            <a:ext cx="6918246" cy="485537"/>
          </a:xfrm>
          <a:prstGeom prst="rect">
            <a:avLst/>
          </a:prstGeom>
          <a:noFill/>
          <a:ln/>
        </p:spPr>
        <p:txBody>
          <a:bodyPr wrap="none" lIns="0" tIns="0" rIns="0" bIns="0" rtlCol="0" anchor="t"/>
          <a:lstStyle/>
          <a:p>
            <a:pPr algn="l" indent="0" marL="0">
              <a:lnSpc>
                <a:spcPts val="3800"/>
              </a:lnSpc>
              <a:buNone/>
            </a:pPr>
            <a:r>
              <a:rPr lang="en-US" sz="3050" b="1" dirty="0">
                <a:solidFill>
                  <a:srgbClr val="000000"/>
                </a:solidFill>
                <a:latin typeface="Inter Bold" pitchFamily="34" charset="0"/>
                <a:ea typeface="Inter Bold" pitchFamily="34" charset="-122"/>
                <a:cs typeface="Inter Bold" pitchFamily="34" charset="-120"/>
              </a:rPr>
              <a:t>HTTP Message Format: The Request</a:t>
            </a:r>
            <a:endParaRPr lang="en-US" sz="3050" dirty="0"/>
          </a:p>
        </p:txBody>
      </p:sp>
      <p:sp>
        <p:nvSpPr>
          <p:cNvPr id="5" name="Text 2"/>
          <p:cNvSpPr/>
          <p:nvPr/>
        </p:nvSpPr>
        <p:spPr>
          <a:xfrm>
            <a:off x="6030278" y="1450896"/>
            <a:ext cx="8056245" cy="497205"/>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Every interaction between your browser and a web server begins with an HTTP request, a precisely structured message.</a:t>
            </a:r>
            <a:endParaRPr lang="en-US" sz="1200" dirty="0"/>
          </a:p>
        </p:txBody>
      </p:sp>
      <p:sp>
        <p:nvSpPr>
          <p:cNvPr id="6" name="Shape 3"/>
          <p:cNvSpPr/>
          <p:nvPr/>
        </p:nvSpPr>
        <p:spPr>
          <a:xfrm>
            <a:off x="6030278" y="2122884"/>
            <a:ext cx="8056245" cy="2470309"/>
          </a:xfrm>
          <a:prstGeom prst="roundRect">
            <a:avLst>
              <a:gd name="adj" fmla="val 2642"/>
            </a:avLst>
          </a:prstGeom>
          <a:solidFill>
            <a:srgbClr val="F2F2F2"/>
          </a:solidFill>
          <a:ln/>
        </p:spPr>
      </p:sp>
      <p:sp>
        <p:nvSpPr>
          <p:cNvPr id="7" name="Shape 4"/>
          <p:cNvSpPr/>
          <p:nvPr/>
        </p:nvSpPr>
        <p:spPr>
          <a:xfrm>
            <a:off x="6022538" y="2122884"/>
            <a:ext cx="8071723" cy="2470309"/>
          </a:xfrm>
          <a:prstGeom prst="roundRect">
            <a:avLst>
              <a:gd name="adj" fmla="val 944"/>
            </a:avLst>
          </a:prstGeom>
          <a:solidFill>
            <a:srgbClr val="F2F2F2"/>
          </a:solidFill>
          <a:ln/>
        </p:spPr>
      </p:sp>
      <p:sp>
        <p:nvSpPr>
          <p:cNvPr id="8" name="Text 5"/>
          <p:cNvSpPr/>
          <p:nvPr/>
        </p:nvSpPr>
        <p:spPr>
          <a:xfrm>
            <a:off x="6177915" y="2239328"/>
            <a:ext cx="7760970" cy="2237423"/>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GET /index.html HTTP/1.1Host: www.example.comUser-Agent: Mozilla/5.0 (Windows NT 10.0; Win64; x64) AppleWebKit/537.36 (KHTML, like Gecko) Chrome/123.0.0.0 Safari/537.36Accept: text/html,application/xhtml+xml,application/xml;q=0.9,image/avif,image/webp,image/apng,*/*;q=0.8,application/signed-exchange;v=b3;q=0.7Accept-Language: en-US,en;q=0.9Connection: keep-alive</a:t>
            </a:r>
            <a:endParaRPr lang="en-US" sz="1200" dirty="0"/>
          </a:p>
        </p:txBody>
      </p:sp>
      <p:sp>
        <p:nvSpPr>
          <p:cNvPr id="9" name="Shape 6"/>
          <p:cNvSpPr/>
          <p:nvPr/>
        </p:nvSpPr>
        <p:spPr>
          <a:xfrm>
            <a:off x="6030278" y="4767977"/>
            <a:ext cx="3950375" cy="1446014"/>
          </a:xfrm>
          <a:prstGeom prst="roundRect">
            <a:avLst>
              <a:gd name="adj" fmla="val 7588"/>
            </a:avLst>
          </a:prstGeom>
          <a:solidFill>
            <a:srgbClr val="FFFFFF"/>
          </a:solidFill>
          <a:ln w="22860">
            <a:solidFill>
              <a:srgbClr val="C0C1D7"/>
            </a:solidFill>
            <a:prstDash val="solid"/>
          </a:ln>
        </p:spPr>
      </p:sp>
      <p:sp>
        <p:nvSpPr>
          <p:cNvPr id="10" name="Shape 7"/>
          <p:cNvSpPr/>
          <p:nvPr/>
        </p:nvSpPr>
        <p:spPr>
          <a:xfrm>
            <a:off x="6007418" y="4767977"/>
            <a:ext cx="91440" cy="1446014"/>
          </a:xfrm>
          <a:prstGeom prst="roundRect">
            <a:avLst>
              <a:gd name="adj" fmla="val 71381"/>
            </a:avLst>
          </a:prstGeom>
          <a:solidFill>
            <a:srgbClr val="4950BC"/>
          </a:solidFill>
          <a:ln/>
        </p:spPr>
      </p:sp>
      <p:sp>
        <p:nvSpPr>
          <p:cNvPr id="11" name="Text 8"/>
          <p:cNvSpPr/>
          <p:nvPr/>
        </p:nvSpPr>
        <p:spPr>
          <a:xfrm>
            <a:off x="6277094" y="4946213"/>
            <a:ext cx="1942505" cy="242888"/>
          </a:xfrm>
          <a:prstGeom prst="rect">
            <a:avLst/>
          </a:prstGeom>
          <a:noFill/>
          <a:ln/>
        </p:spPr>
        <p:txBody>
          <a:bodyPr wrap="none" lIns="0" tIns="0" rIns="0" bIns="0" rtlCol="0" anchor="t"/>
          <a:lstStyle/>
          <a:p>
            <a:pPr algn="l" indent="0" marL="0">
              <a:lnSpc>
                <a:spcPts val="1900"/>
              </a:lnSpc>
              <a:buNone/>
            </a:pPr>
            <a:r>
              <a:rPr lang="en-US" sz="1500" b="1" dirty="0">
                <a:solidFill>
                  <a:srgbClr val="272525"/>
                </a:solidFill>
                <a:latin typeface="Inter Bold" pitchFamily="34" charset="0"/>
                <a:ea typeface="Inter Bold" pitchFamily="34" charset="-122"/>
                <a:cs typeface="Inter Bold" pitchFamily="34" charset="-120"/>
              </a:rPr>
              <a:t>Request Line</a:t>
            </a:r>
            <a:endParaRPr lang="en-US" sz="1500" dirty="0"/>
          </a:p>
        </p:txBody>
      </p:sp>
      <p:sp>
        <p:nvSpPr>
          <p:cNvPr id="12" name="Text 9"/>
          <p:cNvSpPr/>
          <p:nvPr/>
        </p:nvSpPr>
        <p:spPr>
          <a:xfrm>
            <a:off x="6277094" y="5282327"/>
            <a:ext cx="3525322" cy="753428"/>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Specifies the method (GET, POST, etc.), the path to the resource, and the HTTP version. </a:t>
            </a:r>
            <a:pPr algn="l" indent="0" marL="0">
              <a:lnSpc>
                <a:spcPts val="195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GET /index.html HTTP/1.1</a:t>
            </a:r>
            <a:endParaRPr lang="en-US" sz="1200" dirty="0"/>
          </a:p>
        </p:txBody>
      </p:sp>
      <p:sp>
        <p:nvSpPr>
          <p:cNvPr id="13" name="Shape 10"/>
          <p:cNvSpPr/>
          <p:nvPr/>
        </p:nvSpPr>
        <p:spPr>
          <a:xfrm>
            <a:off x="10136029" y="4767977"/>
            <a:ext cx="3950494" cy="1446014"/>
          </a:xfrm>
          <a:prstGeom prst="roundRect">
            <a:avLst>
              <a:gd name="adj" fmla="val 7588"/>
            </a:avLst>
          </a:prstGeom>
          <a:solidFill>
            <a:srgbClr val="FFFFFF"/>
          </a:solidFill>
          <a:ln w="22860">
            <a:solidFill>
              <a:srgbClr val="C0C1D7"/>
            </a:solidFill>
            <a:prstDash val="solid"/>
          </a:ln>
        </p:spPr>
      </p:sp>
      <p:sp>
        <p:nvSpPr>
          <p:cNvPr id="14" name="Shape 11"/>
          <p:cNvSpPr/>
          <p:nvPr/>
        </p:nvSpPr>
        <p:spPr>
          <a:xfrm>
            <a:off x="10113169" y="4767977"/>
            <a:ext cx="91440" cy="1446014"/>
          </a:xfrm>
          <a:prstGeom prst="roundRect">
            <a:avLst>
              <a:gd name="adj" fmla="val 71381"/>
            </a:avLst>
          </a:prstGeom>
          <a:solidFill>
            <a:srgbClr val="4950BC"/>
          </a:solidFill>
          <a:ln/>
        </p:spPr>
      </p:sp>
      <p:sp>
        <p:nvSpPr>
          <p:cNvPr id="15" name="Text 12"/>
          <p:cNvSpPr/>
          <p:nvPr/>
        </p:nvSpPr>
        <p:spPr>
          <a:xfrm>
            <a:off x="10382845" y="4946213"/>
            <a:ext cx="1942505" cy="242888"/>
          </a:xfrm>
          <a:prstGeom prst="rect">
            <a:avLst/>
          </a:prstGeom>
          <a:noFill/>
          <a:ln/>
        </p:spPr>
        <p:txBody>
          <a:bodyPr wrap="none" lIns="0" tIns="0" rIns="0" bIns="0" rtlCol="0" anchor="t"/>
          <a:lstStyle/>
          <a:p>
            <a:pPr algn="l" indent="0" marL="0">
              <a:lnSpc>
                <a:spcPts val="1900"/>
              </a:lnSpc>
              <a:buNone/>
            </a:pPr>
            <a:r>
              <a:rPr lang="en-US" sz="1500" b="1" dirty="0">
                <a:solidFill>
                  <a:srgbClr val="272525"/>
                </a:solidFill>
                <a:latin typeface="Inter Bold" pitchFamily="34" charset="0"/>
                <a:ea typeface="Inter Bold" pitchFamily="34" charset="-122"/>
                <a:cs typeface="Inter Bold" pitchFamily="34" charset="-120"/>
              </a:rPr>
              <a:t>Headers</a:t>
            </a:r>
            <a:endParaRPr lang="en-US" sz="1500" dirty="0"/>
          </a:p>
        </p:txBody>
      </p:sp>
      <p:sp>
        <p:nvSpPr>
          <p:cNvPr id="16" name="Text 13"/>
          <p:cNvSpPr/>
          <p:nvPr/>
        </p:nvSpPr>
        <p:spPr>
          <a:xfrm>
            <a:off x="10382845" y="5282327"/>
            <a:ext cx="3525441" cy="753428"/>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Provide additional information about the request, the client, and the desired response format. </a:t>
            </a:r>
            <a:pPr algn="l" indent="0" marL="0">
              <a:lnSpc>
                <a:spcPts val="195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Host: www.example.com</a:t>
            </a:r>
            <a:endParaRPr lang="en-US" sz="1200" dirty="0"/>
          </a:p>
        </p:txBody>
      </p:sp>
      <p:sp>
        <p:nvSpPr>
          <p:cNvPr id="17" name="Shape 14"/>
          <p:cNvSpPr/>
          <p:nvPr/>
        </p:nvSpPr>
        <p:spPr>
          <a:xfrm>
            <a:off x="6030278" y="6369368"/>
            <a:ext cx="3950375" cy="1438394"/>
          </a:xfrm>
          <a:prstGeom prst="roundRect">
            <a:avLst>
              <a:gd name="adj" fmla="val 7629"/>
            </a:avLst>
          </a:prstGeom>
          <a:solidFill>
            <a:srgbClr val="FFFFFF"/>
          </a:solidFill>
          <a:ln w="22860">
            <a:solidFill>
              <a:srgbClr val="C0C1D7"/>
            </a:solidFill>
            <a:prstDash val="solid"/>
          </a:ln>
        </p:spPr>
      </p:sp>
      <p:sp>
        <p:nvSpPr>
          <p:cNvPr id="18" name="Shape 15"/>
          <p:cNvSpPr/>
          <p:nvPr/>
        </p:nvSpPr>
        <p:spPr>
          <a:xfrm>
            <a:off x="6007418" y="6369368"/>
            <a:ext cx="91440" cy="1438394"/>
          </a:xfrm>
          <a:prstGeom prst="roundRect">
            <a:avLst>
              <a:gd name="adj" fmla="val 71381"/>
            </a:avLst>
          </a:prstGeom>
          <a:solidFill>
            <a:srgbClr val="4950BC"/>
          </a:solidFill>
          <a:ln/>
        </p:spPr>
      </p:sp>
      <p:sp>
        <p:nvSpPr>
          <p:cNvPr id="19" name="Text 16"/>
          <p:cNvSpPr/>
          <p:nvPr/>
        </p:nvSpPr>
        <p:spPr>
          <a:xfrm>
            <a:off x="6277094" y="6547604"/>
            <a:ext cx="1942505" cy="242888"/>
          </a:xfrm>
          <a:prstGeom prst="rect">
            <a:avLst/>
          </a:prstGeom>
          <a:noFill/>
          <a:ln/>
        </p:spPr>
        <p:txBody>
          <a:bodyPr wrap="none" lIns="0" tIns="0" rIns="0" bIns="0" rtlCol="0" anchor="t"/>
          <a:lstStyle/>
          <a:p>
            <a:pPr algn="l" indent="0" marL="0">
              <a:lnSpc>
                <a:spcPts val="1900"/>
              </a:lnSpc>
              <a:buNone/>
            </a:pPr>
            <a:r>
              <a:rPr lang="en-US" sz="1500" b="1" dirty="0">
                <a:solidFill>
                  <a:srgbClr val="272525"/>
                </a:solidFill>
                <a:latin typeface="Inter Bold" pitchFamily="34" charset="0"/>
                <a:ea typeface="Inter Bold" pitchFamily="34" charset="-122"/>
                <a:cs typeface="Inter Bold" pitchFamily="34" charset="-120"/>
              </a:rPr>
              <a:t>Optional Body</a:t>
            </a:r>
            <a:endParaRPr lang="en-US" sz="1500" dirty="0"/>
          </a:p>
        </p:txBody>
      </p:sp>
      <p:sp>
        <p:nvSpPr>
          <p:cNvPr id="20" name="Text 17"/>
          <p:cNvSpPr/>
          <p:nvPr/>
        </p:nvSpPr>
        <p:spPr>
          <a:xfrm>
            <a:off x="6277094" y="6883718"/>
            <a:ext cx="3525322" cy="745808"/>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Used primarily with POST requests to send data to the server, such as form submissions. (Not present in a simple GET request)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9712" y="431840"/>
            <a:ext cx="7309366" cy="490776"/>
          </a:xfrm>
          <a:prstGeom prst="rect">
            <a:avLst/>
          </a:prstGeom>
          <a:noFill/>
          <a:ln/>
        </p:spPr>
        <p:txBody>
          <a:bodyPr wrap="none" lIns="0" tIns="0" rIns="0" bIns="0" rtlCol="0" anchor="t"/>
          <a:lstStyle/>
          <a:p>
            <a:pPr algn="l" indent="0" marL="0">
              <a:lnSpc>
                <a:spcPts val="3850"/>
              </a:lnSpc>
              <a:buNone/>
            </a:pPr>
            <a:r>
              <a:rPr lang="en-US" sz="3050" b="1" dirty="0">
                <a:solidFill>
                  <a:srgbClr val="000000"/>
                </a:solidFill>
                <a:latin typeface="Inter Bold" pitchFamily="34" charset="0"/>
                <a:ea typeface="Inter Bold" pitchFamily="34" charset="-122"/>
                <a:cs typeface="Inter Bold" pitchFamily="34" charset="-120"/>
              </a:rPr>
              <a:t>HTTP Message Format: The Response</a:t>
            </a:r>
            <a:endParaRPr lang="en-US" sz="3050" dirty="0"/>
          </a:p>
        </p:txBody>
      </p:sp>
      <p:sp>
        <p:nvSpPr>
          <p:cNvPr id="3" name="Text 1"/>
          <p:cNvSpPr/>
          <p:nvPr/>
        </p:nvSpPr>
        <p:spPr>
          <a:xfrm>
            <a:off x="549712" y="1236702"/>
            <a:ext cx="13530977" cy="251222"/>
          </a:xfrm>
          <a:prstGeom prst="rect">
            <a:avLst/>
          </a:prstGeom>
          <a:noFill/>
          <a:ln/>
        </p:spPr>
        <p:txBody>
          <a:bodyPr wrap="non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After processing a request, the server crafts an HTTP response, delivering the requested content or a status message back to the client.</a:t>
            </a:r>
            <a:endParaRPr lang="en-US" sz="1200" dirty="0"/>
          </a:p>
        </p:txBody>
      </p:sp>
      <p:sp>
        <p:nvSpPr>
          <p:cNvPr id="4" name="Shape 2"/>
          <p:cNvSpPr/>
          <p:nvPr/>
        </p:nvSpPr>
        <p:spPr>
          <a:xfrm>
            <a:off x="549712" y="1664613"/>
            <a:ext cx="13530977" cy="4506278"/>
          </a:xfrm>
          <a:prstGeom prst="roundRect">
            <a:avLst>
              <a:gd name="adj" fmla="val 1464"/>
            </a:avLst>
          </a:prstGeom>
          <a:solidFill>
            <a:srgbClr val="F2F2F2"/>
          </a:solidFill>
          <a:ln/>
        </p:spPr>
      </p:sp>
      <p:sp>
        <p:nvSpPr>
          <p:cNvPr id="5" name="Shape 3"/>
          <p:cNvSpPr/>
          <p:nvPr/>
        </p:nvSpPr>
        <p:spPr>
          <a:xfrm>
            <a:off x="541973" y="1664613"/>
            <a:ext cx="13546455" cy="4506278"/>
          </a:xfrm>
          <a:prstGeom prst="roundRect">
            <a:avLst>
              <a:gd name="adj" fmla="val 523"/>
            </a:avLst>
          </a:prstGeom>
          <a:solidFill>
            <a:srgbClr val="F2F2F2"/>
          </a:solidFill>
          <a:ln/>
        </p:spPr>
      </p:sp>
      <p:sp>
        <p:nvSpPr>
          <p:cNvPr id="6" name="Text 4"/>
          <p:cNvSpPr/>
          <p:nvPr/>
        </p:nvSpPr>
        <p:spPr>
          <a:xfrm>
            <a:off x="699016" y="1782366"/>
            <a:ext cx="13232368" cy="4270772"/>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HTTP/1.1 200 OKContent-Type: text/html; charset=UTF-8Content-Length: 1024Date: Mon, 15 Apr 2024 10:30:00 GMTServer: Apache/2.4.41 (Ubuntu)&lt;!DOCTYPE html&gt;&lt;html&gt;&lt;head&gt;    &lt;title&gt;Example Domain&lt;/title&gt;&lt;/head&gt;&lt;body&gt;    &lt;h1&gt;Example Domain&lt;/h1&gt;    &lt;p&gt;This domain is for use in illustrative examples in documents. You may use this    domain in literature without prior coordination or asking for permission.&lt;/p&gt;&lt;/body&gt;&lt;/html&gt;</a:t>
            </a:r>
            <a:endParaRPr lang="en-US" sz="1200" dirty="0"/>
          </a:p>
        </p:txBody>
      </p:sp>
      <p:sp>
        <p:nvSpPr>
          <p:cNvPr id="7" name="Shape 5"/>
          <p:cNvSpPr/>
          <p:nvPr/>
        </p:nvSpPr>
        <p:spPr>
          <a:xfrm>
            <a:off x="549712" y="6347579"/>
            <a:ext cx="4405551" cy="1460659"/>
          </a:xfrm>
          <a:prstGeom prst="roundRect">
            <a:avLst>
              <a:gd name="adj" fmla="val 7512"/>
            </a:avLst>
          </a:prstGeom>
          <a:solidFill>
            <a:srgbClr val="FFFFFF"/>
          </a:solidFill>
          <a:ln w="22860">
            <a:solidFill>
              <a:srgbClr val="C0C1D7"/>
            </a:solidFill>
            <a:prstDash val="solid"/>
          </a:ln>
        </p:spPr>
      </p:sp>
      <p:sp>
        <p:nvSpPr>
          <p:cNvPr id="8" name="Shape 6"/>
          <p:cNvSpPr/>
          <p:nvPr/>
        </p:nvSpPr>
        <p:spPr>
          <a:xfrm>
            <a:off x="526852" y="6347579"/>
            <a:ext cx="91440" cy="1460659"/>
          </a:xfrm>
          <a:prstGeom prst="roundRect">
            <a:avLst>
              <a:gd name="adj" fmla="val 72145"/>
            </a:avLst>
          </a:prstGeom>
          <a:solidFill>
            <a:srgbClr val="4950BC"/>
          </a:solidFill>
          <a:ln/>
        </p:spPr>
      </p:sp>
      <p:sp>
        <p:nvSpPr>
          <p:cNvPr id="9" name="Text 7"/>
          <p:cNvSpPr/>
          <p:nvPr/>
        </p:nvSpPr>
        <p:spPr>
          <a:xfrm>
            <a:off x="798195" y="6527483"/>
            <a:ext cx="1963341" cy="245388"/>
          </a:xfrm>
          <a:prstGeom prst="rect">
            <a:avLst/>
          </a:prstGeom>
          <a:noFill/>
          <a:ln/>
        </p:spPr>
        <p:txBody>
          <a:bodyPr wrap="none" lIns="0" tIns="0" rIns="0" bIns="0" rtlCol="0" anchor="t"/>
          <a:lstStyle/>
          <a:p>
            <a:pPr algn="l" indent="0" marL="0">
              <a:lnSpc>
                <a:spcPts val="1900"/>
              </a:lnSpc>
              <a:buNone/>
            </a:pPr>
            <a:r>
              <a:rPr lang="en-US" sz="1500" b="1" dirty="0">
                <a:solidFill>
                  <a:srgbClr val="272525"/>
                </a:solidFill>
                <a:latin typeface="Inter Bold" pitchFamily="34" charset="0"/>
                <a:ea typeface="Inter Bold" pitchFamily="34" charset="-122"/>
                <a:cs typeface="Inter Bold" pitchFamily="34" charset="-120"/>
              </a:rPr>
              <a:t>Status Line</a:t>
            </a:r>
            <a:endParaRPr lang="en-US" sz="1500" dirty="0"/>
          </a:p>
        </p:txBody>
      </p:sp>
      <p:sp>
        <p:nvSpPr>
          <p:cNvPr id="10" name="Text 8"/>
          <p:cNvSpPr/>
          <p:nvPr/>
        </p:nvSpPr>
        <p:spPr>
          <a:xfrm>
            <a:off x="798195" y="6867049"/>
            <a:ext cx="3977164" cy="761286"/>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Indicates the HTTP version, a status code (e.g., 200 for OK, 404 for Not Found), and a brief text message. </a:t>
            </a:r>
            <a:pPr algn="l" indent="0" marL="0">
              <a:lnSpc>
                <a:spcPts val="195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HTTP/1.1 200 OK</a:t>
            </a:r>
            <a:endParaRPr lang="en-US" sz="1200" dirty="0"/>
          </a:p>
        </p:txBody>
      </p:sp>
      <p:sp>
        <p:nvSpPr>
          <p:cNvPr id="11" name="Shape 9"/>
          <p:cNvSpPr/>
          <p:nvPr/>
        </p:nvSpPr>
        <p:spPr>
          <a:xfrm>
            <a:off x="5112306" y="6347579"/>
            <a:ext cx="4405670" cy="1460659"/>
          </a:xfrm>
          <a:prstGeom prst="roundRect">
            <a:avLst>
              <a:gd name="adj" fmla="val 7512"/>
            </a:avLst>
          </a:prstGeom>
          <a:solidFill>
            <a:srgbClr val="FFFFFF"/>
          </a:solidFill>
          <a:ln w="22860">
            <a:solidFill>
              <a:srgbClr val="C0C1D7"/>
            </a:solidFill>
            <a:prstDash val="solid"/>
          </a:ln>
        </p:spPr>
      </p:sp>
      <p:sp>
        <p:nvSpPr>
          <p:cNvPr id="12" name="Shape 10"/>
          <p:cNvSpPr/>
          <p:nvPr/>
        </p:nvSpPr>
        <p:spPr>
          <a:xfrm>
            <a:off x="5089446" y="6347579"/>
            <a:ext cx="91440" cy="1460659"/>
          </a:xfrm>
          <a:prstGeom prst="roundRect">
            <a:avLst>
              <a:gd name="adj" fmla="val 72145"/>
            </a:avLst>
          </a:prstGeom>
          <a:solidFill>
            <a:srgbClr val="4950BC"/>
          </a:solidFill>
          <a:ln/>
        </p:spPr>
      </p:sp>
      <p:sp>
        <p:nvSpPr>
          <p:cNvPr id="13" name="Text 11"/>
          <p:cNvSpPr/>
          <p:nvPr/>
        </p:nvSpPr>
        <p:spPr>
          <a:xfrm>
            <a:off x="5360789" y="6527483"/>
            <a:ext cx="1963341" cy="245388"/>
          </a:xfrm>
          <a:prstGeom prst="rect">
            <a:avLst/>
          </a:prstGeom>
          <a:noFill/>
          <a:ln/>
        </p:spPr>
        <p:txBody>
          <a:bodyPr wrap="none" lIns="0" tIns="0" rIns="0" bIns="0" rtlCol="0" anchor="t"/>
          <a:lstStyle/>
          <a:p>
            <a:pPr algn="l" indent="0" marL="0">
              <a:lnSpc>
                <a:spcPts val="1900"/>
              </a:lnSpc>
              <a:buNone/>
            </a:pPr>
            <a:r>
              <a:rPr lang="en-US" sz="1500" b="1" dirty="0">
                <a:solidFill>
                  <a:srgbClr val="272525"/>
                </a:solidFill>
                <a:latin typeface="Inter Bold" pitchFamily="34" charset="0"/>
                <a:ea typeface="Inter Bold" pitchFamily="34" charset="-122"/>
                <a:cs typeface="Inter Bold" pitchFamily="34" charset="-120"/>
              </a:rPr>
              <a:t>Headers</a:t>
            </a:r>
            <a:endParaRPr lang="en-US" sz="1500" dirty="0"/>
          </a:p>
        </p:txBody>
      </p:sp>
      <p:sp>
        <p:nvSpPr>
          <p:cNvPr id="14" name="Text 12"/>
          <p:cNvSpPr/>
          <p:nvPr/>
        </p:nvSpPr>
        <p:spPr>
          <a:xfrm>
            <a:off x="5360789" y="6867049"/>
            <a:ext cx="3977283" cy="761286"/>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Provide metadata about the response, such as content type, length, and server information. </a:t>
            </a:r>
            <a:pPr algn="l" indent="0" marL="0">
              <a:lnSpc>
                <a:spcPts val="195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Content-Type: text/html</a:t>
            </a:r>
            <a:endParaRPr lang="en-US" sz="1200" dirty="0"/>
          </a:p>
        </p:txBody>
      </p:sp>
      <p:sp>
        <p:nvSpPr>
          <p:cNvPr id="15" name="Shape 13"/>
          <p:cNvSpPr/>
          <p:nvPr/>
        </p:nvSpPr>
        <p:spPr>
          <a:xfrm>
            <a:off x="9675019" y="6347579"/>
            <a:ext cx="4405551" cy="1460659"/>
          </a:xfrm>
          <a:prstGeom prst="roundRect">
            <a:avLst>
              <a:gd name="adj" fmla="val 7512"/>
            </a:avLst>
          </a:prstGeom>
          <a:solidFill>
            <a:srgbClr val="FFFFFF"/>
          </a:solidFill>
          <a:ln w="22860">
            <a:solidFill>
              <a:srgbClr val="C0C1D7"/>
            </a:solidFill>
            <a:prstDash val="solid"/>
          </a:ln>
        </p:spPr>
      </p:sp>
      <p:sp>
        <p:nvSpPr>
          <p:cNvPr id="16" name="Shape 14"/>
          <p:cNvSpPr/>
          <p:nvPr/>
        </p:nvSpPr>
        <p:spPr>
          <a:xfrm>
            <a:off x="9652159" y="6347579"/>
            <a:ext cx="91440" cy="1460659"/>
          </a:xfrm>
          <a:prstGeom prst="roundRect">
            <a:avLst>
              <a:gd name="adj" fmla="val 72145"/>
            </a:avLst>
          </a:prstGeom>
          <a:solidFill>
            <a:srgbClr val="4950BC"/>
          </a:solidFill>
          <a:ln/>
        </p:spPr>
      </p:sp>
      <p:sp>
        <p:nvSpPr>
          <p:cNvPr id="17" name="Text 15"/>
          <p:cNvSpPr/>
          <p:nvPr/>
        </p:nvSpPr>
        <p:spPr>
          <a:xfrm>
            <a:off x="9923502" y="6527483"/>
            <a:ext cx="1963341" cy="245388"/>
          </a:xfrm>
          <a:prstGeom prst="rect">
            <a:avLst/>
          </a:prstGeom>
          <a:noFill/>
          <a:ln/>
        </p:spPr>
        <p:txBody>
          <a:bodyPr wrap="none" lIns="0" tIns="0" rIns="0" bIns="0" rtlCol="0" anchor="t"/>
          <a:lstStyle/>
          <a:p>
            <a:pPr algn="l" indent="0" marL="0">
              <a:lnSpc>
                <a:spcPts val="1900"/>
              </a:lnSpc>
              <a:buNone/>
            </a:pPr>
            <a:r>
              <a:rPr lang="en-US" sz="1500" b="1" dirty="0">
                <a:solidFill>
                  <a:srgbClr val="272525"/>
                </a:solidFill>
                <a:latin typeface="Inter Bold" pitchFamily="34" charset="0"/>
                <a:ea typeface="Inter Bold" pitchFamily="34" charset="-122"/>
                <a:cs typeface="Inter Bold" pitchFamily="34" charset="-120"/>
              </a:rPr>
              <a:t>Body</a:t>
            </a:r>
            <a:endParaRPr lang="en-US" sz="1500" dirty="0"/>
          </a:p>
        </p:txBody>
      </p:sp>
      <p:sp>
        <p:nvSpPr>
          <p:cNvPr id="18" name="Text 16"/>
          <p:cNvSpPr/>
          <p:nvPr/>
        </p:nvSpPr>
        <p:spPr>
          <a:xfrm>
            <a:off x="9923502" y="6867049"/>
            <a:ext cx="3977164" cy="753666"/>
          </a:xfrm>
          <a:prstGeom prst="rect">
            <a:avLst/>
          </a:prstGeom>
          <a:noFill/>
          <a:ln/>
        </p:spPr>
        <p:txBody>
          <a:bodyPr wrap="square" lIns="0" tIns="0" rIns="0" bIns="0" rtlCol="0" anchor="t"/>
          <a:lstStyle/>
          <a:p>
            <a:pPr algn="l" indent="0" marL="0">
              <a:lnSpc>
                <a:spcPts val="1950"/>
              </a:lnSpc>
              <a:buNone/>
            </a:pPr>
            <a:r>
              <a:rPr lang="en-US" sz="1200" dirty="0">
                <a:solidFill>
                  <a:srgbClr val="272525"/>
                </a:solidFill>
                <a:latin typeface="Inter" pitchFamily="34" charset="0"/>
                <a:ea typeface="Inter" pitchFamily="34" charset="-122"/>
                <a:cs typeface="Inter" pitchFamily="34" charset="-120"/>
              </a:rPr>
              <a:t>Contains the actual content requested by the client, like the HTML code for a webpage, an image file, or JSON data.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4609" y="798195"/>
            <a:ext cx="2445068" cy="305633"/>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Inter Bold" pitchFamily="34" charset="0"/>
                <a:ea typeface="Inter Bold" pitchFamily="34" charset="-122"/>
                <a:cs typeface="Inter Bold" pitchFamily="34" charset="-120"/>
              </a:rPr>
              <a:t>SECTION 4</a:t>
            </a:r>
            <a:endParaRPr lang="en-US" sz="1900" dirty="0"/>
          </a:p>
        </p:txBody>
      </p:sp>
      <p:sp>
        <p:nvSpPr>
          <p:cNvPr id="3" name="Text 1"/>
          <p:cNvSpPr/>
          <p:nvPr/>
        </p:nvSpPr>
        <p:spPr>
          <a:xfrm>
            <a:off x="684609" y="1182053"/>
            <a:ext cx="12053292" cy="611148"/>
          </a:xfrm>
          <a:prstGeom prst="rect">
            <a:avLst/>
          </a:prstGeom>
          <a:noFill/>
          <a:ln/>
        </p:spPr>
        <p:txBody>
          <a:bodyPr wrap="none" lIns="0" tIns="0" rIns="0" bIns="0" rtlCol="0" anchor="t"/>
          <a:lstStyle/>
          <a:p>
            <a:pPr algn="l" indent="0" marL="0">
              <a:lnSpc>
                <a:spcPts val="4800"/>
              </a:lnSpc>
              <a:buNone/>
            </a:pPr>
            <a:r>
              <a:rPr lang="en-US" sz="3850" b="1" dirty="0">
                <a:solidFill>
                  <a:srgbClr val="000000"/>
                </a:solidFill>
                <a:latin typeface="Inter Bold" pitchFamily="34" charset="0"/>
                <a:ea typeface="Inter Bold" pitchFamily="34" charset="-122"/>
                <a:cs typeface="Inter Bold" pitchFamily="34" charset="-120"/>
              </a:rPr>
              <a:t>User–Server Interaction: The Necessity of Cookies</a:t>
            </a:r>
            <a:endParaRPr lang="en-US" sz="3850" dirty="0"/>
          </a:p>
        </p:txBody>
      </p:sp>
      <p:sp>
        <p:nvSpPr>
          <p:cNvPr id="4" name="Text 2"/>
          <p:cNvSpPr/>
          <p:nvPr/>
        </p:nvSpPr>
        <p:spPr>
          <a:xfrm>
            <a:off x="684609" y="2086570"/>
            <a:ext cx="13261181" cy="312896"/>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HTTP's stateless nature means each request is treated as brand new. To create a continuous, personalized web experience, cookies step in.</a:t>
            </a:r>
            <a:endParaRPr lang="en-US" sz="1500" dirty="0"/>
          </a:p>
        </p:txBody>
      </p:sp>
      <p:sp>
        <p:nvSpPr>
          <p:cNvPr id="5" name="Text 3"/>
          <p:cNvSpPr/>
          <p:nvPr/>
        </p:nvSpPr>
        <p:spPr>
          <a:xfrm>
            <a:off x="977979" y="2839522"/>
            <a:ext cx="12967811" cy="312896"/>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"Because HTTP is stateless, the server doesn't inherently remember who you are or what you did last."</a:t>
            </a:r>
            <a:endParaRPr lang="en-US" sz="1500" dirty="0"/>
          </a:p>
        </p:txBody>
      </p:sp>
      <p:sp>
        <p:nvSpPr>
          <p:cNvPr id="6" name="Shape 4"/>
          <p:cNvSpPr/>
          <p:nvPr/>
        </p:nvSpPr>
        <p:spPr>
          <a:xfrm>
            <a:off x="684609" y="2619494"/>
            <a:ext cx="22860" cy="752951"/>
          </a:xfrm>
          <a:prstGeom prst="rect">
            <a:avLst/>
          </a:prstGeom>
          <a:solidFill>
            <a:srgbClr val="4950BC"/>
          </a:solidFill>
          <a:ln/>
        </p:spPr>
      </p:sp>
      <p:sp>
        <p:nvSpPr>
          <p:cNvPr id="7" name="Text 5"/>
          <p:cNvSpPr/>
          <p:nvPr/>
        </p:nvSpPr>
        <p:spPr>
          <a:xfrm>
            <a:off x="684609" y="3665815"/>
            <a:ext cx="5577364" cy="366713"/>
          </a:xfrm>
          <a:prstGeom prst="rect">
            <a:avLst/>
          </a:prstGeom>
          <a:noFill/>
          <a:ln/>
        </p:spPr>
        <p:txBody>
          <a:bodyPr wrap="none" lIns="0" tIns="0" rIns="0" bIns="0" rtlCol="0" anchor="t"/>
          <a:lstStyle/>
          <a:p>
            <a:pPr algn="l" indent="0" marL="0">
              <a:lnSpc>
                <a:spcPts val="2850"/>
              </a:lnSpc>
              <a:buNone/>
            </a:pPr>
            <a:r>
              <a:rPr lang="en-US" sz="2300" b="1" dirty="0">
                <a:solidFill>
                  <a:srgbClr val="000000"/>
                </a:solidFill>
                <a:latin typeface="Inter Bold" pitchFamily="34" charset="0"/>
                <a:ea typeface="Inter Bold" pitchFamily="34" charset="-122"/>
                <a:cs typeface="Inter Bold" pitchFamily="34" charset="-120"/>
              </a:rPr>
              <a:t>How Cookies Enable Web Functionality</a:t>
            </a:r>
            <a:endParaRPr lang="en-US" sz="2300" dirty="0"/>
          </a:p>
        </p:txBody>
      </p:sp>
      <p:sp>
        <p:nvSpPr>
          <p:cNvPr id="8" name="Shape 6"/>
          <p:cNvSpPr/>
          <p:nvPr/>
        </p:nvSpPr>
        <p:spPr>
          <a:xfrm>
            <a:off x="684609" y="4325898"/>
            <a:ext cx="6532840" cy="1454944"/>
          </a:xfrm>
          <a:prstGeom prst="roundRect">
            <a:avLst>
              <a:gd name="adj" fmla="val 32266"/>
            </a:avLst>
          </a:prstGeom>
          <a:solidFill>
            <a:srgbClr val="DADBF1"/>
          </a:solidFill>
          <a:ln w="7620">
            <a:solidFill>
              <a:srgbClr val="C0C1D7"/>
            </a:solidFill>
            <a:prstDash val="solid"/>
          </a:ln>
        </p:spPr>
      </p:sp>
      <p:sp>
        <p:nvSpPr>
          <p:cNvPr id="9" name="Text 7"/>
          <p:cNvSpPr/>
          <p:nvPr/>
        </p:nvSpPr>
        <p:spPr>
          <a:xfrm>
            <a:off x="887730" y="4529018"/>
            <a:ext cx="2445068" cy="30563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Login Sessions</a:t>
            </a:r>
            <a:endParaRPr lang="en-US" sz="1900" dirty="0"/>
          </a:p>
        </p:txBody>
      </p:sp>
      <p:sp>
        <p:nvSpPr>
          <p:cNvPr id="10" name="Text 8"/>
          <p:cNvSpPr/>
          <p:nvPr/>
        </p:nvSpPr>
        <p:spPr>
          <a:xfrm>
            <a:off x="887730" y="4951928"/>
            <a:ext cx="6126599" cy="625793"/>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Keeps you logged in across multiple pages or visits without re-entering credentials for every interaction.</a:t>
            </a:r>
            <a:endParaRPr lang="en-US" sz="1500" dirty="0"/>
          </a:p>
        </p:txBody>
      </p:sp>
      <p:sp>
        <p:nvSpPr>
          <p:cNvPr id="11" name="Shape 9"/>
          <p:cNvSpPr/>
          <p:nvPr/>
        </p:nvSpPr>
        <p:spPr>
          <a:xfrm>
            <a:off x="7412950" y="4325898"/>
            <a:ext cx="6532840" cy="1454944"/>
          </a:xfrm>
          <a:prstGeom prst="roundRect">
            <a:avLst>
              <a:gd name="adj" fmla="val 32266"/>
            </a:avLst>
          </a:prstGeom>
          <a:solidFill>
            <a:srgbClr val="DADBF1"/>
          </a:solidFill>
          <a:ln w="7620">
            <a:solidFill>
              <a:srgbClr val="C0C1D7"/>
            </a:solidFill>
            <a:prstDash val="solid"/>
          </a:ln>
        </p:spPr>
      </p:sp>
      <p:sp>
        <p:nvSpPr>
          <p:cNvPr id="12" name="Text 10"/>
          <p:cNvSpPr/>
          <p:nvPr/>
        </p:nvSpPr>
        <p:spPr>
          <a:xfrm>
            <a:off x="7616071" y="4529018"/>
            <a:ext cx="2445068" cy="30563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User Preferences</a:t>
            </a:r>
            <a:endParaRPr lang="en-US" sz="1900" dirty="0"/>
          </a:p>
        </p:txBody>
      </p:sp>
      <p:sp>
        <p:nvSpPr>
          <p:cNvPr id="13" name="Text 11"/>
          <p:cNvSpPr/>
          <p:nvPr/>
        </p:nvSpPr>
        <p:spPr>
          <a:xfrm>
            <a:off x="7616071" y="4951928"/>
            <a:ext cx="6126599" cy="625793"/>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Remembers your settings, such as language, theme, or content display preferences, for a tailored experience.</a:t>
            </a:r>
            <a:endParaRPr lang="en-US" sz="1500" dirty="0"/>
          </a:p>
        </p:txBody>
      </p:sp>
      <p:sp>
        <p:nvSpPr>
          <p:cNvPr id="14" name="Shape 12"/>
          <p:cNvSpPr/>
          <p:nvPr/>
        </p:nvSpPr>
        <p:spPr>
          <a:xfrm>
            <a:off x="684609" y="5976342"/>
            <a:ext cx="6532840" cy="1454944"/>
          </a:xfrm>
          <a:prstGeom prst="roundRect">
            <a:avLst>
              <a:gd name="adj" fmla="val 32266"/>
            </a:avLst>
          </a:prstGeom>
          <a:solidFill>
            <a:srgbClr val="DADBF1"/>
          </a:solidFill>
          <a:ln w="7620">
            <a:solidFill>
              <a:srgbClr val="C0C1D7"/>
            </a:solidFill>
            <a:prstDash val="solid"/>
          </a:ln>
        </p:spPr>
      </p:sp>
      <p:sp>
        <p:nvSpPr>
          <p:cNvPr id="15" name="Text 13"/>
          <p:cNvSpPr/>
          <p:nvPr/>
        </p:nvSpPr>
        <p:spPr>
          <a:xfrm>
            <a:off x="887730" y="6179463"/>
            <a:ext cx="2445068" cy="30563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Shopping Carts</a:t>
            </a:r>
            <a:endParaRPr lang="en-US" sz="1900" dirty="0"/>
          </a:p>
        </p:txBody>
      </p:sp>
      <p:sp>
        <p:nvSpPr>
          <p:cNvPr id="16" name="Text 14"/>
          <p:cNvSpPr/>
          <p:nvPr/>
        </p:nvSpPr>
        <p:spPr>
          <a:xfrm>
            <a:off x="887730" y="6602373"/>
            <a:ext cx="6126599" cy="625793"/>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Allows e-commerce sites to track items you've added to your cart as you navigate the site, even before checkout.</a:t>
            </a:r>
            <a:endParaRPr lang="en-US" sz="1500" dirty="0"/>
          </a:p>
        </p:txBody>
      </p:sp>
      <p:sp>
        <p:nvSpPr>
          <p:cNvPr id="17" name="Shape 15"/>
          <p:cNvSpPr/>
          <p:nvPr/>
        </p:nvSpPr>
        <p:spPr>
          <a:xfrm>
            <a:off x="7412950" y="5976342"/>
            <a:ext cx="6532840" cy="1454944"/>
          </a:xfrm>
          <a:prstGeom prst="roundRect">
            <a:avLst>
              <a:gd name="adj" fmla="val 32266"/>
            </a:avLst>
          </a:prstGeom>
          <a:solidFill>
            <a:srgbClr val="DADBF1"/>
          </a:solidFill>
          <a:ln w="7620">
            <a:solidFill>
              <a:srgbClr val="C0C1D7"/>
            </a:solidFill>
            <a:prstDash val="solid"/>
          </a:ln>
        </p:spPr>
      </p:sp>
      <p:sp>
        <p:nvSpPr>
          <p:cNvPr id="18" name="Text 16"/>
          <p:cNvSpPr/>
          <p:nvPr/>
        </p:nvSpPr>
        <p:spPr>
          <a:xfrm>
            <a:off x="7616071" y="6179463"/>
            <a:ext cx="2459117" cy="30563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Analytics &amp; Tracking</a:t>
            </a:r>
            <a:endParaRPr lang="en-US" sz="1900" dirty="0"/>
          </a:p>
        </p:txBody>
      </p:sp>
      <p:sp>
        <p:nvSpPr>
          <p:cNvPr id="19" name="Text 17"/>
          <p:cNvSpPr/>
          <p:nvPr/>
        </p:nvSpPr>
        <p:spPr>
          <a:xfrm>
            <a:off x="7616071" y="6602373"/>
            <a:ext cx="6126599" cy="625793"/>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Helps websites understand user behavior, page views, and traffic sources for site optimization and marketing insights.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4737" y="677823"/>
            <a:ext cx="7634526" cy="1347788"/>
          </a:xfrm>
          <a:prstGeom prst="rect">
            <a:avLst/>
          </a:prstGeom>
          <a:noFill/>
          <a:ln/>
        </p:spPr>
        <p:txBody>
          <a:bodyPr wrap="square" lIns="0" tIns="0" rIns="0" bIns="0" rtlCol="0" anchor="t"/>
          <a:lstStyle/>
          <a:p>
            <a:pPr algn="l" indent="0" marL="0">
              <a:lnSpc>
                <a:spcPts val="5300"/>
              </a:lnSpc>
              <a:buNone/>
            </a:pPr>
            <a:r>
              <a:rPr lang="en-US" sz="4200" b="1" dirty="0">
                <a:solidFill>
                  <a:srgbClr val="000000"/>
                </a:solidFill>
                <a:latin typeface="Inter Bold" pitchFamily="34" charset="0"/>
                <a:ea typeface="Inter Bold" pitchFamily="34" charset="-122"/>
                <a:cs typeface="Inter Bold" pitchFamily="34" charset="-120"/>
              </a:rPr>
              <a:t>Cookies in Action: A Simple Workflow</a:t>
            </a:r>
            <a:endParaRPr lang="en-US" sz="4200" dirty="0"/>
          </a:p>
        </p:txBody>
      </p:sp>
      <p:sp>
        <p:nvSpPr>
          <p:cNvPr id="4" name="Text 1"/>
          <p:cNvSpPr/>
          <p:nvPr/>
        </p:nvSpPr>
        <p:spPr>
          <a:xfrm>
            <a:off x="754737" y="2348984"/>
            <a:ext cx="7634526" cy="1034772"/>
          </a:xfrm>
          <a:prstGeom prst="rect">
            <a:avLst/>
          </a:prstGeom>
          <a:noFill/>
          <a:ln/>
        </p:spPr>
        <p:txBody>
          <a:bodyPr wrap="square" lIns="0" tIns="0" rIns="0" bIns="0" rtlCol="0" anchor="t"/>
          <a:lstStyle/>
          <a:p>
            <a:pPr algn="l" indent="0" marL="0">
              <a:lnSpc>
                <a:spcPts val="2700"/>
              </a:lnSpc>
              <a:buNone/>
            </a:pPr>
            <a:r>
              <a:rPr lang="en-US" sz="1650" dirty="0">
                <a:solidFill>
                  <a:srgbClr val="272525"/>
                </a:solidFill>
                <a:latin typeface="Inter" pitchFamily="34" charset="0"/>
                <a:ea typeface="Inter" pitchFamily="34" charset="-122"/>
                <a:cs typeface="Inter" pitchFamily="34" charset="-120"/>
              </a:rPr>
              <a:t>Cookies are small pieces of data that a server sends to the user's web browser, and the browser then stores it. It sends it back to the server with the next request.</a:t>
            </a:r>
            <a:endParaRPr lang="en-US" sz="1650" dirty="0"/>
          </a:p>
        </p:txBody>
      </p:sp>
      <p:pic>
        <p:nvPicPr>
          <p:cNvPr id="5" name="Image 1" descr="preencoded.png">    </p:cNvPr>
          <p:cNvPicPr>
            <a:picLocks noChangeAspect="1"/>
          </p:cNvPicPr>
          <p:nvPr/>
        </p:nvPicPr>
        <p:blipFill>
          <a:blip r:embed="rId2"/>
          <a:stretch>
            <a:fillRect/>
          </a:stretch>
        </p:blipFill>
        <p:spPr>
          <a:xfrm>
            <a:off x="754737" y="3626287"/>
            <a:ext cx="7634526" cy="2992993"/>
          </a:xfrm>
          <a:prstGeom prst="rect">
            <a:avLst/>
          </a:prstGeom>
        </p:spPr>
      </p:pic>
      <p:sp>
        <p:nvSpPr>
          <p:cNvPr id="6" name="Text 2"/>
          <p:cNvSpPr/>
          <p:nvPr/>
        </p:nvSpPr>
        <p:spPr>
          <a:xfrm>
            <a:off x="937433" y="3773069"/>
            <a:ext cx="1397596" cy="449227"/>
          </a:xfrm>
          <a:prstGeom prst="rect">
            <a:avLst/>
          </a:prstGeom>
          <a:noFill/>
          <a:ln/>
        </p:spPr>
        <p:txBody>
          <a:bodyPr wrap="square" lIns="0" tIns="0" rIns="0" bIns="0" rtlCol="0" anchor="t"/>
          <a:lstStyle/>
          <a:p>
            <a:pPr algn="r" indent="0" marL="0">
              <a:lnSpc>
                <a:spcPts val="1650"/>
              </a:lnSpc>
              <a:buNone/>
            </a:pPr>
            <a:r>
              <a:rPr lang="en-US" sz="1350" b="1" dirty="0">
                <a:solidFill>
                  <a:srgbClr val="000000"/>
                </a:solidFill>
                <a:latin typeface="Inter Bold" pitchFamily="34" charset="0"/>
                <a:ea typeface="Inter Bold" pitchFamily="34" charset="-122"/>
                <a:cs typeface="Inter Bold" pitchFamily="34" charset="-120"/>
              </a:rPr>
              <a:t>Browser Requests Page</a:t>
            </a:r>
            <a:endParaRPr lang="en-US" sz="1350" dirty="0"/>
          </a:p>
        </p:txBody>
      </p:sp>
      <p:sp>
        <p:nvSpPr>
          <p:cNvPr id="7" name="Text 3"/>
          <p:cNvSpPr/>
          <p:nvPr/>
        </p:nvSpPr>
        <p:spPr>
          <a:xfrm>
            <a:off x="6808833" y="3773069"/>
            <a:ext cx="1397597" cy="449227"/>
          </a:xfrm>
          <a:prstGeom prst="rect">
            <a:avLst/>
          </a:prstGeom>
          <a:noFill/>
          <a:ln/>
        </p:spPr>
        <p:txBody>
          <a:bodyPr wrap="square" lIns="0" tIns="0" rIns="0" bIns="0" rtlCol="0" anchor="t"/>
          <a:lstStyle/>
          <a:p>
            <a:pPr algn="l" indent="0" marL="0">
              <a:lnSpc>
                <a:spcPts val="1650"/>
              </a:lnSpc>
              <a:buNone/>
            </a:pPr>
            <a:r>
              <a:rPr lang="en-US" sz="1350" b="1" dirty="0">
                <a:solidFill>
                  <a:srgbClr val="000000"/>
                </a:solidFill>
                <a:latin typeface="Inter Bold" pitchFamily="34" charset="0"/>
                <a:ea typeface="Inter Bold" pitchFamily="34" charset="-122"/>
                <a:cs typeface="Inter Bold" pitchFamily="34" charset="-120"/>
              </a:rPr>
              <a:t>Server Sends Set-Cookie</a:t>
            </a:r>
            <a:endParaRPr lang="en-US" sz="1350" dirty="0"/>
          </a:p>
        </p:txBody>
      </p:sp>
      <p:sp>
        <p:nvSpPr>
          <p:cNvPr id="8" name="Text 4"/>
          <p:cNvSpPr/>
          <p:nvPr/>
        </p:nvSpPr>
        <p:spPr>
          <a:xfrm>
            <a:off x="6808833" y="6023199"/>
            <a:ext cx="1397597" cy="449227"/>
          </a:xfrm>
          <a:prstGeom prst="rect">
            <a:avLst/>
          </a:prstGeom>
          <a:noFill/>
          <a:ln/>
        </p:spPr>
        <p:txBody>
          <a:bodyPr wrap="square" lIns="0" tIns="0" rIns="0" bIns="0" rtlCol="0" anchor="t"/>
          <a:lstStyle/>
          <a:p>
            <a:pPr algn="l" indent="0" marL="0">
              <a:lnSpc>
                <a:spcPts val="1650"/>
              </a:lnSpc>
              <a:buNone/>
            </a:pPr>
            <a:r>
              <a:rPr lang="en-US" sz="1350" b="1" dirty="0">
                <a:solidFill>
                  <a:srgbClr val="000000"/>
                </a:solidFill>
                <a:latin typeface="Inter Bold" pitchFamily="34" charset="0"/>
                <a:ea typeface="Inter Bold" pitchFamily="34" charset="-122"/>
                <a:cs typeface="Inter Bold" pitchFamily="34" charset="-120"/>
              </a:rPr>
              <a:t>Browser Stores Cookie</a:t>
            </a:r>
            <a:endParaRPr lang="en-US" sz="1350" dirty="0"/>
          </a:p>
        </p:txBody>
      </p:sp>
      <p:sp>
        <p:nvSpPr>
          <p:cNvPr id="9" name="Text 5"/>
          <p:cNvSpPr/>
          <p:nvPr/>
        </p:nvSpPr>
        <p:spPr>
          <a:xfrm>
            <a:off x="937433" y="6023199"/>
            <a:ext cx="1397596" cy="449227"/>
          </a:xfrm>
          <a:prstGeom prst="rect">
            <a:avLst/>
          </a:prstGeom>
          <a:noFill/>
          <a:ln/>
        </p:spPr>
        <p:txBody>
          <a:bodyPr wrap="square" lIns="0" tIns="0" rIns="0" bIns="0" rtlCol="0" anchor="t"/>
          <a:lstStyle/>
          <a:p>
            <a:pPr algn="r" indent="0" marL="0">
              <a:lnSpc>
                <a:spcPts val="1650"/>
              </a:lnSpc>
              <a:buNone/>
            </a:pPr>
            <a:r>
              <a:rPr lang="en-US" sz="1350" b="1" dirty="0">
                <a:solidFill>
                  <a:srgbClr val="000000"/>
                </a:solidFill>
                <a:latin typeface="Inter Bold" pitchFamily="34" charset="0"/>
                <a:ea typeface="Inter Bold" pitchFamily="34" charset="-122"/>
                <a:cs typeface="Inter Bold" pitchFamily="34" charset="-120"/>
              </a:rPr>
              <a:t>Browser Sends Cookie Back</a:t>
            </a:r>
            <a:endParaRPr lang="en-US" sz="1350" dirty="0"/>
          </a:p>
        </p:txBody>
      </p:sp>
      <p:sp>
        <p:nvSpPr>
          <p:cNvPr id="10" name="Text 6"/>
          <p:cNvSpPr/>
          <p:nvPr/>
        </p:nvSpPr>
        <p:spPr>
          <a:xfrm>
            <a:off x="754737" y="6861810"/>
            <a:ext cx="7634526" cy="689848"/>
          </a:xfrm>
          <a:prstGeom prst="rect">
            <a:avLst/>
          </a:prstGeom>
          <a:noFill/>
          <a:ln/>
        </p:spPr>
        <p:txBody>
          <a:bodyPr wrap="square" lIns="0" tIns="0" rIns="0" bIns="0" rtlCol="0" anchor="t"/>
          <a:lstStyle/>
          <a:p>
            <a:pPr algn="l" indent="0" marL="0">
              <a:lnSpc>
                <a:spcPts val="2700"/>
              </a:lnSpc>
              <a:buNone/>
            </a:pPr>
            <a:r>
              <a:rPr lang="en-US" sz="1650" dirty="0">
                <a:solidFill>
                  <a:srgbClr val="272525"/>
                </a:solidFill>
                <a:latin typeface="Inter" pitchFamily="34" charset="0"/>
                <a:ea typeface="Inter" pitchFamily="34" charset="-122"/>
                <a:cs typeface="Inter" pitchFamily="34" charset="-120"/>
              </a:rPr>
              <a:t>This seamless exchange allows for features like remembering items in a shopping cart or keeping a user logged into a website, fundamentally </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21983" y="488990"/>
            <a:ext cx="4876919" cy="555427"/>
          </a:xfrm>
          <a:prstGeom prst="rect">
            <a:avLst/>
          </a:prstGeom>
          <a:noFill/>
          <a:ln/>
        </p:spPr>
        <p:txBody>
          <a:bodyPr wrap="none" lIns="0" tIns="0" rIns="0" bIns="0" rtlCol="0" anchor="t"/>
          <a:lstStyle/>
          <a:p>
            <a:pPr algn="l" indent="0" marL="0">
              <a:lnSpc>
                <a:spcPts val="4350"/>
              </a:lnSpc>
              <a:buNone/>
            </a:pPr>
            <a:r>
              <a:rPr lang="en-US" sz="3450" b="1" dirty="0">
                <a:solidFill>
                  <a:srgbClr val="000000"/>
                </a:solidFill>
                <a:latin typeface="Inter Bold" pitchFamily="34" charset="0"/>
                <a:ea typeface="Inter Bold" pitchFamily="34" charset="-122"/>
                <a:cs typeface="Inter Bold" pitchFamily="34" charset="-120"/>
              </a:rPr>
              <a:t>What is Web Caching?</a:t>
            </a:r>
            <a:endParaRPr lang="en-US" sz="3450" dirty="0"/>
          </a:p>
        </p:txBody>
      </p:sp>
      <p:sp>
        <p:nvSpPr>
          <p:cNvPr id="3" name="Text 1"/>
          <p:cNvSpPr/>
          <p:nvPr/>
        </p:nvSpPr>
        <p:spPr>
          <a:xfrm>
            <a:off x="621983" y="1399818"/>
            <a:ext cx="13386435" cy="568643"/>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Web caching involves storing copies of web content (like HTML pages, images, and CSS files) closer to the user. This strategy significantly improves load times and reduces network strain by serving resources from a local or intermediate storage rather than the original server every single time.</a:t>
            </a:r>
            <a:endParaRPr lang="en-US" sz="13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1983" y="2168366"/>
            <a:ext cx="533043" cy="533043"/>
          </a:xfrm>
          <a:prstGeom prst="rect">
            <a:avLst/>
          </a:prstGeom>
        </p:spPr>
      </p:pic>
      <p:sp>
        <p:nvSpPr>
          <p:cNvPr id="5" name="Text 2"/>
          <p:cNvSpPr/>
          <p:nvPr/>
        </p:nvSpPr>
        <p:spPr>
          <a:xfrm>
            <a:off x="621983" y="2923461"/>
            <a:ext cx="2221468" cy="277654"/>
          </a:xfrm>
          <a:prstGeom prst="rect">
            <a:avLst/>
          </a:prstGeom>
          <a:noFill/>
          <a:ln/>
        </p:spPr>
        <p:txBody>
          <a:bodyPr wrap="none" lIns="0" tIns="0" rIns="0" bIns="0" rtlCol="0" anchor="t"/>
          <a:lstStyle/>
          <a:p>
            <a:pPr algn="l" indent="0" marL="0">
              <a:lnSpc>
                <a:spcPts val="2150"/>
              </a:lnSpc>
              <a:buNone/>
            </a:pPr>
            <a:r>
              <a:rPr lang="en-US" sz="1700" b="1" dirty="0">
                <a:solidFill>
                  <a:srgbClr val="272525"/>
                </a:solidFill>
                <a:latin typeface="Inter Bold" pitchFamily="34" charset="0"/>
                <a:ea typeface="Inter Bold" pitchFamily="34" charset="-122"/>
                <a:cs typeface="Inter Bold" pitchFamily="34" charset="-120"/>
              </a:rPr>
              <a:t>Browser Cache</a:t>
            </a:r>
            <a:endParaRPr lang="en-US" sz="1700" dirty="0"/>
          </a:p>
        </p:txBody>
      </p:sp>
      <p:sp>
        <p:nvSpPr>
          <p:cNvPr id="6" name="Text 3"/>
          <p:cNvSpPr/>
          <p:nvPr/>
        </p:nvSpPr>
        <p:spPr>
          <a:xfrm>
            <a:off x="621983" y="3307675"/>
            <a:ext cx="4314111" cy="852964"/>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Your web browser stores frequently accessed content locally on your device for quick retrieval on subsequent visits.</a:t>
            </a:r>
            <a:endParaRPr lang="en-US" sz="13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8145" y="2168366"/>
            <a:ext cx="533043" cy="533043"/>
          </a:xfrm>
          <a:prstGeom prst="rect">
            <a:avLst/>
          </a:prstGeom>
        </p:spPr>
      </p:pic>
      <p:sp>
        <p:nvSpPr>
          <p:cNvPr id="8" name="Text 4"/>
          <p:cNvSpPr/>
          <p:nvPr/>
        </p:nvSpPr>
        <p:spPr>
          <a:xfrm>
            <a:off x="5158145" y="2923461"/>
            <a:ext cx="2221468" cy="277654"/>
          </a:xfrm>
          <a:prstGeom prst="rect">
            <a:avLst/>
          </a:prstGeom>
          <a:noFill/>
          <a:ln/>
        </p:spPr>
        <p:txBody>
          <a:bodyPr wrap="none" lIns="0" tIns="0" rIns="0" bIns="0" rtlCol="0" anchor="t"/>
          <a:lstStyle/>
          <a:p>
            <a:pPr algn="l" indent="0" marL="0">
              <a:lnSpc>
                <a:spcPts val="2150"/>
              </a:lnSpc>
              <a:buNone/>
            </a:pPr>
            <a:r>
              <a:rPr lang="en-US" sz="1700" b="1" dirty="0">
                <a:solidFill>
                  <a:srgbClr val="272525"/>
                </a:solidFill>
                <a:latin typeface="Inter Bold" pitchFamily="34" charset="0"/>
                <a:ea typeface="Inter Bold" pitchFamily="34" charset="-122"/>
                <a:cs typeface="Inter Bold" pitchFamily="34" charset="-120"/>
              </a:rPr>
              <a:t>Proxy Cache</a:t>
            </a:r>
            <a:endParaRPr lang="en-US" sz="1700" dirty="0"/>
          </a:p>
        </p:txBody>
      </p:sp>
      <p:sp>
        <p:nvSpPr>
          <p:cNvPr id="9" name="Text 5"/>
          <p:cNvSpPr/>
          <p:nvPr/>
        </p:nvSpPr>
        <p:spPr>
          <a:xfrm>
            <a:off x="5158145" y="3307675"/>
            <a:ext cx="4314111" cy="852964"/>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Intermediate servers (often managed by ISPs or corporations) store copies of content for multiple users, reducing external bandwidth use.</a:t>
            </a:r>
            <a:endParaRPr lang="en-US" sz="13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94307" y="2168366"/>
            <a:ext cx="533043" cy="533043"/>
          </a:xfrm>
          <a:prstGeom prst="rect">
            <a:avLst/>
          </a:prstGeom>
        </p:spPr>
      </p:pic>
      <p:sp>
        <p:nvSpPr>
          <p:cNvPr id="11" name="Text 6"/>
          <p:cNvSpPr/>
          <p:nvPr/>
        </p:nvSpPr>
        <p:spPr>
          <a:xfrm>
            <a:off x="9694307" y="2923461"/>
            <a:ext cx="2221468" cy="277654"/>
          </a:xfrm>
          <a:prstGeom prst="rect">
            <a:avLst/>
          </a:prstGeom>
          <a:noFill/>
          <a:ln/>
        </p:spPr>
        <p:txBody>
          <a:bodyPr wrap="none" lIns="0" tIns="0" rIns="0" bIns="0" rtlCol="0" anchor="t"/>
          <a:lstStyle/>
          <a:p>
            <a:pPr algn="l" indent="0" marL="0">
              <a:lnSpc>
                <a:spcPts val="2150"/>
              </a:lnSpc>
              <a:buNone/>
            </a:pPr>
            <a:r>
              <a:rPr lang="en-US" sz="1700" b="1" dirty="0">
                <a:solidFill>
                  <a:srgbClr val="272525"/>
                </a:solidFill>
                <a:latin typeface="Inter Bold" pitchFamily="34" charset="0"/>
                <a:ea typeface="Inter Bold" pitchFamily="34" charset="-122"/>
                <a:cs typeface="Inter Bold" pitchFamily="34" charset="-120"/>
              </a:rPr>
              <a:t>CDN Cache</a:t>
            </a:r>
            <a:endParaRPr lang="en-US" sz="1700" dirty="0"/>
          </a:p>
        </p:txBody>
      </p:sp>
      <p:sp>
        <p:nvSpPr>
          <p:cNvPr id="12" name="Text 7"/>
          <p:cNvSpPr/>
          <p:nvPr/>
        </p:nvSpPr>
        <p:spPr>
          <a:xfrm>
            <a:off x="9694307" y="3307675"/>
            <a:ext cx="4314111" cy="1137285"/>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Content Delivery Networks distribute content across geographically dispersed servers, serving users from the nearest available location for optimal performance.</a:t>
            </a:r>
            <a:endParaRPr lang="en-US" sz="1350" dirty="0"/>
          </a:p>
        </p:txBody>
      </p:sp>
      <p:sp>
        <p:nvSpPr>
          <p:cNvPr id="13" name="Text 8"/>
          <p:cNvSpPr/>
          <p:nvPr/>
        </p:nvSpPr>
        <p:spPr>
          <a:xfrm>
            <a:off x="621983" y="4711422"/>
            <a:ext cx="4160282" cy="444222"/>
          </a:xfrm>
          <a:prstGeom prst="rect">
            <a:avLst/>
          </a:prstGeom>
          <a:noFill/>
          <a:ln/>
        </p:spPr>
        <p:txBody>
          <a:bodyPr wrap="none" lIns="0" tIns="0" rIns="0" bIns="0" rtlCol="0" anchor="t"/>
          <a:lstStyle/>
          <a:p>
            <a:pPr algn="l" indent="0" marL="0">
              <a:lnSpc>
                <a:spcPts val="3450"/>
              </a:lnSpc>
              <a:buNone/>
            </a:pPr>
            <a:r>
              <a:rPr lang="en-US" sz="2750" b="1" dirty="0">
                <a:solidFill>
                  <a:srgbClr val="000000"/>
                </a:solidFill>
                <a:latin typeface="Inter Bold" pitchFamily="34" charset="0"/>
                <a:ea typeface="Inter Bold" pitchFamily="34" charset="-122"/>
                <a:cs typeface="Inter Bold" pitchFamily="34" charset="-120"/>
              </a:rPr>
              <a:t>Key Benefits of Caching</a:t>
            </a:r>
            <a:endParaRPr lang="en-US" sz="2750" dirty="0"/>
          </a:p>
        </p:txBody>
      </p:sp>
      <p:sp>
        <p:nvSpPr>
          <p:cNvPr id="14" name="Shape 9"/>
          <p:cNvSpPr/>
          <p:nvPr/>
        </p:nvSpPr>
        <p:spPr>
          <a:xfrm>
            <a:off x="621983" y="5422106"/>
            <a:ext cx="4343638" cy="2318385"/>
          </a:xfrm>
          <a:prstGeom prst="roundRect">
            <a:avLst>
              <a:gd name="adj" fmla="val 3220"/>
            </a:avLst>
          </a:prstGeom>
          <a:solidFill>
            <a:srgbClr val="DADBF1"/>
          </a:solidFill>
          <a:ln w="7620">
            <a:solidFill>
              <a:srgbClr val="C0C1D7"/>
            </a:solidFill>
            <a:prstDash val="solid"/>
          </a:ln>
        </p:spPr>
      </p:sp>
      <p:sp>
        <p:nvSpPr>
          <p:cNvPr id="15" name="Shape 10"/>
          <p:cNvSpPr/>
          <p:nvPr/>
        </p:nvSpPr>
        <p:spPr>
          <a:xfrm>
            <a:off x="807244" y="5607368"/>
            <a:ext cx="533043" cy="533043"/>
          </a:xfrm>
          <a:prstGeom prst="roundRect">
            <a:avLst>
              <a:gd name="adj" fmla="val 17152623"/>
            </a:avLst>
          </a:prstGeom>
          <a:solidFill>
            <a:srgbClr val="4950BC"/>
          </a:solidFill>
          <a:ln/>
        </p:spPr>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3810" y="5753814"/>
            <a:ext cx="239911" cy="239911"/>
          </a:xfrm>
          <a:prstGeom prst="rect">
            <a:avLst/>
          </a:prstGeom>
        </p:spPr>
      </p:pic>
      <p:sp>
        <p:nvSpPr>
          <p:cNvPr id="17" name="Text 11"/>
          <p:cNvSpPr/>
          <p:nvPr/>
        </p:nvSpPr>
        <p:spPr>
          <a:xfrm>
            <a:off x="807244" y="6318052"/>
            <a:ext cx="2326124" cy="277654"/>
          </a:xfrm>
          <a:prstGeom prst="rect">
            <a:avLst/>
          </a:prstGeom>
          <a:noFill/>
          <a:ln/>
        </p:spPr>
        <p:txBody>
          <a:bodyPr wrap="none" lIns="0" tIns="0" rIns="0" bIns="0" rtlCol="0" anchor="t"/>
          <a:lstStyle/>
          <a:p>
            <a:pPr algn="l" indent="0" marL="0">
              <a:lnSpc>
                <a:spcPts val="2150"/>
              </a:lnSpc>
              <a:buNone/>
            </a:pPr>
            <a:r>
              <a:rPr lang="en-US" sz="1700" b="1" dirty="0">
                <a:solidFill>
                  <a:srgbClr val="272525"/>
                </a:solidFill>
                <a:latin typeface="Inter Bold" pitchFamily="34" charset="0"/>
                <a:ea typeface="Inter Bold" pitchFamily="34" charset="-122"/>
                <a:cs typeface="Inter Bold" pitchFamily="34" charset="-120"/>
              </a:rPr>
              <a:t>Faster Loading Times</a:t>
            </a:r>
            <a:endParaRPr lang="en-US" sz="1700" dirty="0"/>
          </a:p>
        </p:txBody>
      </p:sp>
      <p:sp>
        <p:nvSpPr>
          <p:cNvPr id="18" name="Text 12"/>
          <p:cNvSpPr/>
          <p:nvPr/>
        </p:nvSpPr>
        <p:spPr>
          <a:xfrm>
            <a:off x="807244" y="6702266"/>
            <a:ext cx="3973116" cy="852964"/>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Reduces latency by delivering content from a local or nearby cache, enhancing user experience.</a:t>
            </a:r>
            <a:endParaRPr lang="en-US" sz="1350" dirty="0"/>
          </a:p>
        </p:txBody>
      </p:sp>
      <p:sp>
        <p:nvSpPr>
          <p:cNvPr id="19" name="Shape 13"/>
          <p:cNvSpPr/>
          <p:nvPr/>
        </p:nvSpPr>
        <p:spPr>
          <a:xfrm>
            <a:off x="5143262" y="5422106"/>
            <a:ext cx="4343757" cy="2318385"/>
          </a:xfrm>
          <a:prstGeom prst="roundRect">
            <a:avLst>
              <a:gd name="adj" fmla="val 3220"/>
            </a:avLst>
          </a:prstGeom>
          <a:solidFill>
            <a:srgbClr val="DADBF1"/>
          </a:solidFill>
          <a:ln w="7620">
            <a:solidFill>
              <a:srgbClr val="C0C1D7"/>
            </a:solidFill>
            <a:prstDash val="solid"/>
          </a:ln>
        </p:spPr>
      </p:sp>
      <p:sp>
        <p:nvSpPr>
          <p:cNvPr id="20" name="Shape 14"/>
          <p:cNvSpPr/>
          <p:nvPr/>
        </p:nvSpPr>
        <p:spPr>
          <a:xfrm>
            <a:off x="5328523" y="5607368"/>
            <a:ext cx="533043" cy="533043"/>
          </a:xfrm>
          <a:prstGeom prst="roundRect">
            <a:avLst>
              <a:gd name="adj" fmla="val 17152623"/>
            </a:avLst>
          </a:prstGeom>
          <a:solidFill>
            <a:srgbClr val="4950BC"/>
          </a:solidFill>
          <a:ln/>
        </p:spPr>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75089" y="5753814"/>
            <a:ext cx="239911" cy="239911"/>
          </a:xfrm>
          <a:prstGeom prst="rect">
            <a:avLst/>
          </a:prstGeom>
        </p:spPr>
      </p:pic>
      <p:sp>
        <p:nvSpPr>
          <p:cNvPr id="22" name="Text 15"/>
          <p:cNvSpPr/>
          <p:nvPr/>
        </p:nvSpPr>
        <p:spPr>
          <a:xfrm>
            <a:off x="5328523" y="6318052"/>
            <a:ext cx="2916436" cy="277654"/>
          </a:xfrm>
          <a:prstGeom prst="rect">
            <a:avLst/>
          </a:prstGeom>
          <a:noFill/>
          <a:ln/>
        </p:spPr>
        <p:txBody>
          <a:bodyPr wrap="none" lIns="0" tIns="0" rIns="0" bIns="0" rtlCol="0" anchor="t"/>
          <a:lstStyle/>
          <a:p>
            <a:pPr algn="l" indent="0" marL="0">
              <a:lnSpc>
                <a:spcPts val="2150"/>
              </a:lnSpc>
              <a:buNone/>
            </a:pPr>
            <a:r>
              <a:rPr lang="en-US" sz="1700" b="1" dirty="0">
                <a:solidFill>
                  <a:srgbClr val="272525"/>
                </a:solidFill>
                <a:latin typeface="Inter Bold" pitchFamily="34" charset="0"/>
                <a:ea typeface="Inter Bold" pitchFamily="34" charset="-122"/>
                <a:cs typeface="Inter Bold" pitchFamily="34" charset="-120"/>
              </a:rPr>
              <a:t>Reduced Bandwidth Usage</a:t>
            </a:r>
            <a:endParaRPr lang="en-US" sz="1700" dirty="0"/>
          </a:p>
        </p:txBody>
      </p:sp>
      <p:sp>
        <p:nvSpPr>
          <p:cNvPr id="23" name="Text 16"/>
          <p:cNvSpPr/>
          <p:nvPr/>
        </p:nvSpPr>
        <p:spPr>
          <a:xfrm>
            <a:off x="5328523" y="6702266"/>
            <a:ext cx="3973235" cy="852964"/>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Minimizes the amount of data transferred over the network, saving costs and improving network efficiency.</a:t>
            </a:r>
            <a:endParaRPr lang="en-US" sz="1350" dirty="0"/>
          </a:p>
        </p:txBody>
      </p:sp>
      <p:sp>
        <p:nvSpPr>
          <p:cNvPr id="24" name="Shape 17"/>
          <p:cNvSpPr/>
          <p:nvPr/>
        </p:nvSpPr>
        <p:spPr>
          <a:xfrm>
            <a:off x="9664660" y="5422106"/>
            <a:ext cx="4343757" cy="2318385"/>
          </a:xfrm>
          <a:prstGeom prst="roundRect">
            <a:avLst>
              <a:gd name="adj" fmla="val 3220"/>
            </a:avLst>
          </a:prstGeom>
          <a:solidFill>
            <a:srgbClr val="DADBF1"/>
          </a:solidFill>
          <a:ln w="7620">
            <a:solidFill>
              <a:srgbClr val="C0C1D7"/>
            </a:solidFill>
            <a:prstDash val="solid"/>
          </a:ln>
        </p:spPr>
      </p:sp>
      <p:sp>
        <p:nvSpPr>
          <p:cNvPr id="25" name="Shape 18"/>
          <p:cNvSpPr/>
          <p:nvPr/>
        </p:nvSpPr>
        <p:spPr>
          <a:xfrm>
            <a:off x="9849922" y="5607368"/>
            <a:ext cx="533043" cy="533043"/>
          </a:xfrm>
          <a:prstGeom prst="roundRect">
            <a:avLst>
              <a:gd name="adj" fmla="val 17152623"/>
            </a:avLst>
          </a:prstGeom>
          <a:solidFill>
            <a:srgbClr val="4950BC"/>
          </a:solidFill>
          <a:ln/>
        </p:spPr>
      </p:sp>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96488" y="5753814"/>
            <a:ext cx="239911" cy="239911"/>
          </a:xfrm>
          <a:prstGeom prst="rect">
            <a:avLst/>
          </a:prstGeom>
        </p:spPr>
      </p:pic>
      <p:sp>
        <p:nvSpPr>
          <p:cNvPr id="27" name="Text 19"/>
          <p:cNvSpPr/>
          <p:nvPr/>
        </p:nvSpPr>
        <p:spPr>
          <a:xfrm>
            <a:off x="9849922" y="6318052"/>
            <a:ext cx="2221468" cy="277654"/>
          </a:xfrm>
          <a:prstGeom prst="rect">
            <a:avLst/>
          </a:prstGeom>
          <a:noFill/>
          <a:ln/>
        </p:spPr>
        <p:txBody>
          <a:bodyPr wrap="none" lIns="0" tIns="0" rIns="0" bIns="0" rtlCol="0" anchor="t"/>
          <a:lstStyle/>
          <a:p>
            <a:pPr algn="l" indent="0" marL="0">
              <a:lnSpc>
                <a:spcPts val="2150"/>
              </a:lnSpc>
              <a:buNone/>
            </a:pPr>
            <a:r>
              <a:rPr lang="en-US" sz="1700" b="1" dirty="0">
                <a:solidFill>
                  <a:srgbClr val="272525"/>
                </a:solidFill>
                <a:latin typeface="Inter Bold" pitchFamily="34" charset="0"/>
                <a:ea typeface="Inter Bold" pitchFamily="34" charset="-122"/>
                <a:cs typeface="Inter Bold" pitchFamily="34" charset="-120"/>
              </a:rPr>
              <a:t>Lower Server Load</a:t>
            </a:r>
            <a:endParaRPr lang="en-US" sz="1700" dirty="0"/>
          </a:p>
        </p:txBody>
      </p:sp>
      <p:sp>
        <p:nvSpPr>
          <p:cNvPr id="28" name="Text 20"/>
          <p:cNvSpPr/>
          <p:nvPr/>
        </p:nvSpPr>
        <p:spPr>
          <a:xfrm>
            <a:off x="9849922" y="6702266"/>
            <a:ext cx="3973235" cy="852964"/>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Inter" pitchFamily="34" charset="0"/>
                <a:ea typeface="Inter" pitchFamily="34" charset="-122"/>
                <a:cs typeface="Inter" pitchFamily="34" charset="-120"/>
              </a:rPr>
              <a:t>Frees up the origin server from handling redundant requests, allowing it to focus on dynamic content and critical tasks.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17959"/>
            <a:ext cx="7628453"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Cache Control Mechanisms</a:t>
            </a:r>
            <a:endParaRPr lang="en-US" sz="4450" dirty="0"/>
          </a:p>
        </p:txBody>
      </p:sp>
      <p:sp>
        <p:nvSpPr>
          <p:cNvPr id="3" name="Text 1"/>
          <p:cNvSpPr/>
          <p:nvPr/>
        </p:nvSpPr>
        <p:spPr>
          <a:xfrm>
            <a:off x="793790" y="198036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Efficient web performance relies heavily on effective caching. HTTP provides several mechanisms to control how and for how long web content is stored and reused by browsers and intermediate caches.</a:t>
            </a:r>
            <a:endParaRPr lang="en-US" sz="1750" dirty="0"/>
          </a:p>
        </p:txBody>
      </p:sp>
      <p:sp>
        <p:nvSpPr>
          <p:cNvPr id="4" name="Shape 2"/>
          <p:cNvSpPr/>
          <p:nvPr/>
        </p:nvSpPr>
        <p:spPr>
          <a:xfrm>
            <a:off x="793790" y="3301484"/>
            <a:ext cx="4196358" cy="3129201"/>
          </a:xfrm>
          <a:prstGeom prst="roundRect">
            <a:avLst>
              <a:gd name="adj" fmla="val 4675"/>
            </a:avLst>
          </a:prstGeom>
          <a:solidFill>
            <a:srgbClr val="FFFFFF"/>
          </a:solidFill>
          <a:ln/>
        </p:spPr>
      </p:sp>
      <p:sp>
        <p:nvSpPr>
          <p:cNvPr id="5" name="Shape 3"/>
          <p:cNvSpPr/>
          <p:nvPr/>
        </p:nvSpPr>
        <p:spPr>
          <a:xfrm>
            <a:off x="793790" y="3271004"/>
            <a:ext cx="4196358" cy="121920"/>
          </a:xfrm>
          <a:prstGeom prst="roundRect">
            <a:avLst>
              <a:gd name="adj" fmla="val 78139"/>
            </a:avLst>
          </a:prstGeom>
          <a:solidFill>
            <a:srgbClr val="4950BC"/>
          </a:solidFill>
          <a:ln/>
        </p:spPr>
      </p:sp>
      <p:sp>
        <p:nvSpPr>
          <p:cNvPr id="6" name="Shape 4"/>
          <p:cNvSpPr/>
          <p:nvPr/>
        </p:nvSpPr>
        <p:spPr>
          <a:xfrm>
            <a:off x="2551688" y="2961323"/>
            <a:ext cx="680442" cy="680442"/>
          </a:xfrm>
          <a:prstGeom prst="roundRect">
            <a:avLst>
              <a:gd name="adj" fmla="val 134383"/>
            </a:avLst>
          </a:prstGeom>
          <a:solidFill>
            <a:srgbClr val="4950BC"/>
          </a:solidFill>
          <a:ln/>
        </p:spPr>
      </p:sp>
      <p:sp>
        <p:nvSpPr>
          <p:cNvPr id="7" name="Text 5"/>
          <p:cNvSpPr/>
          <p:nvPr/>
        </p:nvSpPr>
        <p:spPr>
          <a:xfrm>
            <a:off x="2755761" y="3131463"/>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Inter Bold" pitchFamily="34" charset="0"/>
                <a:ea typeface="Inter Bold" pitchFamily="34" charset="-122"/>
                <a:cs typeface="Inter Bold" pitchFamily="34" charset="-120"/>
              </a:rPr>
              <a:t>1</a:t>
            </a:r>
            <a:endParaRPr lang="en-US" sz="2100" dirty="0"/>
          </a:p>
        </p:txBody>
      </p:sp>
      <p:sp>
        <p:nvSpPr>
          <p:cNvPr id="8" name="Text 6"/>
          <p:cNvSpPr/>
          <p:nvPr/>
        </p:nvSpPr>
        <p:spPr>
          <a:xfrm>
            <a:off x="1051084" y="386846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Cache-Control</a:t>
            </a:r>
            <a:endParaRPr lang="en-US" sz="2200" dirty="0"/>
          </a:p>
        </p:txBody>
      </p:sp>
      <p:sp>
        <p:nvSpPr>
          <p:cNvPr id="9" name="Text 7"/>
          <p:cNvSpPr/>
          <p:nvPr/>
        </p:nvSpPr>
        <p:spPr>
          <a:xfrm>
            <a:off x="1051084" y="4358878"/>
            <a:ext cx="3681770" cy="145923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Directives like </a:t>
            </a:r>
            <a:pPr algn="l" indent="0" marL="0">
              <a:lnSpc>
                <a:spcPts val="2850"/>
              </a:lnSpc>
              <a:buNone/>
            </a:pPr>
            <a:r>
              <a:rPr lang="en-US" sz="1750" dirty="0">
                <a:solidFill>
                  <a:srgbClr val="272525"/>
                </a:solidFill>
                <a:highlight>
                  <a:srgbClr val="F2F2F2"/>
                </a:highlight>
                <a:latin typeface="Consolas" pitchFamily="34" charset="0"/>
                <a:ea typeface="Consolas" pitchFamily="34" charset="-122"/>
                <a:cs typeface="Consolas" pitchFamily="34" charset="-120"/>
              </a:rPr>
              <a:t>max-age=3600</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tell the browser and proxies how long a resource can be stored and considered fresh (in seconds).</a:t>
            </a:r>
            <a:endParaRPr lang="en-US" sz="1750" dirty="0"/>
          </a:p>
        </p:txBody>
      </p:sp>
      <p:sp>
        <p:nvSpPr>
          <p:cNvPr id="10" name="Shape 8"/>
          <p:cNvSpPr/>
          <p:nvPr/>
        </p:nvSpPr>
        <p:spPr>
          <a:xfrm>
            <a:off x="5216962" y="3301484"/>
            <a:ext cx="4196358" cy="3129201"/>
          </a:xfrm>
          <a:prstGeom prst="roundRect">
            <a:avLst>
              <a:gd name="adj" fmla="val 4675"/>
            </a:avLst>
          </a:prstGeom>
          <a:solidFill>
            <a:srgbClr val="FFFFFF"/>
          </a:solidFill>
          <a:ln/>
        </p:spPr>
      </p:sp>
      <p:sp>
        <p:nvSpPr>
          <p:cNvPr id="11" name="Shape 9"/>
          <p:cNvSpPr/>
          <p:nvPr/>
        </p:nvSpPr>
        <p:spPr>
          <a:xfrm>
            <a:off x="5216962" y="3271004"/>
            <a:ext cx="4196358" cy="121920"/>
          </a:xfrm>
          <a:prstGeom prst="roundRect">
            <a:avLst>
              <a:gd name="adj" fmla="val 78139"/>
            </a:avLst>
          </a:prstGeom>
          <a:solidFill>
            <a:srgbClr val="4950BC"/>
          </a:solidFill>
          <a:ln/>
        </p:spPr>
      </p:sp>
      <p:sp>
        <p:nvSpPr>
          <p:cNvPr id="12" name="Shape 10"/>
          <p:cNvSpPr/>
          <p:nvPr/>
        </p:nvSpPr>
        <p:spPr>
          <a:xfrm>
            <a:off x="6974860" y="2961323"/>
            <a:ext cx="680442" cy="680442"/>
          </a:xfrm>
          <a:prstGeom prst="roundRect">
            <a:avLst>
              <a:gd name="adj" fmla="val 134383"/>
            </a:avLst>
          </a:prstGeom>
          <a:solidFill>
            <a:srgbClr val="4950BC"/>
          </a:solidFill>
          <a:ln/>
        </p:spPr>
      </p:sp>
      <p:sp>
        <p:nvSpPr>
          <p:cNvPr id="13" name="Text 11"/>
          <p:cNvSpPr/>
          <p:nvPr/>
        </p:nvSpPr>
        <p:spPr>
          <a:xfrm>
            <a:off x="7178933" y="3131463"/>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Inter Bold" pitchFamily="34" charset="0"/>
                <a:ea typeface="Inter Bold" pitchFamily="34" charset="-122"/>
                <a:cs typeface="Inter Bold" pitchFamily="34" charset="-120"/>
              </a:rPr>
              <a:t>2</a:t>
            </a:r>
            <a:endParaRPr lang="en-US" sz="2100" dirty="0"/>
          </a:p>
        </p:txBody>
      </p:sp>
      <p:sp>
        <p:nvSpPr>
          <p:cNvPr id="14" name="Text 12"/>
          <p:cNvSpPr/>
          <p:nvPr/>
        </p:nvSpPr>
        <p:spPr>
          <a:xfrm>
            <a:off x="5474256" y="386846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Last-Modified</a:t>
            </a:r>
            <a:endParaRPr lang="en-US" sz="2200" dirty="0"/>
          </a:p>
        </p:txBody>
      </p:sp>
      <p:sp>
        <p:nvSpPr>
          <p:cNvPr id="15" name="Text 13"/>
          <p:cNvSpPr/>
          <p:nvPr/>
        </p:nvSpPr>
        <p:spPr>
          <a:xfrm>
            <a:off x="5474256" y="4358878"/>
            <a:ext cx="3681770"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 timestamp from the server indicating when the resource was last altered. Used by the browser for conditional requests to check for updates.</a:t>
            </a:r>
            <a:endParaRPr lang="en-US" sz="1750" dirty="0"/>
          </a:p>
        </p:txBody>
      </p:sp>
      <p:sp>
        <p:nvSpPr>
          <p:cNvPr id="16" name="Shape 14"/>
          <p:cNvSpPr/>
          <p:nvPr/>
        </p:nvSpPr>
        <p:spPr>
          <a:xfrm>
            <a:off x="9640133" y="3301484"/>
            <a:ext cx="4196358" cy="3129201"/>
          </a:xfrm>
          <a:prstGeom prst="roundRect">
            <a:avLst>
              <a:gd name="adj" fmla="val 4675"/>
            </a:avLst>
          </a:prstGeom>
          <a:solidFill>
            <a:srgbClr val="FFFFFF"/>
          </a:solidFill>
          <a:ln/>
        </p:spPr>
      </p:sp>
      <p:sp>
        <p:nvSpPr>
          <p:cNvPr id="17" name="Shape 15"/>
          <p:cNvSpPr/>
          <p:nvPr/>
        </p:nvSpPr>
        <p:spPr>
          <a:xfrm>
            <a:off x="9640133" y="3271004"/>
            <a:ext cx="4196358" cy="121920"/>
          </a:xfrm>
          <a:prstGeom prst="roundRect">
            <a:avLst>
              <a:gd name="adj" fmla="val 78139"/>
            </a:avLst>
          </a:prstGeom>
          <a:solidFill>
            <a:srgbClr val="4950BC"/>
          </a:solidFill>
          <a:ln/>
        </p:spPr>
      </p:sp>
      <p:sp>
        <p:nvSpPr>
          <p:cNvPr id="18" name="Shape 16"/>
          <p:cNvSpPr/>
          <p:nvPr/>
        </p:nvSpPr>
        <p:spPr>
          <a:xfrm>
            <a:off x="11398032" y="2961323"/>
            <a:ext cx="680442" cy="680442"/>
          </a:xfrm>
          <a:prstGeom prst="roundRect">
            <a:avLst>
              <a:gd name="adj" fmla="val 134383"/>
            </a:avLst>
          </a:prstGeom>
          <a:solidFill>
            <a:srgbClr val="4950BC"/>
          </a:solidFill>
          <a:ln/>
        </p:spPr>
      </p:sp>
      <p:sp>
        <p:nvSpPr>
          <p:cNvPr id="19" name="Text 17"/>
          <p:cNvSpPr/>
          <p:nvPr/>
        </p:nvSpPr>
        <p:spPr>
          <a:xfrm>
            <a:off x="11602105" y="3131463"/>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Inter Bold" pitchFamily="34" charset="0"/>
                <a:ea typeface="Inter Bold" pitchFamily="34" charset="-122"/>
                <a:cs typeface="Inter Bold" pitchFamily="34" charset="-120"/>
              </a:rPr>
              <a:t>3</a:t>
            </a:r>
            <a:endParaRPr lang="en-US" sz="2100" dirty="0"/>
          </a:p>
        </p:txBody>
      </p:sp>
      <p:sp>
        <p:nvSpPr>
          <p:cNvPr id="20" name="Text 18"/>
          <p:cNvSpPr/>
          <p:nvPr/>
        </p:nvSpPr>
        <p:spPr>
          <a:xfrm>
            <a:off x="9897427" y="386846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ETag</a:t>
            </a:r>
            <a:endParaRPr lang="en-US" sz="2200" dirty="0"/>
          </a:p>
        </p:txBody>
      </p:sp>
      <p:sp>
        <p:nvSpPr>
          <p:cNvPr id="21" name="Text 19"/>
          <p:cNvSpPr/>
          <p:nvPr/>
        </p:nvSpPr>
        <p:spPr>
          <a:xfrm>
            <a:off x="9897427" y="4358878"/>
            <a:ext cx="3681770"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An opaque identifier, a "fingerprint" of the resource's content. Allows for more robust revalidation, ensuring the client has the exact version.</a:t>
            </a:r>
            <a:endParaRPr lang="en-US" sz="1750" dirty="0"/>
          </a:p>
        </p:txBody>
      </p:sp>
      <p:sp>
        <p:nvSpPr>
          <p:cNvPr id="22" name="Text 20"/>
          <p:cNvSpPr/>
          <p:nvPr/>
        </p:nvSpPr>
        <p:spPr>
          <a:xfrm>
            <a:off x="793790" y="668583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Essentially, the browser stores a copy of an object. On subsequent requests, it loads the object directly from its cache unless these control mechanisms indicate it has expired or needs revalidation with the server.Useful but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not secure</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407075" y="774978"/>
            <a:ext cx="7461766" cy="363379"/>
          </a:xfrm>
          <a:prstGeom prst="rect">
            <a:avLst/>
          </a:prstGeom>
          <a:noFill/>
          <a:ln/>
        </p:spPr>
        <p:txBody>
          <a:bodyPr wrap="none" lIns="0" tIns="0" rIns="0" bIns="0" rtlCol="0" anchor="t"/>
          <a:lstStyle/>
          <a:p>
            <a:pPr algn="l" indent="0" marL="0">
              <a:lnSpc>
                <a:spcPts val="2850"/>
              </a:lnSpc>
              <a:buNone/>
            </a:pPr>
            <a:r>
              <a:rPr lang="en-US" sz="2250" b="1" dirty="0">
                <a:solidFill>
                  <a:srgbClr val="000000"/>
                </a:solidFill>
                <a:latin typeface="Inter Bold" pitchFamily="34" charset="0"/>
                <a:ea typeface="Inter Bold" pitchFamily="34" charset="-122"/>
                <a:cs typeface="Inter Bold" pitchFamily="34" charset="-120"/>
              </a:rPr>
              <a:t>HTTP's Inherent Insecurity: Understanding the Risks</a:t>
            </a:r>
            <a:endParaRPr lang="en-US" sz="2250" dirty="0"/>
          </a:p>
        </p:txBody>
      </p:sp>
      <p:sp>
        <p:nvSpPr>
          <p:cNvPr id="4" name="Text 1"/>
          <p:cNvSpPr/>
          <p:nvPr/>
        </p:nvSpPr>
        <p:spPr>
          <a:xfrm>
            <a:off x="407075" y="1312783"/>
            <a:ext cx="8329851" cy="372189"/>
          </a:xfrm>
          <a:prstGeom prst="rect">
            <a:avLst/>
          </a:prstGeom>
          <a:noFill/>
          <a:ln/>
        </p:spPr>
        <p:txBody>
          <a:bodyPr wrap="squar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Standard HTTP, while foundational for the web, operates without encryption. This fundamental lack of security means all data exchanged is vulnerable, exposing sensitive information to various threats.</a:t>
            </a:r>
            <a:endParaRPr lang="en-US" sz="900" dirty="0"/>
          </a:p>
        </p:txBody>
      </p:sp>
      <p:sp>
        <p:nvSpPr>
          <p:cNvPr id="5" name="Shape 2"/>
          <p:cNvSpPr/>
          <p:nvPr/>
        </p:nvSpPr>
        <p:spPr>
          <a:xfrm>
            <a:off x="407075" y="1815822"/>
            <a:ext cx="8329851" cy="1150263"/>
          </a:xfrm>
          <a:prstGeom prst="roundRect">
            <a:avLst>
              <a:gd name="adj" fmla="val 4247"/>
            </a:avLst>
          </a:prstGeom>
          <a:solidFill>
            <a:srgbClr val="DADBF1"/>
          </a:solidFill>
          <a:ln w="7620">
            <a:solidFill>
              <a:srgbClr val="C0C1D7"/>
            </a:solidFill>
            <a:prstDash val="solid"/>
          </a:ln>
        </p:spPr>
      </p:sp>
      <p:sp>
        <p:nvSpPr>
          <p:cNvPr id="6" name="Shape 3"/>
          <p:cNvSpPr/>
          <p:nvPr/>
        </p:nvSpPr>
        <p:spPr>
          <a:xfrm>
            <a:off x="530900" y="1939647"/>
            <a:ext cx="348853" cy="348853"/>
          </a:xfrm>
          <a:prstGeom prst="roundRect">
            <a:avLst>
              <a:gd name="adj" fmla="val 26208992"/>
            </a:avLst>
          </a:prstGeom>
          <a:solidFill>
            <a:srgbClr val="4950BC"/>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6864" y="2035612"/>
            <a:ext cx="156924" cy="156924"/>
          </a:xfrm>
          <a:prstGeom prst="rect">
            <a:avLst/>
          </a:prstGeom>
        </p:spPr>
      </p:pic>
      <p:sp>
        <p:nvSpPr>
          <p:cNvPr id="8" name="Text 4"/>
          <p:cNvSpPr/>
          <p:nvPr/>
        </p:nvSpPr>
        <p:spPr>
          <a:xfrm>
            <a:off x="530900" y="2404705"/>
            <a:ext cx="1929765" cy="181689"/>
          </a:xfrm>
          <a:prstGeom prst="rect">
            <a:avLst/>
          </a:prstGeom>
          <a:noFill/>
          <a:ln/>
        </p:spPr>
        <p:txBody>
          <a:bodyPr wrap="none" lIns="0" tIns="0" rIns="0" bIns="0" rtlCol="0" anchor="t"/>
          <a:lstStyle/>
          <a:p>
            <a:pPr algn="l" indent="0" marL="0">
              <a:lnSpc>
                <a:spcPts val="1400"/>
              </a:lnSpc>
              <a:buNone/>
            </a:pPr>
            <a:r>
              <a:rPr lang="en-US" sz="1100" b="1" dirty="0">
                <a:solidFill>
                  <a:srgbClr val="272525"/>
                </a:solidFill>
                <a:latin typeface="Inter Bold" pitchFamily="34" charset="0"/>
                <a:ea typeface="Inter Bold" pitchFamily="34" charset="-122"/>
                <a:cs typeface="Inter Bold" pitchFamily="34" charset="-120"/>
              </a:rPr>
              <a:t>Unencrypted Data Transfer</a:t>
            </a:r>
            <a:endParaRPr lang="en-US" sz="1100" dirty="0"/>
          </a:p>
        </p:txBody>
      </p:sp>
      <p:sp>
        <p:nvSpPr>
          <p:cNvPr id="9" name="Text 5"/>
          <p:cNvSpPr/>
          <p:nvPr/>
        </p:nvSpPr>
        <p:spPr>
          <a:xfrm>
            <a:off x="530900" y="2656165"/>
            <a:ext cx="8082201" cy="186095"/>
          </a:xfrm>
          <a:prstGeom prst="rect">
            <a:avLst/>
          </a:prstGeom>
          <a:noFill/>
          <a:ln/>
        </p:spPr>
        <p:txBody>
          <a:bodyPr wrap="non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Information, including sensitive details like login credentials, is sent in plaintext, making it readable to anyone who intercepts the communication.</a:t>
            </a:r>
            <a:endParaRPr lang="en-US" sz="900" dirty="0"/>
          </a:p>
        </p:txBody>
      </p:sp>
      <p:sp>
        <p:nvSpPr>
          <p:cNvPr id="10" name="Shape 6"/>
          <p:cNvSpPr/>
          <p:nvPr/>
        </p:nvSpPr>
        <p:spPr>
          <a:xfrm>
            <a:off x="407075" y="3082290"/>
            <a:ext cx="8329851" cy="1150263"/>
          </a:xfrm>
          <a:prstGeom prst="roundRect">
            <a:avLst>
              <a:gd name="adj" fmla="val 4247"/>
            </a:avLst>
          </a:prstGeom>
          <a:solidFill>
            <a:srgbClr val="DADBF1"/>
          </a:solidFill>
          <a:ln w="7620">
            <a:solidFill>
              <a:srgbClr val="C0C1D7"/>
            </a:solidFill>
            <a:prstDash val="solid"/>
          </a:ln>
        </p:spPr>
      </p:sp>
      <p:sp>
        <p:nvSpPr>
          <p:cNvPr id="11" name="Shape 7"/>
          <p:cNvSpPr/>
          <p:nvPr/>
        </p:nvSpPr>
        <p:spPr>
          <a:xfrm>
            <a:off x="530900" y="3206115"/>
            <a:ext cx="348853" cy="348853"/>
          </a:xfrm>
          <a:prstGeom prst="roundRect">
            <a:avLst>
              <a:gd name="adj" fmla="val 26208992"/>
            </a:avLst>
          </a:prstGeom>
          <a:solidFill>
            <a:srgbClr val="4950BC"/>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864" y="3302079"/>
            <a:ext cx="156924" cy="156924"/>
          </a:xfrm>
          <a:prstGeom prst="rect">
            <a:avLst/>
          </a:prstGeom>
        </p:spPr>
      </p:pic>
      <p:sp>
        <p:nvSpPr>
          <p:cNvPr id="13" name="Text 8"/>
          <p:cNvSpPr/>
          <p:nvPr/>
        </p:nvSpPr>
        <p:spPr>
          <a:xfrm>
            <a:off x="530900" y="3671173"/>
            <a:ext cx="2060019" cy="181689"/>
          </a:xfrm>
          <a:prstGeom prst="rect">
            <a:avLst/>
          </a:prstGeom>
          <a:noFill/>
          <a:ln/>
        </p:spPr>
        <p:txBody>
          <a:bodyPr wrap="none" lIns="0" tIns="0" rIns="0" bIns="0" rtlCol="0" anchor="t"/>
          <a:lstStyle/>
          <a:p>
            <a:pPr algn="l" indent="0" marL="0">
              <a:lnSpc>
                <a:spcPts val="1400"/>
              </a:lnSpc>
              <a:buNone/>
            </a:pPr>
            <a:r>
              <a:rPr lang="en-US" sz="1100" b="1" dirty="0">
                <a:solidFill>
                  <a:srgbClr val="272525"/>
                </a:solidFill>
                <a:latin typeface="Inter Bold" pitchFamily="34" charset="0"/>
                <a:ea typeface="Inter Bold" pitchFamily="34" charset="-122"/>
                <a:cs typeface="Inter Bold" pitchFamily="34" charset="-120"/>
              </a:rPr>
              <a:t>Vulnerable to Packet Sniffing</a:t>
            </a:r>
            <a:endParaRPr lang="en-US" sz="1100" dirty="0"/>
          </a:p>
        </p:txBody>
      </p:sp>
      <p:sp>
        <p:nvSpPr>
          <p:cNvPr id="14" name="Text 9"/>
          <p:cNvSpPr/>
          <p:nvPr/>
        </p:nvSpPr>
        <p:spPr>
          <a:xfrm>
            <a:off x="530900" y="3922633"/>
            <a:ext cx="8082201" cy="186095"/>
          </a:xfrm>
          <a:prstGeom prst="rect">
            <a:avLst/>
          </a:prstGeom>
          <a:noFill/>
          <a:ln/>
        </p:spPr>
        <p:txBody>
          <a:bodyPr wrap="non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Malicious actors can easily "sniff" or intercept data packets as they travel across the network, passively capturing valuable information.</a:t>
            </a:r>
            <a:endParaRPr lang="en-US" sz="900" dirty="0"/>
          </a:p>
        </p:txBody>
      </p:sp>
      <p:sp>
        <p:nvSpPr>
          <p:cNvPr id="15" name="Shape 10"/>
          <p:cNvSpPr/>
          <p:nvPr/>
        </p:nvSpPr>
        <p:spPr>
          <a:xfrm>
            <a:off x="407075" y="4348758"/>
            <a:ext cx="8329851" cy="1336358"/>
          </a:xfrm>
          <a:prstGeom prst="roundRect">
            <a:avLst>
              <a:gd name="adj" fmla="val 3656"/>
            </a:avLst>
          </a:prstGeom>
          <a:solidFill>
            <a:srgbClr val="DADBF1"/>
          </a:solidFill>
          <a:ln w="7620">
            <a:solidFill>
              <a:srgbClr val="C0C1D7"/>
            </a:solidFill>
            <a:prstDash val="solid"/>
          </a:ln>
        </p:spPr>
      </p:sp>
      <p:sp>
        <p:nvSpPr>
          <p:cNvPr id="16" name="Shape 11"/>
          <p:cNvSpPr/>
          <p:nvPr/>
        </p:nvSpPr>
        <p:spPr>
          <a:xfrm>
            <a:off x="530900" y="4472583"/>
            <a:ext cx="348853" cy="348853"/>
          </a:xfrm>
          <a:prstGeom prst="roundRect">
            <a:avLst>
              <a:gd name="adj" fmla="val 26208992"/>
            </a:avLst>
          </a:prstGeom>
          <a:solidFill>
            <a:srgbClr val="4950BC"/>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6864" y="4568547"/>
            <a:ext cx="156924" cy="156924"/>
          </a:xfrm>
          <a:prstGeom prst="rect">
            <a:avLst/>
          </a:prstGeom>
        </p:spPr>
      </p:pic>
      <p:sp>
        <p:nvSpPr>
          <p:cNvPr id="18" name="Text 12"/>
          <p:cNvSpPr/>
          <p:nvPr/>
        </p:nvSpPr>
        <p:spPr>
          <a:xfrm>
            <a:off x="530900" y="4937641"/>
            <a:ext cx="2497455" cy="181689"/>
          </a:xfrm>
          <a:prstGeom prst="rect">
            <a:avLst/>
          </a:prstGeom>
          <a:noFill/>
          <a:ln/>
        </p:spPr>
        <p:txBody>
          <a:bodyPr wrap="none" lIns="0" tIns="0" rIns="0" bIns="0" rtlCol="0" anchor="t"/>
          <a:lstStyle/>
          <a:p>
            <a:pPr algn="l" indent="0" marL="0">
              <a:lnSpc>
                <a:spcPts val="1400"/>
              </a:lnSpc>
              <a:buNone/>
            </a:pPr>
            <a:r>
              <a:rPr lang="en-US" sz="1100" b="1" dirty="0">
                <a:solidFill>
                  <a:srgbClr val="272525"/>
                </a:solidFill>
                <a:latin typeface="Inter Bold" pitchFamily="34" charset="0"/>
                <a:ea typeface="Inter Bold" pitchFamily="34" charset="-122"/>
                <a:cs typeface="Inter Bold" pitchFamily="34" charset="-120"/>
              </a:rPr>
              <a:t>Man-in-the-Middle (MITM) Attacks</a:t>
            </a:r>
            <a:endParaRPr lang="en-US" sz="1100" dirty="0"/>
          </a:p>
        </p:txBody>
      </p:sp>
      <p:sp>
        <p:nvSpPr>
          <p:cNvPr id="19" name="Text 13"/>
          <p:cNvSpPr/>
          <p:nvPr/>
        </p:nvSpPr>
        <p:spPr>
          <a:xfrm>
            <a:off x="530900" y="5189101"/>
            <a:ext cx="8082201" cy="372189"/>
          </a:xfrm>
          <a:prstGeom prst="rect">
            <a:avLst/>
          </a:prstGeom>
          <a:noFill/>
          <a:ln/>
        </p:spPr>
        <p:txBody>
          <a:bodyPr wrap="squar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Attackers can position themselves between the client and server, intercepting, reading, and even modifying communications without either party being aware.</a:t>
            </a:r>
            <a:endParaRPr lang="en-US" sz="900" dirty="0"/>
          </a:p>
        </p:txBody>
      </p:sp>
      <p:sp>
        <p:nvSpPr>
          <p:cNvPr id="20" name="Shape 14"/>
          <p:cNvSpPr/>
          <p:nvPr/>
        </p:nvSpPr>
        <p:spPr>
          <a:xfrm>
            <a:off x="407075" y="5801320"/>
            <a:ext cx="8329851" cy="1150263"/>
          </a:xfrm>
          <a:prstGeom prst="roundRect">
            <a:avLst>
              <a:gd name="adj" fmla="val 4247"/>
            </a:avLst>
          </a:prstGeom>
          <a:solidFill>
            <a:srgbClr val="DADBF1"/>
          </a:solidFill>
          <a:ln w="7620">
            <a:solidFill>
              <a:srgbClr val="C0C1D7"/>
            </a:solidFill>
            <a:prstDash val="solid"/>
          </a:ln>
        </p:spPr>
      </p:sp>
      <p:sp>
        <p:nvSpPr>
          <p:cNvPr id="21" name="Shape 15"/>
          <p:cNvSpPr/>
          <p:nvPr/>
        </p:nvSpPr>
        <p:spPr>
          <a:xfrm>
            <a:off x="530900" y="5925145"/>
            <a:ext cx="348853" cy="348853"/>
          </a:xfrm>
          <a:prstGeom prst="roundRect">
            <a:avLst>
              <a:gd name="adj" fmla="val 26208992"/>
            </a:avLst>
          </a:prstGeom>
          <a:solidFill>
            <a:srgbClr val="4950BC"/>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6864" y="6021110"/>
            <a:ext cx="156924" cy="156924"/>
          </a:xfrm>
          <a:prstGeom prst="rect">
            <a:avLst/>
          </a:prstGeom>
        </p:spPr>
      </p:pic>
      <p:sp>
        <p:nvSpPr>
          <p:cNvPr id="23" name="Text 16"/>
          <p:cNvSpPr/>
          <p:nvPr/>
        </p:nvSpPr>
        <p:spPr>
          <a:xfrm>
            <a:off x="530900" y="6390203"/>
            <a:ext cx="1665446" cy="181689"/>
          </a:xfrm>
          <a:prstGeom prst="rect">
            <a:avLst/>
          </a:prstGeom>
          <a:noFill/>
          <a:ln/>
        </p:spPr>
        <p:txBody>
          <a:bodyPr wrap="none" lIns="0" tIns="0" rIns="0" bIns="0" rtlCol="0" anchor="t"/>
          <a:lstStyle/>
          <a:p>
            <a:pPr algn="l" indent="0" marL="0">
              <a:lnSpc>
                <a:spcPts val="1400"/>
              </a:lnSpc>
              <a:buNone/>
            </a:pPr>
            <a:r>
              <a:rPr lang="en-US" sz="1100" b="1" dirty="0">
                <a:solidFill>
                  <a:srgbClr val="272525"/>
                </a:solidFill>
                <a:latin typeface="Inter Bold" pitchFamily="34" charset="0"/>
                <a:ea typeface="Inter Bold" pitchFamily="34" charset="-122"/>
                <a:cs typeface="Inter Bold" pitchFamily="34" charset="-120"/>
              </a:rPr>
              <a:t>Risk of Credential Theft</a:t>
            </a:r>
            <a:endParaRPr lang="en-US" sz="1100" dirty="0"/>
          </a:p>
        </p:txBody>
      </p:sp>
      <p:sp>
        <p:nvSpPr>
          <p:cNvPr id="24" name="Text 17"/>
          <p:cNvSpPr/>
          <p:nvPr/>
        </p:nvSpPr>
        <p:spPr>
          <a:xfrm>
            <a:off x="530900" y="6641663"/>
            <a:ext cx="8082201" cy="186095"/>
          </a:xfrm>
          <a:prstGeom prst="rect">
            <a:avLst/>
          </a:prstGeom>
          <a:noFill/>
          <a:ln/>
        </p:spPr>
        <p:txBody>
          <a:bodyPr wrap="non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Without encryption, sensitive data such as usernames, passwords, and other personal identifiers can be easily stolen if intercepted.</a:t>
            </a:r>
            <a:endParaRPr lang="en-US" sz="900" dirty="0"/>
          </a:p>
        </p:txBody>
      </p:sp>
      <p:sp>
        <p:nvSpPr>
          <p:cNvPr id="25" name="Text 18"/>
          <p:cNvSpPr/>
          <p:nvPr/>
        </p:nvSpPr>
        <p:spPr>
          <a:xfrm>
            <a:off x="407075" y="7082433"/>
            <a:ext cx="8329851" cy="372189"/>
          </a:xfrm>
          <a:prstGeom prst="rect">
            <a:avLst/>
          </a:prstGeom>
          <a:noFill/>
          <a:ln/>
        </p:spPr>
        <p:txBody>
          <a:bodyPr wrap="squar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While useful for non-sensitive public content, these inherent vulnerabilities make standard HTTP unsuitable for protecting privacy and security in modern web applications.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47661" y="505658"/>
            <a:ext cx="8021479" cy="1002030"/>
          </a:xfrm>
          <a:prstGeom prst="rect">
            <a:avLst/>
          </a:prstGeom>
          <a:noFill/>
          <a:ln/>
        </p:spPr>
        <p:txBody>
          <a:bodyPr wrap="square" lIns="0" tIns="0" rIns="0" bIns="0" rtlCol="0" anchor="t"/>
          <a:lstStyle/>
          <a:p>
            <a:pPr algn="l" indent="0" marL="0">
              <a:lnSpc>
                <a:spcPts val="3900"/>
              </a:lnSpc>
              <a:buNone/>
            </a:pPr>
            <a:r>
              <a:rPr lang="en-US" sz="3150" b="1" dirty="0">
                <a:solidFill>
                  <a:srgbClr val="000000"/>
                </a:solidFill>
                <a:latin typeface="Inter Bold" pitchFamily="34" charset="0"/>
                <a:ea typeface="Inter Bold" pitchFamily="34" charset="-122"/>
                <a:cs typeface="Inter Bold" pitchFamily="34" charset="-120"/>
              </a:rPr>
              <a:t>HTTPS Basics: Securing Web Communication</a:t>
            </a:r>
            <a:endParaRPr lang="en-US" sz="3150" dirty="0"/>
          </a:p>
        </p:txBody>
      </p:sp>
      <p:sp>
        <p:nvSpPr>
          <p:cNvPr id="4" name="Text 1"/>
          <p:cNvSpPr/>
          <p:nvPr/>
        </p:nvSpPr>
        <p:spPr>
          <a:xfrm>
            <a:off x="6047661" y="1748195"/>
            <a:ext cx="8021479" cy="76973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HTTPS (Hypertext Transfer Protocol Secure) is the secure version of HTTP, utilizing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Transport Layer Security (TLS)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encryption to protect data exchange between web browsers and servers. It's the standard for secure web communication.</a:t>
            </a:r>
            <a:endParaRPr lang="en-US" sz="1250" dirty="0"/>
          </a:p>
        </p:txBody>
      </p:sp>
      <p:sp>
        <p:nvSpPr>
          <p:cNvPr id="5" name="Shape 2"/>
          <p:cNvSpPr/>
          <p:nvPr/>
        </p:nvSpPr>
        <p:spPr>
          <a:xfrm>
            <a:off x="6047661" y="2698313"/>
            <a:ext cx="3930610" cy="1482804"/>
          </a:xfrm>
          <a:prstGeom prst="roundRect">
            <a:avLst>
              <a:gd name="adj" fmla="val 7400"/>
            </a:avLst>
          </a:prstGeom>
          <a:solidFill>
            <a:srgbClr val="FFFFFF"/>
          </a:solidFill>
          <a:ln w="22860">
            <a:solidFill>
              <a:srgbClr val="C0C1D7"/>
            </a:solidFill>
            <a:prstDash val="solid"/>
          </a:ln>
        </p:spPr>
      </p:sp>
      <p:sp>
        <p:nvSpPr>
          <p:cNvPr id="6" name="Shape 3"/>
          <p:cNvSpPr/>
          <p:nvPr/>
        </p:nvSpPr>
        <p:spPr>
          <a:xfrm>
            <a:off x="6024801" y="2698313"/>
            <a:ext cx="91440" cy="1482804"/>
          </a:xfrm>
          <a:prstGeom prst="roundRect">
            <a:avLst>
              <a:gd name="adj" fmla="val 73657"/>
            </a:avLst>
          </a:prstGeom>
          <a:solidFill>
            <a:srgbClr val="4950BC"/>
          </a:solidFill>
          <a:ln/>
        </p:spPr>
      </p:sp>
      <p:sp>
        <p:nvSpPr>
          <p:cNvPr id="7" name="Text 4"/>
          <p:cNvSpPr/>
          <p:nvPr/>
        </p:nvSpPr>
        <p:spPr>
          <a:xfrm>
            <a:off x="6299359" y="2881432"/>
            <a:ext cx="2004417" cy="25062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Encryption Power</a:t>
            </a:r>
            <a:endParaRPr lang="en-US" sz="1550" dirty="0"/>
          </a:p>
        </p:txBody>
      </p:sp>
      <p:sp>
        <p:nvSpPr>
          <p:cNvPr id="8" name="Text 5"/>
          <p:cNvSpPr/>
          <p:nvPr/>
        </p:nvSpPr>
        <p:spPr>
          <a:xfrm>
            <a:off x="6299359" y="3228261"/>
            <a:ext cx="3495794" cy="76973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Integrates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TLS encryption</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(formerly SSL) to scramble data, making it unreadable to unauthorized parties even if intercepted.</a:t>
            </a:r>
            <a:endParaRPr lang="en-US" sz="1250" dirty="0"/>
          </a:p>
        </p:txBody>
      </p:sp>
      <p:sp>
        <p:nvSpPr>
          <p:cNvPr id="9" name="Shape 6"/>
          <p:cNvSpPr/>
          <p:nvPr/>
        </p:nvSpPr>
        <p:spPr>
          <a:xfrm>
            <a:off x="10138529" y="2698313"/>
            <a:ext cx="3930610" cy="1482804"/>
          </a:xfrm>
          <a:prstGeom prst="roundRect">
            <a:avLst>
              <a:gd name="adj" fmla="val 7400"/>
            </a:avLst>
          </a:prstGeom>
          <a:solidFill>
            <a:srgbClr val="FFFFFF"/>
          </a:solidFill>
          <a:ln w="22860">
            <a:solidFill>
              <a:srgbClr val="C0C1D7"/>
            </a:solidFill>
            <a:prstDash val="solid"/>
          </a:ln>
        </p:spPr>
      </p:sp>
      <p:sp>
        <p:nvSpPr>
          <p:cNvPr id="10" name="Shape 7"/>
          <p:cNvSpPr/>
          <p:nvPr/>
        </p:nvSpPr>
        <p:spPr>
          <a:xfrm>
            <a:off x="10115669" y="2698313"/>
            <a:ext cx="91440" cy="1482804"/>
          </a:xfrm>
          <a:prstGeom prst="roundRect">
            <a:avLst>
              <a:gd name="adj" fmla="val 73657"/>
            </a:avLst>
          </a:prstGeom>
          <a:solidFill>
            <a:srgbClr val="4950BC"/>
          </a:solidFill>
          <a:ln/>
        </p:spPr>
      </p:sp>
      <p:sp>
        <p:nvSpPr>
          <p:cNvPr id="11" name="Text 8"/>
          <p:cNvSpPr/>
          <p:nvPr/>
        </p:nvSpPr>
        <p:spPr>
          <a:xfrm>
            <a:off x="10390227" y="2881432"/>
            <a:ext cx="2192179" cy="25062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Dedicated Secure Port</a:t>
            </a:r>
            <a:endParaRPr lang="en-US" sz="1550" dirty="0"/>
          </a:p>
        </p:txBody>
      </p:sp>
      <p:sp>
        <p:nvSpPr>
          <p:cNvPr id="12" name="Text 9"/>
          <p:cNvSpPr/>
          <p:nvPr/>
        </p:nvSpPr>
        <p:spPr>
          <a:xfrm>
            <a:off x="10390227" y="3228261"/>
            <a:ext cx="3495794" cy="76973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Operates over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port 443</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 dedicated port for secure web traffic, distinguishing it from standard HTTP's port 80.</a:t>
            </a:r>
            <a:endParaRPr lang="en-US" sz="1250" dirty="0"/>
          </a:p>
        </p:txBody>
      </p:sp>
      <p:sp>
        <p:nvSpPr>
          <p:cNvPr id="13" name="Shape 10"/>
          <p:cNvSpPr/>
          <p:nvPr/>
        </p:nvSpPr>
        <p:spPr>
          <a:xfrm>
            <a:off x="6047661" y="4341376"/>
            <a:ext cx="3930610" cy="1482804"/>
          </a:xfrm>
          <a:prstGeom prst="roundRect">
            <a:avLst>
              <a:gd name="adj" fmla="val 7400"/>
            </a:avLst>
          </a:prstGeom>
          <a:solidFill>
            <a:srgbClr val="FFFFFF"/>
          </a:solidFill>
          <a:ln w="22860">
            <a:solidFill>
              <a:srgbClr val="C0C1D7"/>
            </a:solidFill>
            <a:prstDash val="solid"/>
          </a:ln>
        </p:spPr>
      </p:sp>
      <p:sp>
        <p:nvSpPr>
          <p:cNvPr id="14" name="Shape 11"/>
          <p:cNvSpPr/>
          <p:nvPr/>
        </p:nvSpPr>
        <p:spPr>
          <a:xfrm>
            <a:off x="6024801" y="4341376"/>
            <a:ext cx="91440" cy="1482804"/>
          </a:xfrm>
          <a:prstGeom prst="roundRect">
            <a:avLst>
              <a:gd name="adj" fmla="val 73657"/>
            </a:avLst>
          </a:prstGeom>
          <a:solidFill>
            <a:srgbClr val="4950BC"/>
          </a:solidFill>
          <a:ln/>
        </p:spPr>
      </p:sp>
      <p:sp>
        <p:nvSpPr>
          <p:cNvPr id="15" name="Text 12"/>
          <p:cNvSpPr/>
          <p:nvPr/>
        </p:nvSpPr>
        <p:spPr>
          <a:xfrm>
            <a:off x="6299359" y="4524494"/>
            <a:ext cx="2608659" cy="25062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Comprehensive Protection</a:t>
            </a:r>
            <a:endParaRPr lang="en-US" sz="1550" dirty="0"/>
          </a:p>
        </p:txBody>
      </p:sp>
      <p:sp>
        <p:nvSpPr>
          <p:cNvPr id="16" name="Text 13"/>
          <p:cNvSpPr/>
          <p:nvPr/>
        </p:nvSpPr>
        <p:spPr>
          <a:xfrm>
            <a:off x="6299359" y="4871323"/>
            <a:ext cx="3495794" cy="76973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Encrypts critical information including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usernames, passwords, cookies,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and the entire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content</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of web pages.</a:t>
            </a:r>
            <a:endParaRPr lang="en-US" sz="1250" dirty="0"/>
          </a:p>
        </p:txBody>
      </p:sp>
      <p:sp>
        <p:nvSpPr>
          <p:cNvPr id="17" name="Shape 14"/>
          <p:cNvSpPr/>
          <p:nvPr/>
        </p:nvSpPr>
        <p:spPr>
          <a:xfrm>
            <a:off x="10138529" y="4341376"/>
            <a:ext cx="3930610" cy="1482804"/>
          </a:xfrm>
          <a:prstGeom prst="roundRect">
            <a:avLst>
              <a:gd name="adj" fmla="val 7400"/>
            </a:avLst>
          </a:prstGeom>
          <a:solidFill>
            <a:srgbClr val="FFFFFF"/>
          </a:solidFill>
          <a:ln w="22860">
            <a:solidFill>
              <a:srgbClr val="C0C1D7"/>
            </a:solidFill>
            <a:prstDash val="solid"/>
          </a:ln>
        </p:spPr>
      </p:sp>
      <p:sp>
        <p:nvSpPr>
          <p:cNvPr id="18" name="Shape 15"/>
          <p:cNvSpPr/>
          <p:nvPr/>
        </p:nvSpPr>
        <p:spPr>
          <a:xfrm>
            <a:off x="10115669" y="4341376"/>
            <a:ext cx="91440" cy="1482804"/>
          </a:xfrm>
          <a:prstGeom prst="roundRect">
            <a:avLst>
              <a:gd name="adj" fmla="val 73657"/>
            </a:avLst>
          </a:prstGeom>
          <a:solidFill>
            <a:srgbClr val="4950BC"/>
          </a:solidFill>
          <a:ln/>
        </p:spPr>
      </p:sp>
      <p:sp>
        <p:nvSpPr>
          <p:cNvPr id="19" name="Text 16"/>
          <p:cNvSpPr/>
          <p:nvPr/>
        </p:nvSpPr>
        <p:spPr>
          <a:xfrm>
            <a:off x="10390227" y="4524494"/>
            <a:ext cx="2004417" cy="25062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Core Security Pillars</a:t>
            </a:r>
            <a:endParaRPr lang="en-US" sz="1550" dirty="0"/>
          </a:p>
        </p:txBody>
      </p:sp>
      <p:sp>
        <p:nvSpPr>
          <p:cNvPr id="20" name="Text 17"/>
          <p:cNvSpPr/>
          <p:nvPr/>
        </p:nvSpPr>
        <p:spPr>
          <a:xfrm>
            <a:off x="10390227" y="4871323"/>
            <a:ext cx="3495794" cy="76973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Provides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confidentiality</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(data privacy),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integrity</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(data not tampered with), and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authentication</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(verifies server identity).</a:t>
            </a:r>
            <a:endParaRPr lang="en-US" sz="1250" dirty="0"/>
          </a:p>
        </p:txBody>
      </p:sp>
      <p:sp>
        <p:nvSpPr>
          <p:cNvPr id="21" name="Shape 18"/>
          <p:cNvSpPr/>
          <p:nvPr/>
        </p:nvSpPr>
        <p:spPr>
          <a:xfrm>
            <a:off x="6047661" y="5984438"/>
            <a:ext cx="3930610" cy="1739384"/>
          </a:xfrm>
          <a:prstGeom prst="roundRect">
            <a:avLst>
              <a:gd name="adj" fmla="val 6308"/>
            </a:avLst>
          </a:prstGeom>
          <a:solidFill>
            <a:srgbClr val="FFFFFF"/>
          </a:solidFill>
          <a:ln w="22860">
            <a:solidFill>
              <a:srgbClr val="C0C1D7"/>
            </a:solidFill>
            <a:prstDash val="solid"/>
          </a:ln>
        </p:spPr>
      </p:sp>
      <p:sp>
        <p:nvSpPr>
          <p:cNvPr id="22" name="Shape 19"/>
          <p:cNvSpPr/>
          <p:nvPr/>
        </p:nvSpPr>
        <p:spPr>
          <a:xfrm>
            <a:off x="6024801" y="5984438"/>
            <a:ext cx="91440" cy="1739384"/>
          </a:xfrm>
          <a:prstGeom prst="roundRect">
            <a:avLst>
              <a:gd name="adj" fmla="val 73657"/>
            </a:avLst>
          </a:prstGeom>
          <a:solidFill>
            <a:srgbClr val="4950BC"/>
          </a:solidFill>
          <a:ln/>
        </p:spPr>
      </p:sp>
      <p:sp>
        <p:nvSpPr>
          <p:cNvPr id="23" name="Text 20"/>
          <p:cNvSpPr/>
          <p:nvPr/>
        </p:nvSpPr>
        <p:spPr>
          <a:xfrm>
            <a:off x="6299359" y="6167557"/>
            <a:ext cx="2599253" cy="25062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Trust Through Certificates</a:t>
            </a:r>
            <a:endParaRPr lang="en-US" sz="1550" dirty="0"/>
          </a:p>
        </p:txBody>
      </p:sp>
      <p:sp>
        <p:nvSpPr>
          <p:cNvPr id="24" name="Text 21"/>
          <p:cNvSpPr/>
          <p:nvPr/>
        </p:nvSpPr>
        <p:spPr>
          <a:xfrm>
            <a:off x="6299359" y="6514386"/>
            <a:ext cx="3495794" cy="102631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Requires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digital certificates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issued by Certificate Authorities (CAs) to verify the identity of the website, preventing impersonation.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919163"/>
            <a:ext cx="1044952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HTTP vs HTTPS: A Direct Comparison</a:t>
            </a:r>
            <a:endParaRPr lang="en-US" sz="4450" dirty="0"/>
          </a:p>
        </p:txBody>
      </p:sp>
      <p:sp>
        <p:nvSpPr>
          <p:cNvPr id="3" name="Text 1"/>
          <p:cNvSpPr/>
          <p:nvPr/>
        </p:nvSpPr>
        <p:spPr>
          <a:xfrm>
            <a:off x="793790" y="208157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Understanding the fundamental differences between HTTP and HTTPS is crucial for web security and performance. This table highlights the key distinctions that make HTTPS the preferred choice for secure communication.</a:t>
            </a:r>
            <a:endParaRPr lang="en-US" sz="1750" dirty="0"/>
          </a:p>
        </p:txBody>
      </p:sp>
      <p:sp>
        <p:nvSpPr>
          <p:cNvPr id="4" name="Shape 2"/>
          <p:cNvSpPr/>
          <p:nvPr/>
        </p:nvSpPr>
        <p:spPr>
          <a:xfrm>
            <a:off x="793790" y="3062526"/>
            <a:ext cx="13042821" cy="3266837"/>
          </a:xfrm>
          <a:prstGeom prst="roundRect">
            <a:avLst>
              <a:gd name="adj" fmla="val 2916"/>
            </a:avLst>
          </a:prstGeom>
          <a:noFill/>
          <a:ln w="7620">
            <a:solidFill>
              <a:srgbClr val="000000">
                <a:alpha val="8000"/>
              </a:srgbClr>
            </a:solidFill>
            <a:prstDash val="solid"/>
          </a:ln>
        </p:spPr>
      </p:sp>
      <p:sp>
        <p:nvSpPr>
          <p:cNvPr id="5" name="Shape 3"/>
          <p:cNvSpPr/>
          <p:nvPr/>
        </p:nvSpPr>
        <p:spPr>
          <a:xfrm>
            <a:off x="801410" y="3070146"/>
            <a:ext cx="13027581" cy="650319"/>
          </a:xfrm>
          <a:prstGeom prst="rect">
            <a:avLst/>
          </a:prstGeom>
          <a:solidFill>
            <a:srgbClr val="FFFFFF">
              <a:alpha val="4000"/>
            </a:srgbClr>
          </a:solidFill>
          <a:ln/>
        </p:spPr>
      </p:sp>
      <p:sp>
        <p:nvSpPr>
          <p:cNvPr id="6" name="Text 4"/>
          <p:cNvSpPr/>
          <p:nvPr/>
        </p:nvSpPr>
        <p:spPr>
          <a:xfrm>
            <a:off x="1028343" y="3213854"/>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Encryption</a:t>
            </a:r>
            <a:endParaRPr lang="en-US" sz="1750" dirty="0"/>
          </a:p>
        </p:txBody>
      </p:sp>
      <p:sp>
        <p:nvSpPr>
          <p:cNvPr id="7" name="Text 5"/>
          <p:cNvSpPr/>
          <p:nvPr/>
        </p:nvSpPr>
        <p:spPr>
          <a:xfrm>
            <a:off x="5591770" y="3213854"/>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No</a:t>
            </a:r>
            <a:endParaRPr lang="en-US" sz="1750" dirty="0"/>
          </a:p>
        </p:txBody>
      </p:sp>
      <p:sp>
        <p:nvSpPr>
          <p:cNvPr id="8" name="Text 6"/>
          <p:cNvSpPr/>
          <p:nvPr/>
        </p:nvSpPr>
        <p:spPr>
          <a:xfrm>
            <a:off x="9499997" y="3213854"/>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Yes (via TLS/SSL)</a:t>
            </a:r>
            <a:endParaRPr lang="en-US" sz="1750" dirty="0"/>
          </a:p>
        </p:txBody>
      </p:sp>
      <p:sp>
        <p:nvSpPr>
          <p:cNvPr id="9" name="Shape 7"/>
          <p:cNvSpPr/>
          <p:nvPr/>
        </p:nvSpPr>
        <p:spPr>
          <a:xfrm>
            <a:off x="801410" y="3720465"/>
            <a:ext cx="13027581" cy="650319"/>
          </a:xfrm>
          <a:prstGeom prst="rect">
            <a:avLst/>
          </a:prstGeom>
          <a:solidFill>
            <a:srgbClr val="000000">
              <a:alpha val="4000"/>
            </a:srgbClr>
          </a:solidFill>
          <a:ln/>
        </p:spPr>
      </p:sp>
      <p:sp>
        <p:nvSpPr>
          <p:cNvPr id="10" name="Text 8"/>
          <p:cNvSpPr/>
          <p:nvPr/>
        </p:nvSpPr>
        <p:spPr>
          <a:xfrm>
            <a:off x="1028343" y="386417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Default Port</a:t>
            </a:r>
            <a:endParaRPr lang="en-US" sz="1750" dirty="0"/>
          </a:p>
        </p:txBody>
      </p:sp>
      <p:sp>
        <p:nvSpPr>
          <p:cNvPr id="11" name="Text 9"/>
          <p:cNvSpPr/>
          <p:nvPr/>
        </p:nvSpPr>
        <p:spPr>
          <a:xfrm>
            <a:off x="5591770" y="3864173"/>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80</a:t>
            </a:r>
            <a:endParaRPr lang="en-US" sz="1750" dirty="0"/>
          </a:p>
        </p:txBody>
      </p:sp>
      <p:sp>
        <p:nvSpPr>
          <p:cNvPr id="12" name="Text 10"/>
          <p:cNvSpPr/>
          <p:nvPr/>
        </p:nvSpPr>
        <p:spPr>
          <a:xfrm>
            <a:off x="9499997" y="386417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443</a:t>
            </a:r>
            <a:endParaRPr lang="en-US" sz="1750" dirty="0"/>
          </a:p>
        </p:txBody>
      </p:sp>
      <p:sp>
        <p:nvSpPr>
          <p:cNvPr id="13" name="Shape 11"/>
          <p:cNvSpPr/>
          <p:nvPr/>
        </p:nvSpPr>
        <p:spPr>
          <a:xfrm>
            <a:off x="801410" y="4370784"/>
            <a:ext cx="13027581" cy="650319"/>
          </a:xfrm>
          <a:prstGeom prst="rect">
            <a:avLst/>
          </a:prstGeom>
          <a:solidFill>
            <a:srgbClr val="FFFFFF">
              <a:alpha val="4000"/>
            </a:srgbClr>
          </a:solidFill>
          <a:ln/>
        </p:spPr>
      </p:sp>
      <p:sp>
        <p:nvSpPr>
          <p:cNvPr id="14" name="Text 12"/>
          <p:cNvSpPr/>
          <p:nvPr/>
        </p:nvSpPr>
        <p:spPr>
          <a:xfrm>
            <a:off x="1028343" y="451449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Safe for Credentials</a:t>
            </a:r>
            <a:endParaRPr lang="en-US" sz="1750" dirty="0"/>
          </a:p>
        </p:txBody>
      </p:sp>
      <p:sp>
        <p:nvSpPr>
          <p:cNvPr id="15" name="Text 13"/>
          <p:cNvSpPr/>
          <p:nvPr/>
        </p:nvSpPr>
        <p:spPr>
          <a:xfrm>
            <a:off x="5591770" y="4514493"/>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No</a:t>
            </a:r>
            <a:endParaRPr lang="en-US" sz="1750" dirty="0"/>
          </a:p>
        </p:txBody>
      </p:sp>
      <p:sp>
        <p:nvSpPr>
          <p:cNvPr id="16" name="Text 14"/>
          <p:cNvSpPr/>
          <p:nvPr/>
        </p:nvSpPr>
        <p:spPr>
          <a:xfrm>
            <a:off x="9499997" y="451449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Yes</a:t>
            </a:r>
            <a:endParaRPr lang="en-US" sz="1750" dirty="0"/>
          </a:p>
        </p:txBody>
      </p:sp>
      <p:sp>
        <p:nvSpPr>
          <p:cNvPr id="17" name="Shape 15"/>
          <p:cNvSpPr/>
          <p:nvPr/>
        </p:nvSpPr>
        <p:spPr>
          <a:xfrm>
            <a:off x="801410" y="5021104"/>
            <a:ext cx="13027581" cy="650319"/>
          </a:xfrm>
          <a:prstGeom prst="rect">
            <a:avLst/>
          </a:prstGeom>
          <a:solidFill>
            <a:srgbClr val="000000">
              <a:alpha val="4000"/>
            </a:srgbClr>
          </a:solidFill>
          <a:ln/>
        </p:spPr>
      </p:sp>
      <p:sp>
        <p:nvSpPr>
          <p:cNvPr id="18" name="Text 16"/>
          <p:cNvSpPr/>
          <p:nvPr/>
        </p:nvSpPr>
        <p:spPr>
          <a:xfrm>
            <a:off x="1028343" y="5164812"/>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Visible in Wireshark</a:t>
            </a:r>
            <a:endParaRPr lang="en-US" sz="1750" dirty="0"/>
          </a:p>
        </p:txBody>
      </p:sp>
      <p:sp>
        <p:nvSpPr>
          <p:cNvPr id="19" name="Text 17"/>
          <p:cNvSpPr/>
          <p:nvPr/>
        </p:nvSpPr>
        <p:spPr>
          <a:xfrm>
            <a:off x="5591770" y="5164812"/>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Fully readable</a:t>
            </a:r>
            <a:endParaRPr lang="en-US" sz="1750" dirty="0"/>
          </a:p>
        </p:txBody>
      </p:sp>
      <p:sp>
        <p:nvSpPr>
          <p:cNvPr id="20" name="Text 18"/>
          <p:cNvSpPr/>
          <p:nvPr/>
        </p:nvSpPr>
        <p:spPr>
          <a:xfrm>
            <a:off x="9499997" y="5164812"/>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Encrypted</a:t>
            </a:r>
            <a:endParaRPr lang="en-US" sz="1750" dirty="0"/>
          </a:p>
        </p:txBody>
      </p:sp>
      <p:sp>
        <p:nvSpPr>
          <p:cNvPr id="21" name="Shape 19"/>
          <p:cNvSpPr/>
          <p:nvPr/>
        </p:nvSpPr>
        <p:spPr>
          <a:xfrm>
            <a:off x="801410" y="5671423"/>
            <a:ext cx="13027581" cy="650319"/>
          </a:xfrm>
          <a:prstGeom prst="rect">
            <a:avLst/>
          </a:prstGeom>
          <a:solidFill>
            <a:srgbClr val="FFFFFF">
              <a:alpha val="4000"/>
            </a:srgbClr>
          </a:solidFill>
          <a:ln/>
        </p:spPr>
      </p:sp>
      <p:sp>
        <p:nvSpPr>
          <p:cNvPr id="22" name="Text 20"/>
          <p:cNvSpPr/>
          <p:nvPr/>
        </p:nvSpPr>
        <p:spPr>
          <a:xfrm>
            <a:off x="1028343" y="5815132"/>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Certificates Required</a:t>
            </a:r>
            <a:endParaRPr lang="en-US" sz="1750" dirty="0"/>
          </a:p>
        </p:txBody>
      </p:sp>
      <p:sp>
        <p:nvSpPr>
          <p:cNvPr id="23" name="Text 21"/>
          <p:cNvSpPr/>
          <p:nvPr/>
        </p:nvSpPr>
        <p:spPr>
          <a:xfrm>
            <a:off x="5591770" y="5815132"/>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No</a:t>
            </a:r>
            <a:endParaRPr lang="en-US" sz="1750" dirty="0"/>
          </a:p>
        </p:txBody>
      </p:sp>
      <p:sp>
        <p:nvSpPr>
          <p:cNvPr id="24" name="Text 22"/>
          <p:cNvSpPr/>
          <p:nvPr/>
        </p:nvSpPr>
        <p:spPr>
          <a:xfrm>
            <a:off x="9499997" y="5815132"/>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Yes (for identity verification)</a:t>
            </a:r>
            <a:endParaRPr lang="en-US" sz="1750" dirty="0"/>
          </a:p>
        </p:txBody>
      </p:sp>
      <p:sp>
        <p:nvSpPr>
          <p:cNvPr id="25" name="Text 23"/>
          <p:cNvSpPr/>
          <p:nvPr/>
        </p:nvSpPr>
        <p:spPr>
          <a:xfrm>
            <a:off x="793790" y="6584513"/>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While HTTP was the original backbone of the web, HTTPS addresses its critical security shortcomings, ensuring data privacy and integrity for modern online interactions.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480298" y="485894"/>
            <a:ext cx="6283762" cy="428863"/>
          </a:xfrm>
          <a:prstGeom prst="rect">
            <a:avLst/>
          </a:prstGeom>
          <a:noFill/>
          <a:ln/>
        </p:spPr>
        <p:txBody>
          <a:bodyPr wrap="none" lIns="0" tIns="0" rIns="0" bIns="0" rtlCol="0" anchor="t"/>
          <a:lstStyle/>
          <a:p>
            <a:pPr algn="l" indent="0" marL="0">
              <a:lnSpc>
                <a:spcPts val="3350"/>
              </a:lnSpc>
              <a:buNone/>
            </a:pPr>
            <a:r>
              <a:rPr lang="en-US" sz="2700" b="1" dirty="0">
                <a:solidFill>
                  <a:srgbClr val="000000"/>
                </a:solidFill>
                <a:latin typeface="Inter Bold" pitchFamily="34" charset="0"/>
                <a:ea typeface="Inter Bold" pitchFamily="34" charset="-122"/>
                <a:cs typeface="Inter Bold" pitchFamily="34" charset="-120"/>
              </a:rPr>
              <a:t>HTTPS: Securing Core Web Concepts</a:t>
            </a:r>
            <a:endParaRPr lang="en-US" sz="2700" dirty="0"/>
          </a:p>
        </p:txBody>
      </p:sp>
      <p:sp>
        <p:nvSpPr>
          <p:cNvPr id="4" name="Text 1"/>
          <p:cNvSpPr/>
          <p:nvPr/>
        </p:nvSpPr>
        <p:spPr>
          <a:xfrm>
            <a:off x="480298" y="1120616"/>
            <a:ext cx="8183404" cy="439102"/>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HTTPS doesn't just encrypt data; it fundamentally transforms how many core web mechanisms operate, providing a layer of security over previously vulnerable interactions.</a:t>
            </a:r>
            <a:endParaRPr lang="en-US" sz="1050" dirty="0"/>
          </a:p>
        </p:txBody>
      </p:sp>
      <p:sp>
        <p:nvSpPr>
          <p:cNvPr id="5" name="Shape 2"/>
          <p:cNvSpPr/>
          <p:nvPr/>
        </p:nvSpPr>
        <p:spPr>
          <a:xfrm>
            <a:off x="480298" y="1714024"/>
            <a:ext cx="4023122" cy="1793796"/>
          </a:xfrm>
          <a:prstGeom prst="roundRect">
            <a:avLst>
              <a:gd name="adj" fmla="val 3213"/>
            </a:avLst>
          </a:prstGeom>
          <a:solidFill>
            <a:srgbClr val="DADBF1"/>
          </a:solidFill>
          <a:ln w="7620">
            <a:solidFill>
              <a:srgbClr val="C0C1D7"/>
            </a:solidFill>
            <a:prstDash val="solid"/>
          </a:ln>
        </p:spPr>
      </p:sp>
      <p:sp>
        <p:nvSpPr>
          <p:cNvPr id="6" name="Shape 3"/>
          <p:cNvSpPr/>
          <p:nvPr/>
        </p:nvSpPr>
        <p:spPr>
          <a:xfrm>
            <a:off x="625078" y="1858804"/>
            <a:ext cx="411718" cy="411718"/>
          </a:xfrm>
          <a:prstGeom prst="roundRect">
            <a:avLst>
              <a:gd name="adj" fmla="val 22207155"/>
            </a:avLst>
          </a:prstGeom>
          <a:solidFill>
            <a:srgbClr val="4950BC"/>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8307" y="1971913"/>
            <a:ext cx="185261" cy="185261"/>
          </a:xfrm>
          <a:prstGeom prst="rect">
            <a:avLst/>
          </a:prstGeom>
        </p:spPr>
      </p:pic>
      <p:sp>
        <p:nvSpPr>
          <p:cNvPr id="8" name="Text 4"/>
          <p:cNvSpPr/>
          <p:nvPr/>
        </p:nvSpPr>
        <p:spPr>
          <a:xfrm>
            <a:off x="625078" y="2407682"/>
            <a:ext cx="1959173" cy="214432"/>
          </a:xfrm>
          <a:prstGeom prst="rect">
            <a:avLst/>
          </a:prstGeom>
          <a:noFill/>
          <a:ln/>
        </p:spPr>
        <p:txBody>
          <a:bodyPr wrap="none" lIns="0" tIns="0" rIns="0" bIns="0" rtlCol="0" anchor="t"/>
          <a:lstStyle/>
          <a:p>
            <a:pPr algn="l" indent="0" marL="0">
              <a:lnSpc>
                <a:spcPts val="1650"/>
              </a:lnSpc>
              <a:buNone/>
            </a:pPr>
            <a:r>
              <a:rPr lang="en-US" sz="1350" b="1" dirty="0">
                <a:solidFill>
                  <a:srgbClr val="272525"/>
                </a:solidFill>
                <a:latin typeface="Inter Bold" pitchFamily="34" charset="0"/>
                <a:ea typeface="Inter Bold" pitchFamily="34" charset="-122"/>
                <a:cs typeface="Inter Bold" pitchFamily="34" charset="-120"/>
              </a:rPr>
              <a:t>Persistent Connections</a:t>
            </a:r>
            <a:endParaRPr lang="en-US" sz="1350" dirty="0"/>
          </a:p>
        </p:txBody>
      </p:sp>
      <p:sp>
        <p:nvSpPr>
          <p:cNvPr id="9" name="Text 5"/>
          <p:cNvSpPr/>
          <p:nvPr/>
        </p:nvSpPr>
        <p:spPr>
          <a:xfrm>
            <a:off x="625078" y="2704386"/>
            <a:ext cx="3733562" cy="658654"/>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While both use persistent connections for efficiency, HTTPS encrypts the entire stream, ensuring ongoing security throughout the session.</a:t>
            </a:r>
            <a:endParaRPr lang="en-US" sz="1050" dirty="0"/>
          </a:p>
        </p:txBody>
      </p:sp>
      <p:sp>
        <p:nvSpPr>
          <p:cNvPr id="10" name="Shape 6"/>
          <p:cNvSpPr/>
          <p:nvPr/>
        </p:nvSpPr>
        <p:spPr>
          <a:xfrm>
            <a:off x="4640580" y="1714024"/>
            <a:ext cx="4023122" cy="1793796"/>
          </a:xfrm>
          <a:prstGeom prst="roundRect">
            <a:avLst>
              <a:gd name="adj" fmla="val 3213"/>
            </a:avLst>
          </a:prstGeom>
          <a:solidFill>
            <a:srgbClr val="DADBF1"/>
          </a:solidFill>
          <a:ln w="7620">
            <a:solidFill>
              <a:srgbClr val="C0C1D7"/>
            </a:solidFill>
            <a:prstDash val="solid"/>
          </a:ln>
        </p:spPr>
      </p:sp>
      <p:sp>
        <p:nvSpPr>
          <p:cNvPr id="11" name="Shape 7"/>
          <p:cNvSpPr/>
          <p:nvPr/>
        </p:nvSpPr>
        <p:spPr>
          <a:xfrm>
            <a:off x="4785360" y="1858804"/>
            <a:ext cx="411718" cy="411718"/>
          </a:xfrm>
          <a:prstGeom prst="roundRect">
            <a:avLst>
              <a:gd name="adj" fmla="val 22207155"/>
            </a:avLst>
          </a:prstGeom>
          <a:solidFill>
            <a:srgbClr val="4950BC"/>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98588" y="1971913"/>
            <a:ext cx="185261" cy="185261"/>
          </a:xfrm>
          <a:prstGeom prst="rect">
            <a:avLst/>
          </a:prstGeom>
        </p:spPr>
      </p:pic>
      <p:sp>
        <p:nvSpPr>
          <p:cNvPr id="13" name="Text 8"/>
          <p:cNvSpPr/>
          <p:nvPr/>
        </p:nvSpPr>
        <p:spPr>
          <a:xfrm>
            <a:off x="4785360" y="2407682"/>
            <a:ext cx="1715453" cy="214432"/>
          </a:xfrm>
          <a:prstGeom prst="rect">
            <a:avLst/>
          </a:prstGeom>
          <a:noFill/>
          <a:ln/>
        </p:spPr>
        <p:txBody>
          <a:bodyPr wrap="none" lIns="0" tIns="0" rIns="0" bIns="0" rtlCol="0" anchor="t"/>
          <a:lstStyle/>
          <a:p>
            <a:pPr algn="l" indent="0" marL="0">
              <a:lnSpc>
                <a:spcPts val="1650"/>
              </a:lnSpc>
              <a:buNone/>
            </a:pPr>
            <a:r>
              <a:rPr lang="en-US" sz="1350" b="1" dirty="0">
                <a:solidFill>
                  <a:srgbClr val="272525"/>
                </a:solidFill>
                <a:latin typeface="Inter Bold" pitchFamily="34" charset="0"/>
                <a:ea typeface="Inter Bold" pitchFamily="34" charset="-122"/>
                <a:cs typeface="Inter Bold" pitchFamily="34" charset="-120"/>
              </a:rPr>
              <a:t>Message Format</a:t>
            </a:r>
            <a:endParaRPr lang="en-US" sz="1350" dirty="0"/>
          </a:p>
        </p:txBody>
      </p:sp>
      <p:sp>
        <p:nvSpPr>
          <p:cNvPr id="14" name="Text 9"/>
          <p:cNvSpPr/>
          <p:nvPr/>
        </p:nvSpPr>
        <p:spPr>
          <a:xfrm>
            <a:off x="4785360" y="2704386"/>
            <a:ext cx="3733562" cy="658654"/>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HTTP and HTTPS share the same message structure, but HTTPS ensures the entire content (headers and body) is encrypted before transmission.</a:t>
            </a:r>
            <a:endParaRPr lang="en-US" sz="1050" dirty="0"/>
          </a:p>
        </p:txBody>
      </p:sp>
      <p:sp>
        <p:nvSpPr>
          <p:cNvPr id="15" name="Shape 10"/>
          <p:cNvSpPr/>
          <p:nvPr/>
        </p:nvSpPr>
        <p:spPr>
          <a:xfrm>
            <a:off x="480298" y="3644979"/>
            <a:ext cx="4023122" cy="1793796"/>
          </a:xfrm>
          <a:prstGeom prst="roundRect">
            <a:avLst>
              <a:gd name="adj" fmla="val 3213"/>
            </a:avLst>
          </a:prstGeom>
          <a:solidFill>
            <a:srgbClr val="DADBF1"/>
          </a:solidFill>
          <a:ln w="7620">
            <a:solidFill>
              <a:srgbClr val="C0C1D7"/>
            </a:solidFill>
            <a:prstDash val="solid"/>
          </a:ln>
        </p:spPr>
      </p:sp>
      <p:sp>
        <p:nvSpPr>
          <p:cNvPr id="16" name="Shape 11"/>
          <p:cNvSpPr/>
          <p:nvPr/>
        </p:nvSpPr>
        <p:spPr>
          <a:xfrm>
            <a:off x="625078" y="3789759"/>
            <a:ext cx="411718" cy="411718"/>
          </a:xfrm>
          <a:prstGeom prst="roundRect">
            <a:avLst>
              <a:gd name="adj" fmla="val 22207155"/>
            </a:avLst>
          </a:prstGeom>
          <a:solidFill>
            <a:srgbClr val="4950BC"/>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8307" y="3902869"/>
            <a:ext cx="185261" cy="185261"/>
          </a:xfrm>
          <a:prstGeom prst="rect">
            <a:avLst/>
          </a:prstGeom>
        </p:spPr>
      </p:pic>
      <p:sp>
        <p:nvSpPr>
          <p:cNvPr id="18" name="Text 12"/>
          <p:cNvSpPr/>
          <p:nvPr/>
        </p:nvSpPr>
        <p:spPr>
          <a:xfrm>
            <a:off x="625078" y="4338638"/>
            <a:ext cx="1715453" cy="214432"/>
          </a:xfrm>
          <a:prstGeom prst="rect">
            <a:avLst/>
          </a:prstGeom>
          <a:noFill/>
          <a:ln/>
        </p:spPr>
        <p:txBody>
          <a:bodyPr wrap="none" lIns="0" tIns="0" rIns="0" bIns="0" rtlCol="0" anchor="t"/>
          <a:lstStyle/>
          <a:p>
            <a:pPr algn="l" indent="0" marL="0">
              <a:lnSpc>
                <a:spcPts val="1650"/>
              </a:lnSpc>
              <a:buNone/>
            </a:pPr>
            <a:r>
              <a:rPr lang="en-US" sz="1350" b="1" dirty="0">
                <a:solidFill>
                  <a:srgbClr val="272525"/>
                </a:solidFill>
                <a:latin typeface="Inter Bold" pitchFamily="34" charset="0"/>
                <a:ea typeface="Inter Bold" pitchFamily="34" charset="-122"/>
                <a:cs typeface="Inter Bold" pitchFamily="34" charset="-120"/>
              </a:rPr>
              <a:t>Encrypted Cookies</a:t>
            </a:r>
            <a:endParaRPr lang="en-US" sz="1350" dirty="0"/>
          </a:p>
        </p:txBody>
      </p:sp>
      <p:sp>
        <p:nvSpPr>
          <p:cNvPr id="19" name="Text 13"/>
          <p:cNvSpPr/>
          <p:nvPr/>
        </p:nvSpPr>
        <p:spPr>
          <a:xfrm>
            <a:off x="625078" y="4635341"/>
            <a:ext cx="3733562" cy="658654"/>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Cookies, including session identifiers, are encrypted when sent over HTTPS, preventing session hijacking and protecting user privacy.</a:t>
            </a:r>
            <a:endParaRPr lang="en-US" sz="1050" dirty="0"/>
          </a:p>
        </p:txBody>
      </p:sp>
      <p:sp>
        <p:nvSpPr>
          <p:cNvPr id="20" name="Shape 14"/>
          <p:cNvSpPr/>
          <p:nvPr/>
        </p:nvSpPr>
        <p:spPr>
          <a:xfrm>
            <a:off x="4640580" y="3644979"/>
            <a:ext cx="4023122" cy="1793796"/>
          </a:xfrm>
          <a:prstGeom prst="roundRect">
            <a:avLst>
              <a:gd name="adj" fmla="val 3213"/>
            </a:avLst>
          </a:prstGeom>
          <a:solidFill>
            <a:srgbClr val="DADBF1"/>
          </a:solidFill>
          <a:ln w="7620">
            <a:solidFill>
              <a:srgbClr val="C0C1D7"/>
            </a:solidFill>
            <a:prstDash val="solid"/>
          </a:ln>
        </p:spPr>
      </p:sp>
      <p:sp>
        <p:nvSpPr>
          <p:cNvPr id="21" name="Shape 15"/>
          <p:cNvSpPr/>
          <p:nvPr/>
        </p:nvSpPr>
        <p:spPr>
          <a:xfrm>
            <a:off x="4785360" y="3789759"/>
            <a:ext cx="411718" cy="411718"/>
          </a:xfrm>
          <a:prstGeom prst="roundRect">
            <a:avLst>
              <a:gd name="adj" fmla="val 22207155"/>
            </a:avLst>
          </a:prstGeom>
          <a:solidFill>
            <a:srgbClr val="4950BC"/>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98588" y="3902869"/>
            <a:ext cx="185261" cy="185261"/>
          </a:xfrm>
          <a:prstGeom prst="rect">
            <a:avLst/>
          </a:prstGeom>
        </p:spPr>
      </p:pic>
      <p:sp>
        <p:nvSpPr>
          <p:cNvPr id="23" name="Text 16"/>
          <p:cNvSpPr/>
          <p:nvPr/>
        </p:nvSpPr>
        <p:spPr>
          <a:xfrm>
            <a:off x="4785360" y="4338638"/>
            <a:ext cx="1715453" cy="214432"/>
          </a:xfrm>
          <a:prstGeom prst="rect">
            <a:avLst/>
          </a:prstGeom>
          <a:noFill/>
          <a:ln/>
        </p:spPr>
        <p:txBody>
          <a:bodyPr wrap="none" lIns="0" tIns="0" rIns="0" bIns="0" rtlCol="0" anchor="t"/>
          <a:lstStyle/>
          <a:p>
            <a:pPr algn="l" indent="0" marL="0">
              <a:lnSpc>
                <a:spcPts val="1650"/>
              </a:lnSpc>
              <a:buNone/>
            </a:pPr>
            <a:r>
              <a:rPr lang="en-US" sz="1350" b="1" dirty="0">
                <a:solidFill>
                  <a:srgbClr val="272525"/>
                </a:solidFill>
                <a:latin typeface="Inter Bold" pitchFamily="34" charset="0"/>
                <a:ea typeface="Inter Bold" pitchFamily="34" charset="-122"/>
                <a:cs typeface="Inter Bold" pitchFamily="34" charset="-120"/>
              </a:rPr>
              <a:t>Secure Caching</a:t>
            </a:r>
            <a:endParaRPr lang="en-US" sz="1350" dirty="0"/>
          </a:p>
        </p:txBody>
      </p:sp>
      <p:sp>
        <p:nvSpPr>
          <p:cNvPr id="24" name="Text 17"/>
          <p:cNvSpPr/>
          <p:nvPr/>
        </p:nvSpPr>
        <p:spPr>
          <a:xfrm>
            <a:off x="4785360" y="4635341"/>
            <a:ext cx="3733562" cy="658654"/>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Caching still functions efficiently with HTTPS, but cached content remains secure and is verified through certificates, maintaining integrity.</a:t>
            </a:r>
            <a:endParaRPr lang="en-US" sz="1050" dirty="0"/>
          </a:p>
        </p:txBody>
      </p:sp>
      <p:sp>
        <p:nvSpPr>
          <p:cNvPr id="25" name="Shape 18"/>
          <p:cNvSpPr/>
          <p:nvPr/>
        </p:nvSpPr>
        <p:spPr>
          <a:xfrm>
            <a:off x="480298" y="5575935"/>
            <a:ext cx="8183404" cy="1574244"/>
          </a:xfrm>
          <a:prstGeom prst="roundRect">
            <a:avLst>
              <a:gd name="adj" fmla="val 3661"/>
            </a:avLst>
          </a:prstGeom>
          <a:solidFill>
            <a:srgbClr val="DADBF1"/>
          </a:solidFill>
          <a:ln w="7620">
            <a:solidFill>
              <a:srgbClr val="C0C1D7"/>
            </a:solidFill>
            <a:prstDash val="solid"/>
          </a:ln>
        </p:spPr>
      </p:sp>
      <p:sp>
        <p:nvSpPr>
          <p:cNvPr id="26" name="Shape 19"/>
          <p:cNvSpPr/>
          <p:nvPr/>
        </p:nvSpPr>
        <p:spPr>
          <a:xfrm>
            <a:off x="625078" y="5720715"/>
            <a:ext cx="411718" cy="411718"/>
          </a:xfrm>
          <a:prstGeom prst="roundRect">
            <a:avLst>
              <a:gd name="adj" fmla="val 22207155"/>
            </a:avLst>
          </a:prstGeom>
          <a:solidFill>
            <a:srgbClr val="4950BC"/>
          </a:solidFill>
          <a:ln/>
        </p:spPr>
      </p:sp>
      <p:pic>
        <p:nvPicPr>
          <p:cNvPr id="27"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8307" y="5833824"/>
            <a:ext cx="185261" cy="185261"/>
          </a:xfrm>
          <a:prstGeom prst="rect">
            <a:avLst/>
          </a:prstGeom>
        </p:spPr>
      </p:pic>
      <p:sp>
        <p:nvSpPr>
          <p:cNvPr id="28" name="Text 20"/>
          <p:cNvSpPr/>
          <p:nvPr/>
        </p:nvSpPr>
        <p:spPr>
          <a:xfrm>
            <a:off x="625078" y="6269593"/>
            <a:ext cx="1715453" cy="214432"/>
          </a:xfrm>
          <a:prstGeom prst="rect">
            <a:avLst/>
          </a:prstGeom>
          <a:noFill/>
          <a:ln/>
        </p:spPr>
        <p:txBody>
          <a:bodyPr wrap="none" lIns="0" tIns="0" rIns="0" bIns="0" rtlCol="0" anchor="t"/>
          <a:lstStyle/>
          <a:p>
            <a:pPr algn="l" indent="0" marL="0">
              <a:lnSpc>
                <a:spcPts val="1650"/>
              </a:lnSpc>
              <a:buNone/>
            </a:pPr>
            <a:r>
              <a:rPr lang="en-US" sz="1350" b="1" dirty="0">
                <a:solidFill>
                  <a:srgbClr val="272525"/>
                </a:solidFill>
                <a:latin typeface="Inter Bold" pitchFamily="34" charset="0"/>
                <a:ea typeface="Inter Bold" pitchFamily="34" charset="-122"/>
                <a:cs typeface="Inter Bold" pitchFamily="34" charset="-120"/>
              </a:rPr>
              <a:t>Wireshark Visibility</a:t>
            </a:r>
            <a:endParaRPr lang="en-US" sz="1350" dirty="0"/>
          </a:p>
        </p:txBody>
      </p:sp>
      <p:sp>
        <p:nvSpPr>
          <p:cNvPr id="29" name="Text 21"/>
          <p:cNvSpPr/>
          <p:nvPr/>
        </p:nvSpPr>
        <p:spPr>
          <a:xfrm>
            <a:off x="625078" y="6566297"/>
            <a:ext cx="7893844" cy="439102"/>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Unlike HTTP where all content is plaintext, HTTPS traffic appears as scrambled data in tools like Wireshark, safeguarding sensitive information from passive observation.</a:t>
            </a:r>
            <a:endParaRPr lang="en-US" sz="1050" dirty="0"/>
          </a:p>
        </p:txBody>
      </p:sp>
      <p:sp>
        <p:nvSpPr>
          <p:cNvPr id="30" name="Text 22"/>
          <p:cNvSpPr/>
          <p:nvPr/>
        </p:nvSpPr>
        <p:spPr>
          <a:xfrm>
            <a:off x="480298" y="7304484"/>
            <a:ext cx="8183404" cy="439102"/>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This integration of encryption elevates the security posture of the entire web communication stack, making HTTPS indispensable for modern online interactions.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2025-11-25T10:14:36Z</dcterms:created>
  <dcterms:modified xsi:type="dcterms:W3CDTF">2025-11-25T10:14:36Z</dcterms:modified>
</cp:coreProperties>
</file>