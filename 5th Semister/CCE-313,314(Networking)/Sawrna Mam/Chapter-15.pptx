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61" r:id="rId5"/>
    <p:sldMasterId id="2147483672" r:id="rId6"/>
    <p:sldMasterId id="2147483674"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 id="351" r:id="rId104"/>
    <p:sldId id="352" r:id="rId105"/>
    <p:sldId id="353" r:id="rId106"/>
    <p:sldId id="354" r:id="rId107"/>
    <p:sldId id="355" r:id="rId108"/>
    <p:sldId id="356" r:id="rId109"/>
    <p:sldId id="357" r:id="rId110"/>
    <p:sldId id="358" r:id="rId111"/>
    <p:sldId id="359" r:id="rId112"/>
    <p:sldId id="360" r:id="rId113"/>
    <p:sldId id="361" r:id="rId114"/>
    <p:sldId id="362" r:id="rId115"/>
    <p:sldId id="363" r:id="rId116"/>
    <p:sldId id="364" r:id="rId117"/>
    <p:sldId id="365" r:id="rId118"/>
    <p:sldId id="366" r:id="rId119"/>
    <p:sldId id="367" r:id="rId120"/>
    <p:sldId id="368" r:id="rId121"/>
    <p:sldId id="369" r:id="rId122"/>
    <p:sldId id="370" r:id="rId123"/>
    <p:sldId id="371" r:id="rId124"/>
    <p:sldId id="372" r:id="rId125"/>
    <p:sldId id="373" r:id="rId126"/>
    <p:sldId id="374" r:id="rId127"/>
    <p:sldId id="375" r:id="rId128"/>
    <p:sldId id="376" r:id="rId129"/>
    <p:sldId id="377" r:id="rId130"/>
    <p:sldId id="378" r:id="rId131"/>
    <p:sldId id="379" r:id="rId132"/>
    <p:sldId id="380" r:id="rId133"/>
    <p:sldId id="381" r:id="rId134"/>
    <p:sldId id="382" r:id="rId135"/>
    <p:sldId id="383" r:id="rId136"/>
    <p:sldId id="384" r:id="rId137"/>
    <p:sldId id="385" r:id="rId138"/>
    <p:sldId id="386" r:id="rId139"/>
    <p:sldId id="387" r:id="rId140"/>
  </p:sldIdLst>
  <p:sldSz cy="6858000" cx="9144000"/>
  <p:notesSz cx="6858000" cy="9144000"/>
  <p:embeddedFontLst>
    <p:embeddedFont>
      <p:font typeface="Arimo"/>
      <p:regular r:id="rId141"/>
      <p:bold r:id="rId142"/>
      <p:italic r:id="rId143"/>
      <p:boldItalic r:id="rId144"/>
    </p:embeddedFont>
    <p:embeddedFont>
      <p:font typeface="Tahoma"/>
      <p:regular r:id="rId145"/>
      <p:bold r:id="rId146"/>
    </p:embeddedFont>
    <p:embeddedFont>
      <p:font typeface="Noto Sans Symbols"/>
      <p:regular r:id="rId147"/>
      <p:bold r:id="rId1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http://customooxmlschemas.google.com/">
      <go:slidesCustomData xmlns:go="http://customooxmlschemas.google.com/" r:id="rId149" roundtripDataSignature="AMtx7mhxSLSDq462+quoJEG8Y5ngytsB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07" Type="http://schemas.openxmlformats.org/officeDocument/2006/relationships/slide" Target="slides/slide99.xml"/><Relationship Id="rId106" Type="http://schemas.openxmlformats.org/officeDocument/2006/relationships/slide" Target="slides/slide98.xml"/><Relationship Id="rId105" Type="http://schemas.openxmlformats.org/officeDocument/2006/relationships/slide" Target="slides/slide97.xml"/><Relationship Id="rId104" Type="http://schemas.openxmlformats.org/officeDocument/2006/relationships/slide" Target="slides/slide96.xml"/><Relationship Id="rId109" Type="http://schemas.openxmlformats.org/officeDocument/2006/relationships/slide" Target="slides/slide101.xml"/><Relationship Id="rId108" Type="http://schemas.openxmlformats.org/officeDocument/2006/relationships/slide" Target="slides/slide100.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103" Type="http://schemas.openxmlformats.org/officeDocument/2006/relationships/slide" Target="slides/slide95.xml"/><Relationship Id="rId102" Type="http://schemas.openxmlformats.org/officeDocument/2006/relationships/slide" Target="slides/slide94.xml"/><Relationship Id="rId101" Type="http://schemas.openxmlformats.org/officeDocument/2006/relationships/slide" Target="slides/slide93.xml"/><Relationship Id="rId100" Type="http://schemas.openxmlformats.org/officeDocument/2006/relationships/slide" Target="slides/slide92.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29" Type="http://schemas.openxmlformats.org/officeDocument/2006/relationships/slide" Target="slides/slide121.xml"/><Relationship Id="rId128" Type="http://schemas.openxmlformats.org/officeDocument/2006/relationships/slide" Target="slides/slide120.xml"/><Relationship Id="rId127" Type="http://schemas.openxmlformats.org/officeDocument/2006/relationships/slide" Target="slides/slide119.xml"/><Relationship Id="rId126" Type="http://schemas.openxmlformats.org/officeDocument/2006/relationships/slide" Target="slides/slide118.xml"/><Relationship Id="rId26" Type="http://schemas.openxmlformats.org/officeDocument/2006/relationships/slide" Target="slides/slide18.xml"/><Relationship Id="rId121" Type="http://schemas.openxmlformats.org/officeDocument/2006/relationships/slide" Target="slides/slide113.xml"/><Relationship Id="rId25" Type="http://schemas.openxmlformats.org/officeDocument/2006/relationships/slide" Target="slides/slide17.xml"/><Relationship Id="rId120" Type="http://schemas.openxmlformats.org/officeDocument/2006/relationships/slide" Target="slides/slide112.xml"/><Relationship Id="rId28" Type="http://schemas.openxmlformats.org/officeDocument/2006/relationships/slide" Target="slides/slide20.xml"/><Relationship Id="rId27" Type="http://schemas.openxmlformats.org/officeDocument/2006/relationships/slide" Target="slides/slide19.xml"/><Relationship Id="rId125" Type="http://schemas.openxmlformats.org/officeDocument/2006/relationships/slide" Target="slides/slide117.xml"/><Relationship Id="rId29" Type="http://schemas.openxmlformats.org/officeDocument/2006/relationships/slide" Target="slides/slide21.xml"/><Relationship Id="rId124" Type="http://schemas.openxmlformats.org/officeDocument/2006/relationships/slide" Target="slides/slide116.xml"/><Relationship Id="rId123" Type="http://schemas.openxmlformats.org/officeDocument/2006/relationships/slide" Target="slides/slide115.xml"/><Relationship Id="rId122" Type="http://schemas.openxmlformats.org/officeDocument/2006/relationships/slide" Target="slides/slide114.xml"/><Relationship Id="rId95" Type="http://schemas.openxmlformats.org/officeDocument/2006/relationships/slide" Target="slides/slide87.xml"/><Relationship Id="rId94" Type="http://schemas.openxmlformats.org/officeDocument/2006/relationships/slide" Target="slides/slide86.xml"/><Relationship Id="rId97" Type="http://schemas.openxmlformats.org/officeDocument/2006/relationships/slide" Target="slides/slide89.xml"/><Relationship Id="rId96" Type="http://schemas.openxmlformats.org/officeDocument/2006/relationships/slide" Target="slides/slide88.xml"/><Relationship Id="rId11" Type="http://schemas.openxmlformats.org/officeDocument/2006/relationships/slide" Target="slides/slide3.xml"/><Relationship Id="rId99" Type="http://schemas.openxmlformats.org/officeDocument/2006/relationships/slide" Target="slides/slide91.xml"/><Relationship Id="rId10" Type="http://schemas.openxmlformats.org/officeDocument/2006/relationships/slide" Target="slides/slide2.xml"/><Relationship Id="rId98" Type="http://schemas.openxmlformats.org/officeDocument/2006/relationships/slide" Target="slides/slide90.xml"/><Relationship Id="rId13" Type="http://schemas.openxmlformats.org/officeDocument/2006/relationships/slide" Target="slides/slide5.xml"/><Relationship Id="rId12" Type="http://schemas.openxmlformats.org/officeDocument/2006/relationships/slide" Target="slides/slide4.xml"/><Relationship Id="rId91" Type="http://schemas.openxmlformats.org/officeDocument/2006/relationships/slide" Target="slides/slide83.xml"/><Relationship Id="rId90" Type="http://schemas.openxmlformats.org/officeDocument/2006/relationships/slide" Target="slides/slide82.xml"/><Relationship Id="rId93" Type="http://schemas.openxmlformats.org/officeDocument/2006/relationships/slide" Target="slides/slide85.xml"/><Relationship Id="rId92" Type="http://schemas.openxmlformats.org/officeDocument/2006/relationships/slide" Target="slides/slide84.xml"/><Relationship Id="rId118" Type="http://schemas.openxmlformats.org/officeDocument/2006/relationships/slide" Target="slides/slide110.xml"/><Relationship Id="rId117" Type="http://schemas.openxmlformats.org/officeDocument/2006/relationships/slide" Target="slides/slide109.xml"/><Relationship Id="rId116" Type="http://schemas.openxmlformats.org/officeDocument/2006/relationships/slide" Target="slides/slide108.xml"/><Relationship Id="rId115" Type="http://schemas.openxmlformats.org/officeDocument/2006/relationships/slide" Target="slides/slide107.xml"/><Relationship Id="rId119" Type="http://schemas.openxmlformats.org/officeDocument/2006/relationships/slide" Target="slides/slide111.xml"/><Relationship Id="rId15" Type="http://schemas.openxmlformats.org/officeDocument/2006/relationships/slide" Target="slides/slide7.xml"/><Relationship Id="rId110" Type="http://schemas.openxmlformats.org/officeDocument/2006/relationships/slide" Target="slides/slide102.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14" Type="http://schemas.openxmlformats.org/officeDocument/2006/relationships/slide" Target="slides/slide106.xml"/><Relationship Id="rId18" Type="http://schemas.openxmlformats.org/officeDocument/2006/relationships/slide" Target="slides/slide10.xml"/><Relationship Id="rId113" Type="http://schemas.openxmlformats.org/officeDocument/2006/relationships/slide" Target="slides/slide105.xml"/><Relationship Id="rId112" Type="http://schemas.openxmlformats.org/officeDocument/2006/relationships/slide" Target="slides/slide104.xml"/><Relationship Id="rId111" Type="http://schemas.openxmlformats.org/officeDocument/2006/relationships/slide" Target="slides/slide103.xml"/><Relationship Id="rId84" Type="http://schemas.openxmlformats.org/officeDocument/2006/relationships/slide" Target="slides/slide76.xml"/><Relationship Id="rId83" Type="http://schemas.openxmlformats.org/officeDocument/2006/relationships/slide" Target="slides/slide75.xml"/><Relationship Id="rId86" Type="http://schemas.openxmlformats.org/officeDocument/2006/relationships/slide" Target="slides/slide78.xml"/><Relationship Id="rId85" Type="http://schemas.openxmlformats.org/officeDocument/2006/relationships/slide" Target="slides/slide77.xml"/><Relationship Id="rId88" Type="http://schemas.openxmlformats.org/officeDocument/2006/relationships/slide" Target="slides/slide80.xml"/><Relationship Id="rId87" Type="http://schemas.openxmlformats.org/officeDocument/2006/relationships/slide" Target="slides/slide79.xml"/><Relationship Id="rId89" Type="http://schemas.openxmlformats.org/officeDocument/2006/relationships/slide" Target="slides/slide81.xml"/><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149" Type="http://customschemas.google.com/relationships/presentationmetadata" Target="metadata"/><Relationship Id="rId4" Type="http://schemas.openxmlformats.org/officeDocument/2006/relationships/slideMaster" Target="slideMasters/slideMaster1.xml"/><Relationship Id="rId148" Type="http://schemas.openxmlformats.org/officeDocument/2006/relationships/font" Target="fonts/NotoSansSymbols-bold.fntdata"/><Relationship Id="rId9" Type="http://schemas.openxmlformats.org/officeDocument/2006/relationships/slide" Target="slides/slide1.xml"/><Relationship Id="rId143" Type="http://schemas.openxmlformats.org/officeDocument/2006/relationships/font" Target="fonts/Arimo-italic.fntdata"/><Relationship Id="rId142" Type="http://schemas.openxmlformats.org/officeDocument/2006/relationships/font" Target="fonts/Arimo-bold.fntdata"/><Relationship Id="rId141" Type="http://schemas.openxmlformats.org/officeDocument/2006/relationships/font" Target="fonts/Arimo-regular.fntdata"/><Relationship Id="rId140" Type="http://schemas.openxmlformats.org/officeDocument/2006/relationships/slide" Target="slides/slide132.xml"/><Relationship Id="rId5" Type="http://schemas.openxmlformats.org/officeDocument/2006/relationships/slideMaster" Target="slideMasters/slideMaster2.xml"/><Relationship Id="rId147" Type="http://schemas.openxmlformats.org/officeDocument/2006/relationships/font" Target="fonts/NotoSansSymbols-regular.fntdata"/><Relationship Id="rId6" Type="http://schemas.openxmlformats.org/officeDocument/2006/relationships/slideMaster" Target="slideMasters/slideMaster3.xml"/><Relationship Id="rId146" Type="http://schemas.openxmlformats.org/officeDocument/2006/relationships/font" Target="fonts/Tahoma-bold.fntdata"/><Relationship Id="rId7" Type="http://schemas.openxmlformats.org/officeDocument/2006/relationships/slideMaster" Target="slideMasters/slideMaster4.xml"/><Relationship Id="rId145" Type="http://schemas.openxmlformats.org/officeDocument/2006/relationships/font" Target="fonts/Tahoma-regular.fntdata"/><Relationship Id="rId8" Type="http://schemas.openxmlformats.org/officeDocument/2006/relationships/notesMaster" Target="notesMasters/notesMaster1.xml"/><Relationship Id="rId144" Type="http://schemas.openxmlformats.org/officeDocument/2006/relationships/font" Target="fonts/Arimo-boldItalic.fntdata"/><Relationship Id="rId73" Type="http://schemas.openxmlformats.org/officeDocument/2006/relationships/slide" Target="slides/slide65.xml"/><Relationship Id="rId72" Type="http://schemas.openxmlformats.org/officeDocument/2006/relationships/slide" Target="slides/slide64.xml"/><Relationship Id="rId75" Type="http://schemas.openxmlformats.org/officeDocument/2006/relationships/slide" Target="slides/slide67.xml"/><Relationship Id="rId74" Type="http://schemas.openxmlformats.org/officeDocument/2006/relationships/slide" Target="slides/slide66.xml"/><Relationship Id="rId77" Type="http://schemas.openxmlformats.org/officeDocument/2006/relationships/slide" Target="slides/slide69.xml"/><Relationship Id="rId76" Type="http://schemas.openxmlformats.org/officeDocument/2006/relationships/slide" Target="slides/slide68.xml"/><Relationship Id="rId79" Type="http://schemas.openxmlformats.org/officeDocument/2006/relationships/slide" Target="slides/slide71.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139" Type="http://schemas.openxmlformats.org/officeDocument/2006/relationships/slide" Target="slides/slide131.xml"/><Relationship Id="rId138" Type="http://schemas.openxmlformats.org/officeDocument/2006/relationships/slide" Target="slides/slide130.xml"/><Relationship Id="rId137" Type="http://schemas.openxmlformats.org/officeDocument/2006/relationships/slide" Target="slides/slide129.xml"/><Relationship Id="rId132" Type="http://schemas.openxmlformats.org/officeDocument/2006/relationships/slide" Target="slides/slide124.xml"/><Relationship Id="rId131" Type="http://schemas.openxmlformats.org/officeDocument/2006/relationships/slide" Target="slides/slide123.xml"/><Relationship Id="rId130" Type="http://schemas.openxmlformats.org/officeDocument/2006/relationships/slide" Target="slides/slide122.xml"/><Relationship Id="rId136" Type="http://schemas.openxmlformats.org/officeDocument/2006/relationships/slide" Target="slides/slide128.xml"/><Relationship Id="rId135" Type="http://schemas.openxmlformats.org/officeDocument/2006/relationships/slide" Target="slides/slide127.xml"/><Relationship Id="rId134" Type="http://schemas.openxmlformats.org/officeDocument/2006/relationships/slide" Target="slides/slide126.xml"/><Relationship Id="rId133" Type="http://schemas.openxmlformats.org/officeDocument/2006/relationships/slide" Target="slides/slide125.xml"/><Relationship Id="rId62" Type="http://schemas.openxmlformats.org/officeDocument/2006/relationships/slide" Target="slides/slide54.xml"/><Relationship Id="rId61" Type="http://schemas.openxmlformats.org/officeDocument/2006/relationships/slide" Target="slides/slide53.xml"/><Relationship Id="rId64" Type="http://schemas.openxmlformats.org/officeDocument/2006/relationships/slide" Target="slides/slide56.xml"/><Relationship Id="rId63" Type="http://schemas.openxmlformats.org/officeDocument/2006/relationships/slide" Target="slides/slide55.xml"/><Relationship Id="rId66" Type="http://schemas.openxmlformats.org/officeDocument/2006/relationships/slide" Target="slides/slide58.xml"/><Relationship Id="rId65" Type="http://schemas.openxmlformats.org/officeDocument/2006/relationships/slide" Target="slides/slide57.xml"/><Relationship Id="rId68" Type="http://schemas.openxmlformats.org/officeDocument/2006/relationships/slide" Target="slides/slide60.xml"/><Relationship Id="rId67" Type="http://schemas.openxmlformats.org/officeDocument/2006/relationships/slide" Target="slides/slide59.xml"/><Relationship Id="rId60" Type="http://schemas.openxmlformats.org/officeDocument/2006/relationships/slide" Target="slides/slide52.xml"/><Relationship Id="rId69" Type="http://schemas.openxmlformats.org/officeDocument/2006/relationships/slide" Target="slides/slide6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55" Type="http://schemas.openxmlformats.org/officeDocument/2006/relationships/slide" Target="slides/slide47.xml"/><Relationship Id="rId54" Type="http://schemas.openxmlformats.org/officeDocument/2006/relationships/slide" Target="slides/slide46.xml"/><Relationship Id="rId57" Type="http://schemas.openxmlformats.org/officeDocument/2006/relationships/slide" Target="slides/slide49.xml"/><Relationship Id="rId56" Type="http://schemas.openxmlformats.org/officeDocument/2006/relationships/slide" Target="slides/slide48.xml"/><Relationship Id="rId59" Type="http://schemas.openxmlformats.org/officeDocument/2006/relationships/slide" Target="slides/slide51.xml"/><Relationship Id="rId58"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
        <p:nvSpPr>
          <p:cNvPr id="251" name="Google Shape;25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2" name="Google Shape;252;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
        <p:nvSpPr>
          <p:cNvPr id="263" name="Google Shape;26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
        <p:nvSpPr>
          <p:cNvPr id="272" name="Google Shape;272;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81" name="Google Shape;281;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04" name="Google Shape;30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5" name="Google Shape;305;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15" name="Google Shape;31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25" name="Google Shape;32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 name="Google Shape;326;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41" name="Google Shape;34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2" name="Google Shape;342;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74" name="Google Shape;37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5" name="Google Shape;375;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90" name="Google Shape;39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1" name="Google Shape;391;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08" name="Google Shape;408;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9" name="Google Shape;409;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1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26" name="Google Shape;42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37" name="Google Shape;43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8" name="Google Shape;438;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1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47" name="Google Shape;44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67" name="Google Shape;467;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8" name="Google Shape;468;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1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79" name="Google Shape;47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0" name="Google Shape;480;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1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99" name="Google Shape;49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0" name="Google Shape;500;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19" name="Google Shape;51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0" name="Google Shape;520;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30" name="Google Shape;53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1" name="Google Shape;531;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2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40" name="Google Shape;540;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1" name="Google Shape;541;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2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57" name="Google Shape;557;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8" name="Google Shape;558;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2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73" name="Google Shape;573;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4" name="Google Shape;574;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2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91" name="Google Shape;591;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2" name="Google Shape;592;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2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611" name="Google Shape;611;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2" name="Google Shape;612;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2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630" name="Google Shape;630;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1" name="Google Shape;631;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2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641" name="Google Shape;641;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2" name="Google Shape;642;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2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651" name="Google Shape;651;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2" name="Google Shape;652;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2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678" name="Google Shape;678;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9" name="Google Shape;679;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2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698" name="Google Shape;698;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9" name="Google Shape;699;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3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718" name="Google Shape;718;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9" name="Google Shape;719;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3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738" name="Google Shape;738;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9" name="Google Shape;739;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3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758" name="Google Shape;758;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9" name="Google Shape;759;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3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774" name="Google Shape;774;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5" name="Google Shape;775;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3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794" name="Google Shape;794;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5" name="Google Shape;795;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3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814" name="Google Shape;814;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5" name="Google Shape;815;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3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830" name="Google Shape;830;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1" name="Google Shape;831;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3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841" name="Google Shape;841;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2" name="Google Shape;842;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3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851" name="Google Shape;851;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2" name="Google Shape;852;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3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867" name="Google Shape;867;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8" name="Google Shape;868;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4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887" name="Google Shape;887;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8" name="Google Shape;888;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4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18" name="Google Shape;918;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9" name="Google Shape;919;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4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35" name="Google Shape;935;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6" name="Google Shape;936;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p4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54" name="Google Shape;954;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5" name="Google Shape;955;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4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71" name="Google Shape;971;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2" name="Google Shape;972;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p4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89" name="Google Shape;989;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0" name="Google Shape;990;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4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05" name="Google Shape;1005;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6" name="Google Shape;1006;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p4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23" name="Google Shape;1023;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4" name="Google Shape;1024;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p4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39" name="Google Shape;1039;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0" name="Google Shape;1040;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4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55" name="Google Shape;1055;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6" name="Google Shape;1056;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p5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66" name="Google Shape;1066;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7" name="Google Shape;1067;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p5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76" name="Google Shape;1076;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7" name="Google Shape;1077;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p5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93" name="Google Shape;1093;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4" name="Google Shape;1094;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p5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09" name="Google Shape;1109;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0" name="Google Shape;1110;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p5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20" name="Google Shape;1120;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1" name="Google Shape;1121;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p5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30" name="Google Shape;1130;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1" name="Google Shape;1131;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p5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51" name="Google Shape;1151;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2" name="Google Shape;1152;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p5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67" name="Google Shape;1167;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8" name="Google Shape;1168;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p5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78" name="Google Shape;1178;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9" name="Google Shape;1179;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8" name="Google Shape;1198;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6" name="Google Shape;1206;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4" name="Google Shape;1214;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0" name="Shape 1220"/>
        <p:cNvGrpSpPr/>
        <p:nvPr/>
      </p:nvGrpSpPr>
      <p:grpSpPr>
        <a:xfrm>
          <a:off x="0" y="0"/>
          <a:ext cx="0" cy="0"/>
          <a:chOff x="0" y="0"/>
          <a:chExt cx="0" cy="0"/>
        </a:xfrm>
      </p:grpSpPr>
      <p:sp>
        <p:nvSpPr>
          <p:cNvPr id="1221" name="Google Shape;1221;p6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22" name="Google Shape;1222;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3" name="Google Shape;1223;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1" name="Shape 1231"/>
        <p:cNvGrpSpPr/>
        <p:nvPr/>
      </p:nvGrpSpPr>
      <p:grpSpPr>
        <a:xfrm>
          <a:off x="0" y="0"/>
          <a:ext cx="0" cy="0"/>
          <a:chOff x="0" y="0"/>
          <a:chExt cx="0" cy="0"/>
        </a:xfrm>
      </p:grpSpPr>
      <p:sp>
        <p:nvSpPr>
          <p:cNvPr id="1232" name="Google Shape;1232;p6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33" name="Google Shape;1233;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4" name="Google Shape;1234;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1" name="Shape 1241"/>
        <p:cNvGrpSpPr/>
        <p:nvPr/>
      </p:nvGrpSpPr>
      <p:grpSpPr>
        <a:xfrm>
          <a:off x="0" y="0"/>
          <a:ext cx="0" cy="0"/>
          <a:chOff x="0" y="0"/>
          <a:chExt cx="0" cy="0"/>
        </a:xfrm>
      </p:grpSpPr>
      <p:sp>
        <p:nvSpPr>
          <p:cNvPr id="1242" name="Google Shape;1242;p6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43" name="Google Shape;1243;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4" name="Google Shape;1244;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1" name="Shape 1261"/>
        <p:cNvGrpSpPr/>
        <p:nvPr/>
      </p:nvGrpSpPr>
      <p:grpSpPr>
        <a:xfrm>
          <a:off x="0" y="0"/>
          <a:ext cx="0" cy="0"/>
          <a:chOff x="0" y="0"/>
          <a:chExt cx="0" cy="0"/>
        </a:xfrm>
      </p:grpSpPr>
      <p:sp>
        <p:nvSpPr>
          <p:cNvPr id="1262" name="Google Shape;1262;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3" name="Google Shape;1263;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p6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71" name="Google Shape;1271;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2" name="Google Shape;1272;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p6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91" name="Google Shape;1291;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2" name="Google Shape;1292;p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p6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11" name="Google Shape;1311;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2" name="Google Shape;1312;p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p6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27" name="Google Shape;1327;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8" name="Google Shape;1328;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1" name="Shape 1341"/>
        <p:cNvGrpSpPr/>
        <p:nvPr/>
      </p:nvGrpSpPr>
      <p:grpSpPr>
        <a:xfrm>
          <a:off x="0" y="0"/>
          <a:ext cx="0" cy="0"/>
          <a:chOff x="0" y="0"/>
          <a:chExt cx="0" cy="0"/>
        </a:xfrm>
      </p:grpSpPr>
      <p:sp>
        <p:nvSpPr>
          <p:cNvPr id="1342" name="Google Shape;1342;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3" name="Google Shape;1343;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9" name="Shape 1349"/>
        <p:cNvGrpSpPr/>
        <p:nvPr/>
      </p:nvGrpSpPr>
      <p:grpSpPr>
        <a:xfrm>
          <a:off x="0" y="0"/>
          <a:ext cx="0" cy="0"/>
          <a:chOff x="0" y="0"/>
          <a:chExt cx="0" cy="0"/>
        </a:xfrm>
      </p:grpSpPr>
      <p:sp>
        <p:nvSpPr>
          <p:cNvPr id="1350" name="Google Shape;1350;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1" name="Google Shape;1351;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7" name="Shape 1357"/>
        <p:cNvGrpSpPr/>
        <p:nvPr/>
      </p:nvGrpSpPr>
      <p:grpSpPr>
        <a:xfrm>
          <a:off x="0" y="0"/>
          <a:ext cx="0" cy="0"/>
          <a:chOff x="0" y="0"/>
          <a:chExt cx="0" cy="0"/>
        </a:xfrm>
      </p:grpSpPr>
      <p:sp>
        <p:nvSpPr>
          <p:cNvPr id="1358" name="Google Shape;1358;p7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59" name="Google Shape;1359;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0" name="Google Shape;1360;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3" name="Shape 1373"/>
        <p:cNvGrpSpPr/>
        <p:nvPr/>
      </p:nvGrpSpPr>
      <p:grpSpPr>
        <a:xfrm>
          <a:off x="0" y="0"/>
          <a:ext cx="0" cy="0"/>
          <a:chOff x="0" y="0"/>
          <a:chExt cx="0" cy="0"/>
        </a:xfrm>
      </p:grpSpPr>
      <p:sp>
        <p:nvSpPr>
          <p:cNvPr id="1374" name="Google Shape;1374;p7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75" name="Google Shape;1375;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6" name="Google Shape;1376;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9" name="Shape 1389"/>
        <p:cNvGrpSpPr/>
        <p:nvPr/>
      </p:nvGrpSpPr>
      <p:grpSpPr>
        <a:xfrm>
          <a:off x="0" y="0"/>
          <a:ext cx="0" cy="0"/>
          <a:chOff x="0" y="0"/>
          <a:chExt cx="0" cy="0"/>
        </a:xfrm>
      </p:grpSpPr>
      <p:sp>
        <p:nvSpPr>
          <p:cNvPr id="1390" name="Google Shape;1390;p7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91" name="Google Shape;1391;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2" name="Google Shape;1392;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9" name="Shape 1409"/>
        <p:cNvGrpSpPr/>
        <p:nvPr/>
      </p:nvGrpSpPr>
      <p:grpSpPr>
        <a:xfrm>
          <a:off x="0" y="0"/>
          <a:ext cx="0" cy="0"/>
          <a:chOff x="0" y="0"/>
          <a:chExt cx="0" cy="0"/>
        </a:xfrm>
      </p:grpSpPr>
      <p:sp>
        <p:nvSpPr>
          <p:cNvPr id="1410" name="Google Shape;1410;p7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411" name="Google Shape;1411;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2" name="Google Shape;1412;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p7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432" name="Google Shape;1432;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3" name="Google Shape;1433;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6" name="Shape 1446"/>
        <p:cNvGrpSpPr/>
        <p:nvPr/>
      </p:nvGrpSpPr>
      <p:grpSpPr>
        <a:xfrm>
          <a:off x="0" y="0"/>
          <a:ext cx="0" cy="0"/>
          <a:chOff x="0" y="0"/>
          <a:chExt cx="0" cy="0"/>
        </a:xfrm>
      </p:grpSpPr>
      <p:sp>
        <p:nvSpPr>
          <p:cNvPr id="1447" name="Google Shape;1447;p7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448" name="Google Shape;1448;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9" name="Google Shape;1449;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 name="Shape 1462"/>
        <p:cNvGrpSpPr/>
        <p:nvPr/>
      </p:nvGrpSpPr>
      <p:grpSpPr>
        <a:xfrm>
          <a:off x="0" y="0"/>
          <a:ext cx="0" cy="0"/>
          <a:chOff x="0" y="0"/>
          <a:chExt cx="0" cy="0"/>
        </a:xfrm>
      </p:grpSpPr>
      <p:sp>
        <p:nvSpPr>
          <p:cNvPr id="1463" name="Google Shape;1463;p7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464" name="Google Shape;1464;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5" name="Google Shape;1465;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2" name="Shape 1482"/>
        <p:cNvGrpSpPr/>
        <p:nvPr/>
      </p:nvGrpSpPr>
      <p:grpSpPr>
        <a:xfrm>
          <a:off x="0" y="0"/>
          <a:ext cx="0" cy="0"/>
          <a:chOff x="0" y="0"/>
          <a:chExt cx="0" cy="0"/>
        </a:xfrm>
      </p:grpSpPr>
      <p:sp>
        <p:nvSpPr>
          <p:cNvPr id="1483" name="Google Shape;1483;p7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484" name="Google Shape;1484;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5" name="Google Shape;1485;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3" name="Shape 1493"/>
        <p:cNvGrpSpPr/>
        <p:nvPr/>
      </p:nvGrpSpPr>
      <p:grpSpPr>
        <a:xfrm>
          <a:off x="0" y="0"/>
          <a:ext cx="0" cy="0"/>
          <a:chOff x="0" y="0"/>
          <a:chExt cx="0" cy="0"/>
        </a:xfrm>
      </p:grpSpPr>
      <p:sp>
        <p:nvSpPr>
          <p:cNvPr id="1494" name="Google Shape;1494;p8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495" name="Google Shape;1495;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6" name="Google Shape;1496;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p8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505" name="Google Shape;1505;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6" name="Google Shape;1506;p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9" name="Shape 1529"/>
        <p:cNvGrpSpPr/>
        <p:nvPr/>
      </p:nvGrpSpPr>
      <p:grpSpPr>
        <a:xfrm>
          <a:off x="0" y="0"/>
          <a:ext cx="0" cy="0"/>
          <a:chOff x="0" y="0"/>
          <a:chExt cx="0" cy="0"/>
        </a:xfrm>
      </p:grpSpPr>
      <p:sp>
        <p:nvSpPr>
          <p:cNvPr id="1530" name="Google Shape;1530;p8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531" name="Google Shape;1531;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2" name="Google Shape;1532;p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9" name="Shape 1549"/>
        <p:cNvGrpSpPr/>
        <p:nvPr/>
      </p:nvGrpSpPr>
      <p:grpSpPr>
        <a:xfrm>
          <a:off x="0" y="0"/>
          <a:ext cx="0" cy="0"/>
          <a:chOff x="0" y="0"/>
          <a:chExt cx="0" cy="0"/>
        </a:xfrm>
      </p:grpSpPr>
      <p:sp>
        <p:nvSpPr>
          <p:cNvPr id="1550" name="Google Shape;1550;p8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551" name="Google Shape;1551;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2" name="Google Shape;1552;p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5" name="Shape 1565"/>
        <p:cNvGrpSpPr/>
        <p:nvPr/>
      </p:nvGrpSpPr>
      <p:grpSpPr>
        <a:xfrm>
          <a:off x="0" y="0"/>
          <a:ext cx="0" cy="0"/>
          <a:chOff x="0" y="0"/>
          <a:chExt cx="0" cy="0"/>
        </a:xfrm>
      </p:grpSpPr>
      <p:sp>
        <p:nvSpPr>
          <p:cNvPr id="1566" name="Google Shape;1566;p8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567" name="Google Shape;1567;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8" name="Google Shape;1568;p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5" name="Shape 1585"/>
        <p:cNvGrpSpPr/>
        <p:nvPr/>
      </p:nvGrpSpPr>
      <p:grpSpPr>
        <a:xfrm>
          <a:off x="0" y="0"/>
          <a:ext cx="0" cy="0"/>
          <a:chOff x="0" y="0"/>
          <a:chExt cx="0" cy="0"/>
        </a:xfrm>
      </p:grpSpPr>
      <p:sp>
        <p:nvSpPr>
          <p:cNvPr id="1586" name="Google Shape;1586;p8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587" name="Google Shape;1587;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8" name="Google Shape;1588;p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1" name="Shape 1601"/>
        <p:cNvGrpSpPr/>
        <p:nvPr/>
      </p:nvGrpSpPr>
      <p:grpSpPr>
        <a:xfrm>
          <a:off x="0" y="0"/>
          <a:ext cx="0" cy="0"/>
          <a:chOff x="0" y="0"/>
          <a:chExt cx="0" cy="0"/>
        </a:xfrm>
      </p:grpSpPr>
      <p:sp>
        <p:nvSpPr>
          <p:cNvPr id="1602" name="Google Shape;1602;p8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603" name="Google Shape;1603;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4" name="Google Shape;1604;p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7" name="Shape 1617"/>
        <p:cNvGrpSpPr/>
        <p:nvPr/>
      </p:nvGrpSpPr>
      <p:grpSpPr>
        <a:xfrm>
          <a:off x="0" y="0"/>
          <a:ext cx="0" cy="0"/>
          <a:chOff x="0" y="0"/>
          <a:chExt cx="0" cy="0"/>
        </a:xfrm>
      </p:grpSpPr>
      <p:sp>
        <p:nvSpPr>
          <p:cNvPr id="1618" name="Google Shape;1618;p8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619" name="Google Shape;1619;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0" name="Google Shape;1620;p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8" name="Shape 1628"/>
        <p:cNvGrpSpPr/>
        <p:nvPr/>
      </p:nvGrpSpPr>
      <p:grpSpPr>
        <a:xfrm>
          <a:off x="0" y="0"/>
          <a:ext cx="0" cy="0"/>
          <a:chOff x="0" y="0"/>
          <a:chExt cx="0" cy="0"/>
        </a:xfrm>
      </p:grpSpPr>
      <p:sp>
        <p:nvSpPr>
          <p:cNvPr id="1629" name="Google Shape;1629;p8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630" name="Google Shape;1630;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1" name="Google Shape;1631;p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8" name="Shape 1638"/>
        <p:cNvGrpSpPr/>
        <p:nvPr/>
      </p:nvGrpSpPr>
      <p:grpSpPr>
        <a:xfrm>
          <a:off x="0" y="0"/>
          <a:ext cx="0" cy="0"/>
          <a:chOff x="0" y="0"/>
          <a:chExt cx="0" cy="0"/>
        </a:xfrm>
      </p:grpSpPr>
      <p:sp>
        <p:nvSpPr>
          <p:cNvPr id="1639" name="Google Shape;1639;p8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640" name="Google Shape;1640;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1" name="Google Shape;1641;p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4" name="Shape 1654"/>
        <p:cNvGrpSpPr/>
        <p:nvPr/>
      </p:nvGrpSpPr>
      <p:grpSpPr>
        <a:xfrm>
          <a:off x="0" y="0"/>
          <a:ext cx="0" cy="0"/>
          <a:chOff x="0" y="0"/>
          <a:chExt cx="0" cy="0"/>
        </a:xfrm>
      </p:grpSpPr>
      <p:sp>
        <p:nvSpPr>
          <p:cNvPr id="1655" name="Google Shape;1655;p9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656" name="Google Shape;1656;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7" name="Google Shape;1657;p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5" name="Shape 1675"/>
        <p:cNvGrpSpPr/>
        <p:nvPr/>
      </p:nvGrpSpPr>
      <p:grpSpPr>
        <a:xfrm>
          <a:off x="0" y="0"/>
          <a:ext cx="0" cy="0"/>
          <a:chOff x="0" y="0"/>
          <a:chExt cx="0" cy="0"/>
        </a:xfrm>
      </p:grpSpPr>
      <p:sp>
        <p:nvSpPr>
          <p:cNvPr id="1676" name="Google Shape;1676;p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7" name="Google Shape;1677;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3" name="Shape 1683"/>
        <p:cNvGrpSpPr/>
        <p:nvPr/>
      </p:nvGrpSpPr>
      <p:grpSpPr>
        <a:xfrm>
          <a:off x="0" y="0"/>
          <a:ext cx="0" cy="0"/>
          <a:chOff x="0" y="0"/>
          <a:chExt cx="0" cy="0"/>
        </a:xfrm>
      </p:grpSpPr>
      <p:sp>
        <p:nvSpPr>
          <p:cNvPr id="1684" name="Google Shape;1684;p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5" name="Google Shape;1685;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1" name="Shape 1691"/>
        <p:cNvGrpSpPr/>
        <p:nvPr/>
      </p:nvGrpSpPr>
      <p:grpSpPr>
        <a:xfrm>
          <a:off x="0" y="0"/>
          <a:ext cx="0" cy="0"/>
          <a:chOff x="0" y="0"/>
          <a:chExt cx="0" cy="0"/>
        </a:xfrm>
      </p:grpSpPr>
      <p:sp>
        <p:nvSpPr>
          <p:cNvPr id="1692" name="Google Shape;1692;p9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693" name="Google Shape;1693;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4" name="Google Shape;1694;p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5" name="Shape 1705"/>
        <p:cNvGrpSpPr/>
        <p:nvPr/>
      </p:nvGrpSpPr>
      <p:grpSpPr>
        <a:xfrm>
          <a:off x="0" y="0"/>
          <a:ext cx="0" cy="0"/>
          <a:chOff x="0" y="0"/>
          <a:chExt cx="0" cy="0"/>
        </a:xfrm>
      </p:grpSpPr>
      <p:sp>
        <p:nvSpPr>
          <p:cNvPr id="1706" name="Google Shape;1706;p9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707" name="Google Shape;1707;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8" name="Google Shape;1708;p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7" name="Shape 1717"/>
        <p:cNvGrpSpPr/>
        <p:nvPr/>
      </p:nvGrpSpPr>
      <p:grpSpPr>
        <a:xfrm>
          <a:off x="0" y="0"/>
          <a:ext cx="0" cy="0"/>
          <a:chOff x="0" y="0"/>
          <a:chExt cx="0" cy="0"/>
        </a:xfrm>
      </p:grpSpPr>
      <p:sp>
        <p:nvSpPr>
          <p:cNvPr id="1718" name="Google Shape;1718;p9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719" name="Google Shape;1719;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0" name="Google Shape;1720;p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3" name="Shape 1733"/>
        <p:cNvGrpSpPr/>
        <p:nvPr/>
      </p:nvGrpSpPr>
      <p:grpSpPr>
        <a:xfrm>
          <a:off x="0" y="0"/>
          <a:ext cx="0" cy="0"/>
          <a:chOff x="0" y="0"/>
          <a:chExt cx="0" cy="0"/>
        </a:xfrm>
      </p:grpSpPr>
      <p:sp>
        <p:nvSpPr>
          <p:cNvPr id="1734" name="Google Shape;1734;p9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735" name="Google Shape;1735;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6" name="Google Shape;1736;p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3" name="Shape 1753"/>
        <p:cNvGrpSpPr/>
        <p:nvPr/>
      </p:nvGrpSpPr>
      <p:grpSpPr>
        <a:xfrm>
          <a:off x="0" y="0"/>
          <a:ext cx="0" cy="0"/>
          <a:chOff x="0" y="0"/>
          <a:chExt cx="0" cy="0"/>
        </a:xfrm>
      </p:grpSpPr>
      <p:sp>
        <p:nvSpPr>
          <p:cNvPr id="1754" name="Google Shape;1754;p9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755" name="Google Shape;1755;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6" name="Google Shape;1756;p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4" name="Shape 1764"/>
        <p:cNvGrpSpPr/>
        <p:nvPr/>
      </p:nvGrpSpPr>
      <p:grpSpPr>
        <a:xfrm>
          <a:off x="0" y="0"/>
          <a:ext cx="0" cy="0"/>
          <a:chOff x="0" y="0"/>
          <a:chExt cx="0" cy="0"/>
        </a:xfrm>
      </p:grpSpPr>
      <p:sp>
        <p:nvSpPr>
          <p:cNvPr id="1765" name="Google Shape;1765;p9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766" name="Google Shape;1766;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7" name="Google Shape;1767;p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0" name="Shape 1780"/>
        <p:cNvGrpSpPr/>
        <p:nvPr/>
      </p:nvGrpSpPr>
      <p:grpSpPr>
        <a:xfrm>
          <a:off x="0" y="0"/>
          <a:ext cx="0" cy="0"/>
          <a:chOff x="0" y="0"/>
          <a:chExt cx="0" cy="0"/>
        </a:xfrm>
      </p:grpSpPr>
      <p:sp>
        <p:nvSpPr>
          <p:cNvPr id="1781" name="Google Shape;1781;p9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782" name="Google Shape;1782;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3" name="Google Shape;1783;p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1" name="Shape 1791"/>
        <p:cNvGrpSpPr/>
        <p:nvPr/>
      </p:nvGrpSpPr>
      <p:grpSpPr>
        <a:xfrm>
          <a:off x="0" y="0"/>
          <a:ext cx="0" cy="0"/>
          <a:chOff x="0" y="0"/>
          <a:chExt cx="0" cy="0"/>
        </a:xfrm>
      </p:grpSpPr>
      <p:sp>
        <p:nvSpPr>
          <p:cNvPr id="1792" name="Google Shape;1792;p10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793" name="Google Shape;1793;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4" name="Google Shape;1794;p1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7" name="Shape 1807"/>
        <p:cNvGrpSpPr/>
        <p:nvPr/>
      </p:nvGrpSpPr>
      <p:grpSpPr>
        <a:xfrm>
          <a:off x="0" y="0"/>
          <a:ext cx="0" cy="0"/>
          <a:chOff x="0" y="0"/>
          <a:chExt cx="0" cy="0"/>
        </a:xfrm>
      </p:grpSpPr>
      <p:sp>
        <p:nvSpPr>
          <p:cNvPr id="1808" name="Google Shape;1808;p10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809" name="Google Shape;1809;p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0" name="Google Shape;1810;p1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3" name="Shape 1823"/>
        <p:cNvGrpSpPr/>
        <p:nvPr/>
      </p:nvGrpSpPr>
      <p:grpSpPr>
        <a:xfrm>
          <a:off x="0" y="0"/>
          <a:ext cx="0" cy="0"/>
          <a:chOff x="0" y="0"/>
          <a:chExt cx="0" cy="0"/>
        </a:xfrm>
      </p:grpSpPr>
      <p:sp>
        <p:nvSpPr>
          <p:cNvPr id="1824" name="Google Shape;1824;p10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825" name="Google Shape;1825;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6" name="Google Shape;1826;p10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3" name="Shape 1843"/>
        <p:cNvGrpSpPr/>
        <p:nvPr/>
      </p:nvGrpSpPr>
      <p:grpSpPr>
        <a:xfrm>
          <a:off x="0" y="0"/>
          <a:ext cx="0" cy="0"/>
          <a:chOff x="0" y="0"/>
          <a:chExt cx="0" cy="0"/>
        </a:xfrm>
      </p:grpSpPr>
      <p:sp>
        <p:nvSpPr>
          <p:cNvPr id="1844" name="Google Shape;1844;p10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845" name="Google Shape;1845;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6" name="Google Shape;1846;p1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9" name="Shape 1859"/>
        <p:cNvGrpSpPr/>
        <p:nvPr/>
      </p:nvGrpSpPr>
      <p:grpSpPr>
        <a:xfrm>
          <a:off x="0" y="0"/>
          <a:ext cx="0" cy="0"/>
          <a:chOff x="0" y="0"/>
          <a:chExt cx="0" cy="0"/>
        </a:xfrm>
      </p:grpSpPr>
      <p:sp>
        <p:nvSpPr>
          <p:cNvPr id="1860" name="Google Shape;1860;p10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861" name="Google Shape;1861;p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2" name="Google Shape;1862;p1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9" name="Shape 1879"/>
        <p:cNvGrpSpPr/>
        <p:nvPr/>
      </p:nvGrpSpPr>
      <p:grpSpPr>
        <a:xfrm>
          <a:off x="0" y="0"/>
          <a:ext cx="0" cy="0"/>
          <a:chOff x="0" y="0"/>
          <a:chExt cx="0" cy="0"/>
        </a:xfrm>
      </p:grpSpPr>
      <p:sp>
        <p:nvSpPr>
          <p:cNvPr id="1880" name="Google Shape;1880;p10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881" name="Google Shape;1881;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2" name="Google Shape;1882;p1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5" name="Shape 1895"/>
        <p:cNvGrpSpPr/>
        <p:nvPr/>
      </p:nvGrpSpPr>
      <p:grpSpPr>
        <a:xfrm>
          <a:off x="0" y="0"/>
          <a:ext cx="0" cy="0"/>
          <a:chOff x="0" y="0"/>
          <a:chExt cx="0" cy="0"/>
        </a:xfrm>
      </p:grpSpPr>
      <p:sp>
        <p:nvSpPr>
          <p:cNvPr id="1896" name="Google Shape;1896;p10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897" name="Google Shape;1897;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8" name="Google Shape;1898;p1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5" name="Shape 1915"/>
        <p:cNvGrpSpPr/>
        <p:nvPr/>
      </p:nvGrpSpPr>
      <p:grpSpPr>
        <a:xfrm>
          <a:off x="0" y="0"/>
          <a:ext cx="0" cy="0"/>
          <a:chOff x="0" y="0"/>
          <a:chExt cx="0" cy="0"/>
        </a:xfrm>
      </p:grpSpPr>
      <p:sp>
        <p:nvSpPr>
          <p:cNvPr id="1916" name="Google Shape;1916;p10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917" name="Google Shape;1917;p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8" name="Google Shape;1918;p1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1" name="Shape 1931"/>
        <p:cNvGrpSpPr/>
        <p:nvPr/>
      </p:nvGrpSpPr>
      <p:grpSpPr>
        <a:xfrm>
          <a:off x="0" y="0"/>
          <a:ext cx="0" cy="0"/>
          <a:chOff x="0" y="0"/>
          <a:chExt cx="0" cy="0"/>
        </a:xfrm>
      </p:grpSpPr>
      <p:sp>
        <p:nvSpPr>
          <p:cNvPr id="1932" name="Google Shape;1932;p10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933" name="Google Shape;1933;p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4" name="Google Shape;1934;p1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1" name="Shape 1951"/>
        <p:cNvGrpSpPr/>
        <p:nvPr/>
      </p:nvGrpSpPr>
      <p:grpSpPr>
        <a:xfrm>
          <a:off x="0" y="0"/>
          <a:ext cx="0" cy="0"/>
          <a:chOff x="0" y="0"/>
          <a:chExt cx="0" cy="0"/>
        </a:xfrm>
      </p:grpSpPr>
      <p:sp>
        <p:nvSpPr>
          <p:cNvPr id="1952" name="Google Shape;1952;p10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953" name="Google Shape;1953;p1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4" name="Google Shape;1954;p1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7" name="Shape 1967"/>
        <p:cNvGrpSpPr/>
        <p:nvPr/>
      </p:nvGrpSpPr>
      <p:grpSpPr>
        <a:xfrm>
          <a:off x="0" y="0"/>
          <a:ext cx="0" cy="0"/>
          <a:chOff x="0" y="0"/>
          <a:chExt cx="0" cy="0"/>
        </a:xfrm>
      </p:grpSpPr>
      <p:sp>
        <p:nvSpPr>
          <p:cNvPr id="1968" name="Google Shape;1968;p11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969" name="Google Shape;1969;p1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0" name="Google Shape;1970;p1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7" name="Shape 1987"/>
        <p:cNvGrpSpPr/>
        <p:nvPr/>
      </p:nvGrpSpPr>
      <p:grpSpPr>
        <a:xfrm>
          <a:off x="0" y="0"/>
          <a:ext cx="0" cy="0"/>
          <a:chOff x="0" y="0"/>
          <a:chExt cx="0" cy="0"/>
        </a:xfrm>
      </p:grpSpPr>
      <p:sp>
        <p:nvSpPr>
          <p:cNvPr id="1988" name="Google Shape;1988;p1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989" name="Google Shape;1989;p1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90" name="Google Shape;1990;p1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8" name="Shape 1998"/>
        <p:cNvGrpSpPr/>
        <p:nvPr/>
      </p:nvGrpSpPr>
      <p:grpSpPr>
        <a:xfrm>
          <a:off x="0" y="0"/>
          <a:ext cx="0" cy="0"/>
          <a:chOff x="0" y="0"/>
          <a:chExt cx="0" cy="0"/>
        </a:xfrm>
      </p:grpSpPr>
      <p:sp>
        <p:nvSpPr>
          <p:cNvPr id="1999" name="Google Shape;1999;p11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000" name="Google Shape;2000;p1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1" name="Google Shape;2001;p1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4" name="Shape 2014"/>
        <p:cNvGrpSpPr/>
        <p:nvPr/>
      </p:nvGrpSpPr>
      <p:grpSpPr>
        <a:xfrm>
          <a:off x="0" y="0"/>
          <a:ext cx="0" cy="0"/>
          <a:chOff x="0" y="0"/>
          <a:chExt cx="0" cy="0"/>
        </a:xfrm>
      </p:grpSpPr>
      <p:sp>
        <p:nvSpPr>
          <p:cNvPr id="2015" name="Google Shape;2015;p11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016" name="Google Shape;2016;p1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7" name="Google Shape;2017;p1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4" name="Shape 2034"/>
        <p:cNvGrpSpPr/>
        <p:nvPr/>
      </p:nvGrpSpPr>
      <p:grpSpPr>
        <a:xfrm>
          <a:off x="0" y="0"/>
          <a:ext cx="0" cy="0"/>
          <a:chOff x="0" y="0"/>
          <a:chExt cx="0" cy="0"/>
        </a:xfrm>
      </p:grpSpPr>
      <p:sp>
        <p:nvSpPr>
          <p:cNvPr id="2035" name="Google Shape;2035;p11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036" name="Google Shape;2036;p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7" name="Google Shape;2037;p1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0" name="Shape 2050"/>
        <p:cNvGrpSpPr/>
        <p:nvPr/>
      </p:nvGrpSpPr>
      <p:grpSpPr>
        <a:xfrm>
          <a:off x="0" y="0"/>
          <a:ext cx="0" cy="0"/>
          <a:chOff x="0" y="0"/>
          <a:chExt cx="0" cy="0"/>
        </a:xfrm>
      </p:grpSpPr>
      <p:sp>
        <p:nvSpPr>
          <p:cNvPr id="2051" name="Google Shape;2051;p1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052" name="Google Shape;2052;p1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3" name="Google Shape;2053;p1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1" name="Shape 2061"/>
        <p:cNvGrpSpPr/>
        <p:nvPr/>
      </p:nvGrpSpPr>
      <p:grpSpPr>
        <a:xfrm>
          <a:off x="0" y="0"/>
          <a:ext cx="0" cy="0"/>
          <a:chOff x="0" y="0"/>
          <a:chExt cx="0" cy="0"/>
        </a:xfrm>
      </p:grpSpPr>
      <p:sp>
        <p:nvSpPr>
          <p:cNvPr id="2062" name="Google Shape;2062;p11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063" name="Google Shape;2063;p1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4" name="Google Shape;2064;p1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7" name="Shape 2077"/>
        <p:cNvGrpSpPr/>
        <p:nvPr/>
      </p:nvGrpSpPr>
      <p:grpSpPr>
        <a:xfrm>
          <a:off x="0" y="0"/>
          <a:ext cx="0" cy="0"/>
          <a:chOff x="0" y="0"/>
          <a:chExt cx="0" cy="0"/>
        </a:xfrm>
      </p:grpSpPr>
      <p:sp>
        <p:nvSpPr>
          <p:cNvPr id="2078" name="Google Shape;2078;p11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079" name="Google Shape;2079;p1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0" name="Google Shape;2080;p1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8" name="Shape 2088"/>
        <p:cNvGrpSpPr/>
        <p:nvPr/>
      </p:nvGrpSpPr>
      <p:grpSpPr>
        <a:xfrm>
          <a:off x="0" y="0"/>
          <a:ext cx="0" cy="0"/>
          <a:chOff x="0" y="0"/>
          <a:chExt cx="0" cy="0"/>
        </a:xfrm>
      </p:grpSpPr>
      <p:sp>
        <p:nvSpPr>
          <p:cNvPr id="2089" name="Google Shape;2089;p1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090" name="Google Shape;2090;p1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1" name="Google Shape;2091;p1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4" name="Shape 2104"/>
        <p:cNvGrpSpPr/>
        <p:nvPr/>
      </p:nvGrpSpPr>
      <p:grpSpPr>
        <a:xfrm>
          <a:off x="0" y="0"/>
          <a:ext cx="0" cy="0"/>
          <a:chOff x="0" y="0"/>
          <a:chExt cx="0" cy="0"/>
        </a:xfrm>
      </p:grpSpPr>
      <p:sp>
        <p:nvSpPr>
          <p:cNvPr id="2105" name="Google Shape;2105;p1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106" name="Google Shape;2106;p1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7" name="Google Shape;2107;p1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5" name="Shape 2115"/>
        <p:cNvGrpSpPr/>
        <p:nvPr/>
      </p:nvGrpSpPr>
      <p:grpSpPr>
        <a:xfrm>
          <a:off x="0" y="0"/>
          <a:ext cx="0" cy="0"/>
          <a:chOff x="0" y="0"/>
          <a:chExt cx="0" cy="0"/>
        </a:xfrm>
      </p:grpSpPr>
      <p:sp>
        <p:nvSpPr>
          <p:cNvPr id="2116" name="Google Shape;2116;p12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117" name="Google Shape;2117;p1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8" name="Google Shape;2118;p1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1" name="Shape 2131"/>
        <p:cNvGrpSpPr/>
        <p:nvPr/>
      </p:nvGrpSpPr>
      <p:grpSpPr>
        <a:xfrm>
          <a:off x="0" y="0"/>
          <a:ext cx="0" cy="0"/>
          <a:chOff x="0" y="0"/>
          <a:chExt cx="0" cy="0"/>
        </a:xfrm>
      </p:grpSpPr>
      <p:sp>
        <p:nvSpPr>
          <p:cNvPr id="2132" name="Google Shape;2132;p12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133" name="Google Shape;2133;p1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4" name="Google Shape;2134;p1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2" name="Shape 2142"/>
        <p:cNvGrpSpPr/>
        <p:nvPr/>
      </p:nvGrpSpPr>
      <p:grpSpPr>
        <a:xfrm>
          <a:off x="0" y="0"/>
          <a:ext cx="0" cy="0"/>
          <a:chOff x="0" y="0"/>
          <a:chExt cx="0" cy="0"/>
        </a:xfrm>
      </p:grpSpPr>
      <p:sp>
        <p:nvSpPr>
          <p:cNvPr id="2143" name="Google Shape;2143;p12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144" name="Google Shape;2144;p1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5" name="Google Shape;2145;p1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2" name="Shape 2152"/>
        <p:cNvGrpSpPr/>
        <p:nvPr/>
      </p:nvGrpSpPr>
      <p:grpSpPr>
        <a:xfrm>
          <a:off x="0" y="0"/>
          <a:ext cx="0" cy="0"/>
          <a:chOff x="0" y="0"/>
          <a:chExt cx="0" cy="0"/>
        </a:xfrm>
      </p:grpSpPr>
      <p:sp>
        <p:nvSpPr>
          <p:cNvPr id="2153" name="Google Shape;2153;p12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154" name="Google Shape;2154;p1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5" name="Google Shape;2155;p1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8" name="Shape 2168"/>
        <p:cNvGrpSpPr/>
        <p:nvPr/>
      </p:nvGrpSpPr>
      <p:grpSpPr>
        <a:xfrm>
          <a:off x="0" y="0"/>
          <a:ext cx="0" cy="0"/>
          <a:chOff x="0" y="0"/>
          <a:chExt cx="0" cy="0"/>
        </a:xfrm>
      </p:grpSpPr>
      <p:sp>
        <p:nvSpPr>
          <p:cNvPr id="2169" name="Google Shape;2169;p12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170" name="Google Shape;2170;p1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1" name="Google Shape;2171;p1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4" name="Shape 2184"/>
        <p:cNvGrpSpPr/>
        <p:nvPr/>
      </p:nvGrpSpPr>
      <p:grpSpPr>
        <a:xfrm>
          <a:off x="0" y="0"/>
          <a:ext cx="0" cy="0"/>
          <a:chOff x="0" y="0"/>
          <a:chExt cx="0" cy="0"/>
        </a:xfrm>
      </p:grpSpPr>
      <p:sp>
        <p:nvSpPr>
          <p:cNvPr id="2185" name="Google Shape;2185;p12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186" name="Google Shape;2186;p1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7" name="Google Shape;2187;p1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6" name="Shape 2216"/>
        <p:cNvGrpSpPr/>
        <p:nvPr/>
      </p:nvGrpSpPr>
      <p:grpSpPr>
        <a:xfrm>
          <a:off x="0" y="0"/>
          <a:ext cx="0" cy="0"/>
          <a:chOff x="0" y="0"/>
          <a:chExt cx="0" cy="0"/>
        </a:xfrm>
      </p:grpSpPr>
      <p:sp>
        <p:nvSpPr>
          <p:cNvPr id="2217" name="Google Shape;2217;p12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218" name="Google Shape;2218;p1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9" name="Google Shape;2219;p1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8" name="Shape 2248"/>
        <p:cNvGrpSpPr/>
        <p:nvPr/>
      </p:nvGrpSpPr>
      <p:grpSpPr>
        <a:xfrm>
          <a:off x="0" y="0"/>
          <a:ext cx="0" cy="0"/>
          <a:chOff x="0" y="0"/>
          <a:chExt cx="0" cy="0"/>
        </a:xfrm>
      </p:grpSpPr>
      <p:sp>
        <p:nvSpPr>
          <p:cNvPr id="2249" name="Google Shape;2249;p12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250" name="Google Shape;2250;p1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1" name="Google Shape;2251;p1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2" name="Shape 2282"/>
        <p:cNvGrpSpPr/>
        <p:nvPr/>
      </p:nvGrpSpPr>
      <p:grpSpPr>
        <a:xfrm>
          <a:off x="0" y="0"/>
          <a:ext cx="0" cy="0"/>
          <a:chOff x="0" y="0"/>
          <a:chExt cx="0" cy="0"/>
        </a:xfrm>
      </p:grpSpPr>
      <p:sp>
        <p:nvSpPr>
          <p:cNvPr id="2283" name="Google Shape;2283;p12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284" name="Google Shape;2284;p1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5" name="Google Shape;2285;p1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4" name="Shape 2314"/>
        <p:cNvGrpSpPr/>
        <p:nvPr/>
      </p:nvGrpSpPr>
      <p:grpSpPr>
        <a:xfrm>
          <a:off x="0" y="0"/>
          <a:ext cx="0" cy="0"/>
          <a:chOff x="0" y="0"/>
          <a:chExt cx="0" cy="0"/>
        </a:xfrm>
      </p:grpSpPr>
      <p:sp>
        <p:nvSpPr>
          <p:cNvPr id="2315" name="Google Shape;2315;p12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316" name="Google Shape;2316;p1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7" name="Google Shape;2317;p1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8" name="Shape 2348"/>
        <p:cNvGrpSpPr/>
        <p:nvPr/>
      </p:nvGrpSpPr>
      <p:grpSpPr>
        <a:xfrm>
          <a:off x="0" y="0"/>
          <a:ext cx="0" cy="0"/>
          <a:chOff x="0" y="0"/>
          <a:chExt cx="0" cy="0"/>
        </a:xfrm>
      </p:grpSpPr>
      <p:sp>
        <p:nvSpPr>
          <p:cNvPr id="2349" name="Google Shape;2349;p13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350" name="Google Shape;2350;p1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1" name="Google Shape;2351;p1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0" name="Shape 2380"/>
        <p:cNvGrpSpPr/>
        <p:nvPr/>
      </p:nvGrpSpPr>
      <p:grpSpPr>
        <a:xfrm>
          <a:off x="0" y="0"/>
          <a:ext cx="0" cy="0"/>
          <a:chOff x="0" y="0"/>
          <a:chExt cx="0" cy="0"/>
        </a:xfrm>
      </p:grpSpPr>
      <p:sp>
        <p:nvSpPr>
          <p:cNvPr id="2381" name="Google Shape;2381;p13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382" name="Google Shape;2382;p1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3" name="Google Shape;2383;p1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3" name="Shape 2413"/>
        <p:cNvGrpSpPr/>
        <p:nvPr/>
      </p:nvGrpSpPr>
      <p:grpSpPr>
        <a:xfrm>
          <a:off x="0" y="0"/>
          <a:ext cx="0" cy="0"/>
          <a:chOff x="0" y="0"/>
          <a:chExt cx="0" cy="0"/>
        </a:xfrm>
      </p:grpSpPr>
      <p:sp>
        <p:nvSpPr>
          <p:cNvPr id="2414" name="Google Shape;2414;p13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415" name="Google Shape;2415;p1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6" name="Google Shape;2416;p1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12" name="Shape 12"/>
        <p:cNvGrpSpPr/>
        <p:nvPr/>
      </p:nvGrpSpPr>
      <p:grpSpPr>
        <a:xfrm>
          <a:off x="0" y="0"/>
          <a:ext cx="0" cy="0"/>
          <a:chOff x="0" y="0"/>
          <a:chExt cx="0" cy="0"/>
        </a:xfrm>
      </p:grpSpPr>
      <p:sp>
        <p:nvSpPr>
          <p:cNvPr id="13" name="Google Shape;13;p134"/>
          <p:cNvSpPr txBox="1"/>
          <p:nvPr>
            <p:ph idx="11" type="ftr"/>
          </p:nvPr>
        </p:nvSpPr>
        <p:spPr>
          <a:xfrm>
            <a:off x="76200" y="6296025"/>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34"/>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表格" type="tbl">
  <p:cSld name="TABLE">
    <p:spTree>
      <p:nvGrpSpPr>
        <p:cNvPr id="15" name="Shape 15"/>
        <p:cNvGrpSpPr/>
        <p:nvPr/>
      </p:nvGrpSpPr>
      <p:grpSpPr>
        <a:xfrm>
          <a:off x="0" y="0"/>
          <a:ext cx="0" cy="0"/>
          <a:chOff x="0" y="0"/>
          <a:chExt cx="0" cy="0"/>
        </a:xfrm>
      </p:grpSpPr>
      <p:sp>
        <p:nvSpPr>
          <p:cNvPr id="16" name="Google Shape;16;p135"/>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17" name="Google Shape;17;p135"/>
          <p:cNvSpPr/>
          <p:nvPr>
            <p:ph idx="2" type="tbl"/>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1pPr>
            <a:lvl2pPr lvl="1"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18" name="Google Shape;18;p135"/>
          <p:cNvSpPr txBox="1"/>
          <p:nvPr>
            <p:ph idx="11" type="ftr"/>
          </p:nvPr>
        </p:nvSpPr>
        <p:spPr>
          <a:xfrm>
            <a:off x="76200" y="6296025"/>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5"/>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圖表或組織圖" type="dgm">
  <p:cSld name="DIAGRAM">
    <p:spTree>
      <p:nvGrpSpPr>
        <p:cNvPr id="20" name="Shape 20"/>
        <p:cNvGrpSpPr/>
        <p:nvPr/>
      </p:nvGrpSpPr>
      <p:grpSpPr>
        <a:xfrm>
          <a:off x="0" y="0"/>
          <a:ext cx="0" cy="0"/>
          <a:chOff x="0" y="0"/>
          <a:chExt cx="0" cy="0"/>
        </a:xfrm>
      </p:grpSpPr>
      <p:sp>
        <p:nvSpPr>
          <p:cNvPr id="21" name="Google Shape;21;p136"/>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22" name="Google Shape;22;p136"/>
          <p:cNvSpPr/>
          <p:nvPr>
            <p:ph idx="2" type="dgm"/>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lvl="1"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lvl="2"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lvl="3"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lvl="4"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23" name="Google Shape;23;p136"/>
          <p:cNvSpPr txBox="1"/>
          <p:nvPr>
            <p:ph idx="11" type="ftr"/>
          </p:nvPr>
        </p:nvSpPr>
        <p:spPr>
          <a:xfrm>
            <a:off x="76200" y="6296025"/>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36"/>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直排標題及文字" type="vertTitleAndTx">
  <p:cSld name="VERTICAL_TITLE_AND_VERTICAL_TEXT">
    <p:spTree>
      <p:nvGrpSpPr>
        <p:cNvPr id="25" name="Shape 25"/>
        <p:cNvGrpSpPr/>
        <p:nvPr/>
      </p:nvGrpSpPr>
      <p:grpSpPr>
        <a:xfrm>
          <a:off x="0" y="0"/>
          <a:ext cx="0" cy="0"/>
          <a:chOff x="0" y="0"/>
          <a:chExt cx="0" cy="0"/>
        </a:xfrm>
      </p:grpSpPr>
      <p:sp>
        <p:nvSpPr>
          <p:cNvPr id="26" name="Google Shape;26;p139"/>
          <p:cNvSpPr txBox="1"/>
          <p:nvPr>
            <p:ph type="title"/>
          </p:nvPr>
        </p:nvSpPr>
        <p:spPr>
          <a:xfrm rot="5400000">
            <a:off x="4623594" y="2285207"/>
            <a:ext cx="5811838" cy="19716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27" name="Google Shape;27;p139"/>
          <p:cNvSpPr txBox="1"/>
          <p:nvPr>
            <p:ph idx="1" type="body"/>
          </p:nvPr>
        </p:nvSpPr>
        <p:spPr>
          <a:xfrm rot="5400000">
            <a:off x="604044" y="389731"/>
            <a:ext cx="5811838" cy="5762625"/>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28" name="Google Shape;28;p139"/>
          <p:cNvSpPr txBox="1"/>
          <p:nvPr>
            <p:ph idx="11" type="ftr"/>
          </p:nvPr>
        </p:nvSpPr>
        <p:spPr>
          <a:xfrm>
            <a:off x="76200" y="6296025"/>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39"/>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直排文字" type="vertTx">
  <p:cSld name="VERTICAL_TEXT">
    <p:spTree>
      <p:nvGrpSpPr>
        <p:cNvPr id="30" name="Shape 30"/>
        <p:cNvGrpSpPr/>
        <p:nvPr/>
      </p:nvGrpSpPr>
      <p:grpSpPr>
        <a:xfrm>
          <a:off x="0" y="0"/>
          <a:ext cx="0" cy="0"/>
          <a:chOff x="0" y="0"/>
          <a:chExt cx="0" cy="0"/>
        </a:xfrm>
      </p:grpSpPr>
      <p:sp>
        <p:nvSpPr>
          <p:cNvPr id="31" name="Google Shape;31;p140"/>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32" name="Google Shape;32;p140"/>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33" name="Google Shape;33;p140"/>
          <p:cNvSpPr txBox="1"/>
          <p:nvPr>
            <p:ph idx="11" type="ftr"/>
          </p:nvPr>
        </p:nvSpPr>
        <p:spPr>
          <a:xfrm>
            <a:off x="76200" y="6296025"/>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40"/>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標題的圖片" type="picTx">
  <p:cSld name="PICTURE_WITH_CAPTION_TEXT">
    <p:spTree>
      <p:nvGrpSpPr>
        <p:cNvPr id="35" name="Shape 35"/>
        <p:cNvGrpSpPr/>
        <p:nvPr/>
      </p:nvGrpSpPr>
      <p:grpSpPr>
        <a:xfrm>
          <a:off x="0" y="0"/>
          <a:ext cx="0" cy="0"/>
          <a:chOff x="0" y="0"/>
          <a:chExt cx="0" cy="0"/>
        </a:xfrm>
      </p:grpSpPr>
      <p:sp>
        <p:nvSpPr>
          <p:cNvPr id="36" name="Google Shape;36;p141"/>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2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37" name="Google Shape;37;p141"/>
          <p:cNvSpPr/>
          <p:nvPr>
            <p:ph idx="2" type="pic"/>
          </p:nvPr>
        </p:nvSpPr>
        <p:spPr>
          <a:xfrm>
            <a:off x="3887788" y="987425"/>
            <a:ext cx="4629150" cy="4873625"/>
          </a:xfrm>
          <a:prstGeom prst="rect">
            <a:avLst/>
          </a:prstGeom>
          <a:noFill/>
          <a:ln>
            <a:noFill/>
          </a:ln>
        </p:spPr>
      </p:sp>
      <p:sp>
        <p:nvSpPr>
          <p:cNvPr id="38" name="Google Shape;38;p141"/>
          <p:cNvSpPr txBox="1"/>
          <p:nvPr>
            <p:ph idx="1"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20"/>
              </a:spcBef>
              <a:spcAft>
                <a:spcPts val="0"/>
              </a:spcAft>
              <a:buClr>
                <a:schemeClr val="folHlink"/>
              </a:buClr>
              <a:buSzPts val="960"/>
              <a:buFont typeface="Noto Sans Symbols"/>
              <a:buNone/>
              <a:defRPr b="0" i="0" sz="1600" u="none" cap="none" strike="noStrike">
                <a:solidFill>
                  <a:schemeClr val="dk1"/>
                </a:solidFill>
                <a:latin typeface="Tahoma"/>
                <a:ea typeface="Tahoma"/>
                <a:cs typeface="Tahoma"/>
                <a:sym typeface="Tahoma"/>
              </a:defRPr>
            </a:lvl1pPr>
            <a:lvl2pPr indent="-228600" lvl="1" marL="914400" marR="0" rtl="0" algn="l">
              <a:spcBef>
                <a:spcPts val="280"/>
              </a:spcBef>
              <a:spcAft>
                <a:spcPts val="0"/>
              </a:spcAft>
              <a:buClr>
                <a:schemeClr val="hlink"/>
              </a:buClr>
              <a:buSzPts val="770"/>
              <a:buFont typeface="Noto Sans Symbols"/>
              <a:buNone/>
              <a:defRPr b="0" i="0" sz="1400" u="none" cap="none" strike="noStrike">
                <a:solidFill>
                  <a:schemeClr val="dk1"/>
                </a:solidFill>
                <a:latin typeface="Tahoma"/>
                <a:ea typeface="Tahoma"/>
                <a:cs typeface="Tahoma"/>
                <a:sym typeface="Tahoma"/>
              </a:defRPr>
            </a:lvl2pPr>
            <a:lvl3pPr indent="-228600" lvl="2" marL="1371600" marR="0" rtl="0" algn="l">
              <a:spcBef>
                <a:spcPts val="240"/>
              </a:spcBef>
              <a:spcAft>
                <a:spcPts val="0"/>
              </a:spcAft>
              <a:buClr>
                <a:schemeClr val="folHlink"/>
              </a:buClr>
              <a:buSzPts val="600"/>
              <a:buFont typeface="Noto Sans Symbols"/>
              <a:buNone/>
              <a:defRPr b="0" i="0" sz="1200" u="none" cap="none" strike="noStrike">
                <a:solidFill>
                  <a:schemeClr val="dk1"/>
                </a:solidFill>
                <a:latin typeface="Tahoma"/>
                <a:ea typeface="Tahoma"/>
                <a:cs typeface="Tahoma"/>
                <a:sym typeface="Tahoma"/>
              </a:defRPr>
            </a:lvl3pPr>
            <a:lvl4pPr indent="-228600" lvl="3" marL="1828800" marR="0" rtl="0" algn="l">
              <a:spcBef>
                <a:spcPts val="200"/>
              </a:spcBef>
              <a:spcAft>
                <a:spcPts val="0"/>
              </a:spcAft>
              <a:buClr>
                <a:schemeClr val="accent2"/>
              </a:buClr>
              <a:buSzPts val="550"/>
              <a:buFont typeface="Noto Sans Symbols"/>
              <a:buNone/>
              <a:defRPr b="0" i="0" sz="1000" u="none" cap="none" strike="noStrike">
                <a:solidFill>
                  <a:schemeClr val="dk1"/>
                </a:solidFill>
                <a:latin typeface="Tahoma"/>
                <a:ea typeface="Tahoma"/>
                <a:cs typeface="Tahoma"/>
                <a:sym typeface="Tahoma"/>
              </a:defRPr>
            </a:lvl4pPr>
            <a:lvl5pPr indent="-228600" lvl="4" marL="2286000" marR="0" rtl="0" algn="l">
              <a:spcBef>
                <a:spcPts val="200"/>
              </a:spcBef>
              <a:spcAft>
                <a:spcPts val="0"/>
              </a:spcAft>
              <a:buClr>
                <a:schemeClr val="accent1"/>
              </a:buClr>
              <a:buSzPts val="500"/>
              <a:buFont typeface="Noto Sans Symbols"/>
              <a:buNone/>
              <a:defRPr b="0" i="0" sz="10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9pPr>
          </a:lstStyle>
          <a:p/>
        </p:txBody>
      </p:sp>
      <p:sp>
        <p:nvSpPr>
          <p:cNvPr id="39" name="Google Shape;39;p141"/>
          <p:cNvSpPr txBox="1"/>
          <p:nvPr>
            <p:ph idx="11" type="ftr"/>
          </p:nvPr>
        </p:nvSpPr>
        <p:spPr>
          <a:xfrm>
            <a:off x="76200" y="6296025"/>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41"/>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標題的內容" type="objTx">
  <p:cSld name="OBJECT_WITH_CAPTION_TEXT">
    <p:spTree>
      <p:nvGrpSpPr>
        <p:cNvPr id="41" name="Shape 41"/>
        <p:cNvGrpSpPr/>
        <p:nvPr/>
      </p:nvGrpSpPr>
      <p:grpSpPr>
        <a:xfrm>
          <a:off x="0" y="0"/>
          <a:ext cx="0" cy="0"/>
          <a:chOff x="0" y="0"/>
          <a:chExt cx="0" cy="0"/>
        </a:xfrm>
      </p:grpSpPr>
      <p:sp>
        <p:nvSpPr>
          <p:cNvPr id="42" name="Google Shape;42;p142"/>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2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43" name="Google Shape;43;p142"/>
          <p:cNvSpPr txBox="1"/>
          <p:nvPr>
            <p:ph idx="1" type="body"/>
          </p:nvPr>
        </p:nvSpPr>
        <p:spPr>
          <a:xfrm>
            <a:off x="3887788" y="987425"/>
            <a:ext cx="4629150" cy="4873625"/>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9pPr>
          </a:lstStyle>
          <a:p/>
        </p:txBody>
      </p:sp>
      <p:sp>
        <p:nvSpPr>
          <p:cNvPr id="44" name="Google Shape;44;p142"/>
          <p:cNvSpPr txBox="1"/>
          <p:nvPr>
            <p:ph idx="2"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20"/>
              </a:spcBef>
              <a:spcAft>
                <a:spcPts val="0"/>
              </a:spcAft>
              <a:buClr>
                <a:schemeClr val="folHlink"/>
              </a:buClr>
              <a:buSzPts val="960"/>
              <a:buFont typeface="Noto Sans Symbols"/>
              <a:buNone/>
              <a:defRPr b="0" i="0" sz="1600" u="none" cap="none" strike="noStrike">
                <a:solidFill>
                  <a:schemeClr val="dk1"/>
                </a:solidFill>
                <a:latin typeface="Tahoma"/>
                <a:ea typeface="Tahoma"/>
                <a:cs typeface="Tahoma"/>
                <a:sym typeface="Tahoma"/>
              </a:defRPr>
            </a:lvl1pPr>
            <a:lvl2pPr indent="-228600" lvl="1" marL="914400" marR="0" rtl="0" algn="l">
              <a:spcBef>
                <a:spcPts val="280"/>
              </a:spcBef>
              <a:spcAft>
                <a:spcPts val="0"/>
              </a:spcAft>
              <a:buClr>
                <a:schemeClr val="hlink"/>
              </a:buClr>
              <a:buSzPts val="770"/>
              <a:buFont typeface="Noto Sans Symbols"/>
              <a:buNone/>
              <a:defRPr b="0" i="0" sz="1400" u="none" cap="none" strike="noStrike">
                <a:solidFill>
                  <a:schemeClr val="dk1"/>
                </a:solidFill>
                <a:latin typeface="Tahoma"/>
                <a:ea typeface="Tahoma"/>
                <a:cs typeface="Tahoma"/>
                <a:sym typeface="Tahoma"/>
              </a:defRPr>
            </a:lvl2pPr>
            <a:lvl3pPr indent="-228600" lvl="2" marL="1371600" marR="0" rtl="0" algn="l">
              <a:spcBef>
                <a:spcPts val="240"/>
              </a:spcBef>
              <a:spcAft>
                <a:spcPts val="0"/>
              </a:spcAft>
              <a:buClr>
                <a:schemeClr val="folHlink"/>
              </a:buClr>
              <a:buSzPts val="600"/>
              <a:buFont typeface="Noto Sans Symbols"/>
              <a:buNone/>
              <a:defRPr b="0" i="0" sz="1200" u="none" cap="none" strike="noStrike">
                <a:solidFill>
                  <a:schemeClr val="dk1"/>
                </a:solidFill>
                <a:latin typeface="Tahoma"/>
                <a:ea typeface="Tahoma"/>
                <a:cs typeface="Tahoma"/>
                <a:sym typeface="Tahoma"/>
              </a:defRPr>
            </a:lvl3pPr>
            <a:lvl4pPr indent="-228600" lvl="3" marL="1828800" marR="0" rtl="0" algn="l">
              <a:spcBef>
                <a:spcPts val="200"/>
              </a:spcBef>
              <a:spcAft>
                <a:spcPts val="0"/>
              </a:spcAft>
              <a:buClr>
                <a:schemeClr val="accent2"/>
              </a:buClr>
              <a:buSzPts val="550"/>
              <a:buFont typeface="Noto Sans Symbols"/>
              <a:buNone/>
              <a:defRPr b="0" i="0" sz="1000" u="none" cap="none" strike="noStrike">
                <a:solidFill>
                  <a:schemeClr val="dk1"/>
                </a:solidFill>
                <a:latin typeface="Tahoma"/>
                <a:ea typeface="Tahoma"/>
                <a:cs typeface="Tahoma"/>
                <a:sym typeface="Tahoma"/>
              </a:defRPr>
            </a:lvl4pPr>
            <a:lvl5pPr indent="-228600" lvl="4" marL="2286000" marR="0" rtl="0" algn="l">
              <a:spcBef>
                <a:spcPts val="200"/>
              </a:spcBef>
              <a:spcAft>
                <a:spcPts val="0"/>
              </a:spcAft>
              <a:buClr>
                <a:schemeClr val="accent1"/>
              </a:buClr>
              <a:buSzPts val="500"/>
              <a:buFont typeface="Noto Sans Symbols"/>
              <a:buNone/>
              <a:defRPr b="0" i="0" sz="10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9pPr>
          </a:lstStyle>
          <a:p/>
        </p:txBody>
      </p:sp>
      <p:sp>
        <p:nvSpPr>
          <p:cNvPr id="45" name="Google Shape;45;p142"/>
          <p:cNvSpPr txBox="1"/>
          <p:nvPr>
            <p:ph idx="11" type="ftr"/>
          </p:nvPr>
        </p:nvSpPr>
        <p:spPr>
          <a:xfrm>
            <a:off x="76200" y="6296025"/>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42"/>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只有標題" type="titleOnly">
  <p:cSld name="TITLE_ONLY">
    <p:spTree>
      <p:nvGrpSpPr>
        <p:cNvPr id="47" name="Shape 47"/>
        <p:cNvGrpSpPr/>
        <p:nvPr/>
      </p:nvGrpSpPr>
      <p:grpSpPr>
        <a:xfrm>
          <a:off x="0" y="0"/>
          <a:ext cx="0" cy="0"/>
          <a:chOff x="0" y="0"/>
          <a:chExt cx="0" cy="0"/>
        </a:xfrm>
      </p:grpSpPr>
      <p:sp>
        <p:nvSpPr>
          <p:cNvPr id="48" name="Google Shape;48;p143"/>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49" name="Google Shape;49;p143"/>
          <p:cNvSpPr txBox="1"/>
          <p:nvPr>
            <p:ph idx="11" type="ftr"/>
          </p:nvPr>
        </p:nvSpPr>
        <p:spPr>
          <a:xfrm>
            <a:off x="76200" y="6296025"/>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43"/>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對" type="twoTxTwoObj">
  <p:cSld name="TWO_OBJECTS_WITH_TEXT">
    <p:spTree>
      <p:nvGrpSpPr>
        <p:cNvPr id="51" name="Shape 51"/>
        <p:cNvGrpSpPr/>
        <p:nvPr/>
      </p:nvGrpSpPr>
      <p:grpSpPr>
        <a:xfrm>
          <a:off x="0" y="0"/>
          <a:ext cx="0" cy="0"/>
          <a:chOff x="0" y="0"/>
          <a:chExt cx="0" cy="0"/>
        </a:xfrm>
      </p:grpSpPr>
      <p:sp>
        <p:nvSpPr>
          <p:cNvPr id="52" name="Google Shape;52;p144"/>
          <p:cNvSpPr txBox="1"/>
          <p:nvPr>
            <p:ph type="title"/>
          </p:nvPr>
        </p:nvSpPr>
        <p:spPr>
          <a:xfrm>
            <a:off x="630238"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53" name="Google Shape;53;p144"/>
          <p:cNvSpPr txBox="1"/>
          <p:nvPr>
            <p:ph idx="1" type="body"/>
          </p:nvPr>
        </p:nvSpPr>
        <p:spPr>
          <a:xfrm>
            <a:off x="630238" y="1681163"/>
            <a:ext cx="3868737" cy="82391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rtl="0" algn="l">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9pPr>
          </a:lstStyle>
          <a:p/>
        </p:txBody>
      </p:sp>
      <p:sp>
        <p:nvSpPr>
          <p:cNvPr id="54" name="Google Shape;54;p144"/>
          <p:cNvSpPr txBox="1"/>
          <p:nvPr>
            <p:ph idx="2" type="body"/>
          </p:nvPr>
        </p:nvSpPr>
        <p:spPr>
          <a:xfrm>
            <a:off x="630238" y="2505075"/>
            <a:ext cx="3868737" cy="3684588"/>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55" name="Google Shape;55;p144"/>
          <p:cNvSpPr txBox="1"/>
          <p:nvPr>
            <p:ph idx="3" type="body"/>
          </p:nvPr>
        </p:nvSpPr>
        <p:spPr>
          <a:xfrm>
            <a:off x="4629150" y="1681163"/>
            <a:ext cx="3887788" cy="82391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rtl="0" algn="l">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9pPr>
          </a:lstStyle>
          <a:p/>
        </p:txBody>
      </p:sp>
      <p:sp>
        <p:nvSpPr>
          <p:cNvPr id="56" name="Google Shape;56;p144"/>
          <p:cNvSpPr txBox="1"/>
          <p:nvPr>
            <p:ph idx="4" type="body"/>
          </p:nvPr>
        </p:nvSpPr>
        <p:spPr>
          <a:xfrm>
            <a:off x="4629150" y="2505075"/>
            <a:ext cx="3887788" cy="3684588"/>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57" name="Google Shape;57;p144"/>
          <p:cNvSpPr txBox="1"/>
          <p:nvPr>
            <p:ph idx="11" type="ftr"/>
          </p:nvPr>
        </p:nvSpPr>
        <p:spPr>
          <a:xfrm>
            <a:off x="76200" y="6296025"/>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44"/>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兩項物件" type="twoObj">
  <p:cSld name="TWO_OBJECTS">
    <p:spTree>
      <p:nvGrpSpPr>
        <p:cNvPr id="59" name="Shape 59"/>
        <p:cNvGrpSpPr/>
        <p:nvPr/>
      </p:nvGrpSpPr>
      <p:grpSpPr>
        <a:xfrm>
          <a:off x="0" y="0"/>
          <a:ext cx="0" cy="0"/>
          <a:chOff x="0" y="0"/>
          <a:chExt cx="0" cy="0"/>
        </a:xfrm>
      </p:grpSpPr>
      <p:sp>
        <p:nvSpPr>
          <p:cNvPr id="60" name="Google Shape;60;p145"/>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61" name="Google Shape;61;p145"/>
          <p:cNvSpPr txBox="1"/>
          <p:nvPr>
            <p:ph idx="1" type="body"/>
          </p:nvPr>
        </p:nvSpPr>
        <p:spPr>
          <a:xfrm>
            <a:off x="628650" y="1825625"/>
            <a:ext cx="3867150" cy="4351338"/>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62" name="Google Shape;62;p145"/>
          <p:cNvSpPr txBox="1"/>
          <p:nvPr>
            <p:ph idx="2" type="body"/>
          </p:nvPr>
        </p:nvSpPr>
        <p:spPr>
          <a:xfrm>
            <a:off x="4648200" y="1825625"/>
            <a:ext cx="3867150" cy="4351338"/>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63" name="Google Shape;63;p145"/>
          <p:cNvSpPr txBox="1"/>
          <p:nvPr>
            <p:ph idx="11" type="ftr"/>
          </p:nvPr>
        </p:nvSpPr>
        <p:spPr>
          <a:xfrm>
            <a:off x="76200" y="6296025"/>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45"/>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章節標題" type="secHead">
  <p:cSld name="SECTION_HEADER">
    <p:spTree>
      <p:nvGrpSpPr>
        <p:cNvPr id="65" name="Shape 65"/>
        <p:cNvGrpSpPr/>
        <p:nvPr/>
      </p:nvGrpSpPr>
      <p:grpSpPr>
        <a:xfrm>
          <a:off x="0" y="0"/>
          <a:ext cx="0" cy="0"/>
          <a:chOff x="0" y="0"/>
          <a:chExt cx="0" cy="0"/>
        </a:xfrm>
      </p:grpSpPr>
      <p:sp>
        <p:nvSpPr>
          <p:cNvPr id="66" name="Google Shape;66;p146"/>
          <p:cNvSpPr txBox="1"/>
          <p:nvPr>
            <p:ph type="title"/>
          </p:nvPr>
        </p:nvSpPr>
        <p:spPr>
          <a:xfrm>
            <a:off x="623888" y="1709738"/>
            <a:ext cx="7886700" cy="285273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60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67" name="Google Shape;67;p146"/>
          <p:cNvSpPr txBox="1"/>
          <p:nvPr>
            <p:ph idx="1" type="body"/>
          </p:nvPr>
        </p:nvSpPr>
        <p:spPr>
          <a:xfrm>
            <a:off x="623888" y="4589463"/>
            <a:ext cx="7886700" cy="150018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80"/>
              </a:spcBef>
              <a:spcAft>
                <a:spcPts val="0"/>
              </a:spcAft>
              <a:buClr>
                <a:schemeClr val="folHlink"/>
              </a:buClr>
              <a:buSzPts val="1440"/>
              <a:buFont typeface="Noto Sans Symbols"/>
              <a:buNone/>
              <a:defRPr b="0" i="0" sz="2400" u="none" cap="none" strike="noStrike">
                <a:solidFill>
                  <a:schemeClr val="dk1"/>
                </a:solidFill>
                <a:latin typeface="Tahoma"/>
                <a:ea typeface="Tahoma"/>
                <a:cs typeface="Tahoma"/>
                <a:sym typeface="Tahoma"/>
              </a:defRPr>
            </a:lvl1pPr>
            <a:lvl2pPr indent="-228600" lvl="1" marL="914400" marR="0" rtl="0" algn="l">
              <a:spcBef>
                <a:spcPts val="400"/>
              </a:spcBef>
              <a:spcAft>
                <a:spcPts val="0"/>
              </a:spcAft>
              <a:buClr>
                <a:schemeClr val="hlink"/>
              </a:buClr>
              <a:buSzPts val="1100"/>
              <a:buFont typeface="Noto Sans Symbols"/>
              <a:buNone/>
              <a:defRPr b="0" i="0" sz="2000" u="none" cap="none" strike="noStrike">
                <a:solidFill>
                  <a:schemeClr val="dk1"/>
                </a:solidFill>
                <a:latin typeface="Tahoma"/>
                <a:ea typeface="Tahoma"/>
                <a:cs typeface="Tahoma"/>
                <a:sym typeface="Tahoma"/>
              </a:defRPr>
            </a:lvl2pPr>
            <a:lvl3pPr indent="-228600" lvl="2" marL="1371600" marR="0" rtl="0" algn="l">
              <a:spcBef>
                <a:spcPts val="360"/>
              </a:spcBef>
              <a:spcAft>
                <a:spcPts val="0"/>
              </a:spcAft>
              <a:buClr>
                <a:schemeClr val="folHlink"/>
              </a:buClr>
              <a:buSzPts val="900"/>
              <a:buFont typeface="Noto Sans Symbols"/>
              <a:buNone/>
              <a:defRPr b="0" i="0" sz="1800" u="none" cap="none" strike="noStrike">
                <a:solidFill>
                  <a:schemeClr val="dk1"/>
                </a:solidFill>
                <a:latin typeface="Tahoma"/>
                <a:ea typeface="Tahoma"/>
                <a:cs typeface="Tahoma"/>
                <a:sym typeface="Tahoma"/>
              </a:defRPr>
            </a:lvl3pPr>
            <a:lvl4pPr indent="-228600" lvl="3" marL="1828800" marR="0" rtl="0" algn="l">
              <a:spcBef>
                <a:spcPts val="320"/>
              </a:spcBef>
              <a:spcAft>
                <a:spcPts val="0"/>
              </a:spcAft>
              <a:buClr>
                <a:schemeClr val="accent2"/>
              </a:buClr>
              <a:buSzPts val="880"/>
              <a:buFont typeface="Noto Sans Symbols"/>
              <a:buNone/>
              <a:defRPr b="0" i="0" sz="1600" u="none" cap="none" strike="noStrike">
                <a:solidFill>
                  <a:schemeClr val="dk1"/>
                </a:solidFill>
                <a:latin typeface="Tahoma"/>
                <a:ea typeface="Tahoma"/>
                <a:cs typeface="Tahoma"/>
                <a:sym typeface="Tahoma"/>
              </a:defRPr>
            </a:lvl4pPr>
            <a:lvl5pPr indent="-228600" lvl="4" marL="2286000" marR="0" rtl="0" algn="l">
              <a:spcBef>
                <a:spcPts val="320"/>
              </a:spcBef>
              <a:spcAft>
                <a:spcPts val="0"/>
              </a:spcAft>
              <a:buClr>
                <a:schemeClr val="accent1"/>
              </a:buClr>
              <a:buSzPts val="800"/>
              <a:buFont typeface="Noto Sans Symbols"/>
              <a:buNone/>
              <a:defRPr b="0"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9pPr>
          </a:lstStyle>
          <a:p/>
        </p:txBody>
      </p:sp>
      <p:sp>
        <p:nvSpPr>
          <p:cNvPr id="68" name="Google Shape;68;p146"/>
          <p:cNvSpPr txBox="1"/>
          <p:nvPr>
            <p:ph idx="11" type="ftr"/>
          </p:nvPr>
        </p:nvSpPr>
        <p:spPr>
          <a:xfrm>
            <a:off x="76200" y="6296025"/>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46"/>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物件" type="obj">
  <p:cSld name="OBJECT">
    <p:spTree>
      <p:nvGrpSpPr>
        <p:cNvPr id="70" name="Shape 70"/>
        <p:cNvGrpSpPr/>
        <p:nvPr/>
      </p:nvGrpSpPr>
      <p:grpSpPr>
        <a:xfrm>
          <a:off x="0" y="0"/>
          <a:ext cx="0" cy="0"/>
          <a:chOff x="0" y="0"/>
          <a:chExt cx="0" cy="0"/>
        </a:xfrm>
      </p:grpSpPr>
      <p:sp>
        <p:nvSpPr>
          <p:cNvPr id="71" name="Google Shape;71;p147"/>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72" name="Google Shape;72;p14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73" name="Google Shape;73;p147"/>
          <p:cNvSpPr txBox="1"/>
          <p:nvPr>
            <p:ph idx="11" type="ftr"/>
          </p:nvPr>
        </p:nvSpPr>
        <p:spPr>
          <a:xfrm>
            <a:off x="76200" y="6296025"/>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47"/>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物件" type="obj">
  <p:cSld name="OBJECT">
    <p:spTree>
      <p:nvGrpSpPr>
        <p:cNvPr id="127" name="Shape 127"/>
        <p:cNvGrpSpPr/>
        <p:nvPr/>
      </p:nvGrpSpPr>
      <p:grpSpPr>
        <a:xfrm>
          <a:off x="0" y="0"/>
          <a:ext cx="0" cy="0"/>
          <a:chOff x="0" y="0"/>
          <a:chExt cx="0" cy="0"/>
        </a:xfrm>
      </p:grpSpPr>
      <p:sp>
        <p:nvSpPr>
          <p:cNvPr id="128" name="Google Shape;128;p138"/>
          <p:cNvSpPr txBox="1"/>
          <p:nvPr>
            <p:ph type="title"/>
          </p:nvPr>
        </p:nvSpPr>
        <p:spPr>
          <a:xfrm>
            <a:off x="685800" y="152400"/>
            <a:ext cx="6870700"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9" name="Google Shape;129;p138"/>
          <p:cNvSpPr txBox="1"/>
          <p:nvPr>
            <p:ph idx="1" type="body"/>
          </p:nvPr>
        </p:nvSpPr>
        <p:spPr>
          <a:xfrm>
            <a:off x="685800" y="1828800"/>
            <a:ext cx="7696200" cy="3657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 name="Google Shape;130;p138"/>
          <p:cNvSpPr txBox="1"/>
          <p:nvPr>
            <p:ph idx="10" type="dt"/>
          </p:nvPr>
        </p:nvSpPr>
        <p:spPr>
          <a:xfrm>
            <a:off x="13716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138"/>
          <p:cNvSpPr txBox="1"/>
          <p:nvPr>
            <p:ph idx="11" type="ftr"/>
          </p:nvPr>
        </p:nvSpPr>
        <p:spPr>
          <a:xfrm>
            <a:off x="35560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0" sz="140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138"/>
          <p:cNvSpPr txBox="1"/>
          <p:nvPr>
            <p:ph idx="12" type="sldNum"/>
          </p:nvPr>
        </p:nvSpPr>
        <p:spPr>
          <a:xfrm>
            <a:off x="67183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1pPr>
            <a:lvl2pPr indent="0" lvl="1"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2pPr>
            <a:lvl3pPr indent="0" lvl="2"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3pPr>
            <a:lvl4pPr indent="0" lvl="3"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4pPr>
            <a:lvl5pPr indent="0" lvl="4"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5pPr>
            <a:lvl6pPr indent="0" lvl="5"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6pPr>
            <a:lvl7pPr indent="0" lvl="6"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7pPr>
            <a:lvl8pPr indent="0" lvl="7"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8pPr>
            <a:lvl9pPr indent="0" lvl="8"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直排標題及文字" type="vertTitleAndTx">
  <p:cSld name="VERTICAL_TITLE_AND_VERTICAL_TEXT">
    <p:spTree>
      <p:nvGrpSpPr>
        <p:cNvPr id="133" name="Shape 133"/>
        <p:cNvGrpSpPr/>
        <p:nvPr/>
      </p:nvGrpSpPr>
      <p:grpSpPr>
        <a:xfrm>
          <a:off x="0" y="0"/>
          <a:ext cx="0" cy="0"/>
          <a:chOff x="0" y="0"/>
          <a:chExt cx="0" cy="0"/>
        </a:xfrm>
      </p:grpSpPr>
      <p:sp>
        <p:nvSpPr>
          <p:cNvPr id="134" name="Google Shape;134;p148"/>
          <p:cNvSpPr txBox="1"/>
          <p:nvPr>
            <p:ph type="title"/>
          </p:nvPr>
        </p:nvSpPr>
        <p:spPr>
          <a:xfrm rot="5400000">
            <a:off x="4752975" y="1857375"/>
            <a:ext cx="5334000" cy="192405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5" name="Google Shape;135;p148"/>
          <p:cNvSpPr txBox="1"/>
          <p:nvPr>
            <p:ph idx="1" type="body"/>
          </p:nvPr>
        </p:nvSpPr>
        <p:spPr>
          <a:xfrm rot="5400000">
            <a:off x="828675" y="9525"/>
            <a:ext cx="5334000" cy="561975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 name="Google Shape;136;p148"/>
          <p:cNvSpPr txBox="1"/>
          <p:nvPr>
            <p:ph idx="10" type="dt"/>
          </p:nvPr>
        </p:nvSpPr>
        <p:spPr>
          <a:xfrm>
            <a:off x="13716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148"/>
          <p:cNvSpPr txBox="1"/>
          <p:nvPr>
            <p:ph idx="11" type="ftr"/>
          </p:nvPr>
        </p:nvSpPr>
        <p:spPr>
          <a:xfrm>
            <a:off x="35560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0" sz="140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148"/>
          <p:cNvSpPr txBox="1"/>
          <p:nvPr>
            <p:ph idx="12" type="sldNum"/>
          </p:nvPr>
        </p:nvSpPr>
        <p:spPr>
          <a:xfrm>
            <a:off x="67183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1pPr>
            <a:lvl2pPr indent="0" lvl="1"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2pPr>
            <a:lvl3pPr indent="0" lvl="2"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3pPr>
            <a:lvl4pPr indent="0" lvl="3"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4pPr>
            <a:lvl5pPr indent="0" lvl="4"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5pPr>
            <a:lvl6pPr indent="0" lvl="5"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6pPr>
            <a:lvl7pPr indent="0" lvl="6"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7pPr>
            <a:lvl8pPr indent="0" lvl="7"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8pPr>
            <a:lvl9pPr indent="0" lvl="8"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直排文字" type="vertTx">
  <p:cSld name="VERTICAL_TEXT">
    <p:spTree>
      <p:nvGrpSpPr>
        <p:cNvPr id="139" name="Shape 139"/>
        <p:cNvGrpSpPr/>
        <p:nvPr/>
      </p:nvGrpSpPr>
      <p:grpSpPr>
        <a:xfrm>
          <a:off x="0" y="0"/>
          <a:ext cx="0" cy="0"/>
          <a:chOff x="0" y="0"/>
          <a:chExt cx="0" cy="0"/>
        </a:xfrm>
      </p:grpSpPr>
      <p:sp>
        <p:nvSpPr>
          <p:cNvPr id="140" name="Google Shape;140;p149"/>
          <p:cNvSpPr txBox="1"/>
          <p:nvPr>
            <p:ph type="title"/>
          </p:nvPr>
        </p:nvSpPr>
        <p:spPr>
          <a:xfrm>
            <a:off x="685800" y="152400"/>
            <a:ext cx="6870700"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1" name="Google Shape;141;p149"/>
          <p:cNvSpPr txBox="1"/>
          <p:nvPr>
            <p:ph idx="1" type="body"/>
          </p:nvPr>
        </p:nvSpPr>
        <p:spPr>
          <a:xfrm rot="5400000">
            <a:off x="2705100" y="-190500"/>
            <a:ext cx="3657600" cy="7696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 name="Google Shape;142;p149"/>
          <p:cNvSpPr txBox="1"/>
          <p:nvPr>
            <p:ph idx="10" type="dt"/>
          </p:nvPr>
        </p:nvSpPr>
        <p:spPr>
          <a:xfrm>
            <a:off x="13716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149"/>
          <p:cNvSpPr txBox="1"/>
          <p:nvPr>
            <p:ph idx="11" type="ftr"/>
          </p:nvPr>
        </p:nvSpPr>
        <p:spPr>
          <a:xfrm>
            <a:off x="35560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0" sz="140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149"/>
          <p:cNvSpPr txBox="1"/>
          <p:nvPr>
            <p:ph idx="12" type="sldNum"/>
          </p:nvPr>
        </p:nvSpPr>
        <p:spPr>
          <a:xfrm>
            <a:off x="67183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1pPr>
            <a:lvl2pPr indent="0" lvl="1"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2pPr>
            <a:lvl3pPr indent="0" lvl="2"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3pPr>
            <a:lvl4pPr indent="0" lvl="3"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4pPr>
            <a:lvl5pPr indent="0" lvl="4"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5pPr>
            <a:lvl6pPr indent="0" lvl="5"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6pPr>
            <a:lvl7pPr indent="0" lvl="6"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7pPr>
            <a:lvl8pPr indent="0" lvl="7"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8pPr>
            <a:lvl9pPr indent="0" lvl="8"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標題的圖片" type="picTx">
  <p:cSld name="PICTURE_WITH_CAPTION_TEXT">
    <p:spTree>
      <p:nvGrpSpPr>
        <p:cNvPr id="145" name="Shape 145"/>
        <p:cNvGrpSpPr/>
        <p:nvPr/>
      </p:nvGrpSpPr>
      <p:grpSpPr>
        <a:xfrm>
          <a:off x="0" y="0"/>
          <a:ext cx="0" cy="0"/>
          <a:chOff x="0" y="0"/>
          <a:chExt cx="0" cy="0"/>
        </a:xfrm>
      </p:grpSpPr>
      <p:sp>
        <p:nvSpPr>
          <p:cNvPr id="146" name="Google Shape;146;p150"/>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7" name="Google Shape;147;p150"/>
          <p:cNvSpPr/>
          <p:nvPr>
            <p:ph idx="2" type="pic"/>
          </p:nvPr>
        </p:nvSpPr>
        <p:spPr>
          <a:xfrm>
            <a:off x="3887788" y="987425"/>
            <a:ext cx="4629150" cy="4873625"/>
          </a:xfrm>
          <a:prstGeom prst="rect">
            <a:avLst/>
          </a:prstGeom>
          <a:noFill/>
          <a:ln>
            <a:noFill/>
          </a:ln>
        </p:spPr>
      </p:sp>
      <p:sp>
        <p:nvSpPr>
          <p:cNvPr id="148" name="Google Shape;148;p150"/>
          <p:cNvSpPr txBox="1"/>
          <p:nvPr>
            <p:ph idx="1"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Clr>
                <a:schemeClr val="dk1"/>
              </a:buClr>
              <a:buSzPts val="1600"/>
              <a:buFont typeface="Comic Sans MS"/>
              <a:buNone/>
              <a:defRPr sz="1600"/>
            </a:lvl1pPr>
            <a:lvl2pPr indent="-228600" lvl="1" marL="914400" algn="l">
              <a:spcBef>
                <a:spcPts val="280"/>
              </a:spcBef>
              <a:spcAft>
                <a:spcPts val="0"/>
              </a:spcAft>
              <a:buClr>
                <a:schemeClr val="dk1"/>
              </a:buClr>
              <a:buSzPts val="1400"/>
              <a:buFont typeface="Comic Sans MS"/>
              <a:buNone/>
              <a:defRPr sz="1400"/>
            </a:lvl2pPr>
            <a:lvl3pPr indent="-228600" lvl="2" marL="1371600" algn="l">
              <a:spcBef>
                <a:spcPts val="240"/>
              </a:spcBef>
              <a:spcAft>
                <a:spcPts val="0"/>
              </a:spcAft>
              <a:buClr>
                <a:schemeClr val="dk1"/>
              </a:buClr>
              <a:buSzPts val="1200"/>
              <a:buFont typeface="Comic Sans MS"/>
              <a:buNone/>
              <a:defRPr sz="1200"/>
            </a:lvl3pPr>
            <a:lvl4pPr indent="-228600" lvl="3" marL="1828800" algn="l">
              <a:spcBef>
                <a:spcPts val="200"/>
              </a:spcBef>
              <a:spcAft>
                <a:spcPts val="0"/>
              </a:spcAft>
              <a:buClr>
                <a:schemeClr val="dk1"/>
              </a:buClr>
              <a:buSzPts val="1000"/>
              <a:buFont typeface="Comic Sans MS"/>
              <a:buNone/>
              <a:defRPr sz="1000"/>
            </a:lvl4pPr>
            <a:lvl5pPr indent="-228600" lvl="4" marL="2286000" algn="l">
              <a:spcBef>
                <a:spcPts val="200"/>
              </a:spcBef>
              <a:spcAft>
                <a:spcPts val="0"/>
              </a:spcAft>
              <a:buClr>
                <a:schemeClr val="dk1"/>
              </a:buClr>
              <a:buSzPts val="1000"/>
              <a:buFont typeface="Comic Sans MS"/>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9" name="Google Shape;149;p150"/>
          <p:cNvSpPr txBox="1"/>
          <p:nvPr>
            <p:ph idx="10" type="dt"/>
          </p:nvPr>
        </p:nvSpPr>
        <p:spPr>
          <a:xfrm>
            <a:off x="13716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150"/>
          <p:cNvSpPr txBox="1"/>
          <p:nvPr>
            <p:ph idx="11" type="ftr"/>
          </p:nvPr>
        </p:nvSpPr>
        <p:spPr>
          <a:xfrm>
            <a:off x="35560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0" sz="140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150"/>
          <p:cNvSpPr txBox="1"/>
          <p:nvPr>
            <p:ph idx="12" type="sldNum"/>
          </p:nvPr>
        </p:nvSpPr>
        <p:spPr>
          <a:xfrm>
            <a:off x="67183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1pPr>
            <a:lvl2pPr indent="0" lvl="1"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2pPr>
            <a:lvl3pPr indent="0" lvl="2"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3pPr>
            <a:lvl4pPr indent="0" lvl="3"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4pPr>
            <a:lvl5pPr indent="0" lvl="4"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5pPr>
            <a:lvl6pPr indent="0" lvl="5"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6pPr>
            <a:lvl7pPr indent="0" lvl="6"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7pPr>
            <a:lvl8pPr indent="0" lvl="7"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8pPr>
            <a:lvl9pPr indent="0" lvl="8"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標題的內容" type="objTx">
  <p:cSld name="OBJECT_WITH_CAPTION_TEXT">
    <p:spTree>
      <p:nvGrpSpPr>
        <p:cNvPr id="152" name="Shape 152"/>
        <p:cNvGrpSpPr/>
        <p:nvPr/>
      </p:nvGrpSpPr>
      <p:grpSpPr>
        <a:xfrm>
          <a:off x="0" y="0"/>
          <a:ext cx="0" cy="0"/>
          <a:chOff x="0" y="0"/>
          <a:chExt cx="0" cy="0"/>
        </a:xfrm>
      </p:grpSpPr>
      <p:sp>
        <p:nvSpPr>
          <p:cNvPr id="153" name="Google Shape;153;p151"/>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4" name="Google Shape;154;p151"/>
          <p:cNvSpPr txBox="1"/>
          <p:nvPr>
            <p:ph idx="1" type="body"/>
          </p:nvPr>
        </p:nvSpPr>
        <p:spPr>
          <a:xfrm>
            <a:off x="3887788" y="987425"/>
            <a:ext cx="4629150" cy="4873625"/>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Comic Sans MS"/>
              <a:buChar char="•"/>
              <a:defRPr sz="3200"/>
            </a:lvl1pPr>
            <a:lvl2pPr indent="-406400" lvl="1" marL="914400" algn="l">
              <a:spcBef>
                <a:spcPts val="560"/>
              </a:spcBef>
              <a:spcAft>
                <a:spcPts val="0"/>
              </a:spcAft>
              <a:buClr>
                <a:schemeClr val="dk1"/>
              </a:buClr>
              <a:buSzPts val="2800"/>
              <a:buFont typeface="Comic Sans MS"/>
              <a:buChar char="–"/>
              <a:defRPr sz="2800"/>
            </a:lvl2pPr>
            <a:lvl3pPr indent="-381000" lvl="2" marL="1371600" algn="l">
              <a:spcBef>
                <a:spcPts val="480"/>
              </a:spcBef>
              <a:spcAft>
                <a:spcPts val="0"/>
              </a:spcAft>
              <a:buClr>
                <a:schemeClr val="dk1"/>
              </a:buClr>
              <a:buSzPts val="2400"/>
              <a:buFont typeface="Comic Sans MS"/>
              <a:buChar char="•"/>
              <a:defRPr sz="2400"/>
            </a:lvl3pPr>
            <a:lvl4pPr indent="-355600" lvl="3" marL="1828800" algn="l">
              <a:spcBef>
                <a:spcPts val="400"/>
              </a:spcBef>
              <a:spcAft>
                <a:spcPts val="0"/>
              </a:spcAft>
              <a:buClr>
                <a:schemeClr val="dk1"/>
              </a:buClr>
              <a:buSzPts val="2000"/>
              <a:buFont typeface="Comic Sans MS"/>
              <a:buChar char="–"/>
              <a:defRPr sz="2000"/>
            </a:lvl4pPr>
            <a:lvl5pPr indent="-355600" lvl="4" marL="2286000" algn="l">
              <a:spcBef>
                <a:spcPts val="400"/>
              </a:spcBef>
              <a:spcAft>
                <a:spcPts val="0"/>
              </a:spcAft>
              <a:buClr>
                <a:schemeClr val="dk1"/>
              </a:buClr>
              <a:buSzPts val="2000"/>
              <a:buFont typeface="Comic Sans MS"/>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55" name="Google Shape;155;p151"/>
          <p:cNvSpPr txBox="1"/>
          <p:nvPr>
            <p:ph idx="2"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Clr>
                <a:schemeClr val="dk1"/>
              </a:buClr>
              <a:buSzPts val="1600"/>
              <a:buFont typeface="Comic Sans MS"/>
              <a:buNone/>
              <a:defRPr sz="1600"/>
            </a:lvl1pPr>
            <a:lvl2pPr indent="-228600" lvl="1" marL="914400" algn="l">
              <a:spcBef>
                <a:spcPts val="280"/>
              </a:spcBef>
              <a:spcAft>
                <a:spcPts val="0"/>
              </a:spcAft>
              <a:buClr>
                <a:schemeClr val="dk1"/>
              </a:buClr>
              <a:buSzPts val="1400"/>
              <a:buFont typeface="Comic Sans MS"/>
              <a:buNone/>
              <a:defRPr sz="1400"/>
            </a:lvl2pPr>
            <a:lvl3pPr indent="-228600" lvl="2" marL="1371600" algn="l">
              <a:spcBef>
                <a:spcPts val="240"/>
              </a:spcBef>
              <a:spcAft>
                <a:spcPts val="0"/>
              </a:spcAft>
              <a:buClr>
                <a:schemeClr val="dk1"/>
              </a:buClr>
              <a:buSzPts val="1200"/>
              <a:buFont typeface="Comic Sans MS"/>
              <a:buNone/>
              <a:defRPr sz="1200"/>
            </a:lvl3pPr>
            <a:lvl4pPr indent="-228600" lvl="3" marL="1828800" algn="l">
              <a:spcBef>
                <a:spcPts val="200"/>
              </a:spcBef>
              <a:spcAft>
                <a:spcPts val="0"/>
              </a:spcAft>
              <a:buClr>
                <a:schemeClr val="dk1"/>
              </a:buClr>
              <a:buSzPts val="1000"/>
              <a:buFont typeface="Comic Sans MS"/>
              <a:buNone/>
              <a:defRPr sz="1000"/>
            </a:lvl4pPr>
            <a:lvl5pPr indent="-228600" lvl="4" marL="2286000" algn="l">
              <a:spcBef>
                <a:spcPts val="200"/>
              </a:spcBef>
              <a:spcAft>
                <a:spcPts val="0"/>
              </a:spcAft>
              <a:buClr>
                <a:schemeClr val="dk1"/>
              </a:buClr>
              <a:buSzPts val="1000"/>
              <a:buFont typeface="Comic Sans MS"/>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56" name="Google Shape;156;p151"/>
          <p:cNvSpPr txBox="1"/>
          <p:nvPr>
            <p:ph idx="10" type="dt"/>
          </p:nvPr>
        </p:nvSpPr>
        <p:spPr>
          <a:xfrm>
            <a:off x="13716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151"/>
          <p:cNvSpPr txBox="1"/>
          <p:nvPr>
            <p:ph idx="11" type="ftr"/>
          </p:nvPr>
        </p:nvSpPr>
        <p:spPr>
          <a:xfrm>
            <a:off x="35560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0" sz="140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151"/>
          <p:cNvSpPr txBox="1"/>
          <p:nvPr>
            <p:ph idx="12" type="sldNum"/>
          </p:nvPr>
        </p:nvSpPr>
        <p:spPr>
          <a:xfrm>
            <a:off x="67183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1pPr>
            <a:lvl2pPr indent="0" lvl="1"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2pPr>
            <a:lvl3pPr indent="0" lvl="2"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3pPr>
            <a:lvl4pPr indent="0" lvl="3"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4pPr>
            <a:lvl5pPr indent="0" lvl="4"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5pPr>
            <a:lvl6pPr indent="0" lvl="5"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6pPr>
            <a:lvl7pPr indent="0" lvl="6"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7pPr>
            <a:lvl8pPr indent="0" lvl="7"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8pPr>
            <a:lvl9pPr indent="0" lvl="8"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159" name="Shape 159"/>
        <p:cNvGrpSpPr/>
        <p:nvPr/>
      </p:nvGrpSpPr>
      <p:grpSpPr>
        <a:xfrm>
          <a:off x="0" y="0"/>
          <a:ext cx="0" cy="0"/>
          <a:chOff x="0" y="0"/>
          <a:chExt cx="0" cy="0"/>
        </a:xfrm>
      </p:grpSpPr>
      <p:sp>
        <p:nvSpPr>
          <p:cNvPr id="160" name="Google Shape;160;p152"/>
          <p:cNvSpPr txBox="1"/>
          <p:nvPr>
            <p:ph idx="10" type="dt"/>
          </p:nvPr>
        </p:nvSpPr>
        <p:spPr>
          <a:xfrm>
            <a:off x="13716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1" name="Google Shape;161;p152"/>
          <p:cNvSpPr txBox="1"/>
          <p:nvPr>
            <p:ph idx="11" type="ftr"/>
          </p:nvPr>
        </p:nvSpPr>
        <p:spPr>
          <a:xfrm>
            <a:off x="35560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0" sz="140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p152"/>
          <p:cNvSpPr txBox="1"/>
          <p:nvPr>
            <p:ph idx="12" type="sldNum"/>
          </p:nvPr>
        </p:nvSpPr>
        <p:spPr>
          <a:xfrm>
            <a:off x="67183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1pPr>
            <a:lvl2pPr indent="0" lvl="1"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2pPr>
            <a:lvl3pPr indent="0" lvl="2"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3pPr>
            <a:lvl4pPr indent="0" lvl="3"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4pPr>
            <a:lvl5pPr indent="0" lvl="4"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5pPr>
            <a:lvl6pPr indent="0" lvl="5"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6pPr>
            <a:lvl7pPr indent="0" lvl="6"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7pPr>
            <a:lvl8pPr indent="0" lvl="7"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8pPr>
            <a:lvl9pPr indent="0" lvl="8"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只有標題" type="titleOnly">
  <p:cSld name="TITLE_ONLY">
    <p:spTree>
      <p:nvGrpSpPr>
        <p:cNvPr id="163" name="Shape 163"/>
        <p:cNvGrpSpPr/>
        <p:nvPr/>
      </p:nvGrpSpPr>
      <p:grpSpPr>
        <a:xfrm>
          <a:off x="0" y="0"/>
          <a:ext cx="0" cy="0"/>
          <a:chOff x="0" y="0"/>
          <a:chExt cx="0" cy="0"/>
        </a:xfrm>
      </p:grpSpPr>
      <p:sp>
        <p:nvSpPr>
          <p:cNvPr id="164" name="Google Shape;164;p153"/>
          <p:cNvSpPr txBox="1"/>
          <p:nvPr>
            <p:ph type="title"/>
          </p:nvPr>
        </p:nvSpPr>
        <p:spPr>
          <a:xfrm>
            <a:off x="685800" y="152400"/>
            <a:ext cx="6870700"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5" name="Google Shape;165;p153"/>
          <p:cNvSpPr txBox="1"/>
          <p:nvPr>
            <p:ph idx="10" type="dt"/>
          </p:nvPr>
        </p:nvSpPr>
        <p:spPr>
          <a:xfrm>
            <a:off x="13716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p153"/>
          <p:cNvSpPr txBox="1"/>
          <p:nvPr>
            <p:ph idx="11" type="ftr"/>
          </p:nvPr>
        </p:nvSpPr>
        <p:spPr>
          <a:xfrm>
            <a:off x="35560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0" sz="140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7" name="Google Shape;167;p153"/>
          <p:cNvSpPr txBox="1"/>
          <p:nvPr>
            <p:ph idx="12" type="sldNum"/>
          </p:nvPr>
        </p:nvSpPr>
        <p:spPr>
          <a:xfrm>
            <a:off x="67183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1pPr>
            <a:lvl2pPr indent="0" lvl="1"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2pPr>
            <a:lvl3pPr indent="0" lvl="2"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3pPr>
            <a:lvl4pPr indent="0" lvl="3"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4pPr>
            <a:lvl5pPr indent="0" lvl="4"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5pPr>
            <a:lvl6pPr indent="0" lvl="5"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6pPr>
            <a:lvl7pPr indent="0" lvl="6"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7pPr>
            <a:lvl8pPr indent="0" lvl="7"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8pPr>
            <a:lvl9pPr indent="0" lvl="8"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對" type="twoTxTwoObj">
  <p:cSld name="TWO_OBJECTS_WITH_TEXT">
    <p:spTree>
      <p:nvGrpSpPr>
        <p:cNvPr id="168" name="Shape 168"/>
        <p:cNvGrpSpPr/>
        <p:nvPr/>
      </p:nvGrpSpPr>
      <p:grpSpPr>
        <a:xfrm>
          <a:off x="0" y="0"/>
          <a:ext cx="0" cy="0"/>
          <a:chOff x="0" y="0"/>
          <a:chExt cx="0" cy="0"/>
        </a:xfrm>
      </p:grpSpPr>
      <p:sp>
        <p:nvSpPr>
          <p:cNvPr id="169" name="Google Shape;169;p154"/>
          <p:cNvSpPr txBox="1"/>
          <p:nvPr>
            <p:ph type="title"/>
          </p:nvPr>
        </p:nvSpPr>
        <p:spPr>
          <a:xfrm>
            <a:off x="630238" y="365125"/>
            <a:ext cx="7886700" cy="1325563"/>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0" name="Google Shape;170;p154"/>
          <p:cNvSpPr txBox="1"/>
          <p:nvPr>
            <p:ph idx="1" type="body"/>
          </p:nvPr>
        </p:nvSpPr>
        <p:spPr>
          <a:xfrm>
            <a:off x="630238" y="1681163"/>
            <a:ext cx="3868737" cy="82391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Comic Sans MS"/>
              <a:buNone/>
              <a:defRPr b="1" sz="2400"/>
            </a:lvl1pPr>
            <a:lvl2pPr indent="-228600" lvl="1" marL="914400" algn="l">
              <a:spcBef>
                <a:spcPts val="400"/>
              </a:spcBef>
              <a:spcAft>
                <a:spcPts val="0"/>
              </a:spcAft>
              <a:buClr>
                <a:schemeClr val="dk1"/>
              </a:buClr>
              <a:buSzPts val="2000"/>
              <a:buFont typeface="Comic Sans MS"/>
              <a:buNone/>
              <a:defRPr b="1" sz="2000"/>
            </a:lvl2pPr>
            <a:lvl3pPr indent="-228600" lvl="2" marL="1371600" algn="l">
              <a:spcBef>
                <a:spcPts val="360"/>
              </a:spcBef>
              <a:spcAft>
                <a:spcPts val="0"/>
              </a:spcAft>
              <a:buClr>
                <a:schemeClr val="dk1"/>
              </a:buClr>
              <a:buSzPts val="1800"/>
              <a:buFont typeface="Comic Sans MS"/>
              <a:buNone/>
              <a:defRPr b="1" sz="1800"/>
            </a:lvl3pPr>
            <a:lvl4pPr indent="-228600" lvl="3" marL="1828800" algn="l">
              <a:spcBef>
                <a:spcPts val="320"/>
              </a:spcBef>
              <a:spcAft>
                <a:spcPts val="0"/>
              </a:spcAft>
              <a:buClr>
                <a:schemeClr val="dk1"/>
              </a:buClr>
              <a:buSzPts val="1600"/>
              <a:buFont typeface="Comic Sans MS"/>
              <a:buNone/>
              <a:defRPr b="1" sz="1600"/>
            </a:lvl4pPr>
            <a:lvl5pPr indent="-228600" lvl="4" marL="2286000" algn="l">
              <a:spcBef>
                <a:spcPts val="320"/>
              </a:spcBef>
              <a:spcAft>
                <a:spcPts val="0"/>
              </a:spcAft>
              <a:buClr>
                <a:schemeClr val="dk1"/>
              </a:buClr>
              <a:buSzPts val="1600"/>
              <a:buFont typeface="Comic Sans MS"/>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1" name="Google Shape;171;p154"/>
          <p:cNvSpPr txBox="1"/>
          <p:nvPr>
            <p:ph idx="2" type="body"/>
          </p:nvPr>
        </p:nvSpPr>
        <p:spPr>
          <a:xfrm>
            <a:off x="630238" y="2505075"/>
            <a:ext cx="3868737" cy="36845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 name="Google Shape;172;p154"/>
          <p:cNvSpPr txBox="1"/>
          <p:nvPr>
            <p:ph idx="3" type="body"/>
          </p:nvPr>
        </p:nvSpPr>
        <p:spPr>
          <a:xfrm>
            <a:off x="4629150" y="1681163"/>
            <a:ext cx="3887788" cy="82391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Comic Sans MS"/>
              <a:buNone/>
              <a:defRPr b="1" sz="2400"/>
            </a:lvl1pPr>
            <a:lvl2pPr indent="-228600" lvl="1" marL="914400" algn="l">
              <a:spcBef>
                <a:spcPts val="400"/>
              </a:spcBef>
              <a:spcAft>
                <a:spcPts val="0"/>
              </a:spcAft>
              <a:buClr>
                <a:schemeClr val="dk1"/>
              </a:buClr>
              <a:buSzPts val="2000"/>
              <a:buFont typeface="Comic Sans MS"/>
              <a:buNone/>
              <a:defRPr b="1" sz="2000"/>
            </a:lvl2pPr>
            <a:lvl3pPr indent="-228600" lvl="2" marL="1371600" algn="l">
              <a:spcBef>
                <a:spcPts val="360"/>
              </a:spcBef>
              <a:spcAft>
                <a:spcPts val="0"/>
              </a:spcAft>
              <a:buClr>
                <a:schemeClr val="dk1"/>
              </a:buClr>
              <a:buSzPts val="1800"/>
              <a:buFont typeface="Comic Sans MS"/>
              <a:buNone/>
              <a:defRPr b="1" sz="1800"/>
            </a:lvl3pPr>
            <a:lvl4pPr indent="-228600" lvl="3" marL="1828800" algn="l">
              <a:spcBef>
                <a:spcPts val="320"/>
              </a:spcBef>
              <a:spcAft>
                <a:spcPts val="0"/>
              </a:spcAft>
              <a:buClr>
                <a:schemeClr val="dk1"/>
              </a:buClr>
              <a:buSzPts val="1600"/>
              <a:buFont typeface="Comic Sans MS"/>
              <a:buNone/>
              <a:defRPr b="1" sz="1600"/>
            </a:lvl4pPr>
            <a:lvl5pPr indent="-228600" lvl="4" marL="2286000" algn="l">
              <a:spcBef>
                <a:spcPts val="320"/>
              </a:spcBef>
              <a:spcAft>
                <a:spcPts val="0"/>
              </a:spcAft>
              <a:buClr>
                <a:schemeClr val="dk1"/>
              </a:buClr>
              <a:buSzPts val="1600"/>
              <a:buFont typeface="Comic Sans MS"/>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3" name="Google Shape;173;p154"/>
          <p:cNvSpPr txBox="1"/>
          <p:nvPr>
            <p:ph idx="4" type="body"/>
          </p:nvPr>
        </p:nvSpPr>
        <p:spPr>
          <a:xfrm>
            <a:off x="4629150" y="2505075"/>
            <a:ext cx="3887788" cy="36845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 name="Google Shape;174;p154"/>
          <p:cNvSpPr txBox="1"/>
          <p:nvPr>
            <p:ph idx="10" type="dt"/>
          </p:nvPr>
        </p:nvSpPr>
        <p:spPr>
          <a:xfrm>
            <a:off x="13716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5" name="Google Shape;175;p154"/>
          <p:cNvSpPr txBox="1"/>
          <p:nvPr>
            <p:ph idx="11" type="ftr"/>
          </p:nvPr>
        </p:nvSpPr>
        <p:spPr>
          <a:xfrm>
            <a:off x="35560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0" sz="140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 name="Google Shape;176;p154"/>
          <p:cNvSpPr txBox="1"/>
          <p:nvPr>
            <p:ph idx="12" type="sldNum"/>
          </p:nvPr>
        </p:nvSpPr>
        <p:spPr>
          <a:xfrm>
            <a:off x="67183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1pPr>
            <a:lvl2pPr indent="0" lvl="1"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2pPr>
            <a:lvl3pPr indent="0" lvl="2"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3pPr>
            <a:lvl4pPr indent="0" lvl="3"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4pPr>
            <a:lvl5pPr indent="0" lvl="4"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5pPr>
            <a:lvl6pPr indent="0" lvl="5"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6pPr>
            <a:lvl7pPr indent="0" lvl="6"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7pPr>
            <a:lvl8pPr indent="0" lvl="7"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8pPr>
            <a:lvl9pPr indent="0" lvl="8"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兩項物件" type="twoObj">
  <p:cSld name="TWO_OBJECTS">
    <p:spTree>
      <p:nvGrpSpPr>
        <p:cNvPr id="177" name="Shape 177"/>
        <p:cNvGrpSpPr/>
        <p:nvPr/>
      </p:nvGrpSpPr>
      <p:grpSpPr>
        <a:xfrm>
          <a:off x="0" y="0"/>
          <a:ext cx="0" cy="0"/>
          <a:chOff x="0" y="0"/>
          <a:chExt cx="0" cy="0"/>
        </a:xfrm>
      </p:grpSpPr>
      <p:sp>
        <p:nvSpPr>
          <p:cNvPr id="178" name="Google Shape;178;p155"/>
          <p:cNvSpPr txBox="1"/>
          <p:nvPr>
            <p:ph type="title"/>
          </p:nvPr>
        </p:nvSpPr>
        <p:spPr>
          <a:xfrm>
            <a:off x="685800" y="152400"/>
            <a:ext cx="6870700"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9" name="Google Shape;179;p155"/>
          <p:cNvSpPr txBox="1"/>
          <p:nvPr>
            <p:ph idx="1" type="body"/>
          </p:nvPr>
        </p:nvSpPr>
        <p:spPr>
          <a:xfrm>
            <a:off x="685800" y="1828800"/>
            <a:ext cx="3771900" cy="3657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 name="Google Shape;180;p155"/>
          <p:cNvSpPr txBox="1"/>
          <p:nvPr>
            <p:ph idx="2" type="body"/>
          </p:nvPr>
        </p:nvSpPr>
        <p:spPr>
          <a:xfrm>
            <a:off x="4610100" y="1828800"/>
            <a:ext cx="3771900" cy="3657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 name="Google Shape;181;p155"/>
          <p:cNvSpPr txBox="1"/>
          <p:nvPr>
            <p:ph idx="10" type="dt"/>
          </p:nvPr>
        </p:nvSpPr>
        <p:spPr>
          <a:xfrm>
            <a:off x="13716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2" name="Google Shape;182;p155"/>
          <p:cNvSpPr txBox="1"/>
          <p:nvPr>
            <p:ph idx="11" type="ftr"/>
          </p:nvPr>
        </p:nvSpPr>
        <p:spPr>
          <a:xfrm>
            <a:off x="35560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0" sz="140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3" name="Google Shape;183;p155"/>
          <p:cNvSpPr txBox="1"/>
          <p:nvPr>
            <p:ph idx="12" type="sldNum"/>
          </p:nvPr>
        </p:nvSpPr>
        <p:spPr>
          <a:xfrm>
            <a:off x="67183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1pPr>
            <a:lvl2pPr indent="0" lvl="1"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2pPr>
            <a:lvl3pPr indent="0" lvl="2"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3pPr>
            <a:lvl4pPr indent="0" lvl="3"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4pPr>
            <a:lvl5pPr indent="0" lvl="4"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5pPr>
            <a:lvl6pPr indent="0" lvl="5"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6pPr>
            <a:lvl7pPr indent="0" lvl="6"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7pPr>
            <a:lvl8pPr indent="0" lvl="7"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8pPr>
            <a:lvl9pPr indent="0" lvl="8"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章節標題" type="secHead">
  <p:cSld name="SECTION_HEADER">
    <p:spTree>
      <p:nvGrpSpPr>
        <p:cNvPr id="184" name="Shape 184"/>
        <p:cNvGrpSpPr/>
        <p:nvPr/>
      </p:nvGrpSpPr>
      <p:grpSpPr>
        <a:xfrm>
          <a:off x="0" y="0"/>
          <a:ext cx="0" cy="0"/>
          <a:chOff x="0" y="0"/>
          <a:chExt cx="0" cy="0"/>
        </a:xfrm>
      </p:grpSpPr>
      <p:sp>
        <p:nvSpPr>
          <p:cNvPr id="185" name="Google Shape;185;p156"/>
          <p:cNvSpPr txBox="1"/>
          <p:nvPr>
            <p:ph type="title"/>
          </p:nvPr>
        </p:nvSpPr>
        <p:spPr>
          <a:xfrm>
            <a:off x="623888" y="1709738"/>
            <a:ext cx="7886700" cy="2852737"/>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6" name="Google Shape;186;p156"/>
          <p:cNvSpPr txBox="1"/>
          <p:nvPr>
            <p:ph idx="1" type="body"/>
          </p:nvPr>
        </p:nvSpPr>
        <p:spPr>
          <a:xfrm>
            <a:off x="623888" y="4589463"/>
            <a:ext cx="7886700" cy="1500187"/>
          </a:xfrm>
          <a:prstGeom prst="rect">
            <a:avLst/>
          </a:prstGeom>
          <a:noFill/>
          <a:ln>
            <a:noFill/>
          </a:ln>
        </p:spPr>
        <p:txBody>
          <a:bodyPr anchorCtr="0" anchor="t" bIns="45700" lIns="91425" spcFirstLastPara="1" rIns="91425" wrap="square" tIns="45700">
            <a:noAutofit/>
          </a:bodyPr>
          <a:lstStyle>
            <a:lvl1pPr indent="-228600" lvl="0" marL="457200" algn="l">
              <a:spcBef>
                <a:spcPts val="480"/>
              </a:spcBef>
              <a:spcAft>
                <a:spcPts val="0"/>
              </a:spcAft>
              <a:buClr>
                <a:schemeClr val="dk1"/>
              </a:buClr>
              <a:buSzPts val="2400"/>
              <a:buFont typeface="Comic Sans MS"/>
              <a:buNone/>
              <a:defRPr sz="2400"/>
            </a:lvl1pPr>
            <a:lvl2pPr indent="-228600" lvl="1" marL="914400" algn="l">
              <a:spcBef>
                <a:spcPts val="400"/>
              </a:spcBef>
              <a:spcAft>
                <a:spcPts val="0"/>
              </a:spcAft>
              <a:buClr>
                <a:schemeClr val="dk1"/>
              </a:buClr>
              <a:buSzPts val="2000"/>
              <a:buFont typeface="Comic Sans MS"/>
              <a:buNone/>
              <a:defRPr sz="2000"/>
            </a:lvl2pPr>
            <a:lvl3pPr indent="-228600" lvl="2" marL="1371600" algn="l">
              <a:spcBef>
                <a:spcPts val="360"/>
              </a:spcBef>
              <a:spcAft>
                <a:spcPts val="0"/>
              </a:spcAft>
              <a:buClr>
                <a:schemeClr val="dk1"/>
              </a:buClr>
              <a:buSzPts val="1800"/>
              <a:buFont typeface="Comic Sans MS"/>
              <a:buNone/>
              <a:defRPr sz="1800"/>
            </a:lvl3pPr>
            <a:lvl4pPr indent="-228600" lvl="3" marL="1828800" algn="l">
              <a:spcBef>
                <a:spcPts val="320"/>
              </a:spcBef>
              <a:spcAft>
                <a:spcPts val="0"/>
              </a:spcAft>
              <a:buClr>
                <a:schemeClr val="dk1"/>
              </a:buClr>
              <a:buSzPts val="1600"/>
              <a:buFont typeface="Comic Sans MS"/>
              <a:buNone/>
              <a:defRPr sz="1600"/>
            </a:lvl4pPr>
            <a:lvl5pPr indent="-228600" lvl="4" marL="2286000" algn="l">
              <a:spcBef>
                <a:spcPts val="320"/>
              </a:spcBef>
              <a:spcAft>
                <a:spcPts val="0"/>
              </a:spcAft>
              <a:buClr>
                <a:schemeClr val="dk1"/>
              </a:buClr>
              <a:buSzPts val="1600"/>
              <a:buFont typeface="Comic Sans MS"/>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187" name="Google Shape;187;p156"/>
          <p:cNvSpPr txBox="1"/>
          <p:nvPr>
            <p:ph idx="10" type="dt"/>
          </p:nvPr>
        </p:nvSpPr>
        <p:spPr>
          <a:xfrm>
            <a:off x="13716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8" name="Google Shape;188;p156"/>
          <p:cNvSpPr txBox="1"/>
          <p:nvPr>
            <p:ph idx="11" type="ftr"/>
          </p:nvPr>
        </p:nvSpPr>
        <p:spPr>
          <a:xfrm>
            <a:off x="35560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0" sz="140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9" name="Google Shape;189;p156"/>
          <p:cNvSpPr txBox="1"/>
          <p:nvPr>
            <p:ph idx="12" type="sldNum"/>
          </p:nvPr>
        </p:nvSpPr>
        <p:spPr>
          <a:xfrm>
            <a:off x="67183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1pPr>
            <a:lvl2pPr indent="0" lvl="1"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2pPr>
            <a:lvl3pPr indent="0" lvl="2"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3pPr>
            <a:lvl4pPr indent="0" lvl="3"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4pPr>
            <a:lvl5pPr indent="0" lvl="4"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5pPr>
            <a:lvl6pPr indent="0" lvl="5"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6pPr>
            <a:lvl7pPr indent="0" lvl="6"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7pPr>
            <a:lvl8pPr indent="0" lvl="7"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8pPr>
            <a:lvl9pPr indent="0" lvl="8"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投影片" type="title">
  <p:cSld name="TITLE">
    <p:spTree>
      <p:nvGrpSpPr>
        <p:cNvPr id="206" name="Shape 206"/>
        <p:cNvGrpSpPr/>
        <p:nvPr/>
      </p:nvGrpSpPr>
      <p:grpSpPr>
        <a:xfrm>
          <a:off x="0" y="0"/>
          <a:ext cx="0" cy="0"/>
          <a:chOff x="0" y="0"/>
          <a:chExt cx="0" cy="0"/>
        </a:xfrm>
      </p:grpSpPr>
      <p:sp>
        <p:nvSpPr>
          <p:cNvPr id="207" name="Google Shape;207;p158"/>
          <p:cNvSpPr txBox="1"/>
          <p:nvPr>
            <p:ph type="ctrTitle"/>
          </p:nvPr>
        </p:nvSpPr>
        <p:spPr>
          <a:xfrm>
            <a:off x="990600" y="1676400"/>
            <a:ext cx="7772400" cy="146208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208" name="Google Shape;208;p15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640"/>
              </a:spcBef>
              <a:spcAft>
                <a:spcPts val="0"/>
              </a:spcAft>
              <a:buClr>
                <a:schemeClr val="folHlink"/>
              </a:buClr>
              <a:buSzPts val="1920"/>
              <a:buFont typeface="Noto Sans Symbols"/>
              <a:buNone/>
              <a:defRPr b="0" i="0" sz="3200" u="none" cap="none" strike="noStrike">
                <a:solidFill>
                  <a:schemeClr val="dk1"/>
                </a:solidFill>
                <a:latin typeface="Tahoma"/>
                <a:ea typeface="Tahoma"/>
                <a:cs typeface="Tahoma"/>
                <a:sym typeface="Tahoma"/>
              </a:defRPr>
            </a:lvl1pPr>
            <a:lvl2pPr lvl="1"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lvl="2"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lvl="3"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lvl="4"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209" name="Google Shape;209;p158"/>
          <p:cNvSpPr txBox="1"/>
          <p:nvPr>
            <p:ph idx="10" type="dt"/>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0" name="Google Shape;210;p158"/>
          <p:cNvSpPr txBox="1"/>
          <p:nvPr>
            <p:ph idx="11" type="ftr"/>
          </p:nvPr>
        </p:nvSpPr>
        <p:spPr>
          <a:xfrm>
            <a:off x="3429000" y="62484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b="0" sz="1400">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1" name="Google Shape;211;p158"/>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1pPr>
            <a:lvl2pPr indent="0" lvl="1"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2pPr>
            <a:lvl3pPr indent="0" lvl="2"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3pPr>
            <a:lvl4pPr indent="0" lvl="3"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4pPr>
            <a:lvl5pPr indent="0" lvl="4"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5pPr>
            <a:lvl6pPr indent="0" lvl="5"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6pPr>
            <a:lvl7pPr indent="0" lvl="6"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7pPr>
            <a:lvl8pPr indent="0" lvl="7"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8pPr>
            <a:lvl9pPr indent="0" lvl="8"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投影片" showMasterSp="0" type="title">
  <p:cSld name="TITLE">
    <p:spTree>
      <p:nvGrpSpPr>
        <p:cNvPr id="243" name="Shape 243"/>
        <p:cNvGrpSpPr/>
        <p:nvPr/>
      </p:nvGrpSpPr>
      <p:grpSpPr>
        <a:xfrm>
          <a:off x="0" y="0"/>
          <a:ext cx="0" cy="0"/>
          <a:chOff x="0" y="0"/>
          <a:chExt cx="0" cy="0"/>
        </a:xfrm>
      </p:grpSpPr>
      <p:sp>
        <p:nvSpPr>
          <p:cNvPr id="244" name="Google Shape;244;p160"/>
          <p:cNvSpPr txBox="1"/>
          <p:nvPr>
            <p:ph type="ctrTitle"/>
          </p:nvPr>
        </p:nvSpPr>
        <p:spPr>
          <a:xfrm>
            <a:off x="1371600" y="1511300"/>
            <a:ext cx="6400800" cy="2273300"/>
          </a:xfrm>
          <a:prstGeom prst="rect">
            <a:avLst/>
          </a:prstGeom>
          <a:noFill/>
          <a:ln>
            <a:noFill/>
          </a:ln>
          <a:effectLst>
            <a:outerShdw rotWithShape="0" algn="ctr" dir="2021404" dist="45791">
              <a:schemeClr val="lt2"/>
            </a:outerShdw>
          </a:effectLst>
        </p:spPr>
        <p:txBody>
          <a:bodyPr anchorCtr="0" anchor="b" bIns="45700" lIns="91425" spcFirstLastPara="1" rIns="91425" wrap="square" tIns="45700">
            <a:noAutofit/>
          </a:bodyPr>
          <a:lstStyle>
            <a:lvl1pPr lvl="0" algn="ctr">
              <a:spcBef>
                <a:spcPts val="0"/>
              </a:spcBef>
              <a:spcAft>
                <a:spcPts val="0"/>
              </a:spcAft>
              <a:buSzPts val="1400"/>
              <a:buNone/>
              <a:defRPr>
                <a:solidFill>
                  <a:schemeClr val="dk2"/>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5" name="Google Shape;245;p160"/>
          <p:cNvSpPr txBox="1"/>
          <p:nvPr>
            <p:ph idx="1" type="subTitle"/>
          </p:nvPr>
        </p:nvSpPr>
        <p:spPr>
          <a:xfrm>
            <a:off x="1549400" y="4051300"/>
            <a:ext cx="6032500" cy="1003300"/>
          </a:xfrm>
          <a:prstGeom prst="rect">
            <a:avLst/>
          </a:prstGeom>
          <a:noFill/>
          <a:ln>
            <a:noFill/>
          </a:ln>
        </p:spPr>
        <p:txBody>
          <a:bodyPr anchorCtr="0" anchor="t" bIns="45700" lIns="91425" spcFirstLastPara="1" rIns="91425" wrap="square" tIns="45700">
            <a:noAutofit/>
          </a:bodyPr>
          <a:lstStyle>
            <a:lvl1pPr lvl="0" algn="ctr">
              <a:spcBef>
                <a:spcPts val="560"/>
              </a:spcBef>
              <a:spcAft>
                <a:spcPts val="0"/>
              </a:spcAft>
              <a:buClr>
                <a:schemeClr val="dk1"/>
              </a:buClr>
              <a:buSzPts val="2800"/>
              <a:buFont typeface="Comic Sans MS"/>
              <a:buNone/>
              <a:defRPr sz="2800"/>
            </a:lvl1pPr>
            <a:lvl2pPr lvl="1" algn="l">
              <a:spcBef>
                <a:spcPts val="360"/>
              </a:spcBef>
              <a:spcAft>
                <a:spcPts val="0"/>
              </a:spcAft>
              <a:buClr>
                <a:schemeClr val="dk1"/>
              </a:buClr>
              <a:buSzPts val="1800"/>
              <a:buChar char="–"/>
              <a:defRPr/>
            </a:lvl2pPr>
            <a:lvl3pPr lvl="2" algn="l">
              <a:spcBef>
                <a:spcPts val="360"/>
              </a:spcBef>
              <a:spcAft>
                <a:spcPts val="0"/>
              </a:spcAft>
              <a:buClr>
                <a:schemeClr val="dk1"/>
              </a:buClr>
              <a:buSzPts val="1800"/>
              <a:buChar char="•"/>
              <a:defRPr/>
            </a:lvl3pPr>
            <a:lvl4pPr lvl="3" algn="l">
              <a:spcBef>
                <a:spcPts val="360"/>
              </a:spcBef>
              <a:spcAft>
                <a:spcPts val="0"/>
              </a:spcAft>
              <a:buClr>
                <a:schemeClr val="dk1"/>
              </a:buClr>
              <a:buSzPts val="1800"/>
              <a:buChar char="–"/>
              <a:defRPr/>
            </a:lvl4pPr>
            <a:lvl5pPr lvl="4" algn="l">
              <a:spcBef>
                <a:spcPts val="36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246" name="Google Shape;246;p160"/>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7" name="Google Shape;247;p160"/>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0" sz="140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8" name="Google Shape;248;p16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1pPr>
            <a:lvl2pPr indent="0" lvl="1"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2pPr>
            <a:lvl3pPr indent="0" lvl="2"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3pPr>
            <a:lvl4pPr indent="0" lvl="3"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4pPr>
            <a:lvl5pPr indent="0" lvl="4"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5pPr>
            <a:lvl6pPr indent="0" lvl="5"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6pPr>
            <a:lvl7pPr indent="0" lvl="6"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7pPr>
            <a:lvl8pPr indent="0" lvl="7"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8pPr>
            <a:lvl9pPr indent="0" lvl="8"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theme" Target="../theme/theme4.xml"/><Relationship Id="rId10" Type="http://schemas.openxmlformats.org/officeDocument/2006/relationships/slideLayout" Target="../slideLayouts/slideLayout22.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3"/>
          <p:cNvSpPr txBox="1"/>
          <p:nvPr>
            <p:ph idx="11" type="ftr"/>
          </p:nvPr>
        </p:nvSpPr>
        <p:spPr>
          <a:xfrm>
            <a:off x="76200" y="6296025"/>
            <a:ext cx="28956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1"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9pPr>
          </a:lstStyle>
          <a:p/>
        </p:txBody>
      </p:sp>
      <p:sp>
        <p:nvSpPr>
          <p:cNvPr id="11" name="Google Shape;11;p133"/>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 name="Shape 75"/>
        <p:cNvGrpSpPr/>
        <p:nvPr/>
      </p:nvGrpSpPr>
      <p:grpSpPr>
        <a:xfrm>
          <a:off x="0" y="0"/>
          <a:ext cx="0" cy="0"/>
          <a:chOff x="0" y="0"/>
          <a:chExt cx="0" cy="0"/>
        </a:xfrm>
      </p:grpSpPr>
      <p:sp>
        <p:nvSpPr>
          <p:cNvPr id="76" name="Google Shape;76;p137"/>
          <p:cNvSpPr/>
          <p:nvPr/>
        </p:nvSpPr>
        <p:spPr>
          <a:xfrm rot="-3180000">
            <a:off x="7777956" y="-15081"/>
            <a:ext cx="1162050" cy="2084387"/>
          </a:xfrm>
          <a:custGeom>
            <a:rect b="b" l="l" r="r" t="t"/>
            <a:pathLst>
              <a:path extrusionOk="0" h="3686" w="2903">
                <a:moveTo>
                  <a:pt x="2903" y="433"/>
                </a:moveTo>
                <a:lnTo>
                  <a:pt x="2565" y="80"/>
                </a:lnTo>
                <a:lnTo>
                  <a:pt x="2241" y="0"/>
                </a:lnTo>
                <a:lnTo>
                  <a:pt x="110" y="2811"/>
                </a:lnTo>
                <a:lnTo>
                  <a:pt x="110" y="3228"/>
                </a:lnTo>
                <a:lnTo>
                  <a:pt x="0" y="3631"/>
                </a:lnTo>
                <a:lnTo>
                  <a:pt x="72" y="3686"/>
                </a:lnTo>
                <a:lnTo>
                  <a:pt x="441" y="3355"/>
                </a:lnTo>
                <a:lnTo>
                  <a:pt x="740" y="3228"/>
                </a:lnTo>
                <a:lnTo>
                  <a:pt x="2903" y="43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7" name="Google Shape;77;p137"/>
          <p:cNvSpPr txBox="1"/>
          <p:nvPr>
            <p:ph type="title"/>
          </p:nvPr>
        </p:nvSpPr>
        <p:spPr>
          <a:xfrm>
            <a:off x="685800" y="152400"/>
            <a:ext cx="6870700" cy="1600200"/>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omic Sans MS"/>
                <a:ea typeface="Comic Sans MS"/>
                <a:cs typeface="Comic Sans MS"/>
                <a:sym typeface="Comic Sans MS"/>
              </a:defRPr>
            </a:lvl1pPr>
            <a:lvl2pPr lvl="1" marR="0" rtl="0" algn="ctr">
              <a:spcBef>
                <a:spcPts val="0"/>
              </a:spcBef>
              <a:spcAft>
                <a:spcPts val="0"/>
              </a:spcAft>
              <a:buSzPts val="1400"/>
              <a:buNone/>
              <a:defRPr b="0" i="0" sz="4400" u="none" cap="none" strike="noStrike">
                <a:solidFill>
                  <a:schemeClr val="dk1"/>
                </a:solidFill>
                <a:latin typeface="Comic Sans MS"/>
                <a:ea typeface="Comic Sans MS"/>
                <a:cs typeface="Comic Sans MS"/>
                <a:sym typeface="Comic Sans MS"/>
              </a:defRPr>
            </a:lvl2pPr>
            <a:lvl3pPr lvl="2" marR="0" rtl="0" algn="ctr">
              <a:spcBef>
                <a:spcPts val="0"/>
              </a:spcBef>
              <a:spcAft>
                <a:spcPts val="0"/>
              </a:spcAft>
              <a:buSzPts val="1400"/>
              <a:buNone/>
              <a:defRPr b="0" i="0" sz="4400" u="none" cap="none" strike="noStrike">
                <a:solidFill>
                  <a:schemeClr val="dk1"/>
                </a:solidFill>
                <a:latin typeface="Comic Sans MS"/>
                <a:ea typeface="Comic Sans MS"/>
                <a:cs typeface="Comic Sans MS"/>
                <a:sym typeface="Comic Sans MS"/>
              </a:defRPr>
            </a:lvl3pPr>
            <a:lvl4pPr lvl="3" marR="0" rtl="0" algn="ctr">
              <a:spcBef>
                <a:spcPts val="0"/>
              </a:spcBef>
              <a:spcAft>
                <a:spcPts val="0"/>
              </a:spcAft>
              <a:buSzPts val="1400"/>
              <a:buNone/>
              <a:defRPr b="0" i="0" sz="4400" u="none" cap="none" strike="noStrike">
                <a:solidFill>
                  <a:schemeClr val="dk1"/>
                </a:solidFill>
                <a:latin typeface="Comic Sans MS"/>
                <a:ea typeface="Comic Sans MS"/>
                <a:cs typeface="Comic Sans MS"/>
                <a:sym typeface="Comic Sans MS"/>
              </a:defRPr>
            </a:lvl4pPr>
            <a:lvl5pPr lvl="4" marR="0" rtl="0" algn="ctr">
              <a:spcBef>
                <a:spcPts val="0"/>
              </a:spcBef>
              <a:spcAft>
                <a:spcPts val="0"/>
              </a:spcAft>
              <a:buSzPts val="1400"/>
              <a:buNone/>
              <a:defRPr b="0" i="0" sz="4400" u="none" cap="none" strike="noStrike">
                <a:solidFill>
                  <a:schemeClr val="dk1"/>
                </a:solidFill>
                <a:latin typeface="Comic Sans MS"/>
                <a:ea typeface="Comic Sans MS"/>
                <a:cs typeface="Comic Sans MS"/>
                <a:sym typeface="Comic Sans MS"/>
              </a:defRPr>
            </a:lvl5pPr>
            <a:lvl6pPr lvl="5" marR="0" rtl="0" algn="ctr">
              <a:spcBef>
                <a:spcPts val="0"/>
              </a:spcBef>
              <a:spcAft>
                <a:spcPts val="0"/>
              </a:spcAft>
              <a:buSzPts val="1400"/>
              <a:buNone/>
              <a:defRPr b="0" i="0" sz="4400" u="none" cap="none" strike="noStrike">
                <a:solidFill>
                  <a:schemeClr val="dk1"/>
                </a:solidFill>
                <a:latin typeface="Comic Sans MS"/>
                <a:ea typeface="Comic Sans MS"/>
                <a:cs typeface="Comic Sans MS"/>
                <a:sym typeface="Comic Sans MS"/>
              </a:defRPr>
            </a:lvl6pPr>
            <a:lvl7pPr lvl="6" marR="0" rtl="0" algn="ctr">
              <a:spcBef>
                <a:spcPts val="0"/>
              </a:spcBef>
              <a:spcAft>
                <a:spcPts val="0"/>
              </a:spcAft>
              <a:buSzPts val="1400"/>
              <a:buNone/>
              <a:defRPr b="0" i="0" sz="4400" u="none" cap="none" strike="noStrike">
                <a:solidFill>
                  <a:schemeClr val="dk1"/>
                </a:solidFill>
                <a:latin typeface="Comic Sans MS"/>
                <a:ea typeface="Comic Sans MS"/>
                <a:cs typeface="Comic Sans MS"/>
                <a:sym typeface="Comic Sans MS"/>
              </a:defRPr>
            </a:lvl7pPr>
            <a:lvl8pPr lvl="7" marR="0" rtl="0" algn="ctr">
              <a:spcBef>
                <a:spcPts val="0"/>
              </a:spcBef>
              <a:spcAft>
                <a:spcPts val="0"/>
              </a:spcAft>
              <a:buSzPts val="1400"/>
              <a:buNone/>
              <a:defRPr b="0" i="0" sz="4400" u="none" cap="none" strike="noStrike">
                <a:solidFill>
                  <a:schemeClr val="dk1"/>
                </a:solidFill>
                <a:latin typeface="Comic Sans MS"/>
                <a:ea typeface="Comic Sans MS"/>
                <a:cs typeface="Comic Sans MS"/>
                <a:sym typeface="Comic Sans MS"/>
              </a:defRPr>
            </a:lvl8pPr>
            <a:lvl9pPr lvl="8" marR="0" rtl="0" algn="ctr">
              <a:spcBef>
                <a:spcPts val="0"/>
              </a:spcBef>
              <a:spcAft>
                <a:spcPts val="0"/>
              </a:spcAft>
              <a:buSzPts val="1400"/>
              <a:buNone/>
              <a:defRPr b="0" i="0" sz="4400" u="none" cap="none" strike="noStrike">
                <a:solidFill>
                  <a:schemeClr val="dk1"/>
                </a:solidFill>
                <a:latin typeface="Comic Sans MS"/>
                <a:ea typeface="Comic Sans MS"/>
                <a:cs typeface="Comic Sans MS"/>
                <a:sym typeface="Comic Sans MS"/>
              </a:defRPr>
            </a:lvl9pPr>
          </a:lstStyle>
          <a:p/>
        </p:txBody>
      </p:sp>
      <p:sp>
        <p:nvSpPr>
          <p:cNvPr id="78" name="Google Shape;78;p137"/>
          <p:cNvSpPr txBox="1"/>
          <p:nvPr>
            <p:ph idx="1" type="body"/>
          </p:nvPr>
        </p:nvSpPr>
        <p:spPr>
          <a:xfrm>
            <a:off x="685800" y="1828800"/>
            <a:ext cx="7696200" cy="36576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Comic Sans MS"/>
              <a:buChar char="•"/>
              <a:defRPr b="0" i="0" sz="3200" u="none" cap="none" strike="noStrike">
                <a:solidFill>
                  <a:schemeClr val="dk1"/>
                </a:solidFill>
                <a:latin typeface="Comic Sans MS"/>
                <a:ea typeface="Comic Sans MS"/>
                <a:cs typeface="Comic Sans MS"/>
                <a:sym typeface="Comic Sans MS"/>
              </a:defRPr>
            </a:lvl1pPr>
            <a:lvl2pPr indent="-406400" lvl="1" marL="914400" marR="0" rtl="0" algn="l">
              <a:spcBef>
                <a:spcPts val="560"/>
              </a:spcBef>
              <a:spcAft>
                <a:spcPts val="0"/>
              </a:spcAft>
              <a:buClr>
                <a:schemeClr val="dk1"/>
              </a:buClr>
              <a:buSzPts val="2800"/>
              <a:buFont typeface="Comic Sans MS"/>
              <a:buChar char="–"/>
              <a:defRPr b="0" i="0" sz="2800" u="none" cap="none" strike="noStrike">
                <a:solidFill>
                  <a:schemeClr val="dk1"/>
                </a:solidFill>
                <a:latin typeface="Comic Sans MS"/>
                <a:ea typeface="Comic Sans MS"/>
                <a:cs typeface="Comic Sans MS"/>
                <a:sym typeface="Comic Sans MS"/>
              </a:defRPr>
            </a:lvl2pPr>
            <a:lvl3pPr indent="-381000" lvl="2" marL="1371600" marR="0" rtl="0" algn="l">
              <a:spcBef>
                <a:spcPts val="480"/>
              </a:spcBef>
              <a:spcAft>
                <a:spcPts val="0"/>
              </a:spcAft>
              <a:buClr>
                <a:schemeClr val="dk1"/>
              </a:buClr>
              <a:buSzPts val="2400"/>
              <a:buFont typeface="Comic Sans MS"/>
              <a:buChar char="•"/>
              <a:defRPr b="0" i="0" sz="2400" u="none" cap="none" strike="noStrike">
                <a:solidFill>
                  <a:schemeClr val="dk1"/>
                </a:solidFill>
                <a:latin typeface="Comic Sans MS"/>
                <a:ea typeface="Comic Sans MS"/>
                <a:cs typeface="Comic Sans MS"/>
                <a:sym typeface="Comic Sans MS"/>
              </a:defRPr>
            </a:lvl3pPr>
            <a:lvl4pPr indent="-355600" lvl="3" marL="1828800" marR="0" rtl="0" algn="l">
              <a:spcBef>
                <a:spcPts val="400"/>
              </a:spcBef>
              <a:spcAft>
                <a:spcPts val="0"/>
              </a:spcAft>
              <a:buClr>
                <a:schemeClr val="dk1"/>
              </a:buClr>
              <a:buSzPts val="2000"/>
              <a:buFont typeface="Comic Sans MS"/>
              <a:buChar char="–"/>
              <a:defRPr b="0" i="0" sz="2000" u="none" cap="none" strike="noStrike">
                <a:solidFill>
                  <a:schemeClr val="dk1"/>
                </a:solidFill>
                <a:latin typeface="Comic Sans MS"/>
                <a:ea typeface="Comic Sans MS"/>
                <a:cs typeface="Comic Sans MS"/>
                <a:sym typeface="Comic Sans MS"/>
              </a:defRPr>
            </a:lvl4pPr>
            <a:lvl5pPr indent="-355600" lvl="4" marL="2286000" marR="0" rtl="0" algn="l">
              <a:spcBef>
                <a:spcPts val="400"/>
              </a:spcBef>
              <a:spcAft>
                <a:spcPts val="0"/>
              </a:spcAft>
              <a:buClr>
                <a:schemeClr val="dk1"/>
              </a:buClr>
              <a:buSzPts val="2000"/>
              <a:buFont typeface="Comic Sans MS"/>
              <a:buChar char="»"/>
              <a:defRPr b="0" i="0" sz="2000" u="none" cap="none" strike="noStrike">
                <a:solidFill>
                  <a:schemeClr val="dk1"/>
                </a:solidFill>
                <a:latin typeface="Comic Sans MS"/>
                <a:ea typeface="Comic Sans MS"/>
                <a:cs typeface="Comic Sans MS"/>
                <a:sym typeface="Comic Sans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omic Sans MS"/>
                <a:ea typeface="Comic Sans MS"/>
                <a:cs typeface="Comic Sans MS"/>
                <a:sym typeface="Comic Sans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omic Sans MS"/>
                <a:ea typeface="Comic Sans MS"/>
                <a:cs typeface="Comic Sans MS"/>
                <a:sym typeface="Comic Sans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omic Sans MS"/>
                <a:ea typeface="Comic Sans MS"/>
                <a:cs typeface="Comic Sans MS"/>
                <a:sym typeface="Comic Sans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omic Sans MS"/>
                <a:ea typeface="Comic Sans MS"/>
                <a:cs typeface="Comic Sans MS"/>
                <a:sym typeface="Comic Sans MS"/>
              </a:defRPr>
            </a:lvl9pPr>
          </a:lstStyle>
          <a:p/>
        </p:txBody>
      </p:sp>
      <p:sp>
        <p:nvSpPr>
          <p:cNvPr id="79" name="Google Shape;79;p137"/>
          <p:cNvSpPr txBox="1"/>
          <p:nvPr>
            <p:ph idx="10" type="dt"/>
          </p:nvPr>
        </p:nvSpPr>
        <p:spPr>
          <a:xfrm>
            <a:off x="13716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0" sz="18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9pPr>
          </a:lstStyle>
          <a:p/>
        </p:txBody>
      </p:sp>
      <p:sp>
        <p:nvSpPr>
          <p:cNvPr id="80" name="Google Shape;80;p137"/>
          <p:cNvSpPr txBox="1"/>
          <p:nvPr>
            <p:ph idx="11" type="ftr"/>
          </p:nvPr>
        </p:nvSpPr>
        <p:spPr>
          <a:xfrm>
            <a:off x="3556000" y="6248400"/>
            <a:ext cx="28956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9pPr>
          </a:lstStyle>
          <a:p/>
        </p:txBody>
      </p:sp>
      <p:sp>
        <p:nvSpPr>
          <p:cNvPr id="81" name="Google Shape;81;p137"/>
          <p:cNvSpPr txBox="1"/>
          <p:nvPr>
            <p:ph idx="12" type="sldNum"/>
          </p:nvPr>
        </p:nvSpPr>
        <p:spPr>
          <a:xfrm>
            <a:off x="67183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1pPr>
            <a:lvl2pPr indent="0" lvl="1" marL="0" marR="0" rtl="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2pPr>
            <a:lvl3pPr indent="0" lvl="2" marL="0" marR="0" rtl="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3pPr>
            <a:lvl4pPr indent="0" lvl="3" marL="0" marR="0" rtl="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4pPr>
            <a:lvl5pPr indent="0" lvl="4" marL="0" marR="0" rtl="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5pPr>
            <a:lvl6pPr indent="0" lvl="5" marL="0" marR="0" rtl="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6pPr>
            <a:lvl7pPr indent="0" lvl="6" marL="0" marR="0" rtl="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7pPr>
            <a:lvl8pPr indent="0" lvl="7" marL="0" marR="0" rtl="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8pPr>
            <a:lvl9pPr indent="0" lvl="8" marL="0" marR="0" rtl="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
        <p:nvSpPr>
          <p:cNvPr id="82" name="Google Shape;82;p137"/>
          <p:cNvSpPr/>
          <p:nvPr/>
        </p:nvSpPr>
        <p:spPr>
          <a:xfrm rot="-3180000">
            <a:off x="7865268" y="24606"/>
            <a:ext cx="1165225" cy="2097087"/>
          </a:xfrm>
          <a:custGeom>
            <a:rect b="b" l="l" r="r" t="t"/>
            <a:pathLst>
              <a:path extrusionOk="0" h="3703" w="2911">
                <a:moveTo>
                  <a:pt x="2293" y="0"/>
                </a:moveTo>
                <a:lnTo>
                  <a:pt x="130" y="2835"/>
                </a:lnTo>
                <a:lnTo>
                  <a:pt x="131" y="3201"/>
                </a:lnTo>
                <a:lnTo>
                  <a:pt x="0" y="3633"/>
                </a:lnTo>
                <a:lnTo>
                  <a:pt x="50" y="3703"/>
                </a:lnTo>
                <a:lnTo>
                  <a:pt x="422" y="3352"/>
                </a:lnTo>
                <a:lnTo>
                  <a:pt x="763" y="3220"/>
                </a:lnTo>
                <a:lnTo>
                  <a:pt x="2911" y="428"/>
                </a:lnTo>
                <a:lnTo>
                  <a:pt x="2589" y="96"/>
                </a:lnTo>
                <a:lnTo>
                  <a:pt x="2293"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3" name="Google Shape;83;p137"/>
          <p:cNvSpPr/>
          <p:nvPr/>
        </p:nvSpPr>
        <p:spPr>
          <a:xfrm rot="-3180000">
            <a:off x="7831137" y="192087"/>
            <a:ext cx="1025525" cy="1571625"/>
          </a:xfrm>
          <a:custGeom>
            <a:rect b="b" l="l" r="r" t="t"/>
            <a:pathLst>
              <a:path extrusionOk="0" h="2777" w="2561">
                <a:moveTo>
                  <a:pt x="0" y="2485"/>
                </a:moveTo>
                <a:lnTo>
                  <a:pt x="432" y="2553"/>
                </a:lnTo>
                <a:lnTo>
                  <a:pt x="736" y="2777"/>
                </a:lnTo>
                <a:lnTo>
                  <a:pt x="2561" y="399"/>
                </a:lnTo>
                <a:lnTo>
                  <a:pt x="2118" y="82"/>
                </a:lnTo>
                <a:lnTo>
                  <a:pt x="1898" y="0"/>
                </a:lnTo>
                <a:lnTo>
                  <a:pt x="0" y="248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nvGrpSpPr>
          <p:cNvPr id="84" name="Google Shape;84;p137"/>
          <p:cNvGrpSpPr/>
          <p:nvPr/>
        </p:nvGrpSpPr>
        <p:grpSpPr>
          <a:xfrm>
            <a:off x="7937" y="5540375"/>
            <a:ext cx="1784350" cy="1246187"/>
            <a:chOff x="5" y="3490"/>
            <a:chExt cx="1124" cy="785"/>
          </a:xfrm>
        </p:grpSpPr>
        <p:sp>
          <p:nvSpPr>
            <p:cNvPr id="85" name="Google Shape;85;p137"/>
            <p:cNvSpPr/>
            <p:nvPr/>
          </p:nvSpPr>
          <p:spPr>
            <a:xfrm>
              <a:off x="24" y="3505"/>
              <a:ext cx="1089" cy="649"/>
            </a:xfrm>
            <a:custGeom>
              <a:rect b="b" l="l" r="r" t="t"/>
              <a:pathLst>
                <a:path extrusionOk="0" h="1298" w="2177">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close/>
                </a:path>
              </a:pathLst>
            </a:custGeom>
            <a:solidFill>
              <a:srgbClr val="F8F8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6" name="Google Shape;86;p137"/>
            <p:cNvSpPr/>
            <p:nvPr/>
          </p:nvSpPr>
          <p:spPr>
            <a:xfrm>
              <a:off x="1022" y="3582"/>
              <a:ext cx="71" cy="129"/>
            </a:xfrm>
            <a:custGeom>
              <a:rect b="b" l="l" r="r" t="t"/>
              <a:pathLst>
                <a:path extrusionOk="0" h="258" w="143">
                  <a:moveTo>
                    <a:pt x="0" y="7"/>
                  </a:moveTo>
                  <a:lnTo>
                    <a:pt x="120" y="0"/>
                  </a:lnTo>
                  <a:lnTo>
                    <a:pt x="143" y="233"/>
                  </a:lnTo>
                  <a:lnTo>
                    <a:pt x="8" y="258"/>
                  </a:lnTo>
                  <a:lnTo>
                    <a:pt x="0" y="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7" name="Google Shape;87;p137"/>
            <p:cNvSpPr/>
            <p:nvPr/>
          </p:nvSpPr>
          <p:spPr>
            <a:xfrm>
              <a:off x="20" y="3774"/>
              <a:ext cx="792" cy="410"/>
            </a:xfrm>
            <a:custGeom>
              <a:rect b="b" l="l" r="r" t="t"/>
              <a:pathLst>
                <a:path extrusionOk="0" h="821" w="1586">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8" name="Google Shape;88;p137"/>
            <p:cNvSpPr/>
            <p:nvPr/>
          </p:nvSpPr>
          <p:spPr>
            <a:xfrm>
              <a:off x="129" y="3808"/>
              <a:ext cx="525" cy="374"/>
            </a:xfrm>
            <a:custGeom>
              <a:rect b="b" l="l" r="r" t="t"/>
              <a:pathLst>
                <a:path extrusionOk="0" h="747" w="1049">
                  <a:moveTo>
                    <a:pt x="0" y="325"/>
                  </a:moveTo>
                  <a:lnTo>
                    <a:pt x="922" y="747"/>
                  </a:lnTo>
                  <a:lnTo>
                    <a:pt x="939" y="534"/>
                  </a:lnTo>
                  <a:lnTo>
                    <a:pt x="1049" y="422"/>
                  </a:lnTo>
                  <a:lnTo>
                    <a:pt x="78" y="0"/>
                  </a:lnTo>
                  <a:lnTo>
                    <a:pt x="0" y="127"/>
                  </a:lnTo>
                  <a:lnTo>
                    <a:pt x="0" y="32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9" name="Google Shape;89;p137"/>
            <p:cNvSpPr/>
            <p:nvPr/>
          </p:nvSpPr>
          <p:spPr>
            <a:xfrm>
              <a:off x="485" y="3532"/>
              <a:ext cx="135" cy="121"/>
            </a:xfrm>
            <a:custGeom>
              <a:rect b="b" l="l" r="r" t="t"/>
              <a:pathLst>
                <a:path extrusionOk="0" h="241" w="272">
                  <a:moveTo>
                    <a:pt x="0" y="28"/>
                  </a:moveTo>
                  <a:lnTo>
                    <a:pt x="160" y="0"/>
                  </a:lnTo>
                  <a:lnTo>
                    <a:pt x="251" y="36"/>
                  </a:lnTo>
                  <a:lnTo>
                    <a:pt x="272" y="139"/>
                  </a:lnTo>
                  <a:lnTo>
                    <a:pt x="164" y="146"/>
                  </a:lnTo>
                  <a:lnTo>
                    <a:pt x="32" y="241"/>
                  </a:lnTo>
                  <a:lnTo>
                    <a:pt x="0" y="28"/>
                  </a:lnTo>
                  <a:close/>
                </a:path>
              </a:pathLst>
            </a:custGeom>
            <a:solidFill>
              <a:schemeClr va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0" name="Google Shape;90;p137"/>
            <p:cNvSpPr/>
            <p:nvPr/>
          </p:nvSpPr>
          <p:spPr>
            <a:xfrm>
              <a:off x="641" y="4163"/>
              <a:ext cx="76" cy="112"/>
            </a:xfrm>
            <a:custGeom>
              <a:rect b="b" l="l" r="r" t="t"/>
              <a:pathLst>
                <a:path extrusionOk="0" h="224" w="152">
                  <a:moveTo>
                    <a:pt x="152" y="4"/>
                  </a:moveTo>
                  <a:lnTo>
                    <a:pt x="152" y="224"/>
                  </a:lnTo>
                  <a:lnTo>
                    <a:pt x="0" y="8"/>
                  </a:lnTo>
                  <a:lnTo>
                    <a:pt x="72" y="0"/>
                  </a:lnTo>
                  <a:lnTo>
                    <a:pt x="152" y="4"/>
                  </a:lnTo>
                  <a:close/>
                </a:path>
              </a:pathLst>
            </a:custGeom>
            <a:solidFill>
              <a:schemeClr va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1" name="Google Shape;91;p137"/>
            <p:cNvSpPr/>
            <p:nvPr/>
          </p:nvSpPr>
          <p:spPr>
            <a:xfrm>
              <a:off x="504" y="3607"/>
              <a:ext cx="193" cy="383"/>
            </a:xfrm>
            <a:custGeom>
              <a:rect b="b" l="l" r="r" t="t"/>
              <a:pathLst>
                <a:path extrusionOk="0" h="764" w="386">
                  <a:moveTo>
                    <a:pt x="0" y="80"/>
                  </a:moveTo>
                  <a:lnTo>
                    <a:pt x="87" y="0"/>
                  </a:lnTo>
                  <a:lnTo>
                    <a:pt x="232" y="6"/>
                  </a:lnTo>
                  <a:lnTo>
                    <a:pt x="386" y="764"/>
                  </a:lnTo>
                  <a:lnTo>
                    <a:pt x="279" y="720"/>
                  </a:lnTo>
                  <a:lnTo>
                    <a:pt x="152" y="677"/>
                  </a:lnTo>
                  <a:lnTo>
                    <a:pt x="0" y="8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2" name="Google Shape;92;p137"/>
            <p:cNvSpPr/>
            <p:nvPr/>
          </p:nvSpPr>
          <p:spPr>
            <a:xfrm>
              <a:off x="668" y="3590"/>
              <a:ext cx="364" cy="174"/>
            </a:xfrm>
            <a:custGeom>
              <a:rect b="b" l="l" r="r" t="t"/>
              <a:pathLst>
                <a:path extrusionOk="0" h="348" w="728">
                  <a:moveTo>
                    <a:pt x="692" y="0"/>
                  </a:moveTo>
                  <a:lnTo>
                    <a:pt x="0" y="106"/>
                  </a:lnTo>
                  <a:lnTo>
                    <a:pt x="28" y="348"/>
                  </a:lnTo>
                  <a:lnTo>
                    <a:pt x="715" y="237"/>
                  </a:lnTo>
                  <a:lnTo>
                    <a:pt x="728" y="43"/>
                  </a:lnTo>
                  <a:lnTo>
                    <a:pt x="69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3" name="Google Shape;93;p137"/>
            <p:cNvSpPr/>
            <p:nvPr/>
          </p:nvSpPr>
          <p:spPr>
            <a:xfrm>
              <a:off x="347" y="3693"/>
              <a:ext cx="156" cy="67"/>
            </a:xfrm>
            <a:custGeom>
              <a:rect b="b" l="l" r="r" t="t"/>
              <a:pathLst>
                <a:path extrusionOk="0" h="135" w="312">
                  <a:moveTo>
                    <a:pt x="272" y="0"/>
                  </a:moveTo>
                  <a:lnTo>
                    <a:pt x="0" y="78"/>
                  </a:lnTo>
                  <a:lnTo>
                    <a:pt x="312" y="135"/>
                  </a:lnTo>
                  <a:lnTo>
                    <a:pt x="272"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nvGrpSpPr>
            <p:cNvPr id="94" name="Google Shape;94;p137"/>
            <p:cNvGrpSpPr/>
            <p:nvPr/>
          </p:nvGrpSpPr>
          <p:grpSpPr>
            <a:xfrm>
              <a:off x="5" y="3490"/>
              <a:ext cx="1124" cy="780"/>
              <a:chOff x="5" y="3490"/>
              <a:chExt cx="1124" cy="780"/>
            </a:xfrm>
          </p:grpSpPr>
          <p:grpSp>
            <p:nvGrpSpPr>
              <p:cNvPr id="95" name="Google Shape;95;p137"/>
              <p:cNvGrpSpPr/>
              <p:nvPr/>
            </p:nvGrpSpPr>
            <p:grpSpPr>
              <a:xfrm>
                <a:off x="499" y="3562"/>
                <a:ext cx="548" cy="708"/>
                <a:chOff x="499" y="3562"/>
                <a:chExt cx="548" cy="708"/>
              </a:xfrm>
            </p:grpSpPr>
            <p:sp>
              <p:nvSpPr>
                <p:cNvPr id="96" name="Google Shape;96;p137"/>
                <p:cNvSpPr/>
                <p:nvPr/>
              </p:nvSpPr>
              <p:spPr>
                <a:xfrm>
                  <a:off x="499" y="3587"/>
                  <a:ext cx="157" cy="87"/>
                </a:xfrm>
                <a:custGeom>
                  <a:rect b="b" l="l" r="r" t="t"/>
                  <a:pathLst>
                    <a:path extrusionOk="0" h="175" w="313">
                      <a:moveTo>
                        <a:pt x="0" y="107"/>
                      </a:moveTo>
                      <a:lnTo>
                        <a:pt x="114" y="10"/>
                      </a:lnTo>
                      <a:lnTo>
                        <a:pt x="213" y="0"/>
                      </a:lnTo>
                      <a:lnTo>
                        <a:pt x="292" y="27"/>
                      </a:lnTo>
                      <a:lnTo>
                        <a:pt x="313" y="91"/>
                      </a:lnTo>
                      <a:lnTo>
                        <a:pt x="167" y="67"/>
                      </a:lnTo>
                      <a:lnTo>
                        <a:pt x="74" y="101"/>
                      </a:lnTo>
                      <a:lnTo>
                        <a:pt x="13" y="175"/>
                      </a:lnTo>
                      <a:lnTo>
                        <a:pt x="0" y="107"/>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7" name="Google Shape;97;p137"/>
                <p:cNvSpPr/>
                <p:nvPr/>
              </p:nvSpPr>
              <p:spPr>
                <a:xfrm>
                  <a:off x="636" y="4137"/>
                  <a:ext cx="115" cy="133"/>
                </a:xfrm>
                <a:custGeom>
                  <a:rect b="b" l="l" r="r" t="t"/>
                  <a:pathLst>
                    <a:path extrusionOk="0" h="266" w="230">
                      <a:moveTo>
                        <a:pt x="0" y="40"/>
                      </a:moveTo>
                      <a:lnTo>
                        <a:pt x="160" y="266"/>
                      </a:lnTo>
                      <a:lnTo>
                        <a:pt x="230" y="251"/>
                      </a:lnTo>
                      <a:lnTo>
                        <a:pt x="223" y="17"/>
                      </a:lnTo>
                      <a:lnTo>
                        <a:pt x="166" y="0"/>
                      </a:lnTo>
                      <a:lnTo>
                        <a:pt x="179" y="197"/>
                      </a:lnTo>
                      <a:lnTo>
                        <a:pt x="71" y="4"/>
                      </a:lnTo>
                      <a:lnTo>
                        <a:pt x="0" y="4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8" name="Google Shape;98;p137"/>
                <p:cNvSpPr/>
                <p:nvPr/>
              </p:nvSpPr>
              <p:spPr>
                <a:xfrm>
                  <a:off x="1004" y="3562"/>
                  <a:ext cx="43" cy="117"/>
                </a:xfrm>
                <a:custGeom>
                  <a:rect b="b" l="l" r="r" t="t"/>
                  <a:pathLst>
                    <a:path extrusionOk="0" h="234" w="87">
                      <a:moveTo>
                        <a:pt x="0" y="19"/>
                      </a:moveTo>
                      <a:lnTo>
                        <a:pt x="36" y="93"/>
                      </a:lnTo>
                      <a:lnTo>
                        <a:pt x="44" y="154"/>
                      </a:lnTo>
                      <a:lnTo>
                        <a:pt x="27" y="234"/>
                      </a:lnTo>
                      <a:lnTo>
                        <a:pt x="80" y="220"/>
                      </a:lnTo>
                      <a:lnTo>
                        <a:pt x="87" y="116"/>
                      </a:lnTo>
                      <a:lnTo>
                        <a:pt x="46" y="0"/>
                      </a:lnTo>
                      <a:lnTo>
                        <a:pt x="0" y="19"/>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sp>
            <p:nvSpPr>
              <p:cNvPr id="99" name="Google Shape;99;p137"/>
              <p:cNvSpPr/>
              <p:nvPr/>
            </p:nvSpPr>
            <p:spPr>
              <a:xfrm>
                <a:off x="76" y="3732"/>
                <a:ext cx="595" cy="250"/>
              </a:xfrm>
              <a:custGeom>
                <a:rect b="b" l="l" r="r" t="t"/>
                <a:pathLst>
                  <a:path extrusionOk="0" h="500" w="1190">
                    <a:moveTo>
                      <a:pt x="100" y="0"/>
                    </a:moveTo>
                    <a:lnTo>
                      <a:pt x="1190" y="490"/>
                    </a:lnTo>
                    <a:lnTo>
                      <a:pt x="1076" y="500"/>
                    </a:lnTo>
                    <a:lnTo>
                      <a:pt x="0" y="27"/>
                    </a:lnTo>
                    <a:lnTo>
                      <a:pt x="100"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0" name="Google Shape;100;p137"/>
              <p:cNvSpPr/>
              <p:nvPr/>
            </p:nvSpPr>
            <p:spPr>
              <a:xfrm>
                <a:off x="260" y="3886"/>
                <a:ext cx="244" cy="148"/>
              </a:xfrm>
              <a:custGeom>
                <a:rect b="b" l="l" r="r" t="t"/>
                <a:pathLst>
                  <a:path extrusionOk="0" h="296" w="489">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1" name="Google Shape;101;p137"/>
              <p:cNvSpPr/>
              <p:nvPr/>
            </p:nvSpPr>
            <p:spPr>
              <a:xfrm>
                <a:off x="565" y="3680"/>
                <a:ext cx="107" cy="238"/>
              </a:xfrm>
              <a:custGeom>
                <a:rect b="b" l="l" r="r" t="t"/>
                <a:pathLst>
                  <a:path extrusionOk="0" h="478" w="213">
                    <a:moveTo>
                      <a:pt x="24" y="0"/>
                    </a:moveTo>
                    <a:lnTo>
                      <a:pt x="91" y="25"/>
                    </a:lnTo>
                    <a:lnTo>
                      <a:pt x="80" y="192"/>
                    </a:lnTo>
                    <a:lnTo>
                      <a:pt x="106" y="327"/>
                    </a:lnTo>
                    <a:lnTo>
                      <a:pt x="213" y="451"/>
                    </a:lnTo>
                    <a:lnTo>
                      <a:pt x="97" y="478"/>
                    </a:lnTo>
                    <a:lnTo>
                      <a:pt x="30" y="344"/>
                    </a:lnTo>
                    <a:lnTo>
                      <a:pt x="0" y="57"/>
                    </a:lnTo>
                    <a:lnTo>
                      <a:pt x="24"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nvGrpSpPr>
              <p:cNvPr id="102" name="Google Shape;102;p137"/>
              <p:cNvGrpSpPr/>
              <p:nvPr/>
            </p:nvGrpSpPr>
            <p:grpSpPr>
              <a:xfrm>
                <a:off x="5" y="3490"/>
                <a:ext cx="1124" cy="678"/>
                <a:chOff x="5" y="3490"/>
                <a:chExt cx="1124" cy="678"/>
              </a:xfrm>
            </p:grpSpPr>
            <p:sp>
              <p:nvSpPr>
                <p:cNvPr id="103" name="Google Shape;103;p137"/>
                <p:cNvSpPr/>
                <p:nvPr/>
              </p:nvSpPr>
              <p:spPr>
                <a:xfrm>
                  <a:off x="669" y="4048"/>
                  <a:ext cx="75" cy="87"/>
                </a:xfrm>
                <a:custGeom>
                  <a:rect b="b" l="l" r="r" t="t"/>
                  <a:pathLst>
                    <a:path extrusionOk="0" h="173" w="150">
                      <a:moveTo>
                        <a:pt x="110" y="0"/>
                      </a:moveTo>
                      <a:lnTo>
                        <a:pt x="40" y="66"/>
                      </a:lnTo>
                      <a:lnTo>
                        <a:pt x="0" y="173"/>
                      </a:lnTo>
                      <a:lnTo>
                        <a:pt x="80" y="160"/>
                      </a:lnTo>
                      <a:lnTo>
                        <a:pt x="103" y="84"/>
                      </a:lnTo>
                      <a:lnTo>
                        <a:pt x="150" y="27"/>
                      </a:lnTo>
                      <a:lnTo>
                        <a:pt x="110"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4" name="Google Shape;104;p137"/>
                <p:cNvSpPr/>
                <p:nvPr/>
              </p:nvSpPr>
              <p:spPr>
                <a:xfrm>
                  <a:off x="5" y="3728"/>
                  <a:ext cx="842" cy="440"/>
                </a:xfrm>
                <a:custGeom>
                  <a:rect b="b" l="l" r="r" t="t"/>
                  <a:pathLst>
                    <a:path extrusionOk="0" h="880" w="1684">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5" name="Google Shape;105;p137"/>
                <p:cNvSpPr/>
                <p:nvPr/>
              </p:nvSpPr>
              <p:spPr>
                <a:xfrm>
                  <a:off x="106" y="3770"/>
                  <a:ext cx="80" cy="167"/>
                </a:xfrm>
                <a:custGeom>
                  <a:rect b="b" l="l" r="r" t="t"/>
                  <a:pathLst>
                    <a:path extrusionOk="0" h="335" w="160">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6" name="Google Shape;106;p137"/>
                <p:cNvSpPr/>
                <p:nvPr/>
              </p:nvSpPr>
              <p:spPr>
                <a:xfrm>
                  <a:off x="449" y="3490"/>
                  <a:ext cx="322" cy="594"/>
                </a:xfrm>
                <a:custGeom>
                  <a:rect b="b" l="l" r="r" t="t"/>
                  <a:pathLst>
                    <a:path extrusionOk="0" h="1188" w="642">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7" name="Google Shape;107;p137"/>
                <p:cNvSpPr/>
                <p:nvPr/>
              </p:nvSpPr>
              <p:spPr>
                <a:xfrm>
                  <a:off x="578" y="3650"/>
                  <a:ext cx="96" cy="252"/>
                </a:xfrm>
                <a:custGeom>
                  <a:rect b="b" l="l" r="r" t="t"/>
                  <a:pathLst>
                    <a:path extrusionOk="0" h="504" w="192">
                      <a:moveTo>
                        <a:pt x="0" y="27"/>
                      </a:moveTo>
                      <a:lnTo>
                        <a:pt x="76" y="194"/>
                      </a:lnTo>
                      <a:lnTo>
                        <a:pt x="113" y="318"/>
                      </a:lnTo>
                      <a:lnTo>
                        <a:pt x="116" y="504"/>
                      </a:lnTo>
                      <a:lnTo>
                        <a:pt x="192" y="504"/>
                      </a:lnTo>
                      <a:lnTo>
                        <a:pt x="187" y="360"/>
                      </a:lnTo>
                      <a:lnTo>
                        <a:pt x="162" y="208"/>
                      </a:lnTo>
                      <a:lnTo>
                        <a:pt x="99" y="59"/>
                      </a:lnTo>
                      <a:lnTo>
                        <a:pt x="63" y="0"/>
                      </a:lnTo>
                      <a:lnTo>
                        <a:pt x="0" y="27"/>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8" name="Google Shape;108;p137"/>
                <p:cNvSpPr/>
                <p:nvPr/>
              </p:nvSpPr>
              <p:spPr>
                <a:xfrm>
                  <a:off x="328" y="3630"/>
                  <a:ext cx="195" cy="135"/>
                </a:xfrm>
                <a:custGeom>
                  <a:rect b="b" l="l" r="r" t="t"/>
                  <a:pathLst>
                    <a:path extrusionOk="0" h="269" w="390">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9" name="Google Shape;109;p137"/>
                <p:cNvSpPr/>
                <p:nvPr/>
              </p:nvSpPr>
              <p:spPr>
                <a:xfrm>
                  <a:off x="658" y="3538"/>
                  <a:ext cx="471" cy="212"/>
                </a:xfrm>
                <a:custGeom>
                  <a:rect b="b" l="l" r="r" t="t"/>
                  <a:pathLst>
                    <a:path extrusionOk="0" h="424" w="941">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0" name="Google Shape;110;p137"/>
                <p:cNvSpPr/>
                <p:nvPr/>
              </p:nvSpPr>
              <p:spPr>
                <a:xfrm>
                  <a:off x="717" y="3606"/>
                  <a:ext cx="245" cy="86"/>
                </a:xfrm>
                <a:custGeom>
                  <a:rect b="b" l="l" r="r" t="t"/>
                  <a:pathLst>
                    <a:path extrusionOk="0" h="173" w="488">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grpSp>
      <p:grpSp>
        <p:nvGrpSpPr>
          <p:cNvPr id="111" name="Google Shape;111;p137"/>
          <p:cNvGrpSpPr/>
          <p:nvPr/>
        </p:nvGrpSpPr>
        <p:grpSpPr>
          <a:xfrm>
            <a:off x="8680450" y="2116137"/>
            <a:ext cx="385762" cy="4308475"/>
            <a:chOff x="5468" y="1333"/>
            <a:chExt cx="243" cy="2714"/>
          </a:xfrm>
        </p:grpSpPr>
        <p:sp>
          <p:nvSpPr>
            <p:cNvPr id="112" name="Google Shape;112;p137"/>
            <p:cNvSpPr/>
            <p:nvPr/>
          </p:nvSpPr>
          <p:spPr>
            <a:xfrm flipH="1">
              <a:off x="5468" y="2620"/>
              <a:ext cx="205" cy="1427"/>
            </a:xfrm>
            <a:custGeom>
              <a:rect b="b" l="l" r="r" t="t"/>
              <a:pathLst>
                <a:path extrusionOk="0" h="3266" w="772">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3" name="Google Shape;113;p137"/>
            <p:cNvSpPr/>
            <p:nvPr/>
          </p:nvSpPr>
          <p:spPr>
            <a:xfrm flipH="1">
              <a:off x="5506" y="1333"/>
              <a:ext cx="205" cy="1633"/>
            </a:xfrm>
            <a:custGeom>
              <a:rect b="b" l="l" r="r" t="t"/>
              <a:pathLst>
                <a:path extrusionOk="0" h="3266" w="772">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114" name="Google Shape;114;p137"/>
          <p:cNvGrpSpPr/>
          <p:nvPr/>
        </p:nvGrpSpPr>
        <p:grpSpPr>
          <a:xfrm>
            <a:off x="7171101" y="-85888"/>
            <a:ext cx="2428148" cy="2245051"/>
            <a:chOff x="4517" y="-54"/>
            <a:chExt cx="1530" cy="1414"/>
          </a:xfrm>
        </p:grpSpPr>
        <p:grpSp>
          <p:nvGrpSpPr>
            <p:cNvPr id="115" name="Google Shape;115;p137"/>
            <p:cNvGrpSpPr/>
            <p:nvPr/>
          </p:nvGrpSpPr>
          <p:grpSpPr>
            <a:xfrm>
              <a:off x="4517" y="-54"/>
              <a:ext cx="1530" cy="1414"/>
              <a:chOff x="4517" y="-54"/>
              <a:chExt cx="1530" cy="1414"/>
            </a:xfrm>
          </p:grpSpPr>
          <p:sp>
            <p:nvSpPr>
              <p:cNvPr id="116" name="Google Shape;116;p137"/>
              <p:cNvSpPr/>
              <p:nvPr/>
            </p:nvSpPr>
            <p:spPr>
              <a:xfrm rot="-3180000">
                <a:off x="5430" y="1086"/>
                <a:ext cx="62" cy="288"/>
              </a:xfrm>
              <a:custGeom>
                <a:rect b="b" l="l" r="r" t="t"/>
                <a:pathLst>
                  <a:path extrusionOk="0" h="806" w="245">
                    <a:moveTo>
                      <a:pt x="123" y="9"/>
                    </a:moveTo>
                    <a:lnTo>
                      <a:pt x="131" y="342"/>
                    </a:lnTo>
                    <a:lnTo>
                      <a:pt x="0" y="806"/>
                    </a:lnTo>
                    <a:lnTo>
                      <a:pt x="79" y="789"/>
                    </a:lnTo>
                    <a:lnTo>
                      <a:pt x="218" y="376"/>
                    </a:lnTo>
                    <a:lnTo>
                      <a:pt x="245" y="0"/>
                    </a:lnTo>
                    <a:lnTo>
                      <a:pt x="123" y="9"/>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nvGrpSpPr>
              <p:cNvPr id="117" name="Google Shape;117;p137"/>
              <p:cNvGrpSpPr/>
              <p:nvPr/>
            </p:nvGrpSpPr>
            <p:grpSpPr>
              <a:xfrm>
                <a:off x="4517" y="-54"/>
                <a:ext cx="1530" cy="1414"/>
                <a:chOff x="4517" y="-54"/>
                <a:chExt cx="1530" cy="1414"/>
              </a:xfrm>
            </p:grpSpPr>
            <p:sp>
              <p:nvSpPr>
                <p:cNvPr id="118" name="Google Shape;118;p137"/>
                <p:cNvSpPr/>
                <p:nvPr/>
              </p:nvSpPr>
              <p:spPr>
                <a:xfrm rot="-3180000">
                  <a:off x="4966" y="71"/>
                  <a:ext cx="153" cy="125"/>
                </a:xfrm>
                <a:custGeom>
                  <a:rect b="b" l="l" r="r" t="t"/>
                  <a:pathLst>
                    <a:path extrusionOk="0" h="349" w="604">
                      <a:moveTo>
                        <a:pt x="0" y="0"/>
                      </a:moveTo>
                      <a:lnTo>
                        <a:pt x="298" y="184"/>
                      </a:lnTo>
                      <a:lnTo>
                        <a:pt x="500" y="349"/>
                      </a:lnTo>
                      <a:lnTo>
                        <a:pt x="604" y="140"/>
                      </a:lnTo>
                      <a:lnTo>
                        <a:pt x="359" y="9"/>
                      </a:lnTo>
                      <a:lnTo>
                        <a:pt x="464" y="184"/>
                      </a:lnTo>
                      <a:lnTo>
                        <a:pt x="131" y="17"/>
                      </a:lnTo>
                      <a:lnTo>
                        <a:pt x="0"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9" name="Google Shape;119;p137"/>
                <p:cNvSpPr/>
                <p:nvPr/>
              </p:nvSpPr>
              <p:spPr>
                <a:xfrm rot="-3180000">
                  <a:off x="5048" y="331"/>
                  <a:ext cx="269" cy="438"/>
                </a:xfrm>
                <a:custGeom>
                  <a:rect b="b" l="l" r="r" t="t"/>
                  <a:pathLst>
                    <a:path extrusionOk="0" h="1230" w="1064">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0" name="Google Shape;120;p137"/>
                <p:cNvSpPr/>
                <p:nvPr/>
              </p:nvSpPr>
              <p:spPr>
                <a:xfrm rot="-3180000">
                  <a:off x="4858" y="181"/>
                  <a:ext cx="505" cy="898"/>
                </a:xfrm>
                <a:custGeom>
                  <a:rect b="b" l="l" r="r" t="t"/>
                  <a:pathLst>
                    <a:path extrusionOk="0" h="2521" w="2002">
                      <a:moveTo>
                        <a:pt x="1941" y="0"/>
                      </a:moveTo>
                      <a:lnTo>
                        <a:pt x="0" y="2521"/>
                      </a:lnTo>
                      <a:lnTo>
                        <a:pt x="192" y="2450"/>
                      </a:lnTo>
                      <a:lnTo>
                        <a:pt x="2002" y="61"/>
                      </a:lnTo>
                      <a:lnTo>
                        <a:pt x="1941"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1" name="Google Shape;121;p137"/>
                <p:cNvSpPr/>
                <p:nvPr/>
              </p:nvSpPr>
              <p:spPr>
                <a:xfrm rot="-3180000">
                  <a:off x="4903" y="-19"/>
                  <a:ext cx="758" cy="1344"/>
                </a:xfrm>
                <a:custGeom>
                  <a:rect b="b" l="l" r="r" t="t"/>
                  <a:pathLst>
                    <a:path extrusionOk="0" h="3771" w="3007">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2" name="Google Shape;122;p137"/>
                <p:cNvSpPr/>
                <p:nvPr/>
              </p:nvSpPr>
              <p:spPr>
                <a:xfrm rot="-3180000">
                  <a:off x="5297" y="896"/>
                  <a:ext cx="169" cy="122"/>
                </a:xfrm>
                <a:custGeom>
                  <a:rect b="b" l="l" r="r" t="t"/>
                  <a:pathLst>
                    <a:path extrusionOk="0" h="342" w="673">
                      <a:moveTo>
                        <a:pt x="0" y="80"/>
                      </a:moveTo>
                      <a:lnTo>
                        <a:pt x="255" y="106"/>
                      </a:lnTo>
                      <a:lnTo>
                        <a:pt x="639" y="342"/>
                      </a:lnTo>
                      <a:lnTo>
                        <a:pt x="673" y="289"/>
                      </a:lnTo>
                      <a:lnTo>
                        <a:pt x="447" y="114"/>
                      </a:lnTo>
                      <a:lnTo>
                        <a:pt x="26" y="0"/>
                      </a:lnTo>
                      <a:lnTo>
                        <a:pt x="0" y="8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3" name="Google Shape;123;p137"/>
                <p:cNvSpPr/>
                <p:nvPr/>
              </p:nvSpPr>
              <p:spPr>
                <a:xfrm rot="-3180000">
                  <a:off x="5253" y="805"/>
                  <a:ext cx="181" cy="144"/>
                </a:xfrm>
                <a:custGeom>
                  <a:rect b="b" l="l" r="r" t="t"/>
                  <a:pathLst>
                    <a:path extrusionOk="0" h="403" w="716">
                      <a:moveTo>
                        <a:pt x="0" y="78"/>
                      </a:moveTo>
                      <a:lnTo>
                        <a:pt x="340" y="148"/>
                      </a:lnTo>
                      <a:lnTo>
                        <a:pt x="638" y="403"/>
                      </a:lnTo>
                      <a:lnTo>
                        <a:pt x="716" y="296"/>
                      </a:lnTo>
                      <a:lnTo>
                        <a:pt x="420" y="114"/>
                      </a:lnTo>
                      <a:lnTo>
                        <a:pt x="70" y="0"/>
                      </a:lnTo>
                      <a:lnTo>
                        <a:pt x="0" y="78"/>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4" name="Google Shape;124;p137"/>
                <p:cNvSpPr/>
                <p:nvPr/>
              </p:nvSpPr>
              <p:spPr>
                <a:xfrm rot="-3180000">
                  <a:off x="4985" y="210"/>
                  <a:ext cx="181" cy="147"/>
                </a:xfrm>
                <a:custGeom>
                  <a:rect b="b" l="l" r="r" t="t"/>
                  <a:pathLst>
                    <a:path extrusionOk="0" h="411" w="717">
                      <a:moveTo>
                        <a:pt x="0" y="78"/>
                      </a:moveTo>
                      <a:lnTo>
                        <a:pt x="316" y="139"/>
                      </a:lnTo>
                      <a:lnTo>
                        <a:pt x="649" y="411"/>
                      </a:lnTo>
                      <a:lnTo>
                        <a:pt x="717" y="314"/>
                      </a:lnTo>
                      <a:lnTo>
                        <a:pt x="394" y="87"/>
                      </a:lnTo>
                      <a:lnTo>
                        <a:pt x="54" y="0"/>
                      </a:lnTo>
                      <a:lnTo>
                        <a:pt x="0" y="78"/>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5" name="Google Shape;125;p137"/>
                <p:cNvSpPr/>
                <p:nvPr/>
              </p:nvSpPr>
              <p:spPr>
                <a:xfrm rot="-3180000">
                  <a:off x="4948" y="141"/>
                  <a:ext cx="179" cy="138"/>
                </a:xfrm>
                <a:custGeom>
                  <a:rect b="b" l="l" r="r" t="t"/>
                  <a:pathLst>
                    <a:path extrusionOk="0" h="386" w="709">
                      <a:moveTo>
                        <a:pt x="0" y="88"/>
                      </a:moveTo>
                      <a:lnTo>
                        <a:pt x="272" y="131"/>
                      </a:lnTo>
                      <a:lnTo>
                        <a:pt x="665" y="386"/>
                      </a:lnTo>
                      <a:lnTo>
                        <a:pt x="709" y="308"/>
                      </a:lnTo>
                      <a:lnTo>
                        <a:pt x="306" y="53"/>
                      </a:lnTo>
                      <a:lnTo>
                        <a:pt x="43" y="0"/>
                      </a:lnTo>
                      <a:lnTo>
                        <a:pt x="0" y="88"/>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cxnSp>
          <p:nvCxnSpPr>
            <p:cNvPr id="126" name="Google Shape;126;p137"/>
            <p:cNvCxnSpPr/>
            <p:nvPr/>
          </p:nvCxnSpPr>
          <p:spPr>
            <a:xfrm>
              <a:off x="4870" y="84"/>
              <a:ext cx="42" cy="96"/>
            </a:xfrm>
            <a:prstGeom prst="straightConnector1">
              <a:avLst/>
            </a:prstGeom>
            <a:noFill/>
            <a:ln cap="flat" cmpd="sng" w="38100">
              <a:solidFill>
                <a:schemeClr val="accent2"/>
              </a:solidFill>
              <a:prstDash val="solid"/>
              <a:miter lim="800000"/>
              <a:headEnd len="med" w="med" type="none"/>
              <a:tailEnd len="med" w="med" type="none"/>
            </a:ln>
          </p:spPr>
        </p:cxnSp>
      </p:gr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0" name="Shape 190"/>
        <p:cNvGrpSpPr/>
        <p:nvPr/>
      </p:nvGrpSpPr>
      <p:grpSpPr>
        <a:xfrm>
          <a:off x="0" y="0"/>
          <a:ext cx="0" cy="0"/>
          <a:chOff x="0" y="0"/>
          <a:chExt cx="0" cy="0"/>
        </a:xfrm>
      </p:grpSpPr>
      <p:grpSp>
        <p:nvGrpSpPr>
          <p:cNvPr id="191" name="Google Shape;191;p157"/>
          <p:cNvGrpSpPr/>
          <p:nvPr/>
        </p:nvGrpSpPr>
        <p:grpSpPr>
          <a:xfrm>
            <a:off x="0" y="2438400"/>
            <a:ext cx="9009062" cy="1052512"/>
            <a:chOff x="0" y="1536"/>
            <a:chExt cx="5675" cy="663"/>
          </a:xfrm>
        </p:grpSpPr>
        <p:grpSp>
          <p:nvGrpSpPr>
            <p:cNvPr id="192" name="Google Shape;192;p157"/>
            <p:cNvGrpSpPr/>
            <p:nvPr/>
          </p:nvGrpSpPr>
          <p:grpSpPr>
            <a:xfrm>
              <a:off x="183" y="1604"/>
              <a:ext cx="448" cy="299"/>
              <a:chOff x="720" y="336"/>
              <a:chExt cx="624" cy="432"/>
            </a:xfrm>
          </p:grpSpPr>
          <p:sp>
            <p:nvSpPr>
              <p:cNvPr id="193" name="Google Shape;193;p157"/>
              <p:cNvSpPr txBox="1"/>
              <p:nvPr/>
            </p:nvSpPr>
            <p:spPr>
              <a:xfrm>
                <a:off x="720" y="336"/>
                <a:ext cx="384" cy="43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4" name="Google Shape;194;p157"/>
              <p:cNvSpPr txBox="1"/>
              <p:nvPr/>
            </p:nvSpPr>
            <p:spPr>
              <a:xfrm>
                <a:off x="1056" y="336"/>
                <a:ext cx="288" cy="43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195" name="Google Shape;195;p157"/>
            <p:cNvGrpSpPr/>
            <p:nvPr/>
          </p:nvGrpSpPr>
          <p:grpSpPr>
            <a:xfrm>
              <a:off x="261" y="1870"/>
              <a:ext cx="465" cy="299"/>
              <a:chOff x="912" y="2640"/>
              <a:chExt cx="672" cy="432"/>
            </a:xfrm>
          </p:grpSpPr>
          <p:sp>
            <p:nvSpPr>
              <p:cNvPr id="196" name="Google Shape;196;p157"/>
              <p:cNvSpPr txBox="1"/>
              <p:nvPr/>
            </p:nvSpPr>
            <p:spPr>
              <a:xfrm>
                <a:off x="912" y="2640"/>
                <a:ext cx="384" cy="4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7" name="Google Shape;197;p157"/>
              <p:cNvSpPr txBox="1"/>
              <p:nvPr/>
            </p:nvSpPr>
            <p:spPr>
              <a:xfrm>
                <a:off x="1249" y="2640"/>
                <a:ext cx="335" cy="43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sp>
          <p:nvSpPr>
            <p:cNvPr id="198" name="Google Shape;198;p157"/>
            <p:cNvSpPr txBox="1"/>
            <p:nvPr/>
          </p:nvSpPr>
          <p:spPr>
            <a:xfrm>
              <a:off x="0" y="1824"/>
              <a:ext cx="353" cy="266"/>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9" name="Google Shape;199;p157"/>
            <p:cNvSpPr txBox="1"/>
            <p:nvPr/>
          </p:nvSpPr>
          <p:spPr>
            <a:xfrm>
              <a:off x="400" y="1536"/>
              <a:ext cx="20" cy="66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0" name="Google Shape;200;p157"/>
            <p:cNvSpPr txBox="1"/>
            <p:nvPr/>
          </p:nvSpPr>
          <p:spPr>
            <a:xfrm flipH="1" rot="10800000">
              <a:off x="199" y="2054"/>
              <a:ext cx="5476" cy="35"/>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sp>
        <p:nvSpPr>
          <p:cNvPr id="201" name="Google Shape;201;p157"/>
          <p:cNvSpPr txBox="1"/>
          <p:nvPr/>
        </p:nvSpPr>
        <p:spPr>
          <a:xfrm>
            <a:off x="0" y="6553200"/>
            <a:ext cx="22098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McGraw-Hill</a:t>
            </a:r>
            <a:endParaRPr/>
          </a:p>
        </p:txBody>
      </p:sp>
      <p:sp>
        <p:nvSpPr>
          <p:cNvPr id="202" name="Google Shape;202;p157"/>
          <p:cNvSpPr txBox="1"/>
          <p:nvPr/>
        </p:nvSpPr>
        <p:spPr>
          <a:xfrm>
            <a:off x="4572000" y="6553200"/>
            <a:ext cx="4572000" cy="304800"/>
          </a:xfrm>
          <a:prstGeom prst="rect">
            <a:avLst/>
          </a:prstGeom>
          <a:noFill/>
          <a:ln>
            <a:noFill/>
          </a:ln>
        </p:spPr>
        <p:txBody>
          <a:bodyPr anchorCtr="0" anchor="t" bIns="45700" lIns="91425" spcFirstLastPara="1" rIns="91425" wrap="square" tIns="45700">
            <a:spAutoFit/>
          </a:bodyPr>
          <a:lstStyle/>
          <a:p>
            <a:pPr indent="-88900" lvl="0" marL="0" marR="0" rtl="0" algn="r">
              <a:lnSpc>
                <a:spcPct val="100000"/>
              </a:lnSpc>
              <a:spcBef>
                <a:spcPts val="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The McGraw-Hill Companies, Inc., 2000</a:t>
            </a:r>
            <a:endParaRPr/>
          </a:p>
        </p:txBody>
      </p:sp>
      <p:sp>
        <p:nvSpPr>
          <p:cNvPr id="203" name="Google Shape;203;p157"/>
          <p:cNvSpPr txBox="1"/>
          <p:nvPr>
            <p:ph idx="10" type="dt"/>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1" i="0" sz="18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9pPr>
          </a:lstStyle>
          <a:p/>
        </p:txBody>
      </p:sp>
      <p:sp>
        <p:nvSpPr>
          <p:cNvPr id="204" name="Google Shape;204;p157"/>
          <p:cNvSpPr txBox="1"/>
          <p:nvPr>
            <p:ph idx="11" type="ftr"/>
          </p:nvPr>
        </p:nvSpPr>
        <p:spPr>
          <a:xfrm>
            <a:off x="3429000" y="6248400"/>
            <a:ext cx="2895600" cy="4572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lt2"/>
                </a:solidFill>
                <a:latin typeface="Tahoma"/>
                <a:ea typeface="Tahoma"/>
                <a:cs typeface="Tahoma"/>
                <a:sym typeface="Tahoma"/>
              </a:defRPr>
            </a:lvl1pPr>
            <a:lvl2pPr lvl="1"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9pPr>
          </a:lstStyle>
          <a:p/>
        </p:txBody>
      </p:sp>
      <p:sp>
        <p:nvSpPr>
          <p:cNvPr id="205" name="Google Shape;205;p157"/>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1pPr>
            <a:lvl2pPr indent="0" lvl="1"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2pPr>
            <a:lvl3pPr indent="0" lvl="2"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3pPr>
            <a:lvl4pPr indent="0" lvl="3"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4pPr>
            <a:lvl5pPr indent="0" lvl="4"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5pPr>
            <a:lvl6pPr indent="0" lvl="5"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6pPr>
            <a:lvl7pPr indent="0" lvl="6"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7pPr>
            <a:lvl8pPr indent="0" lvl="7"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8pPr>
            <a:lvl9pPr indent="0" lvl="8"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3"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2" name="Shape 212"/>
        <p:cNvGrpSpPr/>
        <p:nvPr/>
      </p:nvGrpSpPr>
      <p:grpSpPr>
        <a:xfrm>
          <a:off x="0" y="0"/>
          <a:ext cx="0" cy="0"/>
          <a:chOff x="0" y="0"/>
          <a:chExt cx="0" cy="0"/>
        </a:xfrm>
      </p:grpSpPr>
      <p:sp>
        <p:nvSpPr>
          <p:cNvPr id="213" name="Google Shape;213;p159"/>
          <p:cNvSpPr/>
          <p:nvPr/>
        </p:nvSpPr>
        <p:spPr>
          <a:xfrm>
            <a:off x="20637" y="12700"/>
            <a:ext cx="8896350" cy="6780212"/>
          </a:xfrm>
          <a:custGeom>
            <a:rect b="b" l="l" r="r" t="t"/>
            <a:pathLst>
              <a:path extrusionOk="0" h="3619" w="3985">
                <a:moveTo>
                  <a:pt x="2822" y="0"/>
                </a:moveTo>
                <a:lnTo>
                  <a:pt x="0" y="975"/>
                </a:lnTo>
                <a:lnTo>
                  <a:pt x="2169" y="3619"/>
                </a:lnTo>
                <a:lnTo>
                  <a:pt x="3985" y="1125"/>
                </a:lnTo>
                <a:lnTo>
                  <a:pt x="2822"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nvGrpSpPr>
          <p:cNvPr id="214" name="Google Shape;214;p159"/>
          <p:cNvGrpSpPr/>
          <p:nvPr/>
        </p:nvGrpSpPr>
        <p:grpSpPr>
          <a:xfrm>
            <a:off x="195262" y="234950"/>
            <a:ext cx="3787775" cy="1778000"/>
            <a:chOff x="123" y="148"/>
            <a:chExt cx="2386" cy="1120"/>
          </a:xfrm>
        </p:grpSpPr>
        <p:sp>
          <p:nvSpPr>
            <p:cNvPr id="215" name="Google Shape;215;p159"/>
            <p:cNvSpPr/>
            <p:nvPr/>
          </p:nvSpPr>
          <p:spPr>
            <a:xfrm>
              <a:off x="177" y="177"/>
              <a:ext cx="2250" cy="1017"/>
            </a:xfrm>
            <a:custGeom>
              <a:rect b="b" l="l" r="r" t="t"/>
              <a:pathLst>
                <a:path extrusionOk="0" h="414" w="79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6" name="Google Shape;216;p159"/>
            <p:cNvSpPr/>
            <p:nvPr/>
          </p:nvSpPr>
          <p:spPr>
            <a:xfrm>
              <a:off x="166" y="261"/>
              <a:ext cx="2244" cy="1007"/>
            </a:xfrm>
            <a:custGeom>
              <a:rect b="b" l="l" r="r" t="t"/>
              <a:pathLst>
                <a:path extrusionOk="0" h="821" w="1586">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7" name="Google Shape;217;p159"/>
            <p:cNvSpPr/>
            <p:nvPr/>
          </p:nvSpPr>
          <p:spPr>
            <a:xfrm>
              <a:off x="474" y="344"/>
              <a:ext cx="1488" cy="919"/>
            </a:xfrm>
            <a:custGeom>
              <a:rect b="b" l="l" r="r" t="t"/>
              <a:pathLst>
                <a:path extrusionOk="0" h="747" w="1049">
                  <a:moveTo>
                    <a:pt x="0" y="325"/>
                  </a:moveTo>
                  <a:lnTo>
                    <a:pt x="922" y="747"/>
                  </a:lnTo>
                  <a:lnTo>
                    <a:pt x="939" y="534"/>
                  </a:lnTo>
                  <a:lnTo>
                    <a:pt x="1049" y="422"/>
                  </a:lnTo>
                  <a:lnTo>
                    <a:pt x="78" y="0"/>
                  </a:lnTo>
                  <a:lnTo>
                    <a:pt x="0" y="127"/>
                  </a:lnTo>
                  <a:lnTo>
                    <a:pt x="0" y="32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nvGrpSpPr>
            <p:cNvPr id="218" name="Google Shape;218;p159"/>
            <p:cNvGrpSpPr/>
            <p:nvPr/>
          </p:nvGrpSpPr>
          <p:grpSpPr>
            <a:xfrm>
              <a:off x="123" y="148"/>
              <a:ext cx="2386" cy="1081"/>
              <a:chOff x="123" y="148"/>
              <a:chExt cx="2386" cy="1081"/>
            </a:xfrm>
          </p:grpSpPr>
          <p:sp>
            <p:nvSpPr>
              <p:cNvPr id="219" name="Google Shape;219;p159"/>
              <p:cNvSpPr/>
              <p:nvPr/>
            </p:nvSpPr>
            <p:spPr>
              <a:xfrm>
                <a:off x="2005" y="934"/>
                <a:ext cx="212" cy="214"/>
              </a:xfrm>
              <a:custGeom>
                <a:rect b="b" l="l" r="r" t="t"/>
                <a:pathLst>
                  <a:path extrusionOk="0" h="173" w="150">
                    <a:moveTo>
                      <a:pt x="110" y="0"/>
                    </a:moveTo>
                    <a:lnTo>
                      <a:pt x="40" y="66"/>
                    </a:lnTo>
                    <a:lnTo>
                      <a:pt x="0" y="173"/>
                    </a:lnTo>
                    <a:lnTo>
                      <a:pt x="80" y="160"/>
                    </a:lnTo>
                    <a:lnTo>
                      <a:pt x="103" y="84"/>
                    </a:lnTo>
                    <a:lnTo>
                      <a:pt x="150" y="27"/>
                    </a:lnTo>
                    <a:lnTo>
                      <a:pt x="110"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0" name="Google Shape;220;p159"/>
              <p:cNvSpPr/>
              <p:nvPr/>
            </p:nvSpPr>
            <p:spPr>
              <a:xfrm>
                <a:off x="123" y="148"/>
                <a:ext cx="2386" cy="1081"/>
              </a:xfrm>
              <a:custGeom>
                <a:rect b="b" l="l" r="r" t="t"/>
                <a:pathLst>
                  <a:path extrusionOk="0" h="880" w="1684">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1" name="Google Shape;221;p159"/>
              <p:cNvSpPr/>
              <p:nvPr/>
            </p:nvSpPr>
            <p:spPr>
              <a:xfrm>
                <a:off x="324" y="158"/>
                <a:ext cx="1686" cy="614"/>
              </a:xfrm>
              <a:custGeom>
                <a:rect b="b" l="l" r="r" t="t"/>
                <a:pathLst>
                  <a:path extrusionOk="0" h="500" w="1190">
                    <a:moveTo>
                      <a:pt x="100" y="0"/>
                    </a:moveTo>
                    <a:lnTo>
                      <a:pt x="1190" y="490"/>
                    </a:lnTo>
                    <a:lnTo>
                      <a:pt x="1076" y="500"/>
                    </a:lnTo>
                    <a:lnTo>
                      <a:pt x="0" y="27"/>
                    </a:lnTo>
                    <a:lnTo>
                      <a:pt x="100"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2" name="Google Shape;222;p159"/>
              <p:cNvSpPr/>
              <p:nvPr/>
            </p:nvSpPr>
            <p:spPr>
              <a:xfrm>
                <a:off x="409" y="251"/>
                <a:ext cx="227" cy="410"/>
              </a:xfrm>
              <a:custGeom>
                <a:rect b="b" l="l" r="r" t="t"/>
                <a:pathLst>
                  <a:path extrusionOk="0" h="335" w="160">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3" name="Google Shape;223;p159"/>
              <p:cNvSpPr/>
              <p:nvPr/>
            </p:nvSpPr>
            <p:spPr>
              <a:xfrm>
                <a:off x="846" y="536"/>
                <a:ext cx="691" cy="364"/>
              </a:xfrm>
              <a:custGeom>
                <a:rect b="b" l="l" r="r" t="t"/>
                <a:pathLst>
                  <a:path extrusionOk="0" h="296" w="489">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grpSp>
        <p:nvGrpSpPr>
          <p:cNvPr id="224" name="Google Shape;224;p159"/>
          <p:cNvGrpSpPr/>
          <p:nvPr/>
        </p:nvGrpSpPr>
        <p:grpSpPr>
          <a:xfrm>
            <a:off x="7797642" y="4318434"/>
            <a:ext cx="979804" cy="1159594"/>
            <a:chOff x="4912" y="2720"/>
            <a:chExt cx="617" cy="730"/>
          </a:xfrm>
        </p:grpSpPr>
        <p:sp>
          <p:nvSpPr>
            <p:cNvPr id="225" name="Google Shape;225;p159"/>
            <p:cNvSpPr/>
            <p:nvPr/>
          </p:nvSpPr>
          <p:spPr>
            <a:xfrm rot="7320000">
              <a:off x="4909" y="2936"/>
              <a:ext cx="629" cy="293"/>
            </a:xfrm>
            <a:custGeom>
              <a:rect b="b" l="l" r="r" t="t"/>
              <a:pathLst>
                <a:path extrusionOk="0" h="414" w="79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6" name="Google Shape;226;p159"/>
            <p:cNvSpPr/>
            <p:nvPr/>
          </p:nvSpPr>
          <p:spPr>
            <a:xfrm rot="7320000">
              <a:off x="4893" y="2922"/>
              <a:ext cx="627" cy="290"/>
            </a:xfrm>
            <a:custGeom>
              <a:rect b="b" l="l" r="r" t="t"/>
              <a:pathLst>
                <a:path extrusionOk="0" h="821" w="1586">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7" name="Google Shape;227;p159"/>
            <p:cNvSpPr/>
            <p:nvPr/>
          </p:nvSpPr>
          <p:spPr>
            <a:xfrm rot="7320000">
              <a:off x="4999" y="2912"/>
              <a:ext cx="416" cy="265"/>
            </a:xfrm>
            <a:custGeom>
              <a:rect b="b" l="l" r="r" t="t"/>
              <a:pathLst>
                <a:path extrusionOk="0" h="747" w="1049">
                  <a:moveTo>
                    <a:pt x="0" y="325"/>
                  </a:moveTo>
                  <a:lnTo>
                    <a:pt x="922" y="747"/>
                  </a:lnTo>
                  <a:lnTo>
                    <a:pt x="939" y="534"/>
                  </a:lnTo>
                  <a:lnTo>
                    <a:pt x="1049" y="422"/>
                  </a:lnTo>
                  <a:lnTo>
                    <a:pt x="78" y="0"/>
                  </a:lnTo>
                  <a:lnTo>
                    <a:pt x="0" y="127"/>
                  </a:lnTo>
                  <a:lnTo>
                    <a:pt x="0" y="32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nvGrpSpPr>
            <p:cNvPr id="228" name="Google Shape;228;p159"/>
            <p:cNvGrpSpPr/>
            <p:nvPr/>
          </p:nvGrpSpPr>
          <p:grpSpPr>
            <a:xfrm>
              <a:off x="4912" y="2720"/>
              <a:ext cx="617" cy="730"/>
              <a:chOff x="4912" y="2720"/>
              <a:chExt cx="617" cy="730"/>
            </a:xfrm>
          </p:grpSpPr>
          <p:sp>
            <p:nvSpPr>
              <p:cNvPr id="229" name="Google Shape;229;p159"/>
              <p:cNvSpPr/>
              <p:nvPr/>
            </p:nvSpPr>
            <p:spPr>
              <a:xfrm rot="7320000">
                <a:off x="4987" y="3190"/>
                <a:ext cx="59" cy="61"/>
              </a:xfrm>
              <a:custGeom>
                <a:rect b="b" l="l" r="r" t="t"/>
                <a:pathLst>
                  <a:path extrusionOk="0" h="173" w="150">
                    <a:moveTo>
                      <a:pt x="110" y="0"/>
                    </a:moveTo>
                    <a:lnTo>
                      <a:pt x="40" y="66"/>
                    </a:lnTo>
                    <a:lnTo>
                      <a:pt x="0" y="173"/>
                    </a:lnTo>
                    <a:lnTo>
                      <a:pt x="80" y="160"/>
                    </a:lnTo>
                    <a:lnTo>
                      <a:pt x="103" y="84"/>
                    </a:lnTo>
                    <a:lnTo>
                      <a:pt x="150" y="27"/>
                    </a:lnTo>
                    <a:lnTo>
                      <a:pt x="110"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0" name="Google Shape;230;p159"/>
              <p:cNvSpPr/>
              <p:nvPr/>
            </p:nvSpPr>
            <p:spPr>
              <a:xfrm rot="7320000">
                <a:off x="4887" y="2930"/>
                <a:ext cx="667" cy="311"/>
              </a:xfrm>
              <a:custGeom>
                <a:rect b="b" l="l" r="r" t="t"/>
                <a:pathLst>
                  <a:path extrusionOk="0" h="880" w="1684">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1" name="Google Shape;231;p159"/>
              <p:cNvSpPr/>
              <p:nvPr/>
            </p:nvSpPr>
            <p:spPr>
              <a:xfrm rot="7320000">
                <a:off x="5062" y="2997"/>
                <a:ext cx="472" cy="176"/>
              </a:xfrm>
              <a:custGeom>
                <a:rect b="b" l="l" r="r" t="t"/>
                <a:pathLst>
                  <a:path extrusionOk="0" h="500" w="1190">
                    <a:moveTo>
                      <a:pt x="100" y="0"/>
                    </a:moveTo>
                    <a:lnTo>
                      <a:pt x="1190" y="490"/>
                    </a:lnTo>
                    <a:lnTo>
                      <a:pt x="1076" y="500"/>
                    </a:lnTo>
                    <a:lnTo>
                      <a:pt x="0" y="27"/>
                    </a:lnTo>
                    <a:lnTo>
                      <a:pt x="100"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2" name="Google Shape;232;p159"/>
              <p:cNvSpPr/>
              <p:nvPr/>
            </p:nvSpPr>
            <p:spPr>
              <a:xfrm rot="7320000">
                <a:off x="5363" y="2873"/>
                <a:ext cx="63" cy="118"/>
              </a:xfrm>
              <a:custGeom>
                <a:rect b="b" l="l" r="r" t="t"/>
                <a:pathLst>
                  <a:path extrusionOk="0" h="335" w="160">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3" name="Google Shape;233;p159"/>
              <p:cNvSpPr/>
              <p:nvPr/>
            </p:nvSpPr>
            <p:spPr>
              <a:xfrm rot="7320000">
                <a:off x="5136" y="2999"/>
                <a:ext cx="193" cy="104"/>
              </a:xfrm>
              <a:custGeom>
                <a:rect b="b" l="l" r="r" t="t"/>
                <a:pathLst>
                  <a:path extrusionOk="0" h="296" w="489">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sp>
        <p:nvSpPr>
          <p:cNvPr id="234" name="Google Shape;234;p159"/>
          <p:cNvSpPr/>
          <p:nvPr/>
        </p:nvSpPr>
        <p:spPr>
          <a:xfrm>
            <a:off x="901700" y="5054600"/>
            <a:ext cx="6807200" cy="728662"/>
          </a:xfrm>
          <a:custGeom>
            <a:rect b="b" l="l" r="r" t="t"/>
            <a:pathLst>
              <a:path extrusionOk="0" h="459" w="4288">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cap="flat" cmpd="sng" w="76200">
            <a:solidFill>
              <a:schemeClr val="folHlink"/>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5" name="Google Shape;235;p159"/>
          <p:cNvSpPr/>
          <p:nvPr/>
        </p:nvSpPr>
        <p:spPr>
          <a:xfrm>
            <a:off x="4076700" y="1930400"/>
            <a:ext cx="889000" cy="381000"/>
          </a:xfrm>
          <a:custGeom>
            <a:rect b="b" l="l" r="r" t="t"/>
            <a:pathLst>
              <a:path extrusionOk="0" h="240" w="560">
                <a:moveTo>
                  <a:pt x="0" y="32"/>
                </a:moveTo>
                <a:cubicBezTo>
                  <a:pt x="102" y="89"/>
                  <a:pt x="205" y="147"/>
                  <a:pt x="280" y="144"/>
                </a:cubicBezTo>
                <a:cubicBezTo>
                  <a:pt x="355" y="141"/>
                  <a:pt x="401" y="0"/>
                  <a:pt x="448" y="16"/>
                </a:cubicBezTo>
                <a:cubicBezTo>
                  <a:pt x="495" y="32"/>
                  <a:pt x="541" y="201"/>
                  <a:pt x="560" y="240"/>
                </a:cubicBezTo>
              </a:path>
            </a:pathLst>
          </a:custGeom>
          <a:noFill/>
          <a:ln cap="flat" cmpd="sng" w="1143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6" name="Google Shape;236;p159"/>
          <p:cNvSpPr txBox="1"/>
          <p:nvPr/>
        </p:nvSpPr>
        <p:spPr>
          <a:xfrm>
            <a:off x="0" y="6553200"/>
            <a:ext cx="22098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McGraw-Hill</a:t>
            </a:r>
            <a:endParaRPr/>
          </a:p>
        </p:txBody>
      </p:sp>
      <p:sp>
        <p:nvSpPr>
          <p:cNvPr id="237" name="Google Shape;237;p159"/>
          <p:cNvSpPr txBox="1"/>
          <p:nvPr/>
        </p:nvSpPr>
        <p:spPr>
          <a:xfrm>
            <a:off x="4572000" y="6553200"/>
            <a:ext cx="4572000" cy="304800"/>
          </a:xfrm>
          <a:prstGeom prst="rect">
            <a:avLst/>
          </a:prstGeom>
          <a:noFill/>
          <a:ln>
            <a:noFill/>
          </a:ln>
        </p:spPr>
        <p:txBody>
          <a:bodyPr anchorCtr="0" anchor="t" bIns="45700" lIns="91425" spcFirstLastPara="1" rIns="91425" wrap="square" tIns="45700">
            <a:spAutoFit/>
          </a:bodyPr>
          <a:lstStyle/>
          <a:p>
            <a:pPr indent="-88900" lvl="0" marL="0" marR="0" rtl="0" algn="r">
              <a:lnSpc>
                <a:spcPct val="100000"/>
              </a:lnSpc>
              <a:spcBef>
                <a:spcPts val="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The McGraw-Hill Companies, Inc., 2000</a:t>
            </a:r>
            <a:endParaRPr/>
          </a:p>
        </p:txBody>
      </p:sp>
      <p:sp>
        <p:nvSpPr>
          <p:cNvPr id="238" name="Google Shape;238;p159"/>
          <p:cNvSpPr txBox="1"/>
          <p:nvPr>
            <p:ph type="title"/>
          </p:nvPr>
        </p:nvSpPr>
        <p:spPr>
          <a:xfrm>
            <a:off x="685800" y="152400"/>
            <a:ext cx="6870700" cy="1600200"/>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omic Sans MS"/>
                <a:ea typeface="Comic Sans MS"/>
                <a:cs typeface="Comic Sans MS"/>
                <a:sym typeface="Comic Sans MS"/>
              </a:defRPr>
            </a:lvl1pPr>
            <a:lvl2pPr lvl="1" marR="0" rtl="0" algn="ctr">
              <a:spcBef>
                <a:spcPts val="0"/>
              </a:spcBef>
              <a:spcAft>
                <a:spcPts val="0"/>
              </a:spcAft>
              <a:buSzPts val="1400"/>
              <a:buNone/>
              <a:defRPr b="0" i="0" sz="4400" u="none" cap="none" strike="noStrike">
                <a:solidFill>
                  <a:schemeClr val="dk1"/>
                </a:solidFill>
                <a:latin typeface="Comic Sans MS"/>
                <a:ea typeface="Comic Sans MS"/>
                <a:cs typeface="Comic Sans MS"/>
                <a:sym typeface="Comic Sans MS"/>
              </a:defRPr>
            </a:lvl2pPr>
            <a:lvl3pPr lvl="2" marR="0" rtl="0" algn="ctr">
              <a:spcBef>
                <a:spcPts val="0"/>
              </a:spcBef>
              <a:spcAft>
                <a:spcPts val="0"/>
              </a:spcAft>
              <a:buSzPts val="1400"/>
              <a:buNone/>
              <a:defRPr b="0" i="0" sz="4400" u="none" cap="none" strike="noStrike">
                <a:solidFill>
                  <a:schemeClr val="dk1"/>
                </a:solidFill>
                <a:latin typeface="Comic Sans MS"/>
                <a:ea typeface="Comic Sans MS"/>
                <a:cs typeface="Comic Sans MS"/>
                <a:sym typeface="Comic Sans MS"/>
              </a:defRPr>
            </a:lvl3pPr>
            <a:lvl4pPr lvl="3" marR="0" rtl="0" algn="ctr">
              <a:spcBef>
                <a:spcPts val="0"/>
              </a:spcBef>
              <a:spcAft>
                <a:spcPts val="0"/>
              </a:spcAft>
              <a:buSzPts val="1400"/>
              <a:buNone/>
              <a:defRPr b="0" i="0" sz="4400" u="none" cap="none" strike="noStrike">
                <a:solidFill>
                  <a:schemeClr val="dk1"/>
                </a:solidFill>
                <a:latin typeface="Comic Sans MS"/>
                <a:ea typeface="Comic Sans MS"/>
                <a:cs typeface="Comic Sans MS"/>
                <a:sym typeface="Comic Sans MS"/>
              </a:defRPr>
            </a:lvl4pPr>
            <a:lvl5pPr lvl="4" marR="0" rtl="0" algn="ctr">
              <a:spcBef>
                <a:spcPts val="0"/>
              </a:spcBef>
              <a:spcAft>
                <a:spcPts val="0"/>
              </a:spcAft>
              <a:buSzPts val="1400"/>
              <a:buNone/>
              <a:defRPr b="0" i="0" sz="4400" u="none" cap="none" strike="noStrike">
                <a:solidFill>
                  <a:schemeClr val="dk1"/>
                </a:solidFill>
                <a:latin typeface="Comic Sans MS"/>
                <a:ea typeface="Comic Sans MS"/>
                <a:cs typeface="Comic Sans MS"/>
                <a:sym typeface="Comic Sans MS"/>
              </a:defRPr>
            </a:lvl5pPr>
            <a:lvl6pPr lvl="5" marR="0" rtl="0" algn="ctr">
              <a:spcBef>
                <a:spcPts val="0"/>
              </a:spcBef>
              <a:spcAft>
                <a:spcPts val="0"/>
              </a:spcAft>
              <a:buSzPts val="1400"/>
              <a:buNone/>
              <a:defRPr b="0" i="0" sz="4400" u="none" cap="none" strike="noStrike">
                <a:solidFill>
                  <a:schemeClr val="dk1"/>
                </a:solidFill>
                <a:latin typeface="Comic Sans MS"/>
                <a:ea typeface="Comic Sans MS"/>
                <a:cs typeface="Comic Sans MS"/>
                <a:sym typeface="Comic Sans MS"/>
              </a:defRPr>
            </a:lvl6pPr>
            <a:lvl7pPr lvl="6" marR="0" rtl="0" algn="ctr">
              <a:spcBef>
                <a:spcPts val="0"/>
              </a:spcBef>
              <a:spcAft>
                <a:spcPts val="0"/>
              </a:spcAft>
              <a:buSzPts val="1400"/>
              <a:buNone/>
              <a:defRPr b="0" i="0" sz="4400" u="none" cap="none" strike="noStrike">
                <a:solidFill>
                  <a:schemeClr val="dk1"/>
                </a:solidFill>
                <a:latin typeface="Comic Sans MS"/>
                <a:ea typeface="Comic Sans MS"/>
                <a:cs typeface="Comic Sans MS"/>
                <a:sym typeface="Comic Sans MS"/>
              </a:defRPr>
            </a:lvl7pPr>
            <a:lvl8pPr lvl="7" marR="0" rtl="0" algn="ctr">
              <a:spcBef>
                <a:spcPts val="0"/>
              </a:spcBef>
              <a:spcAft>
                <a:spcPts val="0"/>
              </a:spcAft>
              <a:buSzPts val="1400"/>
              <a:buNone/>
              <a:defRPr b="0" i="0" sz="4400" u="none" cap="none" strike="noStrike">
                <a:solidFill>
                  <a:schemeClr val="dk1"/>
                </a:solidFill>
                <a:latin typeface="Comic Sans MS"/>
                <a:ea typeface="Comic Sans MS"/>
                <a:cs typeface="Comic Sans MS"/>
                <a:sym typeface="Comic Sans MS"/>
              </a:defRPr>
            </a:lvl8pPr>
            <a:lvl9pPr lvl="8" marR="0" rtl="0" algn="ctr">
              <a:spcBef>
                <a:spcPts val="0"/>
              </a:spcBef>
              <a:spcAft>
                <a:spcPts val="0"/>
              </a:spcAft>
              <a:buSzPts val="1400"/>
              <a:buNone/>
              <a:defRPr b="0" i="0" sz="4400" u="none" cap="none" strike="noStrike">
                <a:solidFill>
                  <a:schemeClr val="dk1"/>
                </a:solidFill>
                <a:latin typeface="Comic Sans MS"/>
                <a:ea typeface="Comic Sans MS"/>
                <a:cs typeface="Comic Sans MS"/>
                <a:sym typeface="Comic Sans MS"/>
              </a:defRPr>
            </a:lvl9pPr>
          </a:lstStyle>
          <a:p/>
        </p:txBody>
      </p:sp>
      <p:sp>
        <p:nvSpPr>
          <p:cNvPr id="239" name="Google Shape;239;p159"/>
          <p:cNvSpPr txBox="1"/>
          <p:nvPr>
            <p:ph idx="1" type="body"/>
          </p:nvPr>
        </p:nvSpPr>
        <p:spPr>
          <a:xfrm>
            <a:off x="685800" y="1828800"/>
            <a:ext cx="7696200" cy="36576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Comic Sans MS"/>
              <a:buChar char="•"/>
              <a:defRPr b="0" i="0" sz="3200" u="none" cap="none" strike="noStrike">
                <a:solidFill>
                  <a:schemeClr val="dk1"/>
                </a:solidFill>
                <a:latin typeface="Comic Sans MS"/>
                <a:ea typeface="Comic Sans MS"/>
                <a:cs typeface="Comic Sans MS"/>
                <a:sym typeface="Comic Sans MS"/>
              </a:defRPr>
            </a:lvl1pPr>
            <a:lvl2pPr indent="-406400" lvl="1" marL="914400" marR="0" rtl="0" algn="l">
              <a:spcBef>
                <a:spcPts val="560"/>
              </a:spcBef>
              <a:spcAft>
                <a:spcPts val="0"/>
              </a:spcAft>
              <a:buClr>
                <a:schemeClr val="dk1"/>
              </a:buClr>
              <a:buSzPts val="2800"/>
              <a:buFont typeface="Comic Sans MS"/>
              <a:buChar char="–"/>
              <a:defRPr b="0" i="0" sz="2800" u="none" cap="none" strike="noStrike">
                <a:solidFill>
                  <a:schemeClr val="dk1"/>
                </a:solidFill>
                <a:latin typeface="Comic Sans MS"/>
                <a:ea typeface="Comic Sans MS"/>
                <a:cs typeface="Comic Sans MS"/>
                <a:sym typeface="Comic Sans MS"/>
              </a:defRPr>
            </a:lvl2pPr>
            <a:lvl3pPr indent="-381000" lvl="2" marL="1371600" marR="0" rtl="0" algn="l">
              <a:spcBef>
                <a:spcPts val="480"/>
              </a:spcBef>
              <a:spcAft>
                <a:spcPts val="0"/>
              </a:spcAft>
              <a:buClr>
                <a:schemeClr val="dk1"/>
              </a:buClr>
              <a:buSzPts val="2400"/>
              <a:buFont typeface="Comic Sans MS"/>
              <a:buChar char="•"/>
              <a:defRPr b="0" i="0" sz="2400" u="none" cap="none" strike="noStrike">
                <a:solidFill>
                  <a:schemeClr val="dk1"/>
                </a:solidFill>
                <a:latin typeface="Comic Sans MS"/>
                <a:ea typeface="Comic Sans MS"/>
                <a:cs typeface="Comic Sans MS"/>
                <a:sym typeface="Comic Sans MS"/>
              </a:defRPr>
            </a:lvl3pPr>
            <a:lvl4pPr indent="-355600" lvl="3" marL="1828800" marR="0" rtl="0" algn="l">
              <a:spcBef>
                <a:spcPts val="400"/>
              </a:spcBef>
              <a:spcAft>
                <a:spcPts val="0"/>
              </a:spcAft>
              <a:buClr>
                <a:schemeClr val="dk1"/>
              </a:buClr>
              <a:buSzPts val="2000"/>
              <a:buFont typeface="Comic Sans MS"/>
              <a:buChar char="–"/>
              <a:defRPr b="0" i="0" sz="2000" u="none" cap="none" strike="noStrike">
                <a:solidFill>
                  <a:schemeClr val="dk1"/>
                </a:solidFill>
                <a:latin typeface="Comic Sans MS"/>
                <a:ea typeface="Comic Sans MS"/>
                <a:cs typeface="Comic Sans MS"/>
                <a:sym typeface="Comic Sans MS"/>
              </a:defRPr>
            </a:lvl4pPr>
            <a:lvl5pPr indent="-355600" lvl="4" marL="2286000" marR="0" rtl="0" algn="l">
              <a:spcBef>
                <a:spcPts val="400"/>
              </a:spcBef>
              <a:spcAft>
                <a:spcPts val="0"/>
              </a:spcAft>
              <a:buClr>
                <a:schemeClr val="dk1"/>
              </a:buClr>
              <a:buSzPts val="2000"/>
              <a:buFont typeface="Comic Sans MS"/>
              <a:buChar char="»"/>
              <a:defRPr b="0" i="0" sz="2000" u="none" cap="none" strike="noStrike">
                <a:solidFill>
                  <a:schemeClr val="dk1"/>
                </a:solidFill>
                <a:latin typeface="Comic Sans MS"/>
                <a:ea typeface="Comic Sans MS"/>
                <a:cs typeface="Comic Sans MS"/>
                <a:sym typeface="Comic Sans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omic Sans MS"/>
                <a:ea typeface="Comic Sans MS"/>
                <a:cs typeface="Comic Sans MS"/>
                <a:sym typeface="Comic Sans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omic Sans MS"/>
                <a:ea typeface="Comic Sans MS"/>
                <a:cs typeface="Comic Sans MS"/>
                <a:sym typeface="Comic Sans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omic Sans MS"/>
                <a:ea typeface="Comic Sans MS"/>
                <a:cs typeface="Comic Sans MS"/>
                <a:sym typeface="Comic Sans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omic Sans MS"/>
                <a:ea typeface="Comic Sans MS"/>
                <a:cs typeface="Comic Sans MS"/>
                <a:sym typeface="Comic Sans MS"/>
              </a:defRPr>
            </a:lvl9pPr>
          </a:lstStyle>
          <a:p/>
        </p:txBody>
      </p:sp>
      <p:sp>
        <p:nvSpPr>
          <p:cNvPr id="240" name="Google Shape;240;p159"/>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0" sz="18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9pPr>
          </a:lstStyle>
          <a:p/>
        </p:txBody>
      </p:sp>
      <p:sp>
        <p:nvSpPr>
          <p:cNvPr id="241" name="Google Shape;241;p159"/>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9pPr>
          </a:lstStyle>
          <a:p/>
        </p:txBody>
      </p:sp>
      <p:sp>
        <p:nvSpPr>
          <p:cNvPr id="242" name="Google Shape;242;p15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1pPr>
            <a:lvl2pPr indent="0" lvl="1" marL="0" marR="0" rtl="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2pPr>
            <a:lvl3pPr indent="0" lvl="2" marL="0" marR="0" rtl="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3pPr>
            <a:lvl4pPr indent="0" lvl="3" marL="0" marR="0" rtl="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4pPr>
            <a:lvl5pPr indent="0" lvl="4" marL="0" marR="0" rtl="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5pPr>
            <a:lvl6pPr indent="0" lvl="5" marL="0" marR="0" rtl="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6pPr>
            <a:lvl7pPr indent="0" lvl="6" marL="0" marR="0" rtl="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7pPr>
            <a:lvl8pPr indent="0" lvl="7" marL="0" marR="0" rtl="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8pPr>
            <a:lvl9pPr indent="0" lvl="8" marL="0" marR="0" rtl="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5"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19.png"/><Relationship Id="rId5"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4.png"/><Relationship Id="rId4" Type="http://schemas.openxmlformats.org/officeDocument/2006/relationships/image" Target="../media/image22.png"/><Relationship Id="rId5" Type="http://schemas.openxmlformats.org/officeDocument/2006/relationships/image" Target="../media/image28.png"/><Relationship Id="rId6"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0" Type="http://schemas.openxmlformats.org/officeDocument/2006/relationships/image" Target="../media/image38.png"/><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6.png"/><Relationship Id="rId4" Type="http://schemas.openxmlformats.org/officeDocument/2006/relationships/image" Target="../media/image27.png"/><Relationship Id="rId9" Type="http://schemas.openxmlformats.org/officeDocument/2006/relationships/image" Target="../media/image29.png"/><Relationship Id="rId5" Type="http://schemas.openxmlformats.org/officeDocument/2006/relationships/image" Target="../media/image37.png"/><Relationship Id="rId6" Type="http://schemas.openxmlformats.org/officeDocument/2006/relationships/image" Target="../media/image32.png"/><Relationship Id="rId7" Type="http://schemas.openxmlformats.org/officeDocument/2006/relationships/image" Target="../media/image34.png"/><Relationship Id="rId8"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5.png"/><Relationship Id="rId4" Type="http://schemas.openxmlformats.org/officeDocument/2006/relationships/image" Target="../media/image25.png"/><Relationship Id="rId5" Type="http://schemas.openxmlformats.org/officeDocument/2006/relationships/image" Target="../media/image51.png"/><Relationship Id="rId6"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5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5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5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5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4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49.png"/><Relationship Id="rId4" Type="http://schemas.openxmlformats.org/officeDocument/2006/relationships/image" Target="../media/image4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4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47.png"/><Relationship Id="rId4" Type="http://schemas.openxmlformats.org/officeDocument/2006/relationships/image" Target="../media/image45.png"/><Relationship Id="rId5" Type="http://schemas.openxmlformats.org/officeDocument/2006/relationships/image" Target="../media/image74.png"/><Relationship Id="rId6" Type="http://schemas.openxmlformats.org/officeDocument/2006/relationships/image" Target="../media/image56.png"/><Relationship Id="rId7" Type="http://schemas.openxmlformats.org/officeDocument/2006/relationships/image" Target="../media/image61.png"/><Relationship Id="rId8" Type="http://schemas.openxmlformats.org/officeDocument/2006/relationships/image" Target="../media/image5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5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55.png"/><Relationship Id="rId4" Type="http://schemas.openxmlformats.org/officeDocument/2006/relationships/image" Target="../media/image5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6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7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6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6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66.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70.png"/><Relationship Id="rId7" Type="http://schemas.openxmlformats.org/officeDocument/2006/relationships/image" Target="../media/image60.png"/><Relationship Id="rId8" Type="http://schemas.openxmlformats.org/officeDocument/2006/relationships/image" Target="../media/image6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7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6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1" Type="http://schemas.openxmlformats.org/officeDocument/2006/relationships/image" Target="../media/image77.png"/><Relationship Id="rId10" Type="http://schemas.openxmlformats.org/officeDocument/2006/relationships/image" Target="../media/image78.png"/><Relationship Id="rId13" Type="http://schemas.openxmlformats.org/officeDocument/2006/relationships/image" Target="../media/image83.png"/><Relationship Id="rId12" Type="http://schemas.openxmlformats.org/officeDocument/2006/relationships/image" Target="../media/image92.png"/><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72.png"/><Relationship Id="rId4" Type="http://schemas.openxmlformats.org/officeDocument/2006/relationships/image" Target="../media/image75.png"/><Relationship Id="rId9" Type="http://schemas.openxmlformats.org/officeDocument/2006/relationships/image" Target="../media/image82.png"/><Relationship Id="rId5" Type="http://schemas.openxmlformats.org/officeDocument/2006/relationships/image" Target="../media/image93.png"/><Relationship Id="rId6" Type="http://schemas.openxmlformats.org/officeDocument/2006/relationships/image" Target="../media/image76.png"/><Relationship Id="rId7" Type="http://schemas.openxmlformats.org/officeDocument/2006/relationships/image" Target="../media/image81.png"/><Relationship Id="rId8" Type="http://schemas.openxmlformats.org/officeDocument/2006/relationships/image" Target="../media/image8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6.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8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6.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8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79.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9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6.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96.png"/><Relationship Id="rId4" Type="http://schemas.openxmlformats.org/officeDocument/2006/relationships/image" Target="../media/image104.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89.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87.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6.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3" Type="http://schemas.openxmlformats.org/officeDocument/2006/relationships/image" Target="../media/image86.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94.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image88.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6.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3" Type="http://schemas.openxmlformats.org/officeDocument/2006/relationships/image" Target="../media/image90.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3" Type="http://schemas.openxmlformats.org/officeDocument/2006/relationships/image" Target="../media/image6.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3" Type="http://schemas.openxmlformats.org/officeDocument/2006/relationships/image" Target="../media/image97.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3" Type="http://schemas.openxmlformats.org/officeDocument/2006/relationships/image" Target="../media/image6.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3" Type="http://schemas.openxmlformats.org/officeDocument/2006/relationships/image" Target="../media/image10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3" Type="http://schemas.openxmlformats.org/officeDocument/2006/relationships/image" Target="../media/image6.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99.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image6.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10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3" Type="http://schemas.openxmlformats.org/officeDocument/2006/relationships/image" Target="../media/image6.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95.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10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image113.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3" Type="http://schemas.openxmlformats.org/officeDocument/2006/relationships/image" Target="../media/image98.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11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107.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3" Type="http://schemas.openxmlformats.org/officeDocument/2006/relationships/image" Target="../media/image103.png"/><Relationship Id="rId4" Type="http://schemas.openxmlformats.org/officeDocument/2006/relationships/image" Target="../media/image105.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106.png"/><Relationship Id="rId4" Type="http://schemas.openxmlformats.org/officeDocument/2006/relationships/image" Target="../media/image118.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116.png"/><Relationship Id="rId4" Type="http://schemas.openxmlformats.org/officeDocument/2006/relationships/image" Target="../media/image114.png"/><Relationship Id="rId5" Type="http://schemas.openxmlformats.org/officeDocument/2006/relationships/image" Target="../media/image118.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109.png"/><Relationship Id="rId4" Type="http://schemas.openxmlformats.org/officeDocument/2006/relationships/image" Target="../media/image118.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119.png"/><Relationship Id="rId4" Type="http://schemas.openxmlformats.org/officeDocument/2006/relationships/image" Target="../media/image108.png"/><Relationship Id="rId5" Type="http://schemas.openxmlformats.org/officeDocument/2006/relationships/image" Target="../media/image118.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115.png"/><Relationship Id="rId4" Type="http://schemas.openxmlformats.org/officeDocument/2006/relationships/image" Target="../media/image118.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117.png"/><Relationship Id="rId4" Type="http://schemas.openxmlformats.org/officeDocument/2006/relationships/image" Target="../media/image118.png"/><Relationship Id="rId5" Type="http://schemas.openxmlformats.org/officeDocument/2006/relationships/image" Target="../media/image11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1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cap="none" strike="noStrike">
                <a:solidFill>
                  <a:schemeClr val="dk1"/>
                </a:solidFill>
                <a:latin typeface="Tahoma"/>
                <a:ea typeface="Tahoma"/>
                <a:cs typeface="Tahoma"/>
                <a:sym typeface="Tahoma"/>
              </a:rPr>
              <a:t>TCP/IP Protocol Suite</a:t>
            </a:r>
            <a:endParaRPr/>
          </a:p>
        </p:txBody>
      </p:sp>
      <p:sp>
        <p:nvSpPr>
          <p:cNvPr id="255" name="Google Shape;255;p1"/>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cap="none" strike="noStrike">
                <a:solidFill>
                  <a:schemeClr val="dk1"/>
                </a:solidFill>
                <a:latin typeface="Tahoma"/>
                <a:ea typeface="Tahoma"/>
                <a:cs typeface="Tahoma"/>
                <a:sym typeface="Tahoma"/>
              </a:rPr>
              <a:t>‹#›</a:t>
            </a:fld>
            <a:endParaRPr/>
          </a:p>
        </p:txBody>
      </p:sp>
      <p:sp>
        <p:nvSpPr>
          <p:cNvPr id="256" name="Google Shape;256;p1"/>
          <p:cNvSpPr txBox="1"/>
          <p:nvPr/>
        </p:nvSpPr>
        <p:spPr>
          <a:xfrm>
            <a:off x="1714500" y="6604000"/>
            <a:ext cx="5656262" cy="254000"/>
          </a:xfrm>
          <a:prstGeom prst="rect">
            <a:avLst/>
          </a:prstGeom>
          <a:noFill/>
          <a:ln>
            <a:noFill/>
          </a:ln>
        </p:spPr>
        <p:txBody>
          <a:bodyPr anchorCtr="0" anchor="t" bIns="51400" lIns="102825" spcFirstLastPara="1" rIns="102825" wrap="square" tIns="51400">
            <a:sp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The McGraw-Hill Companies, Inc. Permission required for reproduction or display.</a:t>
            </a:r>
            <a:endParaRPr/>
          </a:p>
        </p:txBody>
      </p:sp>
      <p:pic>
        <p:nvPicPr>
          <p:cNvPr descr="brandinglogo" id="257" name="Google Shape;257;p1"/>
          <p:cNvPicPr preferRelativeResize="0"/>
          <p:nvPr/>
        </p:nvPicPr>
        <p:blipFill rotWithShape="1">
          <a:blip r:embed="rId3">
            <a:alphaModFix/>
          </a:blip>
          <a:srcRect b="0" l="0" r="0" t="0"/>
          <a:stretch/>
        </p:blipFill>
        <p:spPr>
          <a:xfrm>
            <a:off x="0" y="0"/>
            <a:ext cx="9144000" cy="647700"/>
          </a:xfrm>
          <a:prstGeom prst="rect">
            <a:avLst/>
          </a:prstGeom>
          <a:noFill/>
          <a:ln>
            <a:noFill/>
          </a:ln>
        </p:spPr>
      </p:pic>
      <p:sp>
        <p:nvSpPr>
          <p:cNvPr id="258" name="Google Shape;258;p1"/>
          <p:cNvSpPr txBox="1"/>
          <p:nvPr/>
        </p:nvSpPr>
        <p:spPr>
          <a:xfrm>
            <a:off x="187325" y="914400"/>
            <a:ext cx="4156075" cy="8239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800"/>
              <a:buFont typeface="Times"/>
              <a:buNone/>
            </a:pPr>
            <a:r>
              <a:rPr b="1" i="0" lang="en-US" sz="4800" u="none" cap="none" strike="noStrike">
                <a:solidFill>
                  <a:schemeClr val="dk1"/>
                </a:solidFill>
                <a:latin typeface="Times"/>
                <a:ea typeface="Times"/>
                <a:cs typeface="Times"/>
                <a:sym typeface="Times"/>
              </a:rPr>
              <a:t>Chapter 15</a:t>
            </a:r>
            <a:endParaRPr/>
          </a:p>
        </p:txBody>
      </p:sp>
      <p:pic>
        <p:nvPicPr>
          <p:cNvPr descr="Forouzan4e10lbj_nm3" id="259" name="Google Shape;259;p1"/>
          <p:cNvPicPr preferRelativeResize="0"/>
          <p:nvPr/>
        </p:nvPicPr>
        <p:blipFill rotWithShape="1">
          <a:blip r:embed="rId4">
            <a:alphaModFix/>
          </a:blip>
          <a:srcRect b="0" l="0" r="0" t="0"/>
          <a:stretch/>
        </p:blipFill>
        <p:spPr>
          <a:xfrm>
            <a:off x="4838700" y="1066800"/>
            <a:ext cx="4076700" cy="5168900"/>
          </a:xfrm>
          <a:prstGeom prst="rect">
            <a:avLst/>
          </a:prstGeom>
          <a:noFill/>
          <a:ln>
            <a:noFill/>
          </a:ln>
        </p:spPr>
      </p:pic>
      <p:sp>
        <p:nvSpPr>
          <p:cNvPr id="260" name="Google Shape;260;p1"/>
          <p:cNvSpPr txBox="1"/>
          <p:nvPr/>
        </p:nvSpPr>
        <p:spPr>
          <a:xfrm>
            <a:off x="263525" y="2209800"/>
            <a:ext cx="4156075" cy="30194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folHlink"/>
              </a:buClr>
              <a:buSzPts val="4800"/>
              <a:buFont typeface="Times"/>
              <a:buNone/>
            </a:pPr>
            <a:r>
              <a:rPr b="1" i="0" lang="en-US" sz="4800" u="none" cap="none" strike="noStrike">
                <a:solidFill>
                  <a:schemeClr val="folHlink"/>
                </a:solidFill>
                <a:latin typeface="Times"/>
                <a:ea typeface="Times"/>
                <a:cs typeface="Times"/>
                <a:sym typeface="Times"/>
              </a:rPr>
              <a:t>Transmission</a:t>
            </a:r>
            <a:endParaRPr/>
          </a:p>
          <a:p>
            <a:pPr indent="0" lvl="0" marL="0" marR="0" rtl="0" algn="ctr">
              <a:lnSpc>
                <a:spcPct val="100000"/>
              </a:lnSpc>
              <a:spcBef>
                <a:spcPts val="0"/>
              </a:spcBef>
              <a:spcAft>
                <a:spcPts val="0"/>
              </a:spcAft>
              <a:buClr>
                <a:schemeClr val="folHlink"/>
              </a:buClr>
              <a:buSzPts val="4800"/>
              <a:buFont typeface="Times"/>
              <a:buNone/>
            </a:pPr>
            <a:r>
              <a:rPr b="1" i="0" lang="en-US" sz="4800" u="none" cap="none" strike="noStrike">
                <a:solidFill>
                  <a:schemeClr val="folHlink"/>
                </a:solidFill>
                <a:latin typeface="Times"/>
                <a:ea typeface="Times"/>
                <a:cs typeface="Times"/>
                <a:sym typeface="Times"/>
              </a:rPr>
              <a:t>Control</a:t>
            </a:r>
            <a:endParaRPr/>
          </a:p>
          <a:p>
            <a:pPr indent="0" lvl="0" marL="0" marR="0" rtl="0" algn="ctr">
              <a:lnSpc>
                <a:spcPct val="100000"/>
              </a:lnSpc>
              <a:spcBef>
                <a:spcPts val="0"/>
              </a:spcBef>
              <a:spcAft>
                <a:spcPts val="0"/>
              </a:spcAft>
              <a:buClr>
                <a:schemeClr val="folHlink"/>
              </a:buClr>
              <a:buSzPts val="4800"/>
              <a:buFont typeface="Times"/>
              <a:buNone/>
            </a:pPr>
            <a:r>
              <a:rPr b="1" i="0" lang="en-US" sz="4800" u="none" cap="none" strike="noStrike">
                <a:solidFill>
                  <a:schemeClr val="folHlink"/>
                </a:solidFill>
                <a:latin typeface="Times"/>
                <a:ea typeface="Times"/>
                <a:cs typeface="Times"/>
                <a:sym typeface="Times"/>
              </a:rPr>
              <a:t>Protocol</a:t>
            </a:r>
            <a:br>
              <a:rPr b="1" i="0" lang="en-US" sz="4800" u="none" cap="none" strike="noStrike">
                <a:solidFill>
                  <a:schemeClr val="folHlink"/>
                </a:solidFill>
                <a:latin typeface="Times"/>
                <a:ea typeface="Times"/>
                <a:cs typeface="Times"/>
                <a:sym typeface="Times"/>
              </a:rPr>
            </a:br>
            <a:r>
              <a:rPr b="1" i="0" lang="en-US" sz="4800" u="none" cap="none" strike="noStrike">
                <a:solidFill>
                  <a:schemeClr val="folHlink"/>
                </a:solidFill>
                <a:latin typeface="Times"/>
                <a:ea typeface="Times"/>
                <a:cs typeface="Times"/>
                <a:sym typeface="Times"/>
              </a:rPr>
              <a:t>(TCP)</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cap="none" strike="noStrike">
                <a:solidFill>
                  <a:schemeClr val="dk1"/>
                </a:solidFill>
                <a:latin typeface="Tahoma"/>
                <a:ea typeface="Tahoma"/>
                <a:cs typeface="Tahoma"/>
                <a:sym typeface="Tahoma"/>
              </a:rPr>
              <a:t>TCP/IP Protocol Suite</a:t>
            </a:r>
            <a:endParaRPr/>
          </a:p>
        </p:txBody>
      </p:sp>
      <p:sp>
        <p:nvSpPr>
          <p:cNvPr id="267" name="Google Shape;267;p2"/>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cap="none" strike="noStrike">
                <a:solidFill>
                  <a:schemeClr val="dk1"/>
                </a:solidFill>
                <a:latin typeface="Tahoma"/>
                <a:ea typeface="Tahoma"/>
                <a:cs typeface="Tahoma"/>
                <a:sym typeface="Tahoma"/>
              </a:rPr>
              <a:t>‹#›</a:t>
            </a:fld>
            <a:endParaRPr/>
          </a:p>
        </p:txBody>
      </p:sp>
      <p:sp>
        <p:nvSpPr>
          <p:cNvPr id="268" name="Google Shape;268;p2"/>
          <p:cNvSpPr txBox="1"/>
          <p:nvPr>
            <p:ph type="title"/>
          </p:nvPr>
        </p:nvSpPr>
        <p:spPr>
          <a:xfrm>
            <a:off x="152400" y="0"/>
            <a:ext cx="82296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hlink"/>
              </a:buClr>
              <a:buSzPts val="4400"/>
              <a:buFont typeface="Tahoma"/>
              <a:buNone/>
            </a:pPr>
            <a:r>
              <a:rPr b="1" i="0" lang="en-US" sz="4400" u="sng">
                <a:solidFill>
                  <a:schemeClr val="hlink"/>
                </a:solidFill>
                <a:latin typeface="Tahoma"/>
                <a:ea typeface="Tahoma"/>
                <a:cs typeface="Tahoma"/>
                <a:sym typeface="Tahoma"/>
              </a:rPr>
              <a:t>OBJECTIVES:</a:t>
            </a:r>
            <a:endParaRPr/>
          </a:p>
        </p:txBody>
      </p:sp>
      <p:sp>
        <p:nvSpPr>
          <p:cNvPr id="269" name="Google Shape;269;p2"/>
          <p:cNvSpPr txBox="1"/>
          <p:nvPr/>
        </p:nvSpPr>
        <p:spPr>
          <a:xfrm>
            <a:off x="0" y="838200"/>
            <a:ext cx="8991600" cy="5181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folHlink"/>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To introduce TCP as a protocol that provides reliable stream delivery service.</a:t>
            </a:r>
            <a:endParaRPr/>
          </a:p>
          <a:p>
            <a:pPr indent="-342900" lvl="0" marL="342900" marR="0" rtl="0" algn="l">
              <a:lnSpc>
                <a:spcPct val="100000"/>
              </a:lnSpc>
              <a:spcBef>
                <a:spcPts val="1200"/>
              </a:spcBef>
              <a:spcAft>
                <a:spcPts val="0"/>
              </a:spcAft>
              <a:buClr>
                <a:schemeClr val="folHlink"/>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To define TCP features and compare them with UDP features.</a:t>
            </a:r>
            <a:endParaRPr/>
          </a:p>
          <a:p>
            <a:pPr indent="-342900" lvl="0" marL="342900" marR="0" rtl="0" algn="l">
              <a:lnSpc>
                <a:spcPct val="100000"/>
              </a:lnSpc>
              <a:spcBef>
                <a:spcPts val="1200"/>
              </a:spcBef>
              <a:spcAft>
                <a:spcPts val="0"/>
              </a:spcAft>
              <a:buClr>
                <a:schemeClr val="folHlink"/>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To define the format of a TCP segment and its fields.</a:t>
            </a:r>
            <a:endParaRPr/>
          </a:p>
          <a:p>
            <a:pPr indent="-342900" lvl="0" marL="342900" marR="0" rtl="0" algn="l">
              <a:lnSpc>
                <a:spcPct val="100000"/>
              </a:lnSpc>
              <a:spcBef>
                <a:spcPts val="1200"/>
              </a:spcBef>
              <a:spcAft>
                <a:spcPts val="0"/>
              </a:spcAft>
              <a:buClr>
                <a:schemeClr val="folHlink"/>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To show how TCP provides a connection-oriented service, and show the segments exchanged during connection establishment and connection termination phases.</a:t>
            </a:r>
            <a:endParaRPr/>
          </a:p>
          <a:p>
            <a:pPr indent="-342900" lvl="0" marL="342900" marR="0" rtl="0" algn="l">
              <a:lnSpc>
                <a:spcPct val="100000"/>
              </a:lnSpc>
              <a:spcBef>
                <a:spcPts val="1200"/>
              </a:spcBef>
              <a:spcAft>
                <a:spcPts val="0"/>
              </a:spcAft>
              <a:buClr>
                <a:schemeClr val="folHlink"/>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To discuss the state transition diagram for TCP and discuss some scenarios.</a:t>
            </a:r>
            <a:endParaRPr/>
          </a:p>
          <a:p>
            <a:pPr indent="-342900" lvl="0" marL="342900" marR="0" rtl="0" algn="l">
              <a:lnSpc>
                <a:spcPct val="100000"/>
              </a:lnSpc>
              <a:spcBef>
                <a:spcPts val="1200"/>
              </a:spcBef>
              <a:spcAft>
                <a:spcPts val="0"/>
              </a:spcAft>
              <a:buClr>
                <a:schemeClr val="folHlink"/>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To introduce windows in TCP that are used for flow and error control.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9">
                                            <p:txEl>
                                              <p:pRg end="0" st="0"/>
                                            </p:txEl>
                                          </p:spTgt>
                                        </p:tgtEl>
                                        <p:attrNameLst>
                                          <p:attrName>style.visibility</p:attrName>
                                        </p:attrNameLst>
                                      </p:cBhvr>
                                      <p:to>
                                        <p:strVal val="visible"/>
                                      </p:to>
                                    </p:set>
                                    <p:anim calcmode="lin" valueType="num">
                                      <p:cBhvr additive="base">
                                        <p:cTn dur="500"/>
                                        <p:tgtEl>
                                          <p:spTgt spid="269">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269">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9">
                                            <p:txEl>
                                              <p:pRg end="1" st="1"/>
                                            </p:txEl>
                                          </p:spTgt>
                                        </p:tgtEl>
                                        <p:attrNameLst>
                                          <p:attrName>style.visibility</p:attrName>
                                        </p:attrNameLst>
                                      </p:cBhvr>
                                      <p:to>
                                        <p:strVal val="visible"/>
                                      </p:to>
                                    </p:set>
                                    <p:anim calcmode="lin" valueType="num">
                                      <p:cBhvr additive="base">
                                        <p:cTn dur="500"/>
                                        <p:tgtEl>
                                          <p:spTgt spid="269">
                                            <p:txEl>
                                              <p:pRg end="1" st="1"/>
                                            </p:txEl>
                                          </p:spTgt>
                                        </p:tgtEl>
                                        <p:attrNameLst>
                                          <p:attrName>ppt_w</p:attrName>
                                        </p:attrNameLst>
                                      </p:cBhvr>
                                      <p:tavLst>
                                        <p:tav fmla="" tm="0">
                                          <p:val>
                                            <p:strVal val="0"/>
                                          </p:val>
                                        </p:tav>
                                        <p:tav fmla="" tm="100000">
                                          <p:val>
                                            <p:strVal val="#ppt_w"/>
                                          </p:val>
                                        </p:tav>
                                      </p:tavLst>
                                    </p:anim>
                                    <p:anim calcmode="lin" valueType="num">
                                      <p:cBhvr additive="base">
                                        <p:cTn dur="500"/>
                                        <p:tgtEl>
                                          <p:spTgt spid="269">
                                            <p:txEl>
                                              <p:pRg end="1" st="1"/>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9">
                                            <p:txEl>
                                              <p:pRg end="2" st="2"/>
                                            </p:txEl>
                                          </p:spTgt>
                                        </p:tgtEl>
                                        <p:attrNameLst>
                                          <p:attrName>style.visibility</p:attrName>
                                        </p:attrNameLst>
                                      </p:cBhvr>
                                      <p:to>
                                        <p:strVal val="visible"/>
                                      </p:to>
                                    </p:set>
                                    <p:anim calcmode="lin" valueType="num">
                                      <p:cBhvr additive="base">
                                        <p:cTn dur="500"/>
                                        <p:tgtEl>
                                          <p:spTgt spid="269">
                                            <p:txEl>
                                              <p:pRg end="2" st="2"/>
                                            </p:txEl>
                                          </p:spTgt>
                                        </p:tgtEl>
                                        <p:attrNameLst>
                                          <p:attrName>ppt_w</p:attrName>
                                        </p:attrNameLst>
                                      </p:cBhvr>
                                      <p:tavLst>
                                        <p:tav fmla="" tm="0">
                                          <p:val>
                                            <p:strVal val="0"/>
                                          </p:val>
                                        </p:tav>
                                        <p:tav fmla="" tm="100000">
                                          <p:val>
                                            <p:strVal val="#ppt_w"/>
                                          </p:val>
                                        </p:tav>
                                      </p:tavLst>
                                    </p:anim>
                                    <p:anim calcmode="lin" valueType="num">
                                      <p:cBhvr additive="base">
                                        <p:cTn dur="500"/>
                                        <p:tgtEl>
                                          <p:spTgt spid="269">
                                            <p:txEl>
                                              <p:pRg end="2" st="2"/>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9">
                                            <p:txEl>
                                              <p:pRg end="3" st="3"/>
                                            </p:txEl>
                                          </p:spTgt>
                                        </p:tgtEl>
                                        <p:attrNameLst>
                                          <p:attrName>style.visibility</p:attrName>
                                        </p:attrNameLst>
                                      </p:cBhvr>
                                      <p:to>
                                        <p:strVal val="visible"/>
                                      </p:to>
                                    </p:set>
                                    <p:anim calcmode="lin" valueType="num">
                                      <p:cBhvr additive="base">
                                        <p:cTn dur="500"/>
                                        <p:tgtEl>
                                          <p:spTgt spid="269">
                                            <p:txEl>
                                              <p:pRg end="3" st="3"/>
                                            </p:txEl>
                                          </p:spTgt>
                                        </p:tgtEl>
                                        <p:attrNameLst>
                                          <p:attrName>ppt_w</p:attrName>
                                        </p:attrNameLst>
                                      </p:cBhvr>
                                      <p:tavLst>
                                        <p:tav fmla="" tm="0">
                                          <p:val>
                                            <p:strVal val="0"/>
                                          </p:val>
                                        </p:tav>
                                        <p:tav fmla="" tm="100000">
                                          <p:val>
                                            <p:strVal val="#ppt_w"/>
                                          </p:val>
                                        </p:tav>
                                      </p:tavLst>
                                    </p:anim>
                                    <p:anim calcmode="lin" valueType="num">
                                      <p:cBhvr additive="base">
                                        <p:cTn dur="500"/>
                                        <p:tgtEl>
                                          <p:spTgt spid="269">
                                            <p:txEl>
                                              <p:pRg end="3" st="3"/>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9">
                                            <p:txEl>
                                              <p:pRg end="4" st="4"/>
                                            </p:txEl>
                                          </p:spTgt>
                                        </p:tgtEl>
                                        <p:attrNameLst>
                                          <p:attrName>style.visibility</p:attrName>
                                        </p:attrNameLst>
                                      </p:cBhvr>
                                      <p:to>
                                        <p:strVal val="visible"/>
                                      </p:to>
                                    </p:set>
                                    <p:anim calcmode="lin" valueType="num">
                                      <p:cBhvr additive="base">
                                        <p:cTn dur="500"/>
                                        <p:tgtEl>
                                          <p:spTgt spid="269">
                                            <p:txEl>
                                              <p:pRg end="4" st="4"/>
                                            </p:txEl>
                                          </p:spTgt>
                                        </p:tgtEl>
                                        <p:attrNameLst>
                                          <p:attrName>ppt_w</p:attrName>
                                        </p:attrNameLst>
                                      </p:cBhvr>
                                      <p:tavLst>
                                        <p:tav fmla="" tm="0">
                                          <p:val>
                                            <p:strVal val="0"/>
                                          </p:val>
                                        </p:tav>
                                        <p:tav fmla="" tm="100000">
                                          <p:val>
                                            <p:strVal val="#ppt_w"/>
                                          </p:val>
                                        </p:tav>
                                      </p:tavLst>
                                    </p:anim>
                                    <p:anim calcmode="lin" valueType="num">
                                      <p:cBhvr additive="base">
                                        <p:cTn dur="500"/>
                                        <p:tgtEl>
                                          <p:spTgt spid="269">
                                            <p:txEl>
                                              <p:pRg end="4" st="4"/>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9">
                                            <p:txEl>
                                              <p:pRg end="5" st="5"/>
                                            </p:txEl>
                                          </p:spTgt>
                                        </p:tgtEl>
                                        <p:attrNameLst>
                                          <p:attrName>style.visibility</p:attrName>
                                        </p:attrNameLst>
                                      </p:cBhvr>
                                      <p:to>
                                        <p:strVal val="visible"/>
                                      </p:to>
                                    </p:set>
                                    <p:anim calcmode="lin" valueType="num">
                                      <p:cBhvr additive="base">
                                        <p:cTn dur="500"/>
                                        <p:tgtEl>
                                          <p:spTgt spid="269">
                                            <p:txEl>
                                              <p:pRg end="5" st="5"/>
                                            </p:txEl>
                                          </p:spTgt>
                                        </p:tgtEl>
                                        <p:attrNameLst>
                                          <p:attrName>ppt_w</p:attrName>
                                        </p:attrNameLst>
                                      </p:cBhvr>
                                      <p:tavLst>
                                        <p:tav fmla="" tm="0">
                                          <p:val>
                                            <p:strVal val="0"/>
                                          </p:val>
                                        </p:tav>
                                        <p:tav fmla="" tm="100000">
                                          <p:val>
                                            <p:strVal val="#ppt_w"/>
                                          </p:val>
                                        </p:tav>
                                      </p:tavLst>
                                    </p:anim>
                                    <p:anim calcmode="lin" valueType="num">
                                      <p:cBhvr additive="base">
                                        <p:cTn dur="500"/>
                                        <p:tgtEl>
                                          <p:spTgt spid="269">
                                            <p:txEl>
                                              <p:pRg end="5" st="5"/>
                                            </p:txEl>
                                          </p:spTgt>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cap="none" strike="noStrike">
                <a:solidFill>
                  <a:schemeClr val="dk1"/>
                </a:solidFill>
                <a:latin typeface="Tahoma"/>
                <a:ea typeface="Tahoma"/>
                <a:cs typeface="Tahoma"/>
                <a:sym typeface="Tahoma"/>
              </a:rPr>
              <a:t>TCP/IP Protocol Suite</a:t>
            </a:r>
            <a:endParaRPr/>
          </a:p>
        </p:txBody>
      </p:sp>
      <p:sp>
        <p:nvSpPr>
          <p:cNvPr id="276" name="Google Shape;276;p3"/>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cap="none" strike="noStrike">
                <a:solidFill>
                  <a:schemeClr val="dk1"/>
                </a:solidFill>
                <a:latin typeface="Tahoma"/>
                <a:ea typeface="Tahoma"/>
                <a:cs typeface="Tahoma"/>
                <a:sym typeface="Tahoma"/>
              </a:rPr>
              <a:t>‹#›</a:t>
            </a:fld>
            <a:endParaRPr/>
          </a:p>
        </p:txBody>
      </p:sp>
      <p:sp>
        <p:nvSpPr>
          <p:cNvPr id="277" name="Google Shape;277;p3"/>
          <p:cNvSpPr txBox="1"/>
          <p:nvPr>
            <p:ph type="title"/>
          </p:nvPr>
        </p:nvSpPr>
        <p:spPr>
          <a:xfrm>
            <a:off x="152400" y="0"/>
            <a:ext cx="82296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hlink"/>
              </a:buClr>
              <a:buSzPts val="4400"/>
              <a:buFont typeface="Tahoma"/>
              <a:buNone/>
            </a:pPr>
            <a:r>
              <a:rPr b="1" i="0" lang="en-US" sz="4400" u="sng">
                <a:solidFill>
                  <a:schemeClr val="hlink"/>
                </a:solidFill>
                <a:latin typeface="Tahoma"/>
                <a:ea typeface="Tahoma"/>
                <a:cs typeface="Tahoma"/>
                <a:sym typeface="Tahoma"/>
              </a:rPr>
              <a:t>OBJECTIVES (</a:t>
            </a:r>
            <a:r>
              <a:rPr b="0" i="1" lang="en-US" sz="4400" u="sng">
                <a:solidFill>
                  <a:schemeClr val="hlink"/>
                </a:solidFill>
                <a:latin typeface="Tahoma"/>
                <a:ea typeface="Tahoma"/>
                <a:cs typeface="Tahoma"/>
                <a:sym typeface="Tahoma"/>
              </a:rPr>
              <a:t>continued</a:t>
            </a:r>
            <a:r>
              <a:rPr b="1" i="0" lang="en-US" sz="4400" u="sng">
                <a:solidFill>
                  <a:schemeClr val="hlink"/>
                </a:solidFill>
                <a:latin typeface="Tahoma"/>
                <a:ea typeface="Tahoma"/>
                <a:cs typeface="Tahoma"/>
                <a:sym typeface="Tahoma"/>
              </a:rPr>
              <a:t>):</a:t>
            </a:r>
            <a:endParaRPr/>
          </a:p>
        </p:txBody>
      </p:sp>
      <p:sp>
        <p:nvSpPr>
          <p:cNvPr id="278" name="Google Shape;278;p3"/>
          <p:cNvSpPr txBox="1"/>
          <p:nvPr/>
        </p:nvSpPr>
        <p:spPr>
          <a:xfrm>
            <a:off x="0" y="838200"/>
            <a:ext cx="8991600" cy="5181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folHlink"/>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To discuss how TCP implements flow control in which the receive window controls the size of the send window.</a:t>
            </a:r>
            <a:endParaRPr/>
          </a:p>
          <a:p>
            <a:pPr indent="-342900" lvl="0" marL="342900" marR="0" rtl="0" algn="l">
              <a:lnSpc>
                <a:spcPct val="100000"/>
              </a:lnSpc>
              <a:spcBef>
                <a:spcPts val="1200"/>
              </a:spcBef>
              <a:spcAft>
                <a:spcPts val="0"/>
              </a:spcAft>
              <a:buClr>
                <a:schemeClr val="folHlink"/>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To discuss error control and FSMs used by TCP during the data transmission phase.</a:t>
            </a:r>
            <a:endParaRPr/>
          </a:p>
          <a:p>
            <a:pPr indent="-342900" lvl="0" marL="342900" marR="0" rtl="0" algn="l">
              <a:lnSpc>
                <a:spcPct val="100000"/>
              </a:lnSpc>
              <a:spcBef>
                <a:spcPts val="1200"/>
              </a:spcBef>
              <a:spcAft>
                <a:spcPts val="0"/>
              </a:spcAft>
              <a:buClr>
                <a:schemeClr val="folHlink"/>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To discuss how TCP controls the congestion in the network using different strategies.</a:t>
            </a:r>
            <a:endParaRPr/>
          </a:p>
          <a:p>
            <a:pPr indent="-342900" lvl="0" marL="342900" marR="0" rtl="0" algn="l">
              <a:lnSpc>
                <a:spcPct val="100000"/>
              </a:lnSpc>
              <a:spcBef>
                <a:spcPts val="1200"/>
              </a:spcBef>
              <a:spcAft>
                <a:spcPts val="0"/>
              </a:spcAft>
              <a:buClr>
                <a:schemeClr val="folHlink"/>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To list and explain the purpose of each timer in TCP.</a:t>
            </a:r>
            <a:endParaRPr/>
          </a:p>
          <a:p>
            <a:pPr indent="-342900" lvl="0" marL="342900" marR="0" rtl="0" algn="l">
              <a:lnSpc>
                <a:spcPct val="100000"/>
              </a:lnSpc>
              <a:spcBef>
                <a:spcPts val="1200"/>
              </a:spcBef>
              <a:spcAft>
                <a:spcPts val="0"/>
              </a:spcAft>
              <a:buClr>
                <a:schemeClr val="folHlink"/>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To discuss options in TCP and show how TCP can provide selective acknowledgment using the SACK option.</a:t>
            </a:r>
            <a:endParaRPr/>
          </a:p>
          <a:p>
            <a:pPr indent="-342900" lvl="0" marL="342900" marR="0" rtl="0" algn="l">
              <a:lnSpc>
                <a:spcPct val="100000"/>
              </a:lnSpc>
              <a:spcBef>
                <a:spcPts val="1200"/>
              </a:spcBef>
              <a:spcAft>
                <a:spcPts val="0"/>
              </a:spcAft>
              <a:buClr>
                <a:schemeClr val="folHlink"/>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To give a layout and a simplified pseudocode for the TCP package.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8">
                                            <p:txEl>
                                              <p:pRg end="0" st="0"/>
                                            </p:txEl>
                                          </p:spTgt>
                                        </p:tgtEl>
                                        <p:attrNameLst>
                                          <p:attrName>style.visibility</p:attrName>
                                        </p:attrNameLst>
                                      </p:cBhvr>
                                      <p:to>
                                        <p:strVal val="visible"/>
                                      </p:to>
                                    </p:set>
                                    <p:anim calcmode="lin" valueType="num">
                                      <p:cBhvr additive="base">
                                        <p:cTn dur="500"/>
                                        <p:tgtEl>
                                          <p:spTgt spid="278">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278">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8">
                                            <p:txEl>
                                              <p:pRg end="1" st="1"/>
                                            </p:txEl>
                                          </p:spTgt>
                                        </p:tgtEl>
                                        <p:attrNameLst>
                                          <p:attrName>style.visibility</p:attrName>
                                        </p:attrNameLst>
                                      </p:cBhvr>
                                      <p:to>
                                        <p:strVal val="visible"/>
                                      </p:to>
                                    </p:set>
                                    <p:anim calcmode="lin" valueType="num">
                                      <p:cBhvr additive="base">
                                        <p:cTn dur="500"/>
                                        <p:tgtEl>
                                          <p:spTgt spid="278">
                                            <p:txEl>
                                              <p:pRg end="1" st="1"/>
                                            </p:txEl>
                                          </p:spTgt>
                                        </p:tgtEl>
                                        <p:attrNameLst>
                                          <p:attrName>ppt_w</p:attrName>
                                        </p:attrNameLst>
                                      </p:cBhvr>
                                      <p:tavLst>
                                        <p:tav fmla="" tm="0">
                                          <p:val>
                                            <p:strVal val="0"/>
                                          </p:val>
                                        </p:tav>
                                        <p:tav fmla="" tm="100000">
                                          <p:val>
                                            <p:strVal val="#ppt_w"/>
                                          </p:val>
                                        </p:tav>
                                      </p:tavLst>
                                    </p:anim>
                                    <p:anim calcmode="lin" valueType="num">
                                      <p:cBhvr additive="base">
                                        <p:cTn dur="500"/>
                                        <p:tgtEl>
                                          <p:spTgt spid="278">
                                            <p:txEl>
                                              <p:pRg end="1" st="1"/>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8">
                                            <p:txEl>
                                              <p:pRg end="2" st="2"/>
                                            </p:txEl>
                                          </p:spTgt>
                                        </p:tgtEl>
                                        <p:attrNameLst>
                                          <p:attrName>style.visibility</p:attrName>
                                        </p:attrNameLst>
                                      </p:cBhvr>
                                      <p:to>
                                        <p:strVal val="visible"/>
                                      </p:to>
                                    </p:set>
                                    <p:anim calcmode="lin" valueType="num">
                                      <p:cBhvr additive="base">
                                        <p:cTn dur="500"/>
                                        <p:tgtEl>
                                          <p:spTgt spid="278">
                                            <p:txEl>
                                              <p:pRg end="2" st="2"/>
                                            </p:txEl>
                                          </p:spTgt>
                                        </p:tgtEl>
                                        <p:attrNameLst>
                                          <p:attrName>ppt_w</p:attrName>
                                        </p:attrNameLst>
                                      </p:cBhvr>
                                      <p:tavLst>
                                        <p:tav fmla="" tm="0">
                                          <p:val>
                                            <p:strVal val="0"/>
                                          </p:val>
                                        </p:tav>
                                        <p:tav fmla="" tm="100000">
                                          <p:val>
                                            <p:strVal val="#ppt_w"/>
                                          </p:val>
                                        </p:tav>
                                      </p:tavLst>
                                    </p:anim>
                                    <p:anim calcmode="lin" valueType="num">
                                      <p:cBhvr additive="base">
                                        <p:cTn dur="500"/>
                                        <p:tgtEl>
                                          <p:spTgt spid="278">
                                            <p:txEl>
                                              <p:pRg end="2" st="2"/>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8">
                                            <p:txEl>
                                              <p:pRg end="3" st="3"/>
                                            </p:txEl>
                                          </p:spTgt>
                                        </p:tgtEl>
                                        <p:attrNameLst>
                                          <p:attrName>style.visibility</p:attrName>
                                        </p:attrNameLst>
                                      </p:cBhvr>
                                      <p:to>
                                        <p:strVal val="visible"/>
                                      </p:to>
                                    </p:set>
                                    <p:anim calcmode="lin" valueType="num">
                                      <p:cBhvr additive="base">
                                        <p:cTn dur="500"/>
                                        <p:tgtEl>
                                          <p:spTgt spid="278">
                                            <p:txEl>
                                              <p:pRg end="3" st="3"/>
                                            </p:txEl>
                                          </p:spTgt>
                                        </p:tgtEl>
                                        <p:attrNameLst>
                                          <p:attrName>ppt_w</p:attrName>
                                        </p:attrNameLst>
                                      </p:cBhvr>
                                      <p:tavLst>
                                        <p:tav fmla="" tm="0">
                                          <p:val>
                                            <p:strVal val="0"/>
                                          </p:val>
                                        </p:tav>
                                        <p:tav fmla="" tm="100000">
                                          <p:val>
                                            <p:strVal val="#ppt_w"/>
                                          </p:val>
                                        </p:tav>
                                      </p:tavLst>
                                    </p:anim>
                                    <p:anim calcmode="lin" valueType="num">
                                      <p:cBhvr additive="base">
                                        <p:cTn dur="500"/>
                                        <p:tgtEl>
                                          <p:spTgt spid="278">
                                            <p:txEl>
                                              <p:pRg end="3" st="3"/>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8">
                                            <p:txEl>
                                              <p:pRg end="4" st="4"/>
                                            </p:txEl>
                                          </p:spTgt>
                                        </p:tgtEl>
                                        <p:attrNameLst>
                                          <p:attrName>style.visibility</p:attrName>
                                        </p:attrNameLst>
                                      </p:cBhvr>
                                      <p:to>
                                        <p:strVal val="visible"/>
                                      </p:to>
                                    </p:set>
                                    <p:anim calcmode="lin" valueType="num">
                                      <p:cBhvr additive="base">
                                        <p:cTn dur="500"/>
                                        <p:tgtEl>
                                          <p:spTgt spid="278">
                                            <p:txEl>
                                              <p:pRg end="4" st="4"/>
                                            </p:txEl>
                                          </p:spTgt>
                                        </p:tgtEl>
                                        <p:attrNameLst>
                                          <p:attrName>ppt_w</p:attrName>
                                        </p:attrNameLst>
                                      </p:cBhvr>
                                      <p:tavLst>
                                        <p:tav fmla="" tm="0">
                                          <p:val>
                                            <p:strVal val="0"/>
                                          </p:val>
                                        </p:tav>
                                        <p:tav fmla="" tm="100000">
                                          <p:val>
                                            <p:strVal val="#ppt_w"/>
                                          </p:val>
                                        </p:tav>
                                      </p:tavLst>
                                    </p:anim>
                                    <p:anim calcmode="lin" valueType="num">
                                      <p:cBhvr additive="base">
                                        <p:cTn dur="500"/>
                                        <p:tgtEl>
                                          <p:spTgt spid="278">
                                            <p:txEl>
                                              <p:pRg end="4" st="4"/>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8">
                                            <p:txEl>
                                              <p:pRg end="5" st="5"/>
                                            </p:txEl>
                                          </p:spTgt>
                                        </p:tgtEl>
                                        <p:attrNameLst>
                                          <p:attrName>style.visibility</p:attrName>
                                        </p:attrNameLst>
                                      </p:cBhvr>
                                      <p:to>
                                        <p:strVal val="visible"/>
                                      </p:to>
                                    </p:set>
                                    <p:anim calcmode="lin" valueType="num">
                                      <p:cBhvr additive="base">
                                        <p:cTn dur="500"/>
                                        <p:tgtEl>
                                          <p:spTgt spid="278">
                                            <p:txEl>
                                              <p:pRg end="5" st="5"/>
                                            </p:txEl>
                                          </p:spTgt>
                                        </p:tgtEl>
                                        <p:attrNameLst>
                                          <p:attrName>ppt_w</p:attrName>
                                        </p:attrNameLst>
                                      </p:cBhvr>
                                      <p:tavLst>
                                        <p:tav fmla="" tm="0">
                                          <p:val>
                                            <p:strVal val="0"/>
                                          </p:val>
                                        </p:tav>
                                        <p:tav fmla="" tm="100000">
                                          <p:val>
                                            <p:strVal val="#ppt_w"/>
                                          </p:val>
                                        </p:tav>
                                      </p:tavLst>
                                    </p:anim>
                                    <p:anim calcmode="lin" valueType="num">
                                      <p:cBhvr additive="base">
                                        <p:cTn dur="500"/>
                                        <p:tgtEl>
                                          <p:spTgt spid="278">
                                            <p:txEl>
                                              <p:pRg end="5" st="5"/>
                                            </p:txEl>
                                          </p:spTgt>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cap="none" strike="noStrike">
                <a:solidFill>
                  <a:schemeClr val="dk1"/>
                </a:solidFill>
                <a:latin typeface="Tahoma"/>
                <a:ea typeface="Tahoma"/>
                <a:cs typeface="Tahoma"/>
                <a:sym typeface="Tahoma"/>
              </a:rPr>
              <a:t>TCP/IP Protocol Suite</a:t>
            </a:r>
            <a:endParaRPr/>
          </a:p>
        </p:txBody>
      </p:sp>
      <p:sp>
        <p:nvSpPr>
          <p:cNvPr id="285" name="Google Shape;285;p4"/>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cap="none" strike="noStrike">
                <a:solidFill>
                  <a:schemeClr val="dk1"/>
                </a:solidFill>
                <a:latin typeface="Tahoma"/>
                <a:ea typeface="Tahoma"/>
                <a:cs typeface="Tahoma"/>
                <a:sym typeface="Tahoma"/>
              </a:rPr>
              <a:t>‹#›</a:t>
            </a:fld>
            <a:endParaRPr/>
          </a:p>
        </p:txBody>
      </p:sp>
      <p:sp>
        <p:nvSpPr>
          <p:cNvPr id="286" name="Google Shape;286;p4"/>
          <p:cNvSpPr txBox="1"/>
          <p:nvPr/>
        </p:nvSpPr>
        <p:spPr>
          <a:xfrm>
            <a:off x="822325" y="33337"/>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87" name="Google Shape;287;p4"/>
          <p:cNvSpPr txBox="1"/>
          <p:nvPr/>
        </p:nvSpPr>
        <p:spPr>
          <a:xfrm>
            <a:off x="152400" y="119062"/>
            <a:ext cx="2603500" cy="13112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4000"/>
              <a:buFont typeface="Arial"/>
              <a:buNone/>
            </a:pPr>
            <a:r>
              <a:rPr b="1" i="0" lang="en-US" sz="4000" u="none">
                <a:solidFill>
                  <a:schemeClr val="folHlink"/>
                </a:solidFill>
                <a:latin typeface="Arial"/>
                <a:ea typeface="Arial"/>
                <a:cs typeface="Arial"/>
                <a:sym typeface="Arial"/>
              </a:rPr>
              <a:t>Chapter </a:t>
            </a:r>
            <a:br>
              <a:rPr b="1" i="0" lang="en-US" sz="4000" u="none">
                <a:solidFill>
                  <a:schemeClr val="folHlink"/>
                </a:solidFill>
                <a:latin typeface="Arial"/>
                <a:ea typeface="Arial"/>
                <a:cs typeface="Arial"/>
                <a:sym typeface="Arial"/>
              </a:rPr>
            </a:br>
            <a:r>
              <a:rPr b="1" i="0" lang="en-US" sz="4000" u="none">
                <a:solidFill>
                  <a:schemeClr val="folHlink"/>
                </a:solidFill>
                <a:latin typeface="Arial"/>
                <a:ea typeface="Arial"/>
                <a:cs typeface="Arial"/>
                <a:sym typeface="Arial"/>
              </a:rPr>
              <a:t>Outline</a:t>
            </a:r>
            <a:endParaRPr/>
          </a:p>
        </p:txBody>
      </p:sp>
      <p:cxnSp>
        <p:nvCxnSpPr>
          <p:cNvPr id="288" name="Google Shape;288;p4"/>
          <p:cNvCxnSpPr/>
          <p:nvPr/>
        </p:nvCxnSpPr>
        <p:spPr>
          <a:xfrm>
            <a:off x="2590800" y="228600"/>
            <a:ext cx="0" cy="6172200"/>
          </a:xfrm>
          <a:prstGeom prst="straightConnector1">
            <a:avLst/>
          </a:prstGeom>
          <a:noFill/>
          <a:ln cap="flat" cmpd="sng" w="38100">
            <a:solidFill>
              <a:schemeClr val="dk1"/>
            </a:solidFill>
            <a:prstDash val="solid"/>
            <a:miter lim="800000"/>
            <a:headEnd len="med" w="med" type="none"/>
            <a:tailEnd len="med" w="med" type="none"/>
          </a:ln>
        </p:spPr>
      </p:cxnSp>
      <p:sp>
        <p:nvSpPr>
          <p:cNvPr id="289" name="Google Shape;289;p4"/>
          <p:cNvSpPr txBox="1"/>
          <p:nvPr/>
        </p:nvSpPr>
        <p:spPr>
          <a:xfrm>
            <a:off x="2667000" y="0"/>
            <a:ext cx="3952875"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15.1     TCP Services</a:t>
            </a:r>
            <a:endParaRPr/>
          </a:p>
        </p:txBody>
      </p:sp>
      <p:sp>
        <p:nvSpPr>
          <p:cNvPr id="290" name="Google Shape;290;p4"/>
          <p:cNvSpPr txBox="1"/>
          <p:nvPr/>
        </p:nvSpPr>
        <p:spPr>
          <a:xfrm>
            <a:off x="2667000" y="555625"/>
            <a:ext cx="40401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15.2     TCP Features</a:t>
            </a:r>
            <a:endParaRPr/>
          </a:p>
        </p:txBody>
      </p:sp>
      <p:sp>
        <p:nvSpPr>
          <p:cNvPr id="291" name="Google Shape;291;p4"/>
          <p:cNvSpPr txBox="1"/>
          <p:nvPr/>
        </p:nvSpPr>
        <p:spPr>
          <a:xfrm>
            <a:off x="2819400" y="3352800"/>
            <a:ext cx="184150" cy="1066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ahoma"/>
              <a:buNone/>
            </a:pPr>
            <a:r>
              <a:t/>
            </a:r>
            <a:endParaRPr b="1" i="1" sz="32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92" name="Google Shape;292;p4"/>
          <p:cNvSpPr txBox="1"/>
          <p:nvPr/>
        </p:nvSpPr>
        <p:spPr>
          <a:xfrm>
            <a:off x="2667000" y="1109662"/>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15.3     Segment</a:t>
            </a:r>
            <a:endParaRPr/>
          </a:p>
        </p:txBody>
      </p:sp>
      <p:sp>
        <p:nvSpPr>
          <p:cNvPr id="293" name="Google Shape;293;p4"/>
          <p:cNvSpPr txBox="1"/>
          <p:nvPr/>
        </p:nvSpPr>
        <p:spPr>
          <a:xfrm>
            <a:off x="2667000" y="1663700"/>
            <a:ext cx="49863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15.4     A TCP Connection</a:t>
            </a:r>
            <a:endParaRPr/>
          </a:p>
        </p:txBody>
      </p:sp>
      <p:sp>
        <p:nvSpPr>
          <p:cNvPr id="294" name="Google Shape;294;p4"/>
          <p:cNvSpPr txBox="1"/>
          <p:nvPr/>
        </p:nvSpPr>
        <p:spPr>
          <a:xfrm>
            <a:off x="2667000" y="2217737"/>
            <a:ext cx="6365875"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15.5     State Transition Diagram</a:t>
            </a:r>
            <a:endParaRPr/>
          </a:p>
        </p:txBody>
      </p:sp>
      <p:sp>
        <p:nvSpPr>
          <p:cNvPr id="295" name="Google Shape;295;p4"/>
          <p:cNvSpPr txBox="1"/>
          <p:nvPr/>
        </p:nvSpPr>
        <p:spPr>
          <a:xfrm>
            <a:off x="2667000" y="2771775"/>
            <a:ext cx="4632325"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15.6     Windows in TCP</a:t>
            </a:r>
            <a:endParaRPr/>
          </a:p>
        </p:txBody>
      </p:sp>
      <p:sp>
        <p:nvSpPr>
          <p:cNvPr id="296" name="Google Shape;296;p4"/>
          <p:cNvSpPr txBox="1"/>
          <p:nvPr/>
        </p:nvSpPr>
        <p:spPr>
          <a:xfrm>
            <a:off x="2667000" y="3325812"/>
            <a:ext cx="40084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15.7     Flow Control</a:t>
            </a:r>
            <a:endParaRPr/>
          </a:p>
        </p:txBody>
      </p:sp>
      <p:sp>
        <p:nvSpPr>
          <p:cNvPr id="297" name="Google Shape;297;p4"/>
          <p:cNvSpPr txBox="1"/>
          <p:nvPr/>
        </p:nvSpPr>
        <p:spPr>
          <a:xfrm>
            <a:off x="2667000" y="3879850"/>
            <a:ext cx="403860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15.8     Error Control</a:t>
            </a:r>
            <a:endParaRPr/>
          </a:p>
        </p:txBody>
      </p:sp>
      <p:sp>
        <p:nvSpPr>
          <p:cNvPr id="298" name="Google Shape;298;p4"/>
          <p:cNvSpPr txBox="1"/>
          <p:nvPr/>
        </p:nvSpPr>
        <p:spPr>
          <a:xfrm>
            <a:off x="2667000" y="4433887"/>
            <a:ext cx="53038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15.9     Congestion Control</a:t>
            </a:r>
            <a:endParaRPr/>
          </a:p>
        </p:txBody>
      </p:sp>
      <p:sp>
        <p:nvSpPr>
          <p:cNvPr id="299" name="Google Shape;299;p4"/>
          <p:cNvSpPr txBox="1"/>
          <p:nvPr/>
        </p:nvSpPr>
        <p:spPr>
          <a:xfrm>
            <a:off x="2667000" y="4987925"/>
            <a:ext cx="3705225"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15.10   TCP Timers</a:t>
            </a:r>
            <a:endParaRPr/>
          </a:p>
        </p:txBody>
      </p:sp>
      <p:sp>
        <p:nvSpPr>
          <p:cNvPr id="300" name="Google Shape;300;p4"/>
          <p:cNvSpPr txBox="1"/>
          <p:nvPr/>
        </p:nvSpPr>
        <p:spPr>
          <a:xfrm>
            <a:off x="2667000" y="5541962"/>
            <a:ext cx="309880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15.11   Options</a:t>
            </a:r>
            <a:endParaRPr/>
          </a:p>
        </p:txBody>
      </p:sp>
      <p:sp>
        <p:nvSpPr>
          <p:cNvPr id="301" name="Google Shape;301;p4"/>
          <p:cNvSpPr txBox="1"/>
          <p:nvPr/>
        </p:nvSpPr>
        <p:spPr>
          <a:xfrm>
            <a:off x="2667000" y="6096000"/>
            <a:ext cx="401796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15.12   TCP Package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08" name="Google Shape;308;p5"/>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309" name="Google Shape;309;p5"/>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10" name="Google Shape;310;p5"/>
          <p:cNvSpPr txBox="1"/>
          <p:nvPr/>
        </p:nvSpPr>
        <p:spPr>
          <a:xfrm>
            <a:off x="228600" y="355600"/>
            <a:ext cx="4575175" cy="650875"/>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Times"/>
              <a:buNone/>
            </a:pPr>
            <a:r>
              <a:rPr b="1" i="0" lang="en-US" sz="3600" u="none">
                <a:solidFill>
                  <a:schemeClr val="lt1"/>
                </a:solidFill>
                <a:latin typeface="Times"/>
                <a:ea typeface="Times"/>
                <a:cs typeface="Times"/>
                <a:sym typeface="Times"/>
              </a:rPr>
              <a:t>15-1  TCP SERVICES</a:t>
            </a:r>
            <a:endParaRPr/>
          </a:p>
        </p:txBody>
      </p:sp>
      <p:sp>
        <p:nvSpPr>
          <p:cNvPr id="311" name="Google Shape;311;p5"/>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12" name="Google Shape;312;p5"/>
          <p:cNvSpPr txBox="1"/>
          <p:nvPr/>
        </p:nvSpPr>
        <p:spPr>
          <a:xfrm>
            <a:off x="381000" y="1524000"/>
            <a:ext cx="8410575" cy="265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mo"/>
              <a:buNone/>
            </a:pPr>
            <a:r>
              <a:rPr b="1" i="0" lang="en-US" sz="2800" u="none">
                <a:solidFill>
                  <a:schemeClr val="dk1"/>
                </a:solidFill>
                <a:latin typeface="Arimo"/>
                <a:ea typeface="Arimo"/>
                <a:cs typeface="Arimo"/>
                <a:sym typeface="Arimo"/>
              </a:rPr>
              <a:t>Figure 15.1 shows the relationship of TCP to the other protocols in the TCP/IP protocol suite. TCP lies between the application layer and the network layer, and serves as the intermediary between the application programs and the network operations.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317" name="Shape 317"/>
        <p:cNvGrpSpPr/>
        <p:nvPr/>
      </p:nvGrpSpPr>
      <p:grpSpPr>
        <a:xfrm>
          <a:off x="0" y="0"/>
          <a:ext cx="0" cy="0"/>
          <a:chOff x="0" y="0"/>
          <a:chExt cx="0" cy="0"/>
        </a:xfrm>
      </p:grpSpPr>
      <p:sp>
        <p:nvSpPr>
          <p:cNvPr id="318" name="Google Shape;318;p6"/>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19" name="Google Shape;319;p6"/>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320" name="Google Shape;320;p6"/>
          <p:cNvSpPr txBox="1"/>
          <p:nvPr/>
        </p:nvSpPr>
        <p:spPr>
          <a:xfrm>
            <a:off x="228600" y="152400"/>
            <a:ext cx="54689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321" name="Google Shape;321;p6"/>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22" name="Google Shape;322;p6"/>
          <p:cNvSpPr txBox="1"/>
          <p:nvPr/>
        </p:nvSpPr>
        <p:spPr>
          <a:xfrm>
            <a:off x="304800" y="989012"/>
            <a:ext cx="8382000" cy="3082925"/>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Process-to-Process Communication</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Stream Delivery Service</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Full-Duplex Communication</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Multiplexing and Demultiplexing</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Connection-Oriented Service</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Reliable Service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5000"/>
                                        <p:tgtEl>
                                          <p:spTgt spid="3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7"/>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29" name="Google Shape;329;p7"/>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330" name="Google Shape;330;p7"/>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15.1</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TCP/IP protocol suite</a:t>
            </a:r>
            <a:endParaRPr/>
          </a:p>
        </p:txBody>
      </p:sp>
      <p:sp>
        <p:nvSpPr>
          <p:cNvPr id="331" name="Google Shape;331;p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32" name="Google Shape;332;p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33" name="Google Shape;333;p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34" name="Google Shape;334;p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35" name="Google Shape;335;p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36" name="Google Shape;336;p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37" name="Google Shape;337;p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338" name="Google Shape;338;p7"/>
          <p:cNvPicPr preferRelativeResize="0"/>
          <p:nvPr/>
        </p:nvPicPr>
        <p:blipFill rotWithShape="1">
          <a:blip r:embed="rId3">
            <a:alphaModFix/>
          </a:blip>
          <a:srcRect b="0" l="0" r="0" t="0"/>
          <a:stretch/>
        </p:blipFill>
        <p:spPr>
          <a:xfrm>
            <a:off x="304800" y="1244600"/>
            <a:ext cx="8437562" cy="4470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8"/>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45" name="Google Shape;345;p8"/>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grpSp>
        <p:nvGrpSpPr>
          <p:cNvPr id="346" name="Google Shape;346;p8"/>
          <p:cNvGrpSpPr/>
          <p:nvPr/>
        </p:nvGrpSpPr>
        <p:grpSpPr>
          <a:xfrm>
            <a:off x="228600" y="228600"/>
            <a:ext cx="8458200" cy="5791200"/>
            <a:chOff x="144" y="144"/>
            <a:chExt cx="5328" cy="3648"/>
          </a:xfrm>
        </p:grpSpPr>
        <p:grpSp>
          <p:nvGrpSpPr>
            <p:cNvPr id="347" name="Google Shape;347;p8"/>
            <p:cNvGrpSpPr/>
            <p:nvPr/>
          </p:nvGrpSpPr>
          <p:grpSpPr>
            <a:xfrm>
              <a:off x="144" y="144"/>
              <a:ext cx="432" cy="3648"/>
              <a:chOff x="48" y="48"/>
              <a:chExt cx="576" cy="3984"/>
            </a:xfrm>
          </p:grpSpPr>
          <p:sp>
            <p:nvSpPr>
              <p:cNvPr id="348" name="Google Shape;348;p8"/>
              <p:cNvSpPr txBox="1"/>
              <p:nvPr/>
            </p:nvSpPr>
            <p:spPr>
              <a:xfrm>
                <a:off x="240"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49" name="Google Shape;349;p8"/>
              <p:cNvSpPr txBox="1"/>
              <p:nvPr/>
            </p:nvSpPr>
            <p:spPr>
              <a:xfrm>
                <a:off x="48"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50" name="Google Shape;350;p8"/>
              <p:cNvSpPr txBox="1"/>
              <p:nvPr/>
            </p:nvSpPr>
            <p:spPr>
              <a:xfrm>
                <a:off x="432"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351" name="Google Shape;351;p8"/>
            <p:cNvGrpSpPr/>
            <p:nvPr/>
          </p:nvGrpSpPr>
          <p:grpSpPr>
            <a:xfrm>
              <a:off x="144" y="144"/>
              <a:ext cx="5328" cy="336"/>
              <a:chOff x="0" y="144"/>
              <a:chExt cx="5760" cy="432"/>
            </a:xfrm>
          </p:grpSpPr>
          <p:sp>
            <p:nvSpPr>
              <p:cNvPr id="352" name="Google Shape;352;p8"/>
              <p:cNvSpPr txBox="1"/>
              <p:nvPr/>
            </p:nvSpPr>
            <p:spPr>
              <a:xfrm>
                <a:off x="0" y="144"/>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53" name="Google Shape;353;p8"/>
              <p:cNvSpPr txBox="1"/>
              <p:nvPr/>
            </p:nvSpPr>
            <p:spPr>
              <a:xfrm>
                <a:off x="0" y="288"/>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54" name="Google Shape;354;p8"/>
              <p:cNvSpPr txBox="1"/>
              <p:nvPr/>
            </p:nvSpPr>
            <p:spPr>
              <a:xfrm>
                <a:off x="0" y="432"/>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355" name="Google Shape;355;p8"/>
            <p:cNvGrpSpPr/>
            <p:nvPr/>
          </p:nvGrpSpPr>
          <p:grpSpPr>
            <a:xfrm>
              <a:off x="144" y="144"/>
              <a:ext cx="432" cy="336"/>
              <a:chOff x="144" y="144"/>
              <a:chExt cx="432" cy="336"/>
            </a:xfrm>
          </p:grpSpPr>
          <p:grpSp>
            <p:nvGrpSpPr>
              <p:cNvPr id="356" name="Google Shape;356;p8"/>
              <p:cNvGrpSpPr/>
              <p:nvPr/>
            </p:nvGrpSpPr>
            <p:grpSpPr>
              <a:xfrm>
                <a:off x="144" y="256"/>
                <a:ext cx="432" cy="112"/>
                <a:chOff x="288" y="256"/>
                <a:chExt cx="432" cy="112"/>
              </a:xfrm>
            </p:grpSpPr>
            <p:sp>
              <p:nvSpPr>
                <p:cNvPr id="357" name="Google Shape;357;p8"/>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58" name="Google Shape;358;p8"/>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59" name="Google Shape;359;p8"/>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360" name="Google Shape;360;p8"/>
              <p:cNvGrpSpPr/>
              <p:nvPr/>
            </p:nvGrpSpPr>
            <p:grpSpPr>
              <a:xfrm>
                <a:off x="144" y="144"/>
                <a:ext cx="432" cy="336"/>
                <a:chOff x="144" y="144"/>
                <a:chExt cx="432" cy="336"/>
              </a:xfrm>
            </p:grpSpPr>
            <p:grpSp>
              <p:nvGrpSpPr>
                <p:cNvPr id="361" name="Google Shape;361;p8"/>
                <p:cNvGrpSpPr/>
                <p:nvPr/>
              </p:nvGrpSpPr>
              <p:grpSpPr>
                <a:xfrm>
                  <a:off x="144" y="144"/>
                  <a:ext cx="432" cy="112"/>
                  <a:chOff x="288" y="256"/>
                  <a:chExt cx="432" cy="112"/>
                </a:xfrm>
              </p:grpSpPr>
              <p:sp>
                <p:nvSpPr>
                  <p:cNvPr id="362" name="Google Shape;362;p8"/>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63" name="Google Shape;363;p8"/>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64" name="Google Shape;364;p8"/>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365" name="Google Shape;365;p8"/>
                <p:cNvGrpSpPr/>
                <p:nvPr/>
              </p:nvGrpSpPr>
              <p:grpSpPr>
                <a:xfrm>
                  <a:off x="144" y="368"/>
                  <a:ext cx="432" cy="112"/>
                  <a:chOff x="288" y="256"/>
                  <a:chExt cx="432" cy="112"/>
                </a:xfrm>
              </p:grpSpPr>
              <p:sp>
                <p:nvSpPr>
                  <p:cNvPr id="366" name="Google Shape;366;p8"/>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67" name="Google Shape;367;p8"/>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68" name="Google Shape;368;p8"/>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grpSp>
      </p:grpSp>
      <p:grpSp>
        <p:nvGrpSpPr>
          <p:cNvPr id="369" name="Google Shape;369;p8"/>
          <p:cNvGrpSpPr/>
          <p:nvPr/>
        </p:nvGrpSpPr>
        <p:grpSpPr>
          <a:xfrm>
            <a:off x="1273175" y="1211262"/>
            <a:ext cx="7413625" cy="4122737"/>
            <a:chOff x="802" y="763"/>
            <a:chExt cx="4670" cy="2597"/>
          </a:xfrm>
        </p:grpSpPr>
        <p:pic>
          <p:nvPicPr>
            <p:cNvPr id="370" name="Google Shape;370;p8"/>
            <p:cNvPicPr preferRelativeResize="0"/>
            <p:nvPr/>
          </p:nvPicPr>
          <p:blipFill rotWithShape="1">
            <a:blip r:embed="rId3">
              <a:alphaModFix/>
            </a:blip>
            <a:srcRect b="0" l="0" r="0" t="0"/>
            <a:stretch/>
          </p:blipFill>
          <p:spPr>
            <a:xfrm>
              <a:off x="802" y="763"/>
              <a:ext cx="4670" cy="1253"/>
            </a:xfrm>
            <a:prstGeom prst="rect">
              <a:avLst/>
            </a:prstGeom>
            <a:noFill/>
            <a:ln>
              <a:noFill/>
            </a:ln>
          </p:spPr>
        </p:pic>
        <p:pic>
          <p:nvPicPr>
            <p:cNvPr id="371" name="Google Shape;371;p8"/>
            <p:cNvPicPr preferRelativeResize="0"/>
            <p:nvPr/>
          </p:nvPicPr>
          <p:blipFill rotWithShape="1">
            <a:blip r:embed="rId4">
              <a:alphaModFix/>
            </a:blip>
            <a:srcRect b="0" l="0" r="0" t="0"/>
            <a:stretch/>
          </p:blipFill>
          <p:spPr>
            <a:xfrm>
              <a:off x="819" y="2019"/>
              <a:ext cx="4653" cy="1341"/>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9"/>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78" name="Google Shape;378;p9"/>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379" name="Google Shape;379;p9"/>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15.2</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Stream delivery</a:t>
            </a:r>
            <a:endParaRPr/>
          </a:p>
        </p:txBody>
      </p:sp>
      <p:sp>
        <p:nvSpPr>
          <p:cNvPr id="380" name="Google Shape;380;p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81" name="Google Shape;381;p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82" name="Google Shape;382;p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83" name="Google Shape;383;p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84" name="Google Shape;384;p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85" name="Google Shape;385;p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86" name="Google Shape;386;p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387" name="Google Shape;387;p9"/>
          <p:cNvPicPr preferRelativeResize="0"/>
          <p:nvPr/>
        </p:nvPicPr>
        <p:blipFill rotWithShape="1">
          <a:blip r:embed="rId3">
            <a:alphaModFix/>
          </a:blip>
          <a:srcRect b="0" l="0" r="0" t="0"/>
          <a:stretch/>
        </p:blipFill>
        <p:spPr>
          <a:xfrm>
            <a:off x="384175" y="1954212"/>
            <a:ext cx="8499475" cy="272256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10"/>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94" name="Google Shape;394;p10"/>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395" name="Google Shape;395;p10"/>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15.3</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Sending and receiving buffers</a:t>
            </a:r>
            <a:endParaRPr/>
          </a:p>
        </p:txBody>
      </p:sp>
      <p:sp>
        <p:nvSpPr>
          <p:cNvPr id="396" name="Google Shape;396;p10"/>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97" name="Google Shape;397;p1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98" name="Google Shape;398;p10"/>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99" name="Google Shape;399;p1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00" name="Google Shape;400;p1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01" name="Google Shape;401;p10"/>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02" name="Google Shape;402;p1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403" name="Google Shape;403;p10"/>
          <p:cNvPicPr preferRelativeResize="0"/>
          <p:nvPr/>
        </p:nvPicPr>
        <p:blipFill rotWithShape="1">
          <a:blip r:embed="rId3">
            <a:alphaModFix/>
          </a:blip>
          <a:srcRect b="0" l="0" r="0" t="0"/>
          <a:stretch/>
        </p:blipFill>
        <p:spPr>
          <a:xfrm>
            <a:off x="623887" y="2300287"/>
            <a:ext cx="2614612" cy="2820987"/>
          </a:xfrm>
          <a:prstGeom prst="rect">
            <a:avLst/>
          </a:prstGeom>
          <a:noFill/>
          <a:ln>
            <a:noFill/>
          </a:ln>
        </p:spPr>
      </p:pic>
      <p:pic>
        <p:nvPicPr>
          <p:cNvPr id="404" name="Google Shape;404;p10"/>
          <p:cNvPicPr preferRelativeResize="0"/>
          <p:nvPr/>
        </p:nvPicPr>
        <p:blipFill rotWithShape="1">
          <a:blip r:embed="rId4">
            <a:alphaModFix/>
          </a:blip>
          <a:srcRect b="0" l="0" r="0" t="0"/>
          <a:stretch/>
        </p:blipFill>
        <p:spPr>
          <a:xfrm>
            <a:off x="5545137" y="2309812"/>
            <a:ext cx="2514600" cy="2803525"/>
          </a:xfrm>
          <a:prstGeom prst="rect">
            <a:avLst/>
          </a:prstGeom>
          <a:noFill/>
          <a:ln>
            <a:noFill/>
          </a:ln>
        </p:spPr>
      </p:pic>
      <p:pic>
        <p:nvPicPr>
          <p:cNvPr id="405" name="Google Shape;405;p10"/>
          <p:cNvPicPr preferRelativeResize="0"/>
          <p:nvPr/>
        </p:nvPicPr>
        <p:blipFill rotWithShape="1">
          <a:blip r:embed="rId5">
            <a:alphaModFix/>
          </a:blip>
          <a:srcRect b="0" l="0" r="0" t="0"/>
          <a:stretch/>
        </p:blipFill>
        <p:spPr>
          <a:xfrm>
            <a:off x="2998787" y="4414837"/>
            <a:ext cx="3025775" cy="4905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gtEl>
                                        <p:attrNameLst>
                                          <p:attrName>style.visibility</p:attrName>
                                        </p:attrNameLst>
                                      </p:cBhvr>
                                      <p:to>
                                        <p:strVal val="visible"/>
                                      </p:to>
                                    </p:set>
                                    <p:animEffect filter="fade" transition="in">
                                      <p:cBhvr>
                                        <p:cTn dur="2000"/>
                                        <p:tgtEl>
                                          <p:spTgt spid="4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2000"/>
                                        <p:tgtEl>
                                          <p:spTgt spid="4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2000"/>
                                        <p:tgtEl>
                                          <p:spTgt spid="4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11"/>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412" name="Google Shape;412;p11"/>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413" name="Google Shape;413;p11"/>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15.4</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TCP segments</a:t>
            </a:r>
            <a:endParaRPr/>
          </a:p>
        </p:txBody>
      </p:sp>
      <p:sp>
        <p:nvSpPr>
          <p:cNvPr id="414" name="Google Shape;414;p1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15" name="Google Shape;415;p1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16" name="Google Shape;416;p1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17" name="Google Shape;417;p1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18" name="Google Shape;418;p1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19" name="Google Shape;419;p1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20" name="Google Shape;420;p1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421" name="Google Shape;421;p11"/>
          <p:cNvPicPr preferRelativeResize="0"/>
          <p:nvPr/>
        </p:nvPicPr>
        <p:blipFill rotWithShape="1">
          <a:blip r:embed="rId3">
            <a:alphaModFix/>
          </a:blip>
          <a:srcRect b="0" l="0" r="0" t="0"/>
          <a:stretch/>
        </p:blipFill>
        <p:spPr>
          <a:xfrm>
            <a:off x="703262" y="2300287"/>
            <a:ext cx="2614612" cy="2820987"/>
          </a:xfrm>
          <a:prstGeom prst="rect">
            <a:avLst/>
          </a:prstGeom>
          <a:noFill/>
          <a:ln>
            <a:noFill/>
          </a:ln>
        </p:spPr>
      </p:pic>
      <p:pic>
        <p:nvPicPr>
          <p:cNvPr id="422" name="Google Shape;422;p11"/>
          <p:cNvPicPr preferRelativeResize="0"/>
          <p:nvPr/>
        </p:nvPicPr>
        <p:blipFill rotWithShape="1">
          <a:blip r:embed="rId4">
            <a:alphaModFix/>
          </a:blip>
          <a:srcRect b="0" l="0" r="0" t="0"/>
          <a:stretch/>
        </p:blipFill>
        <p:spPr>
          <a:xfrm>
            <a:off x="5449887" y="2309812"/>
            <a:ext cx="2514600" cy="2803525"/>
          </a:xfrm>
          <a:prstGeom prst="rect">
            <a:avLst/>
          </a:prstGeom>
          <a:noFill/>
          <a:ln>
            <a:noFill/>
          </a:ln>
        </p:spPr>
      </p:pic>
      <p:pic>
        <p:nvPicPr>
          <p:cNvPr id="423" name="Google Shape;423;p11"/>
          <p:cNvPicPr preferRelativeResize="0"/>
          <p:nvPr/>
        </p:nvPicPr>
        <p:blipFill rotWithShape="1">
          <a:blip r:embed="rId5">
            <a:alphaModFix/>
          </a:blip>
          <a:srcRect b="0" l="0" r="0" t="0"/>
          <a:stretch/>
        </p:blipFill>
        <p:spPr>
          <a:xfrm>
            <a:off x="3357562" y="4379912"/>
            <a:ext cx="2293937" cy="5540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gtEl>
                                        <p:attrNameLst>
                                          <p:attrName>style.visibility</p:attrName>
                                        </p:attrNameLst>
                                      </p:cBhvr>
                                      <p:to>
                                        <p:strVal val="visible"/>
                                      </p:to>
                                    </p:set>
                                    <p:animEffect filter="fade" transition="in">
                                      <p:cBhvr>
                                        <p:cTn dur="2000"/>
                                        <p:tgtEl>
                                          <p:spTgt spid="4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2000"/>
                                        <p:tgtEl>
                                          <p:spTgt spid="4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12"/>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430" name="Google Shape;430;p12"/>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431" name="Google Shape;431;p12"/>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32" name="Google Shape;432;p12"/>
          <p:cNvSpPr txBox="1"/>
          <p:nvPr/>
        </p:nvSpPr>
        <p:spPr>
          <a:xfrm>
            <a:off x="228600" y="355600"/>
            <a:ext cx="4727575" cy="650875"/>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Times"/>
              <a:buNone/>
            </a:pPr>
            <a:r>
              <a:rPr b="1" i="0" lang="en-US" sz="3600" u="none">
                <a:solidFill>
                  <a:schemeClr val="lt1"/>
                </a:solidFill>
                <a:latin typeface="Times"/>
                <a:ea typeface="Times"/>
                <a:cs typeface="Times"/>
                <a:sym typeface="Times"/>
              </a:rPr>
              <a:t>15-2  TCP FEATURES</a:t>
            </a:r>
            <a:endParaRPr/>
          </a:p>
        </p:txBody>
      </p:sp>
      <p:sp>
        <p:nvSpPr>
          <p:cNvPr id="433" name="Google Shape;433;p12"/>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34" name="Google Shape;434;p12"/>
          <p:cNvSpPr txBox="1"/>
          <p:nvPr/>
        </p:nvSpPr>
        <p:spPr>
          <a:xfrm>
            <a:off x="381000" y="1524000"/>
            <a:ext cx="85344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mo"/>
              <a:buNone/>
            </a:pPr>
            <a:r>
              <a:rPr b="1" i="0" lang="en-US" sz="2800" u="none">
                <a:solidFill>
                  <a:schemeClr val="dk1"/>
                </a:solidFill>
                <a:latin typeface="Arimo"/>
                <a:ea typeface="Arimo"/>
                <a:cs typeface="Arimo"/>
                <a:sym typeface="Arimo"/>
              </a:rPr>
              <a:t>To provide the services mentioned in the previous section, TCP has several features that are briefly summarized in this section and discussed later in detail.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439" name="Shape 439"/>
        <p:cNvGrpSpPr/>
        <p:nvPr/>
      </p:nvGrpSpPr>
      <p:grpSpPr>
        <a:xfrm>
          <a:off x="0" y="0"/>
          <a:ext cx="0" cy="0"/>
          <a:chOff x="0" y="0"/>
          <a:chExt cx="0" cy="0"/>
        </a:xfrm>
      </p:grpSpPr>
      <p:sp>
        <p:nvSpPr>
          <p:cNvPr id="440" name="Google Shape;440;p13"/>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441" name="Google Shape;441;p13"/>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442" name="Google Shape;442;p13"/>
          <p:cNvSpPr txBox="1"/>
          <p:nvPr/>
        </p:nvSpPr>
        <p:spPr>
          <a:xfrm>
            <a:off x="228600" y="152400"/>
            <a:ext cx="54689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443" name="Google Shape;443;p13"/>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44" name="Google Shape;444;p13"/>
          <p:cNvSpPr txBox="1"/>
          <p:nvPr/>
        </p:nvSpPr>
        <p:spPr>
          <a:xfrm>
            <a:off x="304800" y="989012"/>
            <a:ext cx="8382000" cy="2057400"/>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Numbering System</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Flow Control</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Error Control</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Congestion Control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
                                        </p:tgtEl>
                                        <p:attrNameLst>
                                          <p:attrName>style.visibility</p:attrName>
                                        </p:attrNameLst>
                                      </p:cBhvr>
                                      <p:to>
                                        <p:strVal val="visible"/>
                                      </p:to>
                                    </p:set>
                                    <p:animEffect filter="fade" transition="in">
                                      <p:cBhvr>
                                        <p:cTn dur="5000"/>
                                        <p:tgtEl>
                                          <p:spTgt spid="4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14"/>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451" name="Google Shape;451;p14"/>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452" name="Google Shape;452;p1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53" name="Google Shape;453;p1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54" name="Google Shape;454;p1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55" name="Google Shape;455;p1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56" name="Google Shape;456;p1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57" name="Google Shape;457;p1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58" name="Google Shape;458;p1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459" name="Google Shape;459;p14"/>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460" name="Google Shape;460;p14"/>
          <p:cNvCxnSpPr/>
          <p:nvPr/>
        </p:nvCxnSpPr>
        <p:spPr>
          <a:xfrm>
            <a:off x="609600" y="53340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461" name="Google Shape;461;p14"/>
          <p:cNvSpPr txBox="1"/>
          <p:nvPr/>
        </p:nvSpPr>
        <p:spPr>
          <a:xfrm>
            <a:off x="647700" y="2716212"/>
            <a:ext cx="8077200" cy="2528887"/>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bytes of data being transferred in each connection are numbered by TCP.</a:t>
            </a:r>
            <a:endParaRPr/>
          </a:p>
          <a:p>
            <a:pPr indent="0" lvl="0" marL="0" marR="0" rtl="0" algn="ctr">
              <a:lnSpc>
                <a:spcPct val="100000"/>
              </a:lnSpc>
              <a:spcBef>
                <a:spcPts val="0"/>
              </a:spcBef>
              <a:spcAft>
                <a:spcPts val="0"/>
              </a:spcAft>
              <a:buClr>
                <a:schemeClr val="dk1"/>
              </a:buClr>
              <a:buSzPts val="3200"/>
              <a:buFont typeface="Tahoma"/>
              <a:buNone/>
            </a:pPr>
            <a:r>
              <a:t/>
            </a:r>
            <a:endParaRPr b="1" i="1" sz="3200" u="none">
              <a:solidFill>
                <a:schemeClr val="lt1"/>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numbering starts with an  arbitrarily generated number.</a:t>
            </a:r>
            <a:endParaRPr/>
          </a:p>
        </p:txBody>
      </p:sp>
      <p:grpSp>
        <p:nvGrpSpPr>
          <p:cNvPr id="462" name="Google Shape;462;p14"/>
          <p:cNvGrpSpPr/>
          <p:nvPr/>
        </p:nvGrpSpPr>
        <p:grpSpPr>
          <a:xfrm>
            <a:off x="609600" y="1981200"/>
            <a:ext cx="1143000" cy="566737"/>
            <a:chOff x="1200" y="1248"/>
            <a:chExt cx="720" cy="357"/>
          </a:xfrm>
        </p:grpSpPr>
        <p:pic>
          <p:nvPicPr>
            <p:cNvPr id="463" name="Google Shape;463;p14"/>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464" name="Google Shape;464;p14"/>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59"/>
                                        </p:tgtEl>
                                        <p:attrNameLst>
                                          <p:attrName>style.visibility</p:attrName>
                                        </p:attrNameLst>
                                      </p:cBhvr>
                                      <p:to>
                                        <p:strVal val="visible"/>
                                      </p:to>
                                    </p:set>
                                    <p:animEffect filter="fade" transition="in">
                                      <p:cBhvr>
                                        <p:cTn dur="500"/>
                                        <p:tgtEl>
                                          <p:spTgt spid="45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0"/>
                                        </p:tgtEl>
                                        <p:attrNameLst>
                                          <p:attrName>style.visibility</p:attrName>
                                        </p:attrNameLst>
                                      </p:cBhvr>
                                      <p:to>
                                        <p:strVal val="visible"/>
                                      </p:to>
                                    </p:set>
                                    <p:animEffect filter="fade" transition="in">
                                      <p:cBhvr>
                                        <p:cTn dur="500"/>
                                        <p:tgtEl>
                                          <p:spTgt spid="46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500"/>
                                        <p:tgtEl>
                                          <p:spTgt spid="4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15"/>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471" name="Google Shape;471;p15"/>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472" name="Google Shape;472;p15"/>
          <p:cNvSpPr txBox="1"/>
          <p:nvPr/>
        </p:nvSpPr>
        <p:spPr>
          <a:xfrm>
            <a:off x="76200" y="696912"/>
            <a:ext cx="8877300" cy="30130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Suppose a TCP connection is transferring a file of 5,000 bytes. The first byte is numbered 10,001. What are the sequence numbers for each segment if data are sent in five segments, each carrying 1,000 bytes?</a:t>
            </a:r>
            <a:endParaRPr/>
          </a:p>
          <a:p>
            <a:pPr indent="0" lvl="0" marL="0" marR="0" rtl="0" algn="just">
              <a:lnSpc>
                <a:spcPct val="100000"/>
              </a:lnSpc>
              <a:spcBef>
                <a:spcPts val="0"/>
              </a:spcBef>
              <a:spcAft>
                <a:spcPts val="0"/>
              </a:spcAft>
              <a:buClr>
                <a:schemeClr val="dk1"/>
              </a:buClr>
              <a:buSzPts val="2400"/>
              <a:buFont typeface="Tahoma"/>
              <a:buNone/>
            </a:pPr>
            <a:r>
              <a:t/>
            </a:r>
            <a:endParaRPr b="1" i="0" sz="2400" u="none">
              <a:solidFill>
                <a:schemeClr val="dk1"/>
              </a:solidFill>
              <a:latin typeface="Arimo"/>
              <a:ea typeface="Arimo"/>
              <a:cs typeface="Arimo"/>
              <a:sym typeface="Arimo"/>
            </a:endParaRPr>
          </a:p>
          <a:p>
            <a:pPr indent="0" lvl="0" marL="0" marR="0" rtl="0" algn="just">
              <a:lnSpc>
                <a:spcPct val="100000"/>
              </a:lnSpc>
              <a:spcBef>
                <a:spcPts val="0"/>
              </a:spcBef>
              <a:spcAft>
                <a:spcPts val="0"/>
              </a:spcAft>
              <a:buClr>
                <a:schemeClr val="hlink"/>
              </a:buClr>
              <a:buSzPts val="2400"/>
              <a:buFont typeface="Arimo"/>
              <a:buNone/>
            </a:pPr>
            <a:r>
              <a:rPr b="1" i="1" lang="en-US" sz="2400" u="none">
                <a:solidFill>
                  <a:schemeClr val="hlink"/>
                </a:solidFill>
                <a:latin typeface="Arimo"/>
                <a:ea typeface="Arimo"/>
                <a:cs typeface="Arimo"/>
                <a:sym typeface="Arimo"/>
              </a:rPr>
              <a:t>Solution</a:t>
            </a:r>
            <a:endParaRPr/>
          </a:p>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The following shows the sequence number for each segment:</a:t>
            </a:r>
            <a:endParaRPr/>
          </a:p>
        </p:txBody>
      </p:sp>
      <p:grpSp>
        <p:nvGrpSpPr>
          <p:cNvPr id="473" name="Google Shape;473;p15"/>
          <p:cNvGrpSpPr/>
          <p:nvPr/>
        </p:nvGrpSpPr>
        <p:grpSpPr>
          <a:xfrm>
            <a:off x="0" y="0"/>
            <a:ext cx="9144000" cy="609600"/>
            <a:chOff x="0" y="2448"/>
            <a:chExt cx="5760" cy="384"/>
          </a:xfrm>
        </p:grpSpPr>
        <p:sp>
          <p:nvSpPr>
            <p:cNvPr id="474" name="Google Shape;474;p15"/>
            <p:cNvSpPr txBox="1"/>
            <p:nvPr/>
          </p:nvSpPr>
          <p:spPr>
            <a:xfrm>
              <a:off x="0" y="2448"/>
              <a:ext cx="5760" cy="384"/>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75" name="Google Shape;475;p15"/>
            <p:cNvSpPr txBox="1"/>
            <p:nvPr/>
          </p:nvSpPr>
          <p:spPr>
            <a:xfrm>
              <a:off x="0" y="2448"/>
              <a:ext cx="1595" cy="365"/>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0" lang="en-US" sz="3200" u="none">
                  <a:solidFill>
                    <a:schemeClr val="lt1"/>
                  </a:solidFill>
                  <a:latin typeface="Times New Roman"/>
                  <a:ea typeface="Times New Roman"/>
                  <a:cs typeface="Times New Roman"/>
                  <a:sym typeface="Times New Roman"/>
                </a:rPr>
                <a:t>Example 15.1</a:t>
              </a:r>
              <a:endParaRPr/>
            </a:p>
          </p:txBody>
        </p:sp>
      </p:grpSp>
      <p:pic>
        <p:nvPicPr>
          <p:cNvPr id="476" name="Google Shape;476;p15"/>
          <p:cNvPicPr preferRelativeResize="0"/>
          <p:nvPr/>
        </p:nvPicPr>
        <p:blipFill rotWithShape="1">
          <a:blip r:embed="rId3">
            <a:alphaModFix/>
          </a:blip>
          <a:srcRect b="0" l="0" r="0" t="0"/>
          <a:stretch/>
        </p:blipFill>
        <p:spPr>
          <a:xfrm>
            <a:off x="209550" y="3895725"/>
            <a:ext cx="8709025" cy="1778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16"/>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483" name="Google Shape;483;p16"/>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484" name="Google Shape;484;p1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85" name="Google Shape;485;p1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86" name="Google Shape;486;p1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87" name="Google Shape;487;p1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88" name="Google Shape;488;p1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89" name="Google Shape;489;p1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90" name="Google Shape;490;p1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491" name="Google Shape;491;p16"/>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492" name="Google Shape;492;p16"/>
          <p:cNvCxnSpPr/>
          <p:nvPr/>
        </p:nvCxnSpPr>
        <p:spPr>
          <a:xfrm>
            <a:off x="609600" y="48768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493" name="Google Shape;493;p16"/>
          <p:cNvSpPr txBox="1"/>
          <p:nvPr/>
        </p:nvSpPr>
        <p:spPr>
          <a:xfrm>
            <a:off x="647700" y="2716212"/>
            <a:ext cx="8077200" cy="2041525"/>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value in the sequence number </a:t>
            </a:r>
            <a:br>
              <a:rPr b="1" i="1" lang="en-US" sz="3200" u="none">
                <a:solidFill>
                  <a:schemeClr val="lt1"/>
                </a:solidFill>
                <a:latin typeface="Arial"/>
                <a:ea typeface="Arial"/>
                <a:cs typeface="Arial"/>
                <a:sym typeface="Arial"/>
              </a:rPr>
            </a:br>
            <a:r>
              <a:rPr b="1" i="1" lang="en-US" sz="3200" u="none">
                <a:solidFill>
                  <a:schemeClr val="lt1"/>
                </a:solidFill>
                <a:latin typeface="Arial"/>
                <a:ea typeface="Arial"/>
                <a:cs typeface="Arial"/>
                <a:sym typeface="Arial"/>
              </a:rPr>
              <a:t>field of a segment defines the number assigned to the first data byte </a:t>
            </a:r>
            <a:br>
              <a:rPr b="1" i="1" lang="en-US" sz="3200" u="none">
                <a:solidFill>
                  <a:schemeClr val="lt1"/>
                </a:solidFill>
                <a:latin typeface="Arial"/>
                <a:ea typeface="Arial"/>
                <a:cs typeface="Arial"/>
                <a:sym typeface="Arial"/>
              </a:rPr>
            </a:br>
            <a:r>
              <a:rPr b="1" i="1" lang="en-US" sz="3200" u="none">
                <a:solidFill>
                  <a:schemeClr val="lt1"/>
                </a:solidFill>
                <a:latin typeface="Arial"/>
                <a:ea typeface="Arial"/>
                <a:cs typeface="Arial"/>
                <a:sym typeface="Arial"/>
              </a:rPr>
              <a:t>contained in that segment.</a:t>
            </a:r>
            <a:endParaRPr/>
          </a:p>
        </p:txBody>
      </p:sp>
      <p:grpSp>
        <p:nvGrpSpPr>
          <p:cNvPr id="494" name="Google Shape;494;p16"/>
          <p:cNvGrpSpPr/>
          <p:nvPr/>
        </p:nvGrpSpPr>
        <p:grpSpPr>
          <a:xfrm>
            <a:off x="609600" y="1981200"/>
            <a:ext cx="1143000" cy="566737"/>
            <a:chOff x="1200" y="1248"/>
            <a:chExt cx="720" cy="357"/>
          </a:xfrm>
        </p:grpSpPr>
        <p:pic>
          <p:nvPicPr>
            <p:cNvPr id="495" name="Google Shape;495;p16"/>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496" name="Google Shape;496;p16"/>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91"/>
                                        </p:tgtEl>
                                        <p:attrNameLst>
                                          <p:attrName>style.visibility</p:attrName>
                                        </p:attrNameLst>
                                      </p:cBhvr>
                                      <p:to>
                                        <p:strVal val="visible"/>
                                      </p:to>
                                    </p:set>
                                    <p:animEffect filter="fade" transition="in">
                                      <p:cBhvr>
                                        <p:cTn dur="500"/>
                                        <p:tgtEl>
                                          <p:spTgt spid="49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92"/>
                                        </p:tgtEl>
                                        <p:attrNameLst>
                                          <p:attrName>style.visibility</p:attrName>
                                        </p:attrNameLst>
                                      </p:cBhvr>
                                      <p:to>
                                        <p:strVal val="visible"/>
                                      </p:to>
                                    </p:set>
                                    <p:animEffect filter="fade" transition="in">
                                      <p:cBhvr>
                                        <p:cTn dur="500"/>
                                        <p:tgtEl>
                                          <p:spTgt spid="49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500"/>
                                        <p:tgtEl>
                                          <p:spTgt spid="4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17"/>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503" name="Google Shape;503;p17"/>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504" name="Google Shape;504;p1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05" name="Google Shape;505;p1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06" name="Google Shape;506;p1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07" name="Google Shape;507;p1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08" name="Google Shape;508;p1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09" name="Google Shape;509;p1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10" name="Google Shape;510;p1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511" name="Google Shape;511;p17"/>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512" name="Google Shape;512;p17"/>
          <p:cNvCxnSpPr/>
          <p:nvPr/>
        </p:nvCxnSpPr>
        <p:spPr>
          <a:xfrm>
            <a:off x="609600" y="58674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513" name="Google Shape;513;p17"/>
          <p:cNvSpPr txBox="1"/>
          <p:nvPr/>
        </p:nvSpPr>
        <p:spPr>
          <a:xfrm>
            <a:off x="647700" y="2716212"/>
            <a:ext cx="8077200" cy="301625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value of the acknowledgment field in a segment defines the number of the next byte a party expects to receive. </a:t>
            </a:r>
            <a:endParaRPr/>
          </a:p>
          <a:p>
            <a:pPr indent="0" lvl="0" marL="0" marR="0" rtl="0" algn="ctr">
              <a:lnSpc>
                <a:spcPct val="100000"/>
              </a:lnSpc>
              <a:spcBef>
                <a:spcPts val="0"/>
              </a:spcBef>
              <a:spcAft>
                <a:spcPts val="0"/>
              </a:spcAft>
              <a:buClr>
                <a:schemeClr val="dk1"/>
              </a:buClr>
              <a:buSzPts val="3200"/>
              <a:buFont typeface="Tahoma"/>
              <a:buNone/>
            </a:pPr>
            <a:r>
              <a:t/>
            </a:r>
            <a:endParaRPr b="1" i="1" sz="3200" u="none">
              <a:solidFill>
                <a:schemeClr val="lt1"/>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acknowledgment number is cumulative.</a:t>
            </a:r>
            <a:endParaRPr/>
          </a:p>
        </p:txBody>
      </p:sp>
      <p:grpSp>
        <p:nvGrpSpPr>
          <p:cNvPr id="514" name="Google Shape;514;p17"/>
          <p:cNvGrpSpPr/>
          <p:nvPr/>
        </p:nvGrpSpPr>
        <p:grpSpPr>
          <a:xfrm>
            <a:off x="609600" y="1981200"/>
            <a:ext cx="1143000" cy="566737"/>
            <a:chOff x="1200" y="1248"/>
            <a:chExt cx="720" cy="357"/>
          </a:xfrm>
        </p:grpSpPr>
        <p:pic>
          <p:nvPicPr>
            <p:cNvPr id="515" name="Google Shape;515;p17"/>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516" name="Google Shape;516;p17"/>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500"/>
                                        <p:tgtEl>
                                          <p:spTgt spid="51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12"/>
                                        </p:tgtEl>
                                        <p:attrNameLst>
                                          <p:attrName>style.visibility</p:attrName>
                                        </p:attrNameLst>
                                      </p:cBhvr>
                                      <p:to>
                                        <p:strVal val="visible"/>
                                      </p:to>
                                    </p:set>
                                    <p:animEffect filter="fade" transition="in">
                                      <p:cBhvr>
                                        <p:cTn dur="500"/>
                                        <p:tgtEl>
                                          <p:spTgt spid="51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13"/>
                                        </p:tgtEl>
                                        <p:attrNameLst>
                                          <p:attrName>style.visibility</p:attrName>
                                        </p:attrNameLst>
                                      </p:cBhvr>
                                      <p:to>
                                        <p:strVal val="visible"/>
                                      </p:to>
                                    </p:set>
                                    <p:animEffect filter="fade" transition="in">
                                      <p:cBhvr>
                                        <p:cTn dur="500"/>
                                        <p:tgtEl>
                                          <p:spTgt spid="5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18"/>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523" name="Google Shape;523;p18"/>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524" name="Google Shape;524;p18"/>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25" name="Google Shape;525;p18"/>
          <p:cNvSpPr txBox="1"/>
          <p:nvPr/>
        </p:nvSpPr>
        <p:spPr>
          <a:xfrm>
            <a:off x="228600" y="355600"/>
            <a:ext cx="3546475" cy="650875"/>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Times"/>
              <a:buNone/>
            </a:pPr>
            <a:r>
              <a:rPr b="1" i="0" lang="en-US" sz="3600" u="none">
                <a:solidFill>
                  <a:schemeClr val="lt1"/>
                </a:solidFill>
                <a:latin typeface="Times"/>
                <a:ea typeface="Times"/>
                <a:cs typeface="Times"/>
                <a:sym typeface="Times"/>
              </a:rPr>
              <a:t>15-3  SEGMENT</a:t>
            </a:r>
            <a:endParaRPr/>
          </a:p>
        </p:txBody>
      </p:sp>
      <p:sp>
        <p:nvSpPr>
          <p:cNvPr id="526" name="Google Shape;526;p18"/>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27" name="Google Shape;527;p18"/>
          <p:cNvSpPr txBox="1"/>
          <p:nvPr/>
        </p:nvSpPr>
        <p:spPr>
          <a:xfrm>
            <a:off x="381000" y="1524000"/>
            <a:ext cx="8534400" cy="13731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mo"/>
              <a:buNone/>
            </a:pPr>
            <a:r>
              <a:rPr b="1" i="0" lang="en-US" sz="2800" u="none">
                <a:solidFill>
                  <a:schemeClr val="dk1"/>
                </a:solidFill>
                <a:latin typeface="Arimo"/>
                <a:ea typeface="Arimo"/>
                <a:cs typeface="Arimo"/>
                <a:sym typeface="Arimo"/>
              </a:rPr>
              <a:t>Before discussing TCP in more detail, let us discuss the TCP packets themselves. A packet in TCP is called a segment.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532" name="Shape 532"/>
        <p:cNvGrpSpPr/>
        <p:nvPr/>
      </p:nvGrpSpPr>
      <p:grpSpPr>
        <a:xfrm>
          <a:off x="0" y="0"/>
          <a:ext cx="0" cy="0"/>
          <a:chOff x="0" y="0"/>
          <a:chExt cx="0" cy="0"/>
        </a:xfrm>
      </p:grpSpPr>
      <p:sp>
        <p:nvSpPr>
          <p:cNvPr id="533" name="Google Shape;533;p19"/>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534" name="Google Shape;534;p19"/>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535" name="Google Shape;535;p19"/>
          <p:cNvSpPr txBox="1"/>
          <p:nvPr/>
        </p:nvSpPr>
        <p:spPr>
          <a:xfrm>
            <a:off x="228600" y="152400"/>
            <a:ext cx="54689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536" name="Google Shape;536;p19"/>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37" name="Google Shape;537;p19"/>
          <p:cNvSpPr txBox="1"/>
          <p:nvPr/>
        </p:nvSpPr>
        <p:spPr>
          <a:xfrm>
            <a:off x="304800" y="989012"/>
            <a:ext cx="8382000" cy="1031875"/>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Format </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Encapsulation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5000"/>
                                        <p:tgtEl>
                                          <p:spTgt spid="5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20"/>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544" name="Google Shape;544;p20"/>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545" name="Google Shape;545;p20"/>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15.5</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TCP  segment format</a:t>
            </a:r>
            <a:endParaRPr/>
          </a:p>
        </p:txBody>
      </p:sp>
      <p:sp>
        <p:nvSpPr>
          <p:cNvPr id="546" name="Google Shape;546;p20"/>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47" name="Google Shape;547;p2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48" name="Google Shape;548;p20"/>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49" name="Google Shape;549;p2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50" name="Google Shape;550;p2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51" name="Google Shape;551;p20"/>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52" name="Google Shape;552;p2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553" name="Google Shape;553;p20"/>
          <p:cNvPicPr preferRelativeResize="0"/>
          <p:nvPr/>
        </p:nvPicPr>
        <p:blipFill rotWithShape="1">
          <a:blip r:embed="rId3">
            <a:alphaModFix/>
          </a:blip>
          <a:srcRect b="0" l="0" r="0" t="0"/>
          <a:stretch/>
        </p:blipFill>
        <p:spPr>
          <a:xfrm>
            <a:off x="1711325" y="1071562"/>
            <a:ext cx="4810125" cy="1098550"/>
          </a:xfrm>
          <a:prstGeom prst="rect">
            <a:avLst/>
          </a:prstGeom>
          <a:noFill/>
          <a:ln>
            <a:noFill/>
          </a:ln>
        </p:spPr>
      </p:pic>
      <p:pic>
        <p:nvPicPr>
          <p:cNvPr id="554" name="Google Shape;554;p20"/>
          <p:cNvPicPr preferRelativeResize="0"/>
          <p:nvPr/>
        </p:nvPicPr>
        <p:blipFill rotWithShape="1">
          <a:blip r:embed="rId4">
            <a:alphaModFix/>
          </a:blip>
          <a:srcRect b="0" l="0" r="0" t="0"/>
          <a:stretch/>
        </p:blipFill>
        <p:spPr>
          <a:xfrm>
            <a:off x="593725" y="2443162"/>
            <a:ext cx="7624762" cy="39290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4"/>
                                        </p:tgtEl>
                                        <p:attrNameLst>
                                          <p:attrName>style.visibility</p:attrName>
                                        </p:attrNameLst>
                                      </p:cBhvr>
                                      <p:to>
                                        <p:strVal val="visible"/>
                                      </p:to>
                                    </p:set>
                                    <p:animEffect filter="fade" transition="in">
                                      <p:cBhvr>
                                        <p:cTn dur="3000"/>
                                        <p:tgtEl>
                                          <p:spTgt spid="5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21"/>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561" name="Google Shape;561;p21"/>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562" name="Google Shape;562;p21"/>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15.6</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Control field</a:t>
            </a:r>
            <a:endParaRPr/>
          </a:p>
        </p:txBody>
      </p:sp>
      <p:sp>
        <p:nvSpPr>
          <p:cNvPr id="563" name="Google Shape;563;p2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64" name="Google Shape;564;p2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65" name="Google Shape;565;p2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66" name="Google Shape;566;p2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67" name="Google Shape;567;p2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68" name="Google Shape;568;p2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69" name="Google Shape;569;p2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570" name="Google Shape;570;p21"/>
          <p:cNvPicPr preferRelativeResize="0"/>
          <p:nvPr/>
        </p:nvPicPr>
        <p:blipFill rotWithShape="1">
          <a:blip r:embed="rId3">
            <a:alphaModFix/>
          </a:blip>
          <a:srcRect b="0" l="0" r="0" t="0"/>
          <a:stretch/>
        </p:blipFill>
        <p:spPr>
          <a:xfrm>
            <a:off x="352425" y="2289175"/>
            <a:ext cx="8410575" cy="28162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22"/>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577" name="Google Shape;577;p22"/>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578" name="Google Shape;578;p22"/>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15.7</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Pseudoheader added to the TCP segment</a:t>
            </a:r>
            <a:endParaRPr/>
          </a:p>
        </p:txBody>
      </p:sp>
      <p:sp>
        <p:nvSpPr>
          <p:cNvPr id="579" name="Google Shape;579;p2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80" name="Google Shape;580;p2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81" name="Google Shape;581;p2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82" name="Google Shape;582;p2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83" name="Google Shape;583;p2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84" name="Google Shape;584;p2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85" name="Google Shape;585;p2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586" name="Google Shape;586;p22"/>
          <p:cNvPicPr preferRelativeResize="0"/>
          <p:nvPr/>
        </p:nvPicPr>
        <p:blipFill rotWithShape="1">
          <a:blip r:embed="rId3">
            <a:alphaModFix/>
          </a:blip>
          <a:srcRect b="0" l="0" r="0" t="0"/>
          <a:stretch/>
        </p:blipFill>
        <p:spPr>
          <a:xfrm>
            <a:off x="1092200" y="2559050"/>
            <a:ext cx="6353175" cy="1862137"/>
          </a:xfrm>
          <a:prstGeom prst="rect">
            <a:avLst/>
          </a:prstGeom>
          <a:noFill/>
          <a:ln>
            <a:noFill/>
          </a:ln>
        </p:spPr>
      </p:pic>
      <p:pic>
        <p:nvPicPr>
          <p:cNvPr id="587" name="Google Shape;587;p22"/>
          <p:cNvPicPr preferRelativeResize="0"/>
          <p:nvPr/>
        </p:nvPicPr>
        <p:blipFill rotWithShape="1">
          <a:blip r:embed="rId4">
            <a:alphaModFix/>
          </a:blip>
          <a:srcRect b="0" l="0" r="0" t="0"/>
          <a:stretch/>
        </p:blipFill>
        <p:spPr>
          <a:xfrm>
            <a:off x="1514475" y="4525962"/>
            <a:ext cx="5988050" cy="903287"/>
          </a:xfrm>
          <a:prstGeom prst="rect">
            <a:avLst/>
          </a:prstGeom>
          <a:noFill/>
          <a:ln>
            <a:noFill/>
          </a:ln>
        </p:spPr>
      </p:pic>
      <p:pic>
        <p:nvPicPr>
          <p:cNvPr id="588" name="Google Shape;588;p22"/>
          <p:cNvPicPr preferRelativeResize="0"/>
          <p:nvPr/>
        </p:nvPicPr>
        <p:blipFill rotWithShape="1">
          <a:blip r:embed="rId5">
            <a:alphaModFix/>
          </a:blip>
          <a:srcRect b="0" l="0" r="0" t="0"/>
          <a:stretch/>
        </p:blipFill>
        <p:spPr>
          <a:xfrm>
            <a:off x="1122362" y="1296987"/>
            <a:ext cx="6297612" cy="11287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88"/>
                                        </p:tgtEl>
                                        <p:attrNameLst>
                                          <p:attrName>style.visibility</p:attrName>
                                        </p:attrNameLst>
                                      </p:cBhvr>
                                      <p:to>
                                        <p:strVal val="visible"/>
                                      </p:to>
                                    </p:set>
                                    <p:anim calcmode="lin" valueType="num">
                                      <p:cBhvr additive="base">
                                        <p:cTn dur="500"/>
                                        <p:tgtEl>
                                          <p:spTgt spid="588"/>
                                        </p:tgtEl>
                                        <p:attrNameLst>
                                          <p:attrName>ppt_w</p:attrName>
                                        </p:attrNameLst>
                                      </p:cBhvr>
                                      <p:tavLst>
                                        <p:tav fmla="" tm="0">
                                          <p:val>
                                            <p:strVal val="0"/>
                                          </p:val>
                                        </p:tav>
                                        <p:tav fmla="" tm="100000">
                                          <p:val>
                                            <p:strVal val="#ppt_w"/>
                                          </p:val>
                                        </p:tav>
                                      </p:tavLst>
                                    </p:anim>
                                    <p:anim calcmode="lin" valueType="num">
                                      <p:cBhvr additive="base">
                                        <p:cTn dur="500"/>
                                        <p:tgtEl>
                                          <p:spTgt spid="58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23"/>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595" name="Google Shape;595;p23"/>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596" name="Google Shape;596;p2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97" name="Google Shape;597;p2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98" name="Google Shape;598;p2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99" name="Google Shape;599;p2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00" name="Google Shape;600;p2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01" name="Google Shape;601;p2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02" name="Google Shape;602;p2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603" name="Google Shape;603;p23"/>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604" name="Google Shape;604;p23"/>
          <p:cNvCxnSpPr/>
          <p:nvPr/>
        </p:nvCxnSpPr>
        <p:spPr>
          <a:xfrm>
            <a:off x="609600" y="38862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605" name="Google Shape;605;p23"/>
          <p:cNvSpPr txBox="1"/>
          <p:nvPr/>
        </p:nvSpPr>
        <p:spPr>
          <a:xfrm>
            <a:off x="647700" y="2716212"/>
            <a:ext cx="8077200" cy="10668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use of the checksum in TCP is mandatory.</a:t>
            </a:r>
            <a:endParaRPr/>
          </a:p>
        </p:txBody>
      </p:sp>
      <p:grpSp>
        <p:nvGrpSpPr>
          <p:cNvPr id="606" name="Google Shape;606;p23"/>
          <p:cNvGrpSpPr/>
          <p:nvPr/>
        </p:nvGrpSpPr>
        <p:grpSpPr>
          <a:xfrm>
            <a:off x="609600" y="1981200"/>
            <a:ext cx="1143000" cy="566737"/>
            <a:chOff x="1200" y="1248"/>
            <a:chExt cx="720" cy="357"/>
          </a:xfrm>
        </p:grpSpPr>
        <p:pic>
          <p:nvPicPr>
            <p:cNvPr id="607" name="Google Shape;607;p23"/>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608" name="Google Shape;608;p23"/>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03"/>
                                        </p:tgtEl>
                                        <p:attrNameLst>
                                          <p:attrName>style.visibility</p:attrName>
                                        </p:attrNameLst>
                                      </p:cBhvr>
                                      <p:to>
                                        <p:strVal val="visible"/>
                                      </p:to>
                                    </p:set>
                                    <p:animEffect filter="fade" transition="in">
                                      <p:cBhvr>
                                        <p:cTn dur="500"/>
                                        <p:tgtEl>
                                          <p:spTgt spid="60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04"/>
                                        </p:tgtEl>
                                        <p:attrNameLst>
                                          <p:attrName>style.visibility</p:attrName>
                                        </p:attrNameLst>
                                      </p:cBhvr>
                                      <p:to>
                                        <p:strVal val="visible"/>
                                      </p:to>
                                    </p:set>
                                    <p:animEffect filter="fade" transition="in">
                                      <p:cBhvr>
                                        <p:cTn dur="500"/>
                                        <p:tgtEl>
                                          <p:spTgt spid="60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500"/>
                                        <p:tgtEl>
                                          <p:spTgt spid="6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24"/>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615" name="Google Shape;615;p24"/>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pic>
        <p:nvPicPr>
          <p:cNvPr id="616" name="Google Shape;616;p24"/>
          <p:cNvPicPr preferRelativeResize="0"/>
          <p:nvPr/>
        </p:nvPicPr>
        <p:blipFill rotWithShape="1">
          <a:blip r:embed="rId3">
            <a:alphaModFix/>
          </a:blip>
          <a:srcRect b="0" l="0" r="0" t="0"/>
          <a:stretch/>
        </p:blipFill>
        <p:spPr>
          <a:xfrm>
            <a:off x="1273175" y="3422650"/>
            <a:ext cx="6289675" cy="1143000"/>
          </a:xfrm>
          <a:prstGeom prst="rect">
            <a:avLst/>
          </a:prstGeom>
          <a:noFill/>
          <a:ln>
            <a:noFill/>
          </a:ln>
        </p:spPr>
      </p:pic>
      <p:pic>
        <p:nvPicPr>
          <p:cNvPr id="617" name="Google Shape;617;p24"/>
          <p:cNvPicPr preferRelativeResize="0"/>
          <p:nvPr/>
        </p:nvPicPr>
        <p:blipFill rotWithShape="1">
          <a:blip r:embed="rId4">
            <a:alphaModFix/>
          </a:blip>
          <a:srcRect b="0" l="0" r="0" t="0"/>
          <a:stretch/>
        </p:blipFill>
        <p:spPr>
          <a:xfrm>
            <a:off x="2336800" y="2203450"/>
            <a:ext cx="5102225" cy="900112"/>
          </a:xfrm>
          <a:prstGeom prst="rect">
            <a:avLst/>
          </a:prstGeom>
          <a:noFill/>
          <a:ln>
            <a:noFill/>
          </a:ln>
        </p:spPr>
      </p:pic>
      <p:sp>
        <p:nvSpPr>
          <p:cNvPr id="618" name="Google Shape;618;p24"/>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15.8</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Encapsulation</a:t>
            </a:r>
            <a:endParaRPr/>
          </a:p>
        </p:txBody>
      </p:sp>
      <p:sp>
        <p:nvSpPr>
          <p:cNvPr id="619" name="Google Shape;619;p2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20" name="Google Shape;620;p2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21" name="Google Shape;621;p2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22" name="Google Shape;622;p2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23" name="Google Shape;623;p2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24" name="Google Shape;624;p2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25" name="Google Shape;625;p2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626" name="Google Shape;626;p24"/>
          <p:cNvPicPr preferRelativeResize="0"/>
          <p:nvPr/>
        </p:nvPicPr>
        <p:blipFill rotWithShape="1">
          <a:blip r:embed="rId5">
            <a:alphaModFix/>
          </a:blip>
          <a:srcRect b="0" l="0" r="0" t="0"/>
          <a:stretch/>
        </p:blipFill>
        <p:spPr>
          <a:xfrm>
            <a:off x="3392487" y="1125537"/>
            <a:ext cx="3959225" cy="674687"/>
          </a:xfrm>
          <a:prstGeom prst="rect">
            <a:avLst/>
          </a:prstGeom>
          <a:noFill/>
          <a:ln>
            <a:noFill/>
          </a:ln>
        </p:spPr>
      </p:pic>
      <p:pic>
        <p:nvPicPr>
          <p:cNvPr id="627" name="Google Shape;627;p24"/>
          <p:cNvPicPr preferRelativeResize="0"/>
          <p:nvPr/>
        </p:nvPicPr>
        <p:blipFill rotWithShape="1">
          <a:blip r:embed="rId6">
            <a:alphaModFix/>
          </a:blip>
          <a:srcRect b="0" l="0" r="0" t="0"/>
          <a:stretch/>
        </p:blipFill>
        <p:spPr>
          <a:xfrm>
            <a:off x="2224087" y="4684712"/>
            <a:ext cx="5319712" cy="1368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25"/>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634" name="Google Shape;634;p25"/>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635" name="Google Shape;635;p25"/>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36" name="Google Shape;636;p25"/>
          <p:cNvSpPr txBox="1"/>
          <p:nvPr/>
        </p:nvSpPr>
        <p:spPr>
          <a:xfrm>
            <a:off x="228600" y="355600"/>
            <a:ext cx="5883275" cy="650875"/>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Times"/>
              <a:buNone/>
            </a:pPr>
            <a:r>
              <a:rPr b="1" i="0" lang="en-US" sz="3600" u="none">
                <a:solidFill>
                  <a:schemeClr val="lt1"/>
                </a:solidFill>
                <a:latin typeface="Times"/>
                <a:ea typeface="Times"/>
                <a:cs typeface="Times"/>
                <a:sym typeface="Times"/>
              </a:rPr>
              <a:t>15-4  A TCP CONNECTION</a:t>
            </a:r>
            <a:endParaRPr/>
          </a:p>
        </p:txBody>
      </p:sp>
      <p:sp>
        <p:nvSpPr>
          <p:cNvPr id="637" name="Google Shape;637;p25"/>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38" name="Google Shape;638;p25"/>
          <p:cNvSpPr txBox="1"/>
          <p:nvPr/>
        </p:nvSpPr>
        <p:spPr>
          <a:xfrm>
            <a:off x="190500" y="1343025"/>
            <a:ext cx="8686800" cy="52165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mo"/>
              <a:buNone/>
            </a:pPr>
            <a:r>
              <a:rPr b="1" i="0" lang="en-US" sz="2800" u="none">
                <a:solidFill>
                  <a:schemeClr val="dk1"/>
                </a:solidFill>
                <a:latin typeface="Arimo"/>
                <a:ea typeface="Arimo"/>
                <a:cs typeface="Arimo"/>
                <a:sym typeface="Arimo"/>
              </a:rPr>
              <a:t>TCP is connection-oriented. It establishes a virtual path between the source and destination. All of the segments belonging to a message are then sent over this virtual path. You may wonder how TCP, which uses the services of IP, a connectionless protocol, can be connection-oriented. The point is that a TCP connection is virtual, not physical. TCP operates at a higher level. TCP uses the services of IP to deliver individual segments to the receiver, but it controls the connection itself. If a segment is lost or corrupted, it is retransmitted.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643" name="Shape 643"/>
        <p:cNvGrpSpPr/>
        <p:nvPr/>
      </p:nvGrpSpPr>
      <p:grpSpPr>
        <a:xfrm>
          <a:off x="0" y="0"/>
          <a:ext cx="0" cy="0"/>
          <a:chOff x="0" y="0"/>
          <a:chExt cx="0" cy="0"/>
        </a:xfrm>
      </p:grpSpPr>
      <p:sp>
        <p:nvSpPr>
          <p:cNvPr id="644" name="Google Shape;644;p26"/>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645" name="Google Shape;645;p26"/>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646" name="Google Shape;646;p26"/>
          <p:cNvSpPr txBox="1"/>
          <p:nvPr/>
        </p:nvSpPr>
        <p:spPr>
          <a:xfrm>
            <a:off x="228600" y="152400"/>
            <a:ext cx="54689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647" name="Google Shape;647;p26"/>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48" name="Google Shape;648;p26"/>
          <p:cNvSpPr txBox="1"/>
          <p:nvPr/>
        </p:nvSpPr>
        <p:spPr>
          <a:xfrm>
            <a:off x="304800" y="989012"/>
            <a:ext cx="8382000" cy="2057400"/>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Connection Establishment </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Data Transfer</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Connection Termination</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Connection Reset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8"/>
                                        </p:tgtEl>
                                        <p:attrNameLst>
                                          <p:attrName>style.visibility</p:attrName>
                                        </p:attrNameLst>
                                      </p:cBhvr>
                                      <p:to>
                                        <p:strVal val="visible"/>
                                      </p:to>
                                    </p:set>
                                    <p:animEffect filter="fade" transition="in">
                                      <p:cBhvr>
                                        <p:cTn dur="5000"/>
                                        <p:tgtEl>
                                          <p:spTgt spid="6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27"/>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655" name="Google Shape;655;p27"/>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656" name="Google Shape;656;p27"/>
          <p:cNvSpPr txBox="1"/>
          <p:nvPr/>
        </p:nvSpPr>
        <p:spPr>
          <a:xfrm>
            <a:off x="990600" y="90487"/>
            <a:ext cx="77724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15.9</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Connection establishment using three-way handshake</a:t>
            </a:r>
            <a:endParaRPr/>
          </a:p>
        </p:txBody>
      </p:sp>
      <p:sp>
        <p:nvSpPr>
          <p:cNvPr id="657" name="Google Shape;657;p2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58" name="Google Shape;658;p2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59" name="Google Shape;659;p2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60" name="Google Shape;660;p2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61" name="Google Shape;661;p2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62" name="Google Shape;662;p2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663" name="Google Shape;663;p27"/>
          <p:cNvPicPr preferRelativeResize="0"/>
          <p:nvPr/>
        </p:nvPicPr>
        <p:blipFill rotWithShape="1">
          <a:blip r:embed="rId3">
            <a:alphaModFix/>
          </a:blip>
          <a:srcRect b="0" l="0" r="0" t="0"/>
          <a:stretch/>
        </p:blipFill>
        <p:spPr>
          <a:xfrm>
            <a:off x="285750" y="1292225"/>
            <a:ext cx="8262937" cy="4591050"/>
          </a:xfrm>
          <a:prstGeom prst="rect">
            <a:avLst/>
          </a:prstGeom>
          <a:noFill/>
          <a:ln>
            <a:noFill/>
          </a:ln>
        </p:spPr>
      </p:pic>
      <p:sp>
        <p:nvSpPr>
          <p:cNvPr id="664" name="Google Shape;664;p2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665" name="Google Shape;665;p27"/>
          <p:cNvPicPr preferRelativeResize="0"/>
          <p:nvPr/>
        </p:nvPicPr>
        <p:blipFill rotWithShape="1">
          <a:blip r:embed="rId4">
            <a:alphaModFix/>
          </a:blip>
          <a:srcRect b="0" l="0" r="0" t="0"/>
          <a:stretch/>
        </p:blipFill>
        <p:spPr>
          <a:xfrm>
            <a:off x="1052512" y="4240212"/>
            <a:ext cx="960437" cy="474662"/>
          </a:xfrm>
          <a:prstGeom prst="rect">
            <a:avLst/>
          </a:prstGeom>
          <a:noFill/>
          <a:ln>
            <a:noFill/>
          </a:ln>
        </p:spPr>
      </p:pic>
      <p:pic>
        <p:nvPicPr>
          <p:cNvPr id="666" name="Google Shape;666;p27"/>
          <p:cNvPicPr preferRelativeResize="0"/>
          <p:nvPr/>
        </p:nvPicPr>
        <p:blipFill rotWithShape="1">
          <a:blip r:embed="rId5">
            <a:alphaModFix/>
          </a:blip>
          <a:srcRect b="0" l="0" r="0" t="0"/>
          <a:stretch/>
        </p:blipFill>
        <p:spPr>
          <a:xfrm>
            <a:off x="6985000" y="5108575"/>
            <a:ext cx="968375" cy="479425"/>
          </a:xfrm>
          <a:prstGeom prst="rect">
            <a:avLst/>
          </a:prstGeom>
          <a:noFill/>
          <a:ln>
            <a:noFill/>
          </a:ln>
        </p:spPr>
      </p:pic>
      <p:pic>
        <p:nvPicPr>
          <p:cNvPr id="667" name="Google Shape;667;p27"/>
          <p:cNvPicPr preferRelativeResize="0"/>
          <p:nvPr/>
        </p:nvPicPr>
        <p:blipFill rotWithShape="1">
          <a:blip r:embed="rId6">
            <a:alphaModFix/>
          </a:blip>
          <a:srcRect b="0" l="0" r="0" t="0"/>
          <a:stretch/>
        </p:blipFill>
        <p:spPr>
          <a:xfrm>
            <a:off x="7000875" y="2809875"/>
            <a:ext cx="941387" cy="490537"/>
          </a:xfrm>
          <a:prstGeom prst="rect">
            <a:avLst/>
          </a:prstGeom>
          <a:noFill/>
          <a:ln>
            <a:noFill/>
          </a:ln>
        </p:spPr>
      </p:pic>
      <p:pic>
        <p:nvPicPr>
          <p:cNvPr id="668" name="Google Shape;668;p27"/>
          <p:cNvPicPr preferRelativeResize="0"/>
          <p:nvPr/>
        </p:nvPicPr>
        <p:blipFill rotWithShape="1">
          <a:blip r:embed="rId7">
            <a:alphaModFix/>
          </a:blip>
          <a:srcRect b="0" l="0" r="0" t="0"/>
          <a:stretch/>
        </p:blipFill>
        <p:spPr>
          <a:xfrm>
            <a:off x="1057275" y="2906712"/>
            <a:ext cx="941387" cy="490537"/>
          </a:xfrm>
          <a:prstGeom prst="rect">
            <a:avLst/>
          </a:prstGeom>
          <a:noFill/>
          <a:ln>
            <a:noFill/>
          </a:ln>
        </p:spPr>
      </p:pic>
      <p:pic>
        <p:nvPicPr>
          <p:cNvPr id="669" name="Google Shape;669;p27"/>
          <p:cNvPicPr preferRelativeResize="0"/>
          <p:nvPr/>
        </p:nvPicPr>
        <p:blipFill rotWithShape="1">
          <a:blip r:embed="rId8">
            <a:alphaModFix/>
          </a:blip>
          <a:srcRect b="0" l="0" r="0" t="0"/>
          <a:stretch/>
        </p:blipFill>
        <p:spPr>
          <a:xfrm>
            <a:off x="2066925" y="2992437"/>
            <a:ext cx="4881562" cy="1081087"/>
          </a:xfrm>
          <a:prstGeom prst="rect">
            <a:avLst/>
          </a:prstGeom>
          <a:noFill/>
          <a:ln>
            <a:noFill/>
          </a:ln>
        </p:spPr>
      </p:pic>
      <p:pic>
        <p:nvPicPr>
          <p:cNvPr id="670" name="Google Shape;670;p27"/>
          <p:cNvPicPr preferRelativeResize="0"/>
          <p:nvPr/>
        </p:nvPicPr>
        <p:blipFill rotWithShape="1">
          <a:blip r:embed="rId9">
            <a:alphaModFix/>
          </a:blip>
          <a:srcRect b="0" l="0" r="0" t="0"/>
          <a:stretch/>
        </p:blipFill>
        <p:spPr>
          <a:xfrm>
            <a:off x="2016125" y="3848100"/>
            <a:ext cx="4918075" cy="1087437"/>
          </a:xfrm>
          <a:prstGeom prst="rect">
            <a:avLst/>
          </a:prstGeom>
          <a:noFill/>
          <a:ln>
            <a:noFill/>
          </a:ln>
        </p:spPr>
      </p:pic>
      <p:pic>
        <p:nvPicPr>
          <p:cNvPr id="671" name="Google Shape;671;p27"/>
          <p:cNvPicPr preferRelativeResize="0"/>
          <p:nvPr/>
        </p:nvPicPr>
        <p:blipFill rotWithShape="1">
          <a:blip r:embed="rId10">
            <a:alphaModFix/>
          </a:blip>
          <a:srcRect b="0" l="0" r="0" t="0"/>
          <a:stretch/>
        </p:blipFill>
        <p:spPr>
          <a:xfrm>
            <a:off x="2019300" y="4730750"/>
            <a:ext cx="4918075" cy="1066800"/>
          </a:xfrm>
          <a:prstGeom prst="rect">
            <a:avLst/>
          </a:prstGeom>
          <a:noFill/>
          <a:ln>
            <a:noFill/>
          </a:ln>
        </p:spPr>
      </p:pic>
      <p:sp>
        <p:nvSpPr>
          <p:cNvPr id="672" name="Google Shape;672;p27"/>
          <p:cNvSpPr/>
          <p:nvPr/>
        </p:nvSpPr>
        <p:spPr>
          <a:xfrm rot="180000">
            <a:off x="2981325" y="4719637"/>
            <a:ext cx="1219200" cy="381000"/>
          </a:xfrm>
          <a:prstGeom prst="ellipse">
            <a:avLst/>
          </a:prstGeom>
          <a:noFill/>
          <a:ln cap="flat" cmpd="sng" w="2857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673" name="Google Shape;673;p27"/>
          <p:cNvCxnSpPr/>
          <p:nvPr/>
        </p:nvCxnSpPr>
        <p:spPr>
          <a:xfrm rot="10800000">
            <a:off x="4048125" y="4948237"/>
            <a:ext cx="381000" cy="914400"/>
          </a:xfrm>
          <a:prstGeom prst="straightConnector1">
            <a:avLst/>
          </a:prstGeom>
          <a:noFill/>
          <a:ln cap="flat" cmpd="sng" w="28575">
            <a:solidFill>
              <a:schemeClr val="folHlink"/>
            </a:solidFill>
            <a:prstDash val="solid"/>
            <a:miter lim="800000"/>
            <a:headEnd len="med" w="med" type="none"/>
            <a:tailEnd len="med" w="med" type="triangle"/>
          </a:ln>
        </p:spPr>
      </p:cxnSp>
      <p:sp>
        <p:nvSpPr>
          <p:cNvPr id="674" name="Google Shape;674;p27"/>
          <p:cNvSpPr txBox="1"/>
          <p:nvPr/>
        </p:nvSpPr>
        <p:spPr>
          <a:xfrm>
            <a:off x="3667125" y="5805487"/>
            <a:ext cx="21399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1800"/>
              <a:buFont typeface="Arial"/>
              <a:buNone/>
            </a:pPr>
            <a:r>
              <a:rPr b="1" i="1" lang="en-US" sz="1800" u="none">
                <a:solidFill>
                  <a:schemeClr val="folHlink"/>
                </a:solidFill>
                <a:latin typeface="Arial"/>
                <a:ea typeface="Arial"/>
                <a:cs typeface="Arial"/>
                <a:sym typeface="Arial"/>
              </a:rPr>
              <a:t>Means “no data” !</a:t>
            </a:r>
            <a:endParaRPr/>
          </a:p>
        </p:txBody>
      </p:sp>
      <p:sp>
        <p:nvSpPr>
          <p:cNvPr id="675" name="Google Shape;675;p27"/>
          <p:cNvSpPr txBox="1"/>
          <p:nvPr/>
        </p:nvSpPr>
        <p:spPr>
          <a:xfrm>
            <a:off x="3651250" y="6105525"/>
            <a:ext cx="31369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1800"/>
              <a:buFont typeface="Tahoma"/>
              <a:buNone/>
            </a:pPr>
            <a:r>
              <a:rPr b="1" i="0" lang="en-US" sz="1800" u="none">
                <a:solidFill>
                  <a:schemeClr val="hlink"/>
                </a:solidFill>
                <a:latin typeface="Tahoma"/>
                <a:ea typeface="Tahoma"/>
                <a:cs typeface="Tahoma"/>
                <a:sym typeface="Tahoma"/>
              </a:rPr>
              <a:t>seq: 8001 if piggybacking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7"/>
                                        </p:tgtEl>
                                        <p:attrNameLst>
                                          <p:attrName>style.visibility</p:attrName>
                                        </p:attrNameLst>
                                      </p:cBhvr>
                                      <p:to>
                                        <p:strVal val="visible"/>
                                      </p:to>
                                    </p:set>
                                    <p:animEffect filter="fade" transition="in">
                                      <p:cBhvr>
                                        <p:cTn dur="2000"/>
                                        <p:tgtEl>
                                          <p:spTgt spid="6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8"/>
                                        </p:tgtEl>
                                        <p:attrNameLst>
                                          <p:attrName>style.visibility</p:attrName>
                                        </p:attrNameLst>
                                      </p:cBhvr>
                                      <p:to>
                                        <p:strVal val="visible"/>
                                      </p:to>
                                    </p:set>
                                    <p:animEffect filter="fade" transition="in">
                                      <p:cBhvr>
                                        <p:cTn dur="2000"/>
                                        <p:tgtEl>
                                          <p:spTgt spid="6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gtEl>
                                        <p:attrNameLst>
                                          <p:attrName>style.visibility</p:attrName>
                                        </p:attrNameLst>
                                      </p:cBhvr>
                                      <p:to>
                                        <p:strVal val="visible"/>
                                      </p:to>
                                    </p:set>
                                    <p:animEffect filter="fade" transition="in">
                                      <p:cBhvr>
                                        <p:cTn dur="2000"/>
                                        <p:tgtEl>
                                          <p:spTgt spid="6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
                                        </p:tgtEl>
                                        <p:attrNameLst>
                                          <p:attrName>style.visibility</p:attrName>
                                        </p:attrNameLst>
                                      </p:cBhvr>
                                      <p:to>
                                        <p:strVal val="visible"/>
                                      </p:to>
                                    </p:set>
                                    <p:animEffect filter="fade" transition="in">
                                      <p:cBhvr>
                                        <p:cTn dur="2000"/>
                                        <p:tgtEl>
                                          <p:spTgt spid="6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gtEl>
                                        <p:attrNameLst>
                                          <p:attrName>style.visibility</p:attrName>
                                        </p:attrNameLst>
                                      </p:cBhvr>
                                      <p:to>
                                        <p:strVal val="visible"/>
                                      </p:to>
                                    </p:set>
                                    <p:animEffect filter="fade" transition="in">
                                      <p:cBhvr>
                                        <p:cTn dur="2000"/>
                                        <p:tgtEl>
                                          <p:spTgt spid="6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1"/>
                                        </p:tgtEl>
                                        <p:attrNameLst>
                                          <p:attrName>style.visibility</p:attrName>
                                        </p:attrNameLst>
                                      </p:cBhvr>
                                      <p:to>
                                        <p:strVal val="visible"/>
                                      </p:to>
                                    </p:set>
                                    <p:animEffect filter="fade" transition="in">
                                      <p:cBhvr>
                                        <p:cTn dur="2000"/>
                                        <p:tgtEl>
                                          <p:spTgt spid="6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gtEl>
                                        <p:attrNameLst>
                                          <p:attrName>style.visibility</p:attrName>
                                        </p:attrNameLst>
                                      </p:cBhvr>
                                      <p:to>
                                        <p:strVal val="visible"/>
                                      </p:to>
                                    </p:set>
                                    <p:animEffect filter="fade" transition="in">
                                      <p:cBhvr>
                                        <p:cTn dur="2000"/>
                                        <p:tgtEl>
                                          <p:spTgt spid="6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28"/>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682" name="Google Shape;682;p28"/>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683" name="Google Shape;683;p2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84" name="Google Shape;684;p2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85" name="Google Shape;685;p2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86" name="Google Shape;686;p2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87" name="Google Shape;687;p2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88" name="Google Shape;688;p2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89" name="Google Shape;689;p2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690" name="Google Shape;690;p28"/>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691" name="Google Shape;691;p28"/>
          <p:cNvCxnSpPr/>
          <p:nvPr/>
        </p:nvCxnSpPr>
        <p:spPr>
          <a:xfrm>
            <a:off x="609600" y="38862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692" name="Google Shape;692;p28"/>
          <p:cNvSpPr txBox="1"/>
          <p:nvPr/>
        </p:nvSpPr>
        <p:spPr>
          <a:xfrm>
            <a:off x="647700" y="2716212"/>
            <a:ext cx="8077200" cy="10668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A SYN segment cannot carry data, but it consumes one sequence number.</a:t>
            </a:r>
            <a:endParaRPr/>
          </a:p>
        </p:txBody>
      </p:sp>
      <p:grpSp>
        <p:nvGrpSpPr>
          <p:cNvPr id="693" name="Google Shape;693;p28"/>
          <p:cNvGrpSpPr/>
          <p:nvPr/>
        </p:nvGrpSpPr>
        <p:grpSpPr>
          <a:xfrm>
            <a:off x="609600" y="1981200"/>
            <a:ext cx="1143000" cy="566737"/>
            <a:chOff x="1200" y="1248"/>
            <a:chExt cx="720" cy="357"/>
          </a:xfrm>
        </p:grpSpPr>
        <p:pic>
          <p:nvPicPr>
            <p:cNvPr id="694" name="Google Shape;694;p28"/>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695" name="Google Shape;695;p28"/>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90"/>
                                        </p:tgtEl>
                                        <p:attrNameLst>
                                          <p:attrName>style.visibility</p:attrName>
                                        </p:attrNameLst>
                                      </p:cBhvr>
                                      <p:to>
                                        <p:strVal val="visible"/>
                                      </p:to>
                                    </p:set>
                                    <p:animEffect filter="fade" transition="in">
                                      <p:cBhvr>
                                        <p:cTn dur="500"/>
                                        <p:tgtEl>
                                          <p:spTgt spid="69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91"/>
                                        </p:tgtEl>
                                        <p:attrNameLst>
                                          <p:attrName>style.visibility</p:attrName>
                                        </p:attrNameLst>
                                      </p:cBhvr>
                                      <p:to>
                                        <p:strVal val="visible"/>
                                      </p:to>
                                    </p:set>
                                    <p:animEffect filter="fade" transition="in">
                                      <p:cBhvr>
                                        <p:cTn dur="500"/>
                                        <p:tgtEl>
                                          <p:spTgt spid="69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92"/>
                                        </p:tgtEl>
                                        <p:attrNameLst>
                                          <p:attrName>style.visibility</p:attrName>
                                        </p:attrNameLst>
                                      </p:cBhvr>
                                      <p:to>
                                        <p:strVal val="visible"/>
                                      </p:to>
                                    </p:set>
                                    <p:animEffect filter="fade" transition="in">
                                      <p:cBhvr>
                                        <p:cTn dur="500"/>
                                        <p:tgtEl>
                                          <p:spTgt spid="6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29"/>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702" name="Google Shape;702;p29"/>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703" name="Google Shape;703;p2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04" name="Google Shape;704;p2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05" name="Google Shape;705;p2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06" name="Google Shape;706;p2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07" name="Google Shape;707;p2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08" name="Google Shape;708;p2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09" name="Google Shape;709;p2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710" name="Google Shape;710;p29"/>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711" name="Google Shape;711;p29"/>
          <p:cNvCxnSpPr/>
          <p:nvPr/>
        </p:nvCxnSpPr>
        <p:spPr>
          <a:xfrm>
            <a:off x="609600" y="43434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712" name="Google Shape;712;p29"/>
          <p:cNvSpPr txBox="1"/>
          <p:nvPr/>
        </p:nvSpPr>
        <p:spPr>
          <a:xfrm>
            <a:off x="647700" y="2716212"/>
            <a:ext cx="8077200" cy="1554162"/>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A SYN + ACK segment cannot carry data, but does consume one </a:t>
            </a:r>
            <a:br>
              <a:rPr b="1" i="1" lang="en-US" sz="3200" u="none">
                <a:solidFill>
                  <a:schemeClr val="lt1"/>
                </a:solidFill>
                <a:latin typeface="Arial"/>
                <a:ea typeface="Arial"/>
                <a:cs typeface="Arial"/>
                <a:sym typeface="Arial"/>
              </a:rPr>
            </a:br>
            <a:r>
              <a:rPr b="1" i="1" lang="en-US" sz="3200" u="none">
                <a:solidFill>
                  <a:schemeClr val="lt1"/>
                </a:solidFill>
                <a:latin typeface="Arial"/>
                <a:ea typeface="Arial"/>
                <a:cs typeface="Arial"/>
                <a:sym typeface="Arial"/>
              </a:rPr>
              <a:t>sequence number.</a:t>
            </a:r>
            <a:endParaRPr/>
          </a:p>
        </p:txBody>
      </p:sp>
      <p:grpSp>
        <p:nvGrpSpPr>
          <p:cNvPr id="713" name="Google Shape;713;p29"/>
          <p:cNvGrpSpPr/>
          <p:nvPr/>
        </p:nvGrpSpPr>
        <p:grpSpPr>
          <a:xfrm>
            <a:off x="609600" y="1981200"/>
            <a:ext cx="1143000" cy="566737"/>
            <a:chOff x="1200" y="1248"/>
            <a:chExt cx="720" cy="357"/>
          </a:xfrm>
        </p:grpSpPr>
        <p:pic>
          <p:nvPicPr>
            <p:cNvPr id="714" name="Google Shape;714;p29"/>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715" name="Google Shape;715;p29"/>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10"/>
                                        </p:tgtEl>
                                        <p:attrNameLst>
                                          <p:attrName>style.visibility</p:attrName>
                                        </p:attrNameLst>
                                      </p:cBhvr>
                                      <p:to>
                                        <p:strVal val="visible"/>
                                      </p:to>
                                    </p:set>
                                    <p:animEffect filter="fade" transition="in">
                                      <p:cBhvr>
                                        <p:cTn dur="500"/>
                                        <p:tgtEl>
                                          <p:spTgt spid="71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11"/>
                                        </p:tgtEl>
                                        <p:attrNameLst>
                                          <p:attrName>style.visibility</p:attrName>
                                        </p:attrNameLst>
                                      </p:cBhvr>
                                      <p:to>
                                        <p:strVal val="visible"/>
                                      </p:to>
                                    </p:set>
                                    <p:animEffect filter="fade" transition="in">
                                      <p:cBhvr>
                                        <p:cTn dur="500"/>
                                        <p:tgtEl>
                                          <p:spTgt spid="71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12"/>
                                        </p:tgtEl>
                                        <p:attrNameLst>
                                          <p:attrName>style.visibility</p:attrName>
                                        </p:attrNameLst>
                                      </p:cBhvr>
                                      <p:to>
                                        <p:strVal val="visible"/>
                                      </p:to>
                                    </p:set>
                                    <p:animEffect filter="fade" transition="in">
                                      <p:cBhvr>
                                        <p:cTn dur="500"/>
                                        <p:tgtEl>
                                          <p:spTgt spid="7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30"/>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722" name="Google Shape;722;p30"/>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723" name="Google Shape;723;p30"/>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24" name="Google Shape;724;p3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25" name="Google Shape;725;p30"/>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26" name="Google Shape;726;p3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27" name="Google Shape;727;p3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28" name="Google Shape;728;p30"/>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29" name="Google Shape;729;p3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730" name="Google Shape;730;p30"/>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731" name="Google Shape;731;p30"/>
          <p:cNvCxnSpPr/>
          <p:nvPr/>
        </p:nvCxnSpPr>
        <p:spPr>
          <a:xfrm>
            <a:off x="609600" y="38862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732" name="Google Shape;732;p30"/>
          <p:cNvSpPr txBox="1"/>
          <p:nvPr/>
        </p:nvSpPr>
        <p:spPr>
          <a:xfrm>
            <a:off x="647700" y="2716212"/>
            <a:ext cx="8077200" cy="10668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An ACK segment, if carrying no data, consumes no sequence number.</a:t>
            </a:r>
            <a:endParaRPr/>
          </a:p>
        </p:txBody>
      </p:sp>
      <p:grpSp>
        <p:nvGrpSpPr>
          <p:cNvPr id="733" name="Google Shape;733;p30"/>
          <p:cNvGrpSpPr/>
          <p:nvPr/>
        </p:nvGrpSpPr>
        <p:grpSpPr>
          <a:xfrm>
            <a:off x="609600" y="1981200"/>
            <a:ext cx="1143000" cy="566737"/>
            <a:chOff x="1200" y="1248"/>
            <a:chExt cx="720" cy="357"/>
          </a:xfrm>
        </p:grpSpPr>
        <p:pic>
          <p:nvPicPr>
            <p:cNvPr id="734" name="Google Shape;734;p30"/>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735" name="Google Shape;735;p30"/>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30"/>
                                        </p:tgtEl>
                                        <p:attrNameLst>
                                          <p:attrName>style.visibility</p:attrName>
                                        </p:attrNameLst>
                                      </p:cBhvr>
                                      <p:to>
                                        <p:strVal val="visible"/>
                                      </p:to>
                                    </p:set>
                                    <p:animEffect filter="fade" transition="in">
                                      <p:cBhvr>
                                        <p:cTn dur="500"/>
                                        <p:tgtEl>
                                          <p:spTgt spid="73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31"/>
                                        </p:tgtEl>
                                        <p:attrNameLst>
                                          <p:attrName>style.visibility</p:attrName>
                                        </p:attrNameLst>
                                      </p:cBhvr>
                                      <p:to>
                                        <p:strVal val="visible"/>
                                      </p:to>
                                    </p:set>
                                    <p:animEffect filter="fade" transition="in">
                                      <p:cBhvr>
                                        <p:cTn dur="500"/>
                                        <p:tgtEl>
                                          <p:spTgt spid="73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32"/>
                                        </p:tgtEl>
                                        <p:attrNameLst>
                                          <p:attrName>style.visibility</p:attrName>
                                        </p:attrNameLst>
                                      </p:cBhvr>
                                      <p:to>
                                        <p:strVal val="visible"/>
                                      </p:to>
                                    </p:set>
                                    <p:animEffect filter="fade" transition="in">
                                      <p:cBhvr>
                                        <p:cTn dur="500"/>
                                        <p:tgtEl>
                                          <p:spTgt spid="7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31"/>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742" name="Google Shape;742;p31"/>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743" name="Google Shape;743;p31"/>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15.10</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Data Transfer</a:t>
            </a:r>
            <a:endParaRPr/>
          </a:p>
        </p:txBody>
      </p:sp>
      <p:sp>
        <p:nvSpPr>
          <p:cNvPr id="744" name="Google Shape;744;p3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45" name="Google Shape;745;p3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46" name="Google Shape;746;p3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47" name="Google Shape;747;p3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48" name="Google Shape;748;p3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49" name="Google Shape;749;p3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50" name="Google Shape;750;p3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751" name="Google Shape;751;p31"/>
          <p:cNvPicPr preferRelativeResize="0"/>
          <p:nvPr/>
        </p:nvPicPr>
        <p:blipFill rotWithShape="1">
          <a:blip r:embed="rId3">
            <a:alphaModFix/>
          </a:blip>
          <a:srcRect b="0" l="0" r="0" t="0"/>
          <a:stretch/>
        </p:blipFill>
        <p:spPr>
          <a:xfrm>
            <a:off x="1770062" y="850900"/>
            <a:ext cx="5465762" cy="5380037"/>
          </a:xfrm>
          <a:prstGeom prst="rect">
            <a:avLst/>
          </a:prstGeom>
          <a:noFill/>
          <a:ln>
            <a:noFill/>
          </a:ln>
        </p:spPr>
      </p:pic>
      <p:pic>
        <p:nvPicPr>
          <p:cNvPr id="752" name="Google Shape;752;p31"/>
          <p:cNvPicPr preferRelativeResize="0"/>
          <p:nvPr/>
        </p:nvPicPr>
        <p:blipFill rotWithShape="1">
          <a:blip r:embed="rId4">
            <a:alphaModFix/>
          </a:blip>
          <a:srcRect b="0" l="0" r="0" t="0"/>
          <a:stretch/>
        </p:blipFill>
        <p:spPr>
          <a:xfrm>
            <a:off x="2205037" y="2309812"/>
            <a:ext cx="4652962" cy="3271837"/>
          </a:xfrm>
          <a:prstGeom prst="rect">
            <a:avLst/>
          </a:prstGeom>
          <a:noFill/>
          <a:ln>
            <a:noFill/>
          </a:ln>
        </p:spPr>
      </p:pic>
      <p:pic>
        <p:nvPicPr>
          <p:cNvPr id="753" name="Google Shape;753;p31"/>
          <p:cNvPicPr preferRelativeResize="0"/>
          <p:nvPr/>
        </p:nvPicPr>
        <p:blipFill rotWithShape="1">
          <a:blip r:embed="rId5">
            <a:alphaModFix/>
          </a:blip>
          <a:srcRect b="0" l="0" r="0" t="0"/>
          <a:stretch/>
        </p:blipFill>
        <p:spPr>
          <a:xfrm>
            <a:off x="2932112" y="5680075"/>
            <a:ext cx="3235325" cy="328612"/>
          </a:xfrm>
          <a:prstGeom prst="rect">
            <a:avLst/>
          </a:prstGeom>
          <a:noFill/>
          <a:ln>
            <a:noFill/>
          </a:ln>
        </p:spPr>
      </p:pic>
      <p:pic>
        <p:nvPicPr>
          <p:cNvPr id="754" name="Google Shape;754;p31"/>
          <p:cNvPicPr preferRelativeResize="0"/>
          <p:nvPr/>
        </p:nvPicPr>
        <p:blipFill rotWithShape="1">
          <a:blip r:embed="rId6">
            <a:alphaModFix/>
          </a:blip>
          <a:srcRect b="0" l="0" r="0" t="0"/>
          <a:stretch/>
        </p:blipFill>
        <p:spPr>
          <a:xfrm>
            <a:off x="2930525" y="1935162"/>
            <a:ext cx="3217862" cy="312737"/>
          </a:xfrm>
          <a:prstGeom prst="rect">
            <a:avLst/>
          </a:prstGeom>
          <a:noFill/>
          <a:ln>
            <a:noFill/>
          </a:ln>
        </p:spPr>
      </p:pic>
      <p:sp>
        <p:nvSpPr>
          <p:cNvPr id="755" name="Google Shape;755;p31"/>
          <p:cNvSpPr txBox="1"/>
          <p:nvPr/>
        </p:nvSpPr>
        <p:spPr>
          <a:xfrm>
            <a:off x="195262" y="4402137"/>
            <a:ext cx="1698625" cy="723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ahoma"/>
              <a:buNone/>
            </a:pPr>
            <a:r>
              <a:rPr b="1" i="0" lang="en-US" sz="1800" u="none">
                <a:solidFill>
                  <a:srgbClr val="0000FF"/>
                </a:solidFill>
                <a:latin typeface="Tahoma"/>
                <a:ea typeface="Tahoma"/>
                <a:cs typeface="Tahoma"/>
                <a:sym typeface="Tahoma"/>
              </a:rPr>
              <a:t>Pushing data</a:t>
            </a:r>
            <a:endParaRPr/>
          </a:p>
          <a:p>
            <a:pPr indent="0" lvl="0" marL="0" marR="0" rtl="0" algn="l">
              <a:lnSpc>
                <a:spcPct val="100000"/>
              </a:lnSpc>
              <a:spcBef>
                <a:spcPts val="600"/>
              </a:spcBef>
              <a:spcAft>
                <a:spcPts val="0"/>
              </a:spcAft>
              <a:buClr>
                <a:srgbClr val="0000FF"/>
              </a:buClr>
              <a:buSzPts val="1800"/>
              <a:buFont typeface="Tahoma"/>
              <a:buNone/>
            </a:pPr>
            <a:r>
              <a:rPr b="1" i="0" lang="en-US" sz="1800" u="none">
                <a:solidFill>
                  <a:srgbClr val="0000FF"/>
                </a:solidFill>
                <a:latin typeface="Tahoma"/>
                <a:ea typeface="Tahoma"/>
                <a:cs typeface="Tahoma"/>
                <a:sym typeface="Tahoma"/>
              </a:rPr>
              <a:t>Urgent data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54"/>
                                        </p:tgtEl>
                                        <p:attrNameLst>
                                          <p:attrName>style.visibility</p:attrName>
                                        </p:attrNameLst>
                                      </p:cBhvr>
                                      <p:to>
                                        <p:strVal val="visible"/>
                                      </p:to>
                                    </p:set>
                                    <p:anim calcmode="lin" valueType="num">
                                      <p:cBhvr additive="base">
                                        <p:cTn dur="500"/>
                                        <p:tgtEl>
                                          <p:spTgt spid="754"/>
                                        </p:tgtEl>
                                        <p:attrNameLst>
                                          <p:attrName>ppt_w</p:attrName>
                                        </p:attrNameLst>
                                      </p:cBhvr>
                                      <p:tavLst>
                                        <p:tav fmla="" tm="0">
                                          <p:val>
                                            <p:strVal val="0"/>
                                          </p:val>
                                        </p:tav>
                                        <p:tav fmla="" tm="100000">
                                          <p:val>
                                            <p:strVal val="#ppt_w"/>
                                          </p:val>
                                        </p:tav>
                                      </p:tavLst>
                                    </p:anim>
                                    <p:anim calcmode="lin" valueType="num">
                                      <p:cBhvr additive="base">
                                        <p:cTn dur="500"/>
                                        <p:tgtEl>
                                          <p:spTgt spid="75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2"/>
                                        </p:tgtEl>
                                        <p:attrNameLst>
                                          <p:attrName>style.visibility</p:attrName>
                                        </p:attrNameLst>
                                      </p:cBhvr>
                                      <p:to>
                                        <p:strVal val="visible"/>
                                      </p:to>
                                    </p:set>
                                    <p:animEffect filter="fade" transition="in">
                                      <p:cBhvr>
                                        <p:cTn dur="2000"/>
                                        <p:tgtEl>
                                          <p:spTgt spid="7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53"/>
                                        </p:tgtEl>
                                        <p:attrNameLst>
                                          <p:attrName>style.visibility</p:attrName>
                                        </p:attrNameLst>
                                      </p:cBhvr>
                                      <p:to>
                                        <p:strVal val="visible"/>
                                      </p:to>
                                    </p:set>
                                    <p:anim calcmode="lin" valueType="num">
                                      <p:cBhvr additive="base">
                                        <p:cTn dur="500"/>
                                        <p:tgtEl>
                                          <p:spTgt spid="753"/>
                                        </p:tgtEl>
                                        <p:attrNameLst>
                                          <p:attrName>ppt_w</p:attrName>
                                        </p:attrNameLst>
                                      </p:cBhvr>
                                      <p:tavLst>
                                        <p:tav fmla="" tm="0">
                                          <p:val>
                                            <p:strVal val="0"/>
                                          </p:val>
                                        </p:tav>
                                        <p:tav fmla="" tm="100000">
                                          <p:val>
                                            <p:strVal val="#ppt_w"/>
                                          </p:val>
                                        </p:tav>
                                      </p:tavLst>
                                    </p:anim>
                                    <p:anim calcmode="lin" valueType="num">
                                      <p:cBhvr additive="base">
                                        <p:cTn dur="500"/>
                                        <p:tgtEl>
                                          <p:spTgt spid="75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32"/>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762" name="Google Shape;762;p32"/>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763" name="Google Shape;763;p32"/>
          <p:cNvSpPr txBox="1"/>
          <p:nvPr/>
        </p:nvSpPr>
        <p:spPr>
          <a:xfrm>
            <a:off x="990600" y="90487"/>
            <a:ext cx="77724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15.11</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Connection termination using three-way handshake</a:t>
            </a:r>
            <a:endParaRPr/>
          </a:p>
        </p:txBody>
      </p:sp>
      <p:sp>
        <p:nvSpPr>
          <p:cNvPr id="764" name="Google Shape;764;p3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65" name="Google Shape;765;p3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66" name="Google Shape;766;p3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67" name="Google Shape;767;p3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68" name="Google Shape;768;p3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69" name="Google Shape;769;p3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70" name="Google Shape;770;p3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771" name="Google Shape;771;p32"/>
          <p:cNvPicPr preferRelativeResize="0"/>
          <p:nvPr/>
        </p:nvPicPr>
        <p:blipFill rotWithShape="1">
          <a:blip r:embed="rId3">
            <a:alphaModFix/>
          </a:blip>
          <a:srcRect b="0" l="0" r="0" t="0"/>
          <a:stretch/>
        </p:blipFill>
        <p:spPr>
          <a:xfrm>
            <a:off x="914400" y="1295400"/>
            <a:ext cx="7550150" cy="424338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33"/>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778" name="Google Shape;778;p33"/>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779" name="Google Shape;779;p3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80" name="Google Shape;780;p3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81" name="Google Shape;781;p3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82" name="Google Shape;782;p3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83" name="Google Shape;783;p3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84" name="Google Shape;784;p3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85" name="Google Shape;785;p3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786" name="Google Shape;786;p33"/>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787" name="Google Shape;787;p33"/>
          <p:cNvCxnSpPr/>
          <p:nvPr/>
        </p:nvCxnSpPr>
        <p:spPr>
          <a:xfrm>
            <a:off x="609600" y="43434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788" name="Google Shape;788;p33"/>
          <p:cNvSpPr txBox="1"/>
          <p:nvPr/>
        </p:nvSpPr>
        <p:spPr>
          <a:xfrm>
            <a:off x="647700" y="2716212"/>
            <a:ext cx="8077200" cy="1554162"/>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FIN segment consumes one sequence number if it does </a:t>
            </a:r>
            <a:br>
              <a:rPr b="1" i="1" lang="en-US" sz="3200" u="none">
                <a:solidFill>
                  <a:schemeClr val="lt1"/>
                </a:solidFill>
                <a:latin typeface="Arial"/>
                <a:ea typeface="Arial"/>
                <a:cs typeface="Arial"/>
                <a:sym typeface="Arial"/>
              </a:rPr>
            </a:br>
            <a:r>
              <a:rPr b="1" i="1" lang="en-US" sz="3200" u="none">
                <a:solidFill>
                  <a:schemeClr val="lt1"/>
                </a:solidFill>
                <a:latin typeface="Arial"/>
                <a:ea typeface="Arial"/>
                <a:cs typeface="Arial"/>
                <a:sym typeface="Arial"/>
              </a:rPr>
              <a:t>not carry data.</a:t>
            </a:r>
            <a:endParaRPr/>
          </a:p>
        </p:txBody>
      </p:sp>
      <p:grpSp>
        <p:nvGrpSpPr>
          <p:cNvPr id="789" name="Google Shape;789;p33"/>
          <p:cNvGrpSpPr/>
          <p:nvPr/>
        </p:nvGrpSpPr>
        <p:grpSpPr>
          <a:xfrm>
            <a:off x="609600" y="1981200"/>
            <a:ext cx="1143000" cy="566737"/>
            <a:chOff x="1200" y="1248"/>
            <a:chExt cx="720" cy="357"/>
          </a:xfrm>
        </p:grpSpPr>
        <p:pic>
          <p:nvPicPr>
            <p:cNvPr id="790" name="Google Shape;790;p33"/>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791" name="Google Shape;791;p33"/>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86"/>
                                        </p:tgtEl>
                                        <p:attrNameLst>
                                          <p:attrName>style.visibility</p:attrName>
                                        </p:attrNameLst>
                                      </p:cBhvr>
                                      <p:to>
                                        <p:strVal val="visible"/>
                                      </p:to>
                                    </p:set>
                                    <p:animEffect filter="fade" transition="in">
                                      <p:cBhvr>
                                        <p:cTn dur="500"/>
                                        <p:tgtEl>
                                          <p:spTgt spid="78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87"/>
                                        </p:tgtEl>
                                        <p:attrNameLst>
                                          <p:attrName>style.visibility</p:attrName>
                                        </p:attrNameLst>
                                      </p:cBhvr>
                                      <p:to>
                                        <p:strVal val="visible"/>
                                      </p:to>
                                    </p:set>
                                    <p:animEffect filter="fade" transition="in">
                                      <p:cBhvr>
                                        <p:cTn dur="500"/>
                                        <p:tgtEl>
                                          <p:spTgt spid="78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88"/>
                                        </p:tgtEl>
                                        <p:attrNameLst>
                                          <p:attrName>style.visibility</p:attrName>
                                        </p:attrNameLst>
                                      </p:cBhvr>
                                      <p:to>
                                        <p:strVal val="visible"/>
                                      </p:to>
                                    </p:set>
                                    <p:animEffect filter="fade" transition="in">
                                      <p:cBhvr>
                                        <p:cTn dur="500"/>
                                        <p:tgtEl>
                                          <p:spTgt spid="7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34"/>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798" name="Google Shape;798;p34"/>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799" name="Google Shape;799;p3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00" name="Google Shape;800;p3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01" name="Google Shape;801;p3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02" name="Google Shape;802;p3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03" name="Google Shape;803;p3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04" name="Google Shape;804;p3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05" name="Google Shape;805;p3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806" name="Google Shape;806;p34"/>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807" name="Google Shape;807;p34"/>
          <p:cNvCxnSpPr/>
          <p:nvPr/>
        </p:nvCxnSpPr>
        <p:spPr>
          <a:xfrm>
            <a:off x="609600" y="43434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808" name="Google Shape;808;p34"/>
          <p:cNvSpPr txBox="1"/>
          <p:nvPr/>
        </p:nvSpPr>
        <p:spPr>
          <a:xfrm>
            <a:off x="647700" y="2716212"/>
            <a:ext cx="8077200" cy="1554162"/>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FIN + ACK segment consumes one sequence number if it does </a:t>
            </a:r>
            <a:br>
              <a:rPr b="1" i="1" lang="en-US" sz="3200" u="none">
                <a:solidFill>
                  <a:schemeClr val="lt1"/>
                </a:solidFill>
                <a:latin typeface="Arial"/>
                <a:ea typeface="Arial"/>
                <a:cs typeface="Arial"/>
                <a:sym typeface="Arial"/>
              </a:rPr>
            </a:br>
            <a:r>
              <a:rPr b="1" i="1" lang="en-US" sz="3200" u="none">
                <a:solidFill>
                  <a:schemeClr val="lt1"/>
                </a:solidFill>
                <a:latin typeface="Arial"/>
                <a:ea typeface="Arial"/>
                <a:cs typeface="Arial"/>
                <a:sym typeface="Arial"/>
              </a:rPr>
              <a:t>not carry data.</a:t>
            </a:r>
            <a:endParaRPr/>
          </a:p>
        </p:txBody>
      </p:sp>
      <p:grpSp>
        <p:nvGrpSpPr>
          <p:cNvPr id="809" name="Google Shape;809;p34"/>
          <p:cNvGrpSpPr/>
          <p:nvPr/>
        </p:nvGrpSpPr>
        <p:grpSpPr>
          <a:xfrm>
            <a:off x="609600" y="1981200"/>
            <a:ext cx="1143000" cy="566737"/>
            <a:chOff x="1200" y="1248"/>
            <a:chExt cx="720" cy="357"/>
          </a:xfrm>
        </p:grpSpPr>
        <p:pic>
          <p:nvPicPr>
            <p:cNvPr id="810" name="Google Shape;810;p34"/>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811" name="Google Shape;811;p34"/>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06"/>
                                        </p:tgtEl>
                                        <p:attrNameLst>
                                          <p:attrName>style.visibility</p:attrName>
                                        </p:attrNameLst>
                                      </p:cBhvr>
                                      <p:to>
                                        <p:strVal val="visible"/>
                                      </p:to>
                                    </p:set>
                                    <p:animEffect filter="fade" transition="in">
                                      <p:cBhvr>
                                        <p:cTn dur="500"/>
                                        <p:tgtEl>
                                          <p:spTgt spid="80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07"/>
                                        </p:tgtEl>
                                        <p:attrNameLst>
                                          <p:attrName>style.visibility</p:attrName>
                                        </p:attrNameLst>
                                      </p:cBhvr>
                                      <p:to>
                                        <p:strVal val="visible"/>
                                      </p:to>
                                    </p:set>
                                    <p:animEffect filter="fade" transition="in">
                                      <p:cBhvr>
                                        <p:cTn dur="500"/>
                                        <p:tgtEl>
                                          <p:spTgt spid="80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08"/>
                                        </p:tgtEl>
                                        <p:attrNameLst>
                                          <p:attrName>style.visibility</p:attrName>
                                        </p:attrNameLst>
                                      </p:cBhvr>
                                      <p:to>
                                        <p:strVal val="visible"/>
                                      </p:to>
                                    </p:set>
                                    <p:animEffect filter="fade" transition="in">
                                      <p:cBhvr>
                                        <p:cTn dur="500"/>
                                        <p:tgtEl>
                                          <p:spTgt spid="8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35"/>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818" name="Google Shape;818;p35"/>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819" name="Google Shape;819;p35"/>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15.12</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Half-Close</a:t>
            </a:r>
            <a:endParaRPr/>
          </a:p>
        </p:txBody>
      </p:sp>
      <p:sp>
        <p:nvSpPr>
          <p:cNvPr id="820" name="Google Shape;820;p3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21" name="Google Shape;821;p3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22" name="Google Shape;822;p3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23" name="Google Shape;823;p3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24" name="Google Shape;824;p3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25" name="Google Shape;825;p3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26" name="Google Shape;826;p3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827" name="Google Shape;827;p35"/>
          <p:cNvPicPr preferRelativeResize="0"/>
          <p:nvPr/>
        </p:nvPicPr>
        <p:blipFill rotWithShape="1">
          <a:blip r:embed="rId3">
            <a:alphaModFix/>
          </a:blip>
          <a:srcRect b="0" l="0" r="0" t="0"/>
          <a:stretch/>
        </p:blipFill>
        <p:spPr>
          <a:xfrm>
            <a:off x="1346200" y="628650"/>
            <a:ext cx="6472237" cy="557053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36"/>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834" name="Google Shape;834;p36"/>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835" name="Google Shape;835;p36"/>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36" name="Google Shape;836;p36"/>
          <p:cNvSpPr txBox="1"/>
          <p:nvPr/>
        </p:nvSpPr>
        <p:spPr>
          <a:xfrm>
            <a:off x="228600" y="355600"/>
            <a:ext cx="8169275" cy="650875"/>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Times"/>
              <a:buNone/>
            </a:pPr>
            <a:r>
              <a:rPr b="1" i="0" lang="en-US" sz="3600" u="none">
                <a:solidFill>
                  <a:schemeClr val="lt1"/>
                </a:solidFill>
                <a:latin typeface="Times"/>
                <a:ea typeface="Times"/>
                <a:cs typeface="Times"/>
                <a:sym typeface="Times"/>
              </a:rPr>
              <a:t>15-5  STATE TRANSITION DIAGRAM</a:t>
            </a:r>
            <a:endParaRPr/>
          </a:p>
        </p:txBody>
      </p:sp>
      <p:sp>
        <p:nvSpPr>
          <p:cNvPr id="837" name="Google Shape;837;p36"/>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38" name="Google Shape;838;p36"/>
          <p:cNvSpPr txBox="1"/>
          <p:nvPr/>
        </p:nvSpPr>
        <p:spPr>
          <a:xfrm>
            <a:off x="381000" y="1524000"/>
            <a:ext cx="8429625" cy="2227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mo"/>
              <a:buNone/>
            </a:pPr>
            <a:r>
              <a:rPr b="1" i="0" lang="en-US" sz="2800" u="none">
                <a:solidFill>
                  <a:schemeClr val="dk1"/>
                </a:solidFill>
                <a:latin typeface="Arimo"/>
                <a:ea typeface="Arimo"/>
                <a:cs typeface="Arimo"/>
                <a:sym typeface="Arimo"/>
              </a:rPr>
              <a:t>To keep track of all the different events happening during connection establishment, connection termination, and data transfer, TCP is specified as the finite state machine shown in Figure 15.13.</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843" name="Shape 843"/>
        <p:cNvGrpSpPr/>
        <p:nvPr/>
      </p:nvGrpSpPr>
      <p:grpSpPr>
        <a:xfrm>
          <a:off x="0" y="0"/>
          <a:ext cx="0" cy="0"/>
          <a:chOff x="0" y="0"/>
          <a:chExt cx="0" cy="0"/>
        </a:xfrm>
      </p:grpSpPr>
      <p:sp>
        <p:nvSpPr>
          <p:cNvPr id="844" name="Google Shape;844;p37"/>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845" name="Google Shape;845;p37"/>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846" name="Google Shape;846;p37"/>
          <p:cNvSpPr txBox="1"/>
          <p:nvPr/>
        </p:nvSpPr>
        <p:spPr>
          <a:xfrm>
            <a:off x="228600" y="152400"/>
            <a:ext cx="54689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847" name="Google Shape;847;p37"/>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48" name="Google Shape;848;p37"/>
          <p:cNvSpPr txBox="1"/>
          <p:nvPr/>
        </p:nvSpPr>
        <p:spPr>
          <a:xfrm>
            <a:off x="304800" y="989012"/>
            <a:ext cx="8382000" cy="519112"/>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Scenarios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8"/>
                                        </p:tgtEl>
                                        <p:attrNameLst>
                                          <p:attrName>style.visibility</p:attrName>
                                        </p:attrNameLst>
                                      </p:cBhvr>
                                      <p:to>
                                        <p:strVal val="visible"/>
                                      </p:to>
                                    </p:set>
                                    <p:animEffect filter="fade" transition="in">
                                      <p:cBhvr>
                                        <p:cTn dur="5000"/>
                                        <p:tgtEl>
                                          <p:spTgt spid="8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38"/>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855" name="Google Shape;855;p38"/>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856" name="Google Shape;856;p38"/>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15.13</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State transition diagram</a:t>
            </a:r>
            <a:endParaRPr/>
          </a:p>
        </p:txBody>
      </p:sp>
      <p:sp>
        <p:nvSpPr>
          <p:cNvPr id="857" name="Google Shape;857;p3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58" name="Google Shape;858;p3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59" name="Google Shape;859;p3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60" name="Google Shape;860;p3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61" name="Google Shape;861;p3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62" name="Google Shape;862;p3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63" name="Google Shape;863;p3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864" name="Google Shape;864;p38"/>
          <p:cNvPicPr preferRelativeResize="0"/>
          <p:nvPr/>
        </p:nvPicPr>
        <p:blipFill rotWithShape="1">
          <a:blip r:embed="rId3">
            <a:alphaModFix/>
          </a:blip>
          <a:srcRect b="0" l="0" r="0" t="0"/>
          <a:stretch/>
        </p:blipFill>
        <p:spPr>
          <a:xfrm>
            <a:off x="1447800" y="914400"/>
            <a:ext cx="6545262" cy="53594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39"/>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871" name="Google Shape;871;p39"/>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872" name="Google Shape;872;p3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73" name="Google Shape;873;p3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74" name="Google Shape;874;p3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75" name="Google Shape;875;p3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76" name="Google Shape;876;p3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77" name="Google Shape;877;p3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78" name="Google Shape;878;p3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879" name="Google Shape;879;p39"/>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880" name="Google Shape;880;p39"/>
          <p:cNvCxnSpPr/>
          <p:nvPr/>
        </p:nvCxnSpPr>
        <p:spPr>
          <a:xfrm>
            <a:off x="609600" y="48006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881" name="Google Shape;881;p39"/>
          <p:cNvSpPr txBox="1"/>
          <p:nvPr/>
        </p:nvSpPr>
        <p:spPr>
          <a:xfrm>
            <a:off x="647700" y="2716212"/>
            <a:ext cx="8077200" cy="2041525"/>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state marked as </a:t>
            </a:r>
            <a:r>
              <a:rPr b="1" i="1" lang="en-US" sz="3200" u="sng">
                <a:solidFill>
                  <a:schemeClr val="lt1"/>
                </a:solidFill>
                <a:latin typeface="Arial"/>
                <a:ea typeface="Arial"/>
                <a:cs typeface="Arial"/>
                <a:sym typeface="Arial"/>
              </a:rPr>
              <a:t>ESTBLISHED</a:t>
            </a:r>
            <a:r>
              <a:rPr b="1" i="1" lang="en-US" sz="3200" u="none">
                <a:solidFill>
                  <a:schemeClr val="lt1"/>
                </a:solidFill>
                <a:latin typeface="Arial"/>
                <a:ea typeface="Arial"/>
                <a:cs typeface="Arial"/>
                <a:sym typeface="Arial"/>
              </a:rPr>
              <a:t> </a:t>
            </a:r>
            <a:br>
              <a:rPr b="1" i="1" lang="en-US" sz="3200" u="none">
                <a:solidFill>
                  <a:schemeClr val="lt1"/>
                </a:solidFill>
                <a:latin typeface="Arial"/>
                <a:ea typeface="Arial"/>
                <a:cs typeface="Arial"/>
                <a:sym typeface="Arial"/>
              </a:rPr>
            </a:br>
            <a:r>
              <a:rPr b="1" i="1" lang="en-US" sz="3200" u="none">
                <a:solidFill>
                  <a:schemeClr val="lt1"/>
                </a:solidFill>
                <a:latin typeface="Arial"/>
                <a:ea typeface="Arial"/>
                <a:cs typeface="Arial"/>
                <a:sym typeface="Arial"/>
              </a:rPr>
              <a:t>in the FSM is in fact two different</a:t>
            </a:r>
            <a:endParaRPr/>
          </a:p>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sets of states that the client </a:t>
            </a:r>
            <a:br>
              <a:rPr b="1" i="1" lang="en-US" sz="3200" u="none">
                <a:solidFill>
                  <a:schemeClr val="lt1"/>
                </a:solidFill>
                <a:latin typeface="Arial"/>
                <a:ea typeface="Arial"/>
                <a:cs typeface="Arial"/>
                <a:sym typeface="Arial"/>
              </a:rPr>
            </a:br>
            <a:r>
              <a:rPr b="1" i="1" lang="en-US" sz="3200" u="none">
                <a:solidFill>
                  <a:schemeClr val="lt1"/>
                </a:solidFill>
                <a:latin typeface="Arial"/>
                <a:ea typeface="Arial"/>
                <a:cs typeface="Arial"/>
                <a:sym typeface="Arial"/>
              </a:rPr>
              <a:t>and server undergo to transfer data.</a:t>
            </a:r>
            <a:endParaRPr/>
          </a:p>
        </p:txBody>
      </p:sp>
      <p:grpSp>
        <p:nvGrpSpPr>
          <p:cNvPr id="882" name="Google Shape;882;p39"/>
          <p:cNvGrpSpPr/>
          <p:nvPr/>
        </p:nvGrpSpPr>
        <p:grpSpPr>
          <a:xfrm>
            <a:off x="609600" y="1981200"/>
            <a:ext cx="1143000" cy="566737"/>
            <a:chOff x="1200" y="1248"/>
            <a:chExt cx="720" cy="357"/>
          </a:xfrm>
        </p:grpSpPr>
        <p:pic>
          <p:nvPicPr>
            <p:cNvPr id="883" name="Google Shape;883;p39"/>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884" name="Google Shape;884;p39"/>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79"/>
                                        </p:tgtEl>
                                        <p:attrNameLst>
                                          <p:attrName>style.visibility</p:attrName>
                                        </p:attrNameLst>
                                      </p:cBhvr>
                                      <p:to>
                                        <p:strVal val="visible"/>
                                      </p:to>
                                    </p:set>
                                    <p:animEffect filter="fade" transition="in">
                                      <p:cBhvr>
                                        <p:cTn dur="500"/>
                                        <p:tgtEl>
                                          <p:spTgt spid="87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80"/>
                                        </p:tgtEl>
                                        <p:attrNameLst>
                                          <p:attrName>style.visibility</p:attrName>
                                        </p:attrNameLst>
                                      </p:cBhvr>
                                      <p:to>
                                        <p:strVal val="visible"/>
                                      </p:to>
                                    </p:set>
                                    <p:animEffect filter="fade" transition="in">
                                      <p:cBhvr>
                                        <p:cTn dur="500"/>
                                        <p:tgtEl>
                                          <p:spTgt spid="88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81"/>
                                        </p:tgtEl>
                                        <p:attrNameLst>
                                          <p:attrName>style.visibility</p:attrName>
                                        </p:attrNameLst>
                                      </p:cBhvr>
                                      <p:to>
                                        <p:strVal val="visible"/>
                                      </p:to>
                                    </p:set>
                                    <p:animEffect filter="fade" transition="in">
                                      <p:cBhvr>
                                        <p:cTn dur="500"/>
                                        <p:tgtEl>
                                          <p:spTgt spid="8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40"/>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891" name="Google Shape;891;p40"/>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grpSp>
        <p:nvGrpSpPr>
          <p:cNvPr id="892" name="Google Shape;892;p40"/>
          <p:cNvGrpSpPr/>
          <p:nvPr/>
        </p:nvGrpSpPr>
        <p:grpSpPr>
          <a:xfrm>
            <a:off x="228600" y="228600"/>
            <a:ext cx="8458200" cy="5791200"/>
            <a:chOff x="144" y="144"/>
            <a:chExt cx="5328" cy="3648"/>
          </a:xfrm>
        </p:grpSpPr>
        <p:grpSp>
          <p:nvGrpSpPr>
            <p:cNvPr id="893" name="Google Shape;893;p40"/>
            <p:cNvGrpSpPr/>
            <p:nvPr/>
          </p:nvGrpSpPr>
          <p:grpSpPr>
            <a:xfrm>
              <a:off x="144" y="144"/>
              <a:ext cx="432" cy="3648"/>
              <a:chOff x="48" y="48"/>
              <a:chExt cx="576" cy="3984"/>
            </a:xfrm>
          </p:grpSpPr>
          <p:sp>
            <p:nvSpPr>
              <p:cNvPr id="894" name="Google Shape;894;p40"/>
              <p:cNvSpPr txBox="1"/>
              <p:nvPr/>
            </p:nvSpPr>
            <p:spPr>
              <a:xfrm>
                <a:off x="240"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95" name="Google Shape;895;p40"/>
              <p:cNvSpPr txBox="1"/>
              <p:nvPr/>
            </p:nvSpPr>
            <p:spPr>
              <a:xfrm>
                <a:off x="48"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96" name="Google Shape;896;p40"/>
              <p:cNvSpPr txBox="1"/>
              <p:nvPr/>
            </p:nvSpPr>
            <p:spPr>
              <a:xfrm>
                <a:off x="432"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897" name="Google Shape;897;p40"/>
            <p:cNvGrpSpPr/>
            <p:nvPr/>
          </p:nvGrpSpPr>
          <p:grpSpPr>
            <a:xfrm>
              <a:off x="144" y="144"/>
              <a:ext cx="5328" cy="336"/>
              <a:chOff x="0" y="144"/>
              <a:chExt cx="5760" cy="432"/>
            </a:xfrm>
          </p:grpSpPr>
          <p:sp>
            <p:nvSpPr>
              <p:cNvPr id="898" name="Google Shape;898;p40"/>
              <p:cNvSpPr txBox="1"/>
              <p:nvPr/>
            </p:nvSpPr>
            <p:spPr>
              <a:xfrm>
                <a:off x="0" y="144"/>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99" name="Google Shape;899;p40"/>
              <p:cNvSpPr txBox="1"/>
              <p:nvPr/>
            </p:nvSpPr>
            <p:spPr>
              <a:xfrm>
                <a:off x="0" y="288"/>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00" name="Google Shape;900;p40"/>
              <p:cNvSpPr txBox="1"/>
              <p:nvPr/>
            </p:nvSpPr>
            <p:spPr>
              <a:xfrm>
                <a:off x="0" y="432"/>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901" name="Google Shape;901;p40"/>
            <p:cNvGrpSpPr/>
            <p:nvPr/>
          </p:nvGrpSpPr>
          <p:grpSpPr>
            <a:xfrm>
              <a:off x="144" y="144"/>
              <a:ext cx="432" cy="336"/>
              <a:chOff x="144" y="144"/>
              <a:chExt cx="432" cy="336"/>
            </a:xfrm>
          </p:grpSpPr>
          <p:grpSp>
            <p:nvGrpSpPr>
              <p:cNvPr id="902" name="Google Shape;902;p40"/>
              <p:cNvGrpSpPr/>
              <p:nvPr/>
            </p:nvGrpSpPr>
            <p:grpSpPr>
              <a:xfrm>
                <a:off x="144" y="256"/>
                <a:ext cx="432" cy="112"/>
                <a:chOff x="288" y="256"/>
                <a:chExt cx="432" cy="112"/>
              </a:xfrm>
            </p:grpSpPr>
            <p:sp>
              <p:nvSpPr>
                <p:cNvPr id="903" name="Google Shape;903;p40"/>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04" name="Google Shape;904;p40"/>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05" name="Google Shape;905;p40"/>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906" name="Google Shape;906;p40"/>
              <p:cNvGrpSpPr/>
              <p:nvPr/>
            </p:nvGrpSpPr>
            <p:grpSpPr>
              <a:xfrm>
                <a:off x="144" y="144"/>
                <a:ext cx="432" cy="336"/>
                <a:chOff x="144" y="144"/>
                <a:chExt cx="432" cy="336"/>
              </a:xfrm>
            </p:grpSpPr>
            <p:grpSp>
              <p:nvGrpSpPr>
                <p:cNvPr id="907" name="Google Shape;907;p40"/>
                <p:cNvGrpSpPr/>
                <p:nvPr/>
              </p:nvGrpSpPr>
              <p:grpSpPr>
                <a:xfrm>
                  <a:off x="144" y="144"/>
                  <a:ext cx="432" cy="112"/>
                  <a:chOff x="288" y="256"/>
                  <a:chExt cx="432" cy="112"/>
                </a:xfrm>
              </p:grpSpPr>
              <p:sp>
                <p:nvSpPr>
                  <p:cNvPr id="908" name="Google Shape;908;p40"/>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09" name="Google Shape;909;p40"/>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10" name="Google Shape;910;p40"/>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911" name="Google Shape;911;p40"/>
                <p:cNvGrpSpPr/>
                <p:nvPr/>
              </p:nvGrpSpPr>
              <p:grpSpPr>
                <a:xfrm>
                  <a:off x="144" y="368"/>
                  <a:ext cx="432" cy="112"/>
                  <a:chOff x="288" y="256"/>
                  <a:chExt cx="432" cy="112"/>
                </a:xfrm>
              </p:grpSpPr>
              <p:sp>
                <p:nvSpPr>
                  <p:cNvPr id="912" name="Google Shape;912;p40"/>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13" name="Google Shape;913;p40"/>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14" name="Google Shape;914;p40"/>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grpSp>
      </p:grpSp>
      <p:pic>
        <p:nvPicPr>
          <p:cNvPr id="915" name="Google Shape;915;p40"/>
          <p:cNvPicPr preferRelativeResize="0"/>
          <p:nvPr/>
        </p:nvPicPr>
        <p:blipFill rotWithShape="1">
          <a:blip r:embed="rId3">
            <a:alphaModFix/>
          </a:blip>
          <a:srcRect b="0" l="0" r="0" t="0"/>
          <a:stretch/>
        </p:blipFill>
        <p:spPr>
          <a:xfrm>
            <a:off x="1223962" y="1333500"/>
            <a:ext cx="7386637" cy="41529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41"/>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922" name="Google Shape;922;p41"/>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923" name="Google Shape;923;p41"/>
          <p:cNvSpPr txBox="1"/>
          <p:nvPr/>
        </p:nvSpPr>
        <p:spPr>
          <a:xfrm>
            <a:off x="990600" y="90487"/>
            <a:ext cx="76962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15.14</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Transition diagram for connection and half-close termination</a:t>
            </a:r>
            <a:endParaRPr/>
          </a:p>
        </p:txBody>
      </p:sp>
      <p:sp>
        <p:nvSpPr>
          <p:cNvPr id="924" name="Google Shape;924;p4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25" name="Google Shape;925;p4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26" name="Google Shape;926;p4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27" name="Google Shape;927;p4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28" name="Google Shape;928;p4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29" name="Google Shape;929;p4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30" name="Google Shape;930;p4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931" name="Google Shape;931;p41"/>
          <p:cNvPicPr preferRelativeResize="0"/>
          <p:nvPr/>
        </p:nvPicPr>
        <p:blipFill rotWithShape="1">
          <a:blip r:embed="rId3">
            <a:alphaModFix/>
          </a:blip>
          <a:srcRect b="0" l="0" r="0" t="0"/>
          <a:stretch/>
        </p:blipFill>
        <p:spPr>
          <a:xfrm>
            <a:off x="450850" y="2289175"/>
            <a:ext cx="8464550" cy="2819400"/>
          </a:xfrm>
          <a:prstGeom prst="rect">
            <a:avLst/>
          </a:prstGeom>
          <a:noFill/>
          <a:ln>
            <a:noFill/>
          </a:ln>
        </p:spPr>
      </p:pic>
      <p:sp>
        <p:nvSpPr>
          <p:cNvPr id="932" name="Google Shape;932;p41"/>
          <p:cNvSpPr/>
          <p:nvPr/>
        </p:nvSpPr>
        <p:spPr>
          <a:xfrm>
            <a:off x="990600" y="2540000"/>
            <a:ext cx="920750" cy="317500"/>
          </a:xfrm>
          <a:prstGeom prst="ellipse">
            <a:avLst/>
          </a:prstGeom>
          <a:noFill/>
          <a:ln cap="flat" cmpd="sng" w="28575">
            <a:solidFill>
              <a:srgbClr val="0000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42"/>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939" name="Google Shape;939;p42"/>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940" name="Google Shape;940;p42"/>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15.15</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Time-line diagram for Figure 15.14</a:t>
            </a:r>
            <a:endParaRPr/>
          </a:p>
        </p:txBody>
      </p:sp>
      <p:sp>
        <p:nvSpPr>
          <p:cNvPr id="941" name="Google Shape;941;p4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42" name="Google Shape;942;p4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43" name="Google Shape;943;p4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44" name="Google Shape;944;p4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45" name="Google Shape;945;p4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46" name="Google Shape;946;p4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47" name="Google Shape;947;p4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948" name="Google Shape;948;p42"/>
          <p:cNvPicPr preferRelativeResize="0"/>
          <p:nvPr/>
        </p:nvPicPr>
        <p:blipFill rotWithShape="1">
          <a:blip r:embed="rId3">
            <a:alphaModFix/>
          </a:blip>
          <a:srcRect b="0" l="0" r="0" t="0"/>
          <a:stretch/>
        </p:blipFill>
        <p:spPr>
          <a:xfrm>
            <a:off x="3924300" y="685800"/>
            <a:ext cx="4826000" cy="5838825"/>
          </a:xfrm>
          <a:prstGeom prst="rect">
            <a:avLst/>
          </a:prstGeom>
          <a:noFill/>
          <a:ln>
            <a:noFill/>
          </a:ln>
        </p:spPr>
      </p:pic>
      <p:sp>
        <p:nvSpPr>
          <p:cNvPr id="949" name="Google Shape;949;p42"/>
          <p:cNvSpPr/>
          <p:nvPr/>
        </p:nvSpPr>
        <p:spPr>
          <a:xfrm>
            <a:off x="4251325" y="4848225"/>
            <a:ext cx="914400" cy="1323975"/>
          </a:xfrm>
          <a:prstGeom prst="ellipse">
            <a:avLst/>
          </a:prstGeom>
          <a:noFill/>
          <a:ln cap="flat" cmpd="sng" w="2857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50" name="Google Shape;950;p42"/>
          <p:cNvSpPr txBox="1"/>
          <p:nvPr/>
        </p:nvSpPr>
        <p:spPr>
          <a:xfrm>
            <a:off x="280987" y="1143000"/>
            <a:ext cx="3902075" cy="410210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folHlink"/>
              </a:buClr>
              <a:buSzPts val="1600"/>
              <a:buFont typeface="Tahoma"/>
              <a:buNone/>
            </a:pPr>
            <a:r>
              <a:rPr b="1" i="0" lang="en-US" sz="1600" u="none">
                <a:solidFill>
                  <a:schemeClr val="folHlink"/>
                </a:solidFill>
                <a:latin typeface="Tahoma"/>
                <a:ea typeface="Tahoma"/>
                <a:cs typeface="Tahoma"/>
                <a:sym typeface="Tahoma"/>
              </a:rPr>
              <a:t>1.	Enough time for an ACK to be lost and a new FIN to arrive. If during the TIME-WAIT state, a new FIN arrives, the client sends a new ACK and restarts the 2MSL timer</a:t>
            </a:r>
            <a:endParaRPr/>
          </a:p>
          <a:p>
            <a:pPr indent="-457200" lvl="0" marL="457200" marR="0" rtl="0" algn="l">
              <a:lnSpc>
                <a:spcPct val="100000"/>
              </a:lnSpc>
              <a:spcBef>
                <a:spcPts val="320"/>
              </a:spcBef>
              <a:spcAft>
                <a:spcPts val="0"/>
              </a:spcAft>
              <a:buClr>
                <a:schemeClr val="folHlink"/>
              </a:buClr>
              <a:buSzPts val="1600"/>
              <a:buFont typeface="Tahoma"/>
              <a:buAutoNum type="arabicPeriod" startAt="2"/>
            </a:pPr>
            <a:r>
              <a:rPr b="1" i="0" lang="en-US" sz="1600" u="none">
                <a:solidFill>
                  <a:schemeClr val="folHlink"/>
                </a:solidFill>
                <a:latin typeface="Tahoma"/>
                <a:ea typeface="Tahoma"/>
                <a:cs typeface="Tahoma"/>
                <a:sym typeface="Tahoma"/>
              </a:rPr>
              <a:t>To prevent a duplicate segment from one connection appearing in the next one, TCP requires that incarnation cannot take place unless 2MSL amount of time has elapsed.</a:t>
            </a:r>
            <a:endParaRPr/>
          </a:p>
          <a:p>
            <a:pPr indent="-457200" lvl="0" marL="457200" marR="0" rtl="0" algn="l">
              <a:lnSpc>
                <a:spcPct val="100000"/>
              </a:lnSpc>
              <a:spcBef>
                <a:spcPts val="320"/>
              </a:spcBef>
              <a:spcAft>
                <a:spcPts val="0"/>
              </a:spcAft>
              <a:buClr>
                <a:schemeClr val="folHlink"/>
              </a:buClr>
              <a:buSzPts val="1600"/>
              <a:buFont typeface="Tahoma"/>
              <a:buNone/>
            </a:pPr>
            <a:r>
              <a:rPr b="1" i="0" lang="en-US" sz="1600" u="none">
                <a:solidFill>
                  <a:schemeClr val="folHlink"/>
                </a:solidFill>
                <a:latin typeface="Tahoma"/>
                <a:ea typeface="Tahoma"/>
                <a:cs typeface="Tahoma"/>
                <a:sym typeface="Tahoma"/>
              </a:rPr>
              <a:t>	Another solution: the ISN of the incarnation is greater than the last seq. # used in the previous connection.</a:t>
            </a:r>
            <a:endParaRPr/>
          </a:p>
        </p:txBody>
      </p:sp>
      <p:sp>
        <p:nvSpPr>
          <p:cNvPr id="951" name="Google Shape;951;p42"/>
          <p:cNvSpPr/>
          <p:nvPr/>
        </p:nvSpPr>
        <p:spPr>
          <a:xfrm rot="-8520000">
            <a:off x="3671887" y="4991100"/>
            <a:ext cx="533400" cy="457200"/>
          </a:xfrm>
          <a:prstGeom prst="rightArrow">
            <a:avLst>
              <a:gd fmla="val 50000" name="adj1"/>
              <a:gd fmla="val 50000"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43"/>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958" name="Google Shape;958;p43"/>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959" name="Google Shape;959;p43"/>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15.16</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Transition diagram for a common scenario</a:t>
            </a:r>
            <a:endParaRPr/>
          </a:p>
        </p:txBody>
      </p:sp>
      <p:sp>
        <p:nvSpPr>
          <p:cNvPr id="960" name="Google Shape;960;p4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61" name="Google Shape;961;p4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62" name="Google Shape;962;p4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63" name="Google Shape;963;p4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64" name="Google Shape;964;p4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65" name="Google Shape;965;p4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66" name="Google Shape;966;p4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967" name="Google Shape;967;p43"/>
          <p:cNvPicPr preferRelativeResize="0"/>
          <p:nvPr/>
        </p:nvPicPr>
        <p:blipFill rotWithShape="1">
          <a:blip r:embed="rId3">
            <a:alphaModFix/>
          </a:blip>
          <a:srcRect b="0" l="0" r="0" t="0"/>
          <a:stretch/>
        </p:blipFill>
        <p:spPr>
          <a:xfrm>
            <a:off x="457200" y="2209800"/>
            <a:ext cx="8153400" cy="2381250"/>
          </a:xfrm>
          <a:prstGeom prst="rect">
            <a:avLst/>
          </a:prstGeom>
          <a:noFill/>
          <a:ln>
            <a:noFill/>
          </a:ln>
        </p:spPr>
      </p:pic>
      <p:sp>
        <p:nvSpPr>
          <p:cNvPr id="968" name="Google Shape;968;p43"/>
          <p:cNvSpPr/>
          <p:nvPr/>
        </p:nvSpPr>
        <p:spPr>
          <a:xfrm>
            <a:off x="990600" y="2709862"/>
            <a:ext cx="1103312" cy="373062"/>
          </a:xfrm>
          <a:prstGeom prst="ellipse">
            <a:avLst/>
          </a:prstGeom>
          <a:noFill/>
          <a:ln cap="flat" cmpd="sng" w="28575">
            <a:solidFill>
              <a:srgbClr val="0000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44"/>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975" name="Google Shape;975;p44"/>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976" name="Google Shape;976;p44"/>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15.17</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Time line for a common scenario</a:t>
            </a:r>
            <a:endParaRPr/>
          </a:p>
        </p:txBody>
      </p:sp>
      <p:sp>
        <p:nvSpPr>
          <p:cNvPr id="977" name="Google Shape;977;p4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78" name="Google Shape;978;p4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79" name="Google Shape;979;p4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80" name="Google Shape;980;p4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81" name="Google Shape;981;p4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82" name="Google Shape;982;p4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83" name="Google Shape;983;p4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984" name="Google Shape;984;p44"/>
          <p:cNvPicPr preferRelativeResize="0"/>
          <p:nvPr/>
        </p:nvPicPr>
        <p:blipFill rotWithShape="1">
          <a:blip r:embed="rId3">
            <a:alphaModFix/>
          </a:blip>
          <a:srcRect b="0" l="0" r="0" t="0"/>
          <a:stretch/>
        </p:blipFill>
        <p:spPr>
          <a:xfrm>
            <a:off x="1863725" y="762000"/>
            <a:ext cx="6061075" cy="5741987"/>
          </a:xfrm>
          <a:prstGeom prst="rect">
            <a:avLst/>
          </a:prstGeom>
          <a:noFill/>
          <a:ln>
            <a:noFill/>
          </a:ln>
        </p:spPr>
      </p:pic>
      <p:cxnSp>
        <p:nvCxnSpPr>
          <p:cNvPr id="985" name="Google Shape;985;p44"/>
          <p:cNvCxnSpPr/>
          <p:nvPr/>
        </p:nvCxnSpPr>
        <p:spPr>
          <a:xfrm>
            <a:off x="3678237" y="4364037"/>
            <a:ext cx="792162" cy="736600"/>
          </a:xfrm>
          <a:prstGeom prst="straightConnector1">
            <a:avLst/>
          </a:prstGeom>
          <a:noFill/>
          <a:ln cap="flat" cmpd="sng" w="19050">
            <a:solidFill>
              <a:schemeClr val="dk1"/>
            </a:solidFill>
            <a:prstDash val="solid"/>
            <a:miter lim="800000"/>
            <a:headEnd len="med" w="med" type="none"/>
            <a:tailEnd len="med" w="med" type="triangle"/>
          </a:ln>
        </p:spPr>
      </p:cxnSp>
      <p:sp>
        <p:nvSpPr>
          <p:cNvPr id="986" name="Google Shape;986;p44"/>
          <p:cNvSpPr/>
          <p:nvPr/>
        </p:nvSpPr>
        <p:spPr>
          <a:xfrm>
            <a:off x="3797300" y="4959350"/>
            <a:ext cx="487362" cy="171450"/>
          </a:xfrm>
          <a:custGeom>
            <a:rect b="b" l="l" r="r" t="t"/>
            <a:pathLst>
              <a:path extrusionOk="0" h="133350" w="558800">
                <a:moveTo>
                  <a:pt x="0" y="82550"/>
                </a:moveTo>
                <a:cubicBezTo>
                  <a:pt x="6350" y="69850"/>
                  <a:pt x="9700" y="55136"/>
                  <a:pt x="19050" y="44450"/>
                </a:cubicBezTo>
                <a:cubicBezTo>
                  <a:pt x="25283" y="37326"/>
                  <a:pt x="38390" y="39022"/>
                  <a:pt x="44450" y="31750"/>
                </a:cubicBezTo>
                <a:cubicBezTo>
                  <a:pt x="78184" y="-8730"/>
                  <a:pt x="22763" y="15696"/>
                  <a:pt x="69850" y="0"/>
                </a:cubicBezTo>
                <a:cubicBezTo>
                  <a:pt x="76200" y="4233"/>
                  <a:pt x="83106" y="7733"/>
                  <a:pt x="88900" y="12700"/>
                </a:cubicBezTo>
                <a:cubicBezTo>
                  <a:pt x="97991" y="20492"/>
                  <a:pt x="104721" y="30916"/>
                  <a:pt x="114300" y="38100"/>
                </a:cubicBezTo>
                <a:cubicBezTo>
                  <a:pt x="121873" y="43780"/>
                  <a:pt x="131583" y="45930"/>
                  <a:pt x="139700" y="50800"/>
                </a:cubicBezTo>
                <a:cubicBezTo>
                  <a:pt x="152788" y="58653"/>
                  <a:pt x="177800" y="76200"/>
                  <a:pt x="177800" y="76200"/>
                </a:cubicBezTo>
                <a:cubicBezTo>
                  <a:pt x="179917" y="84667"/>
                  <a:pt x="176666" y="97110"/>
                  <a:pt x="184150" y="101600"/>
                </a:cubicBezTo>
                <a:cubicBezTo>
                  <a:pt x="209578" y="116857"/>
                  <a:pt x="230558" y="58248"/>
                  <a:pt x="234950" y="57150"/>
                </a:cubicBezTo>
                <a:cubicBezTo>
                  <a:pt x="269533" y="48504"/>
                  <a:pt x="252544" y="54703"/>
                  <a:pt x="285750" y="38100"/>
                </a:cubicBezTo>
                <a:cubicBezTo>
                  <a:pt x="294217" y="44450"/>
                  <a:pt x="303666" y="49666"/>
                  <a:pt x="311150" y="57150"/>
                </a:cubicBezTo>
                <a:cubicBezTo>
                  <a:pt x="320125" y="66125"/>
                  <a:pt x="331570" y="91639"/>
                  <a:pt x="336550" y="101600"/>
                </a:cubicBezTo>
                <a:cubicBezTo>
                  <a:pt x="345017" y="97367"/>
                  <a:pt x="355257" y="95593"/>
                  <a:pt x="361950" y="88900"/>
                </a:cubicBezTo>
                <a:cubicBezTo>
                  <a:pt x="372743" y="78107"/>
                  <a:pt x="372542" y="54502"/>
                  <a:pt x="387350" y="50800"/>
                </a:cubicBezTo>
                <a:lnTo>
                  <a:pt x="412750" y="44450"/>
                </a:lnTo>
                <a:cubicBezTo>
                  <a:pt x="442150" y="88550"/>
                  <a:pt x="426674" y="91884"/>
                  <a:pt x="476250" y="69850"/>
                </a:cubicBezTo>
                <a:cubicBezTo>
                  <a:pt x="483224" y="66750"/>
                  <a:pt x="488950" y="61383"/>
                  <a:pt x="495300" y="57150"/>
                </a:cubicBezTo>
                <a:cubicBezTo>
                  <a:pt x="499533" y="50800"/>
                  <a:pt x="500596" y="36249"/>
                  <a:pt x="508000" y="38100"/>
                </a:cubicBezTo>
                <a:cubicBezTo>
                  <a:pt x="517183" y="40396"/>
                  <a:pt x="518261" y="54354"/>
                  <a:pt x="520700" y="63500"/>
                </a:cubicBezTo>
                <a:cubicBezTo>
                  <a:pt x="526798" y="86366"/>
                  <a:pt x="529167" y="110067"/>
                  <a:pt x="533400" y="133350"/>
                </a:cubicBezTo>
                <a:lnTo>
                  <a:pt x="558800" y="82550"/>
                </a:lnTo>
              </a:path>
            </a:pathLst>
          </a:custGeom>
          <a:noFill/>
          <a:ln cap="flat" cmpd="sng" w="285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45"/>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993" name="Google Shape;993;p45"/>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994" name="Google Shape;994;p45"/>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15.18</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Simultaneous open</a:t>
            </a:r>
            <a:endParaRPr/>
          </a:p>
        </p:txBody>
      </p:sp>
      <p:sp>
        <p:nvSpPr>
          <p:cNvPr id="995" name="Google Shape;995;p4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96" name="Google Shape;996;p4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97" name="Google Shape;997;p4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98" name="Google Shape;998;p4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999" name="Google Shape;999;p4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00" name="Google Shape;1000;p4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01" name="Google Shape;1001;p4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002" name="Google Shape;1002;p45"/>
          <p:cNvPicPr preferRelativeResize="0"/>
          <p:nvPr/>
        </p:nvPicPr>
        <p:blipFill rotWithShape="1">
          <a:blip r:embed="rId3">
            <a:alphaModFix/>
          </a:blip>
          <a:srcRect b="0" l="0" r="0" t="0"/>
          <a:stretch/>
        </p:blipFill>
        <p:spPr>
          <a:xfrm>
            <a:off x="1008062" y="1414462"/>
            <a:ext cx="6992937" cy="4224337"/>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46"/>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009" name="Google Shape;1009;p46"/>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010" name="Google Shape;1010;p46"/>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15.19</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Simultaneous close</a:t>
            </a:r>
            <a:endParaRPr/>
          </a:p>
        </p:txBody>
      </p:sp>
      <p:sp>
        <p:nvSpPr>
          <p:cNvPr id="1011" name="Google Shape;1011;p4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12" name="Google Shape;1012;p4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13" name="Google Shape;1013;p4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14" name="Google Shape;1014;p4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15" name="Google Shape;1015;p4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16" name="Google Shape;1016;p4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17" name="Google Shape;1017;p4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018" name="Google Shape;1018;p46"/>
          <p:cNvPicPr preferRelativeResize="0"/>
          <p:nvPr/>
        </p:nvPicPr>
        <p:blipFill rotWithShape="1">
          <a:blip r:embed="rId3">
            <a:alphaModFix/>
          </a:blip>
          <a:srcRect b="0" l="0" r="0" t="0"/>
          <a:stretch/>
        </p:blipFill>
        <p:spPr>
          <a:xfrm>
            <a:off x="1236662" y="1066800"/>
            <a:ext cx="6992937" cy="5219700"/>
          </a:xfrm>
          <a:prstGeom prst="rect">
            <a:avLst/>
          </a:prstGeom>
          <a:noFill/>
          <a:ln>
            <a:noFill/>
          </a:ln>
        </p:spPr>
      </p:pic>
      <p:sp>
        <p:nvSpPr>
          <p:cNvPr id="1019" name="Google Shape;1019;p46"/>
          <p:cNvSpPr/>
          <p:nvPr/>
        </p:nvSpPr>
        <p:spPr>
          <a:xfrm>
            <a:off x="5026025" y="2444750"/>
            <a:ext cx="1001712" cy="1614487"/>
          </a:xfrm>
          <a:custGeom>
            <a:rect b="b" l="l" r="r" t="t"/>
            <a:pathLst>
              <a:path extrusionOk="0" h="1017" w="631">
                <a:moveTo>
                  <a:pt x="552" y="66"/>
                </a:moveTo>
                <a:cubicBezTo>
                  <a:pt x="501" y="57"/>
                  <a:pt x="325" y="0"/>
                  <a:pt x="238" y="13"/>
                </a:cubicBezTo>
                <a:cubicBezTo>
                  <a:pt x="151" y="26"/>
                  <a:pt x="56" y="77"/>
                  <a:pt x="28" y="144"/>
                </a:cubicBezTo>
                <a:cubicBezTo>
                  <a:pt x="0" y="211"/>
                  <a:pt x="24" y="357"/>
                  <a:pt x="72" y="415"/>
                </a:cubicBezTo>
                <a:cubicBezTo>
                  <a:pt x="120" y="473"/>
                  <a:pt x="240" y="475"/>
                  <a:pt x="316" y="493"/>
                </a:cubicBezTo>
                <a:cubicBezTo>
                  <a:pt x="392" y="511"/>
                  <a:pt x="477" y="482"/>
                  <a:pt x="526" y="520"/>
                </a:cubicBezTo>
                <a:cubicBezTo>
                  <a:pt x="575" y="558"/>
                  <a:pt x="603" y="656"/>
                  <a:pt x="613" y="720"/>
                </a:cubicBezTo>
                <a:cubicBezTo>
                  <a:pt x="623" y="784"/>
                  <a:pt x="631" y="856"/>
                  <a:pt x="587" y="904"/>
                </a:cubicBezTo>
                <a:cubicBezTo>
                  <a:pt x="543" y="952"/>
                  <a:pt x="441" y="999"/>
                  <a:pt x="351" y="1008"/>
                </a:cubicBezTo>
                <a:cubicBezTo>
                  <a:pt x="261" y="1017"/>
                  <a:pt x="97" y="965"/>
                  <a:pt x="46" y="956"/>
                </a:cubicBezTo>
              </a:path>
            </a:pathLst>
          </a:cu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20" name="Google Shape;1020;p46"/>
          <p:cNvSpPr txBox="1"/>
          <p:nvPr/>
        </p:nvSpPr>
        <p:spPr>
          <a:xfrm>
            <a:off x="5491162" y="2927350"/>
            <a:ext cx="45878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ex</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47"/>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027" name="Google Shape;1027;p47"/>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028" name="Google Shape;1028;p47"/>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15.20</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Denying a connection</a:t>
            </a:r>
            <a:endParaRPr/>
          </a:p>
        </p:txBody>
      </p:sp>
      <p:sp>
        <p:nvSpPr>
          <p:cNvPr id="1029" name="Google Shape;1029;p4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30" name="Google Shape;1030;p4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31" name="Google Shape;1031;p4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32" name="Google Shape;1032;p4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33" name="Google Shape;1033;p4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34" name="Google Shape;1034;p4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35" name="Google Shape;1035;p4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036" name="Google Shape;1036;p47"/>
          <p:cNvPicPr preferRelativeResize="0"/>
          <p:nvPr/>
        </p:nvPicPr>
        <p:blipFill rotWithShape="1">
          <a:blip r:embed="rId3">
            <a:alphaModFix/>
          </a:blip>
          <a:srcRect b="0" l="0" r="0" t="0"/>
          <a:stretch/>
        </p:blipFill>
        <p:spPr>
          <a:xfrm>
            <a:off x="1066800" y="1109662"/>
            <a:ext cx="6892925" cy="4529137"/>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48"/>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043" name="Google Shape;1043;p48"/>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044" name="Google Shape;1044;p48"/>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15.21</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Aborting a connection</a:t>
            </a:r>
            <a:endParaRPr/>
          </a:p>
        </p:txBody>
      </p:sp>
      <p:sp>
        <p:nvSpPr>
          <p:cNvPr id="1045" name="Google Shape;1045;p4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46" name="Google Shape;1046;p4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47" name="Google Shape;1047;p4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48" name="Google Shape;1048;p4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49" name="Google Shape;1049;p4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50" name="Google Shape;1050;p4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51" name="Google Shape;1051;p4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052" name="Google Shape;1052;p48"/>
          <p:cNvPicPr preferRelativeResize="0"/>
          <p:nvPr/>
        </p:nvPicPr>
        <p:blipFill rotWithShape="1">
          <a:blip r:embed="rId3">
            <a:alphaModFix/>
          </a:blip>
          <a:srcRect b="0" l="0" r="0" t="0"/>
          <a:stretch/>
        </p:blipFill>
        <p:spPr>
          <a:xfrm>
            <a:off x="438150" y="1636712"/>
            <a:ext cx="8066087" cy="3535362"/>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49"/>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059" name="Google Shape;1059;p49"/>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060" name="Google Shape;1060;p49"/>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61" name="Google Shape;1061;p49"/>
          <p:cNvSpPr txBox="1"/>
          <p:nvPr/>
        </p:nvSpPr>
        <p:spPr>
          <a:xfrm>
            <a:off x="228600" y="355600"/>
            <a:ext cx="5387975" cy="650875"/>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Times"/>
              <a:buNone/>
            </a:pPr>
            <a:r>
              <a:rPr b="1" i="0" lang="en-US" sz="3600" u="none">
                <a:solidFill>
                  <a:schemeClr val="lt1"/>
                </a:solidFill>
                <a:latin typeface="Times"/>
                <a:ea typeface="Times"/>
                <a:cs typeface="Times"/>
                <a:sym typeface="Times"/>
              </a:rPr>
              <a:t>15-6  WINDOWS  IN TCP</a:t>
            </a:r>
            <a:endParaRPr/>
          </a:p>
        </p:txBody>
      </p:sp>
      <p:sp>
        <p:nvSpPr>
          <p:cNvPr id="1062" name="Google Shape;1062;p49"/>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63" name="Google Shape;1063;p49"/>
          <p:cNvSpPr txBox="1"/>
          <p:nvPr/>
        </p:nvSpPr>
        <p:spPr>
          <a:xfrm>
            <a:off x="171450" y="1371600"/>
            <a:ext cx="8772525" cy="47894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mo"/>
              <a:buNone/>
            </a:pPr>
            <a:r>
              <a:rPr b="1" i="0" lang="en-US" sz="2800" u="none">
                <a:solidFill>
                  <a:schemeClr val="dk1"/>
                </a:solidFill>
                <a:latin typeface="Arimo"/>
                <a:ea typeface="Arimo"/>
                <a:cs typeface="Arimo"/>
                <a:sym typeface="Arimo"/>
              </a:rPr>
              <a:t>Before discussing data transfer in TCP and the issues such as flow, error, and congestion control, we describe the windows used in TCP. TCP uses two windows (send window and receive window) for each direction of data transfer, which means four windows for a bidirectional communication. To make the discussion simple, we make an assumption that communication is only unidirectional; the bidirectional communication can be inferred using two unidirectional communications with piggybacking.</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1068" name="Shape 1068"/>
        <p:cNvGrpSpPr/>
        <p:nvPr/>
      </p:nvGrpSpPr>
      <p:grpSpPr>
        <a:xfrm>
          <a:off x="0" y="0"/>
          <a:ext cx="0" cy="0"/>
          <a:chOff x="0" y="0"/>
          <a:chExt cx="0" cy="0"/>
        </a:xfrm>
      </p:grpSpPr>
      <p:sp>
        <p:nvSpPr>
          <p:cNvPr id="1069" name="Google Shape;1069;p50"/>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070" name="Google Shape;1070;p50"/>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071" name="Google Shape;1071;p50"/>
          <p:cNvSpPr txBox="1"/>
          <p:nvPr/>
        </p:nvSpPr>
        <p:spPr>
          <a:xfrm>
            <a:off x="228600" y="152400"/>
            <a:ext cx="54689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1072" name="Google Shape;1072;p50"/>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73" name="Google Shape;1073;p50"/>
          <p:cNvSpPr txBox="1"/>
          <p:nvPr/>
        </p:nvSpPr>
        <p:spPr>
          <a:xfrm>
            <a:off x="304800" y="989012"/>
            <a:ext cx="8382000" cy="1031875"/>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Send Window</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Receive Window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3"/>
                                        </p:tgtEl>
                                        <p:attrNameLst>
                                          <p:attrName>style.visibility</p:attrName>
                                        </p:attrNameLst>
                                      </p:cBhvr>
                                      <p:to>
                                        <p:strVal val="visible"/>
                                      </p:to>
                                    </p:set>
                                    <p:animEffect filter="fade" transition="in">
                                      <p:cBhvr>
                                        <p:cTn dur="5000"/>
                                        <p:tgtEl>
                                          <p:spTgt spid="10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sp>
        <p:nvSpPr>
          <p:cNvPr id="1079" name="Google Shape;1079;p51"/>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080" name="Google Shape;1080;p51"/>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081" name="Google Shape;1081;p51"/>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15.22</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Send window in TCP</a:t>
            </a:r>
            <a:endParaRPr/>
          </a:p>
        </p:txBody>
      </p:sp>
      <p:sp>
        <p:nvSpPr>
          <p:cNvPr id="1082" name="Google Shape;1082;p5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83" name="Google Shape;1083;p5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84" name="Google Shape;1084;p5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85" name="Google Shape;1085;p5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86" name="Google Shape;1086;p5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87" name="Google Shape;1087;p5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088" name="Google Shape;1088;p5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089" name="Google Shape;1089;p51"/>
          <p:cNvPicPr preferRelativeResize="0"/>
          <p:nvPr/>
        </p:nvPicPr>
        <p:blipFill rotWithShape="1">
          <a:blip r:embed="rId3">
            <a:alphaModFix/>
          </a:blip>
          <a:srcRect b="0" l="0" r="0" t="0"/>
          <a:stretch/>
        </p:blipFill>
        <p:spPr>
          <a:xfrm>
            <a:off x="249237" y="1123950"/>
            <a:ext cx="8613775" cy="2713037"/>
          </a:xfrm>
          <a:prstGeom prst="rect">
            <a:avLst/>
          </a:prstGeom>
          <a:noFill/>
          <a:ln>
            <a:noFill/>
          </a:ln>
        </p:spPr>
      </p:pic>
      <p:pic>
        <p:nvPicPr>
          <p:cNvPr id="1090" name="Google Shape;1090;p51"/>
          <p:cNvPicPr preferRelativeResize="0"/>
          <p:nvPr/>
        </p:nvPicPr>
        <p:blipFill rotWithShape="1">
          <a:blip r:embed="rId4">
            <a:alphaModFix/>
          </a:blip>
          <a:srcRect b="0" l="0" r="0" t="0"/>
          <a:stretch/>
        </p:blipFill>
        <p:spPr>
          <a:xfrm>
            <a:off x="546100" y="4151312"/>
            <a:ext cx="8316912" cy="18526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89"/>
                                        </p:tgtEl>
                                        <p:attrNameLst>
                                          <p:attrName>style.visibility</p:attrName>
                                        </p:attrNameLst>
                                      </p:cBhvr>
                                      <p:to>
                                        <p:strVal val="visible"/>
                                      </p:to>
                                    </p:set>
                                    <p:anim calcmode="lin" valueType="num">
                                      <p:cBhvr additive="base">
                                        <p:cTn dur="500"/>
                                        <p:tgtEl>
                                          <p:spTgt spid="1089"/>
                                        </p:tgtEl>
                                        <p:attrNameLst>
                                          <p:attrName>ppt_w</p:attrName>
                                        </p:attrNameLst>
                                      </p:cBhvr>
                                      <p:tavLst>
                                        <p:tav fmla="" tm="0">
                                          <p:val>
                                            <p:strVal val="0"/>
                                          </p:val>
                                        </p:tav>
                                        <p:tav fmla="" tm="100000">
                                          <p:val>
                                            <p:strVal val="#ppt_w"/>
                                          </p:val>
                                        </p:tav>
                                      </p:tavLst>
                                    </p:anim>
                                    <p:anim calcmode="lin" valueType="num">
                                      <p:cBhvr additive="base">
                                        <p:cTn dur="500"/>
                                        <p:tgtEl>
                                          <p:spTgt spid="108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90"/>
                                        </p:tgtEl>
                                        <p:attrNameLst>
                                          <p:attrName>style.visibility</p:attrName>
                                        </p:attrNameLst>
                                      </p:cBhvr>
                                      <p:to>
                                        <p:strVal val="visible"/>
                                      </p:to>
                                    </p:set>
                                    <p:anim calcmode="lin" valueType="num">
                                      <p:cBhvr additive="base">
                                        <p:cTn dur="500"/>
                                        <p:tgtEl>
                                          <p:spTgt spid="1090"/>
                                        </p:tgtEl>
                                        <p:attrNameLst>
                                          <p:attrName>ppt_w</p:attrName>
                                        </p:attrNameLst>
                                      </p:cBhvr>
                                      <p:tavLst>
                                        <p:tav fmla="" tm="0">
                                          <p:val>
                                            <p:strVal val="0"/>
                                          </p:val>
                                        </p:tav>
                                        <p:tav fmla="" tm="100000">
                                          <p:val>
                                            <p:strVal val="#ppt_w"/>
                                          </p:val>
                                        </p:tav>
                                      </p:tavLst>
                                    </p:anim>
                                    <p:anim calcmode="lin" valueType="num">
                                      <p:cBhvr additive="base">
                                        <p:cTn dur="500"/>
                                        <p:tgtEl>
                                          <p:spTgt spid="109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p52"/>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097" name="Google Shape;1097;p52"/>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098" name="Google Shape;1098;p52"/>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15.23</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Receive window in TCP</a:t>
            </a:r>
            <a:endParaRPr/>
          </a:p>
        </p:txBody>
      </p:sp>
      <p:sp>
        <p:nvSpPr>
          <p:cNvPr id="1099" name="Google Shape;1099;p5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00" name="Google Shape;1100;p5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01" name="Google Shape;1101;p5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02" name="Google Shape;1102;p5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03" name="Google Shape;1103;p5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04" name="Google Shape;1104;p5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05" name="Google Shape;1105;p5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106" name="Google Shape;1106;p52"/>
          <p:cNvPicPr preferRelativeResize="0"/>
          <p:nvPr/>
        </p:nvPicPr>
        <p:blipFill rotWithShape="1">
          <a:blip r:embed="rId3">
            <a:alphaModFix/>
          </a:blip>
          <a:srcRect b="0" l="0" r="0" t="0"/>
          <a:stretch/>
        </p:blipFill>
        <p:spPr>
          <a:xfrm>
            <a:off x="938212" y="990600"/>
            <a:ext cx="7824787" cy="5259387"/>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53"/>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113" name="Google Shape;1113;p53"/>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114" name="Google Shape;1114;p53"/>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15" name="Google Shape;1115;p53"/>
          <p:cNvSpPr txBox="1"/>
          <p:nvPr/>
        </p:nvSpPr>
        <p:spPr>
          <a:xfrm>
            <a:off x="228600" y="355600"/>
            <a:ext cx="5083175" cy="650875"/>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Times"/>
              <a:buNone/>
            </a:pPr>
            <a:r>
              <a:rPr b="1" i="0" lang="en-US" sz="3600" u="none">
                <a:solidFill>
                  <a:schemeClr val="lt1"/>
                </a:solidFill>
                <a:latin typeface="Times"/>
                <a:ea typeface="Times"/>
                <a:cs typeface="Times"/>
                <a:sym typeface="Times"/>
              </a:rPr>
              <a:t>15-7  FLOW CONTROL</a:t>
            </a:r>
            <a:endParaRPr/>
          </a:p>
        </p:txBody>
      </p:sp>
      <p:sp>
        <p:nvSpPr>
          <p:cNvPr id="1116" name="Google Shape;1116;p53"/>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17" name="Google Shape;1117;p53"/>
          <p:cNvSpPr txBox="1"/>
          <p:nvPr/>
        </p:nvSpPr>
        <p:spPr>
          <a:xfrm>
            <a:off x="361950" y="1504950"/>
            <a:ext cx="8591550" cy="47894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mo"/>
              <a:buNone/>
            </a:pPr>
            <a:r>
              <a:rPr b="1" i="0" lang="en-US" sz="2800" u="none">
                <a:solidFill>
                  <a:schemeClr val="dk1"/>
                </a:solidFill>
                <a:latin typeface="Arimo"/>
                <a:ea typeface="Arimo"/>
                <a:cs typeface="Arimo"/>
                <a:sym typeface="Arimo"/>
              </a:rPr>
              <a:t>As discussed in Chapter 13, flow control balances the rate a producer creates data with the rate a consumer can use the data. TCP separates flow control from error control. In this section we discuss flow control, ignoring error control. We temporarily assume that the logical channel between the sending and receiving TCP is error-free. Figure 15.24 shows unidirectional data transfer between a sender and a receiver; bidirectional data transfer can be deduced from unidirectional one as discussed in Chapter 13.</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1122" name="Shape 1122"/>
        <p:cNvGrpSpPr/>
        <p:nvPr/>
      </p:nvGrpSpPr>
      <p:grpSpPr>
        <a:xfrm>
          <a:off x="0" y="0"/>
          <a:ext cx="0" cy="0"/>
          <a:chOff x="0" y="0"/>
          <a:chExt cx="0" cy="0"/>
        </a:xfrm>
      </p:grpSpPr>
      <p:sp>
        <p:nvSpPr>
          <p:cNvPr id="1123" name="Google Shape;1123;p54"/>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124" name="Google Shape;1124;p54"/>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125" name="Google Shape;1125;p54"/>
          <p:cNvSpPr txBox="1"/>
          <p:nvPr/>
        </p:nvSpPr>
        <p:spPr>
          <a:xfrm>
            <a:off x="228600" y="152400"/>
            <a:ext cx="54689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1126" name="Google Shape;1126;p54"/>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27" name="Google Shape;1127;p54"/>
          <p:cNvSpPr txBox="1"/>
          <p:nvPr/>
        </p:nvSpPr>
        <p:spPr>
          <a:xfrm>
            <a:off x="304800" y="989012"/>
            <a:ext cx="8382000" cy="1544637"/>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Opening and Closing Windows</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Shrinking of Windows</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Silly Window Syndrome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7"/>
                                        </p:tgtEl>
                                        <p:attrNameLst>
                                          <p:attrName>style.visibility</p:attrName>
                                        </p:attrNameLst>
                                      </p:cBhvr>
                                      <p:to>
                                        <p:strVal val="visible"/>
                                      </p:to>
                                    </p:set>
                                    <p:animEffect filter="fade" transition="in">
                                      <p:cBhvr>
                                        <p:cTn dur="5000"/>
                                        <p:tgtEl>
                                          <p:spTgt spid="11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55"/>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134" name="Google Shape;1134;p55"/>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135" name="Google Shape;1135;p55"/>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15.24</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TCP/IP protocol suite</a:t>
            </a:r>
            <a:endParaRPr/>
          </a:p>
        </p:txBody>
      </p:sp>
      <p:sp>
        <p:nvSpPr>
          <p:cNvPr id="1136" name="Google Shape;1136;p5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37" name="Google Shape;1137;p5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38" name="Google Shape;1138;p5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39" name="Google Shape;1139;p5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40" name="Google Shape;1140;p5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41" name="Google Shape;1141;p5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42" name="Google Shape;1142;p5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143" name="Google Shape;1143;p55"/>
          <p:cNvPicPr preferRelativeResize="0"/>
          <p:nvPr/>
        </p:nvPicPr>
        <p:blipFill rotWithShape="1">
          <a:blip r:embed="rId3">
            <a:alphaModFix/>
          </a:blip>
          <a:srcRect b="0" l="0" r="0" t="0"/>
          <a:stretch/>
        </p:blipFill>
        <p:spPr>
          <a:xfrm>
            <a:off x="338137" y="1935162"/>
            <a:ext cx="8199437" cy="2108200"/>
          </a:xfrm>
          <a:prstGeom prst="rect">
            <a:avLst/>
          </a:prstGeom>
          <a:noFill/>
          <a:ln>
            <a:noFill/>
          </a:ln>
        </p:spPr>
      </p:pic>
      <p:pic>
        <p:nvPicPr>
          <p:cNvPr id="1144" name="Google Shape;1144;p55"/>
          <p:cNvPicPr preferRelativeResize="0"/>
          <p:nvPr/>
        </p:nvPicPr>
        <p:blipFill rotWithShape="1">
          <a:blip r:embed="rId4">
            <a:alphaModFix/>
          </a:blip>
          <a:srcRect b="0" l="0" r="0" t="0"/>
          <a:stretch/>
        </p:blipFill>
        <p:spPr>
          <a:xfrm>
            <a:off x="1036637" y="2543175"/>
            <a:ext cx="950912" cy="777875"/>
          </a:xfrm>
          <a:prstGeom prst="rect">
            <a:avLst/>
          </a:prstGeom>
          <a:noFill/>
          <a:ln>
            <a:noFill/>
          </a:ln>
        </p:spPr>
      </p:pic>
      <p:pic>
        <p:nvPicPr>
          <p:cNvPr id="1145" name="Google Shape;1145;p55"/>
          <p:cNvPicPr preferRelativeResize="0"/>
          <p:nvPr/>
        </p:nvPicPr>
        <p:blipFill rotWithShape="1">
          <a:blip r:embed="rId5">
            <a:alphaModFix/>
          </a:blip>
          <a:srcRect b="0" l="0" r="0" t="0"/>
          <a:stretch/>
        </p:blipFill>
        <p:spPr>
          <a:xfrm>
            <a:off x="2220912" y="3540125"/>
            <a:ext cx="4397375" cy="427037"/>
          </a:xfrm>
          <a:prstGeom prst="rect">
            <a:avLst/>
          </a:prstGeom>
          <a:noFill/>
          <a:ln>
            <a:noFill/>
          </a:ln>
        </p:spPr>
      </p:pic>
      <p:pic>
        <p:nvPicPr>
          <p:cNvPr id="1146" name="Google Shape;1146;p55"/>
          <p:cNvPicPr preferRelativeResize="0"/>
          <p:nvPr/>
        </p:nvPicPr>
        <p:blipFill rotWithShape="1">
          <a:blip r:embed="rId6">
            <a:alphaModFix/>
          </a:blip>
          <a:srcRect b="0" l="0" r="0" t="0"/>
          <a:stretch/>
        </p:blipFill>
        <p:spPr>
          <a:xfrm>
            <a:off x="6877050" y="2527300"/>
            <a:ext cx="877887" cy="766762"/>
          </a:xfrm>
          <a:prstGeom prst="rect">
            <a:avLst/>
          </a:prstGeom>
          <a:noFill/>
          <a:ln>
            <a:noFill/>
          </a:ln>
        </p:spPr>
      </p:pic>
      <p:pic>
        <p:nvPicPr>
          <p:cNvPr id="1147" name="Google Shape;1147;p55"/>
          <p:cNvPicPr preferRelativeResize="0"/>
          <p:nvPr/>
        </p:nvPicPr>
        <p:blipFill rotWithShape="1">
          <a:blip r:embed="rId7">
            <a:alphaModFix/>
          </a:blip>
          <a:srcRect b="0" l="0" r="0" t="0"/>
          <a:stretch/>
        </p:blipFill>
        <p:spPr>
          <a:xfrm>
            <a:off x="1681162" y="3908425"/>
            <a:ext cx="5348287" cy="668337"/>
          </a:xfrm>
          <a:prstGeom prst="rect">
            <a:avLst/>
          </a:prstGeom>
          <a:noFill/>
          <a:ln>
            <a:noFill/>
          </a:ln>
        </p:spPr>
      </p:pic>
      <p:pic>
        <p:nvPicPr>
          <p:cNvPr id="1148" name="Google Shape;1148;p55"/>
          <p:cNvPicPr preferRelativeResize="0"/>
          <p:nvPr/>
        </p:nvPicPr>
        <p:blipFill rotWithShape="1">
          <a:blip r:embed="rId8">
            <a:alphaModFix/>
          </a:blip>
          <a:srcRect b="0" l="0" r="0" t="0"/>
          <a:stretch/>
        </p:blipFill>
        <p:spPr>
          <a:xfrm>
            <a:off x="2212975" y="2344737"/>
            <a:ext cx="1462087" cy="1158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4"/>
                                        </p:tgtEl>
                                        <p:attrNameLst>
                                          <p:attrName>style.visibility</p:attrName>
                                        </p:attrNameLst>
                                      </p:cBhvr>
                                      <p:to>
                                        <p:strVal val="visible"/>
                                      </p:to>
                                    </p:set>
                                    <p:animEffect filter="fade" transition="in">
                                      <p:cBhvr>
                                        <p:cTn dur="2000"/>
                                        <p:tgtEl>
                                          <p:spTgt spid="1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5"/>
                                        </p:tgtEl>
                                        <p:attrNameLst>
                                          <p:attrName>style.visibility</p:attrName>
                                        </p:attrNameLst>
                                      </p:cBhvr>
                                      <p:to>
                                        <p:strVal val="visible"/>
                                      </p:to>
                                    </p:set>
                                    <p:animEffect filter="fade" transition="in">
                                      <p:cBhvr>
                                        <p:cTn dur="2000"/>
                                        <p:tgtEl>
                                          <p:spTgt spid="1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6"/>
                                        </p:tgtEl>
                                        <p:attrNameLst>
                                          <p:attrName>style.visibility</p:attrName>
                                        </p:attrNameLst>
                                      </p:cBhvr>
                                      <p:to>
                                        <p:strVal val="visible"/>
                                      </p:to>
                                    </p:set>
                                    <p:animEffect filter="fade" transition="in">
                                      <p:cBhvr>
                                        <p:cTn dur="2000"/>
                                        <p:tgtEl>
                                          <p:spTgt spid="1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7"/>
                                        </p:tgtEl>
                                        <p:attrNameLst>
                                          <p:attrName>style.visibility</p:attrName>
                                        </p:attrNameLst>
                                      </p:cBhvr>
                                      <p:to>
                                        <p:strVal val="visible"/>
                                      </p:to>
                                    </p:set>
                                    <p:animEffect filter="fade" transition="in">
                                      <p:cBhvr>
                                        <p:cTn dur="2000"/>
                                        <p:tgtEl>
                                          <p:spTgt spid="11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8"/>
                                        </p:tgtEl>
                                        <p:attrNameLst>
                                          <p:attrName>style.visibility</p:attrName>
                                        </p:attrNameLst>
                                      </p:cBhvr>
                                      <p:to>
                                        <p:strVal val="visible"/>
                                      </p:to>
                                    </p:set>
                                    <p:animEffect filter="fade" transition="in">
                                      <p:cBhvr>
                                        <p:cTn dur="2000"/>
                                        <p:tgtEl>
                                          <p:spTgt spid="11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56"/>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155" name="Google Shape;1155;p56"/>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156" name="Google Shape;1156;p56"/>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15.25</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An example of flow control</a:t>
            </a:r>
            <a:endParaRPr/>
          </a:p>
        </p:txBody>
      </p:sp>
      <p:sp>
        <p:nvSpPr>
          <p:cNvPr id="1157" name="Google Shape;1157;p5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58" name="Google Shape;1158;p5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59" name="Google Shape;1159;p5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60" name="Google Shape;1160;p5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61" name="Google Shape;1161;p5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62" name="Google Shape;1162;p5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63" name="Google Shape;1163;p5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164" name="Google Shape;1164;p56"/>
          <p:cNvPicPr preferRelativeResize="0"/>
          <p:nvPr/>
        </p:nvPicPr>
        <p:blipFill rotWithShape="1">
          <a:blip r:embed="rId3">
            <a:alphaModFix/>
          </a:blip>
          <a:srcRect b="0" l="0" r="0" t="0"/>
          <a:stretch/>
        </p:blipFill>
        <p:spPr>
          <a:xfrm>
            <a:off x="1598612" y="762000"/>
            <a:ext cx="5868987" cy="55626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p57"/>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171" name="Google Shape;1171;p57"/>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172" name="Google Shape;1172;p57"/>
          <p:cNvSpPr txBox="1"/>
          <p:nvPr/>
        </p:nvSpPr>
        <p:spPr>
          <a:xfrm>
            <a:off x="66675" y="658812"/>
            <a:ext cx="8924925" cy="59340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Figure 15.26 shows the reason for the mandate in window shrinking. Part a of the figure shows values of last acknowledgment and </a:t>
            </a:r>
            <a:r>
              <a:rPr b="1" i="1" lang="en-US" sz="2400" u="none">
                <a:solidFill>
                  <a:schemeClr val="dk1"/>
                </a:solidFill>
                <a:latin typeface="Arimo"/>
                <a:ea typeface="Arimo"/>
                <a:cs typeface="Arimo"/>
                <a:sym typeface="Arimo"/>
              </a:rPr>
              <a:t>rwnd</a:t>
            </a:r>
            <a:r>
              <a:rPr b="1" i="0" lang="en-US" sz="2400" u="none">
                <a:solidFill>
                  <a:schemeClr val="dk1"/>
                </a:solidFill>
                <a:latin typeface="Arimo"/>
                <a:ea typeface="Arimo"/>
                <a:cs typeface="Arimo"/>
                <a:sym typeface="Arimo"/>
              </a:rPr>
              <a:t>. Part b shows the situation in which the sender has sent bytes 206 to 214. Bytes 206 to 209 are acknowledged and purged. The new advertisement, however, defines the new value of </a:t>
            </a:r>
            <a:r>
              <a:rPr b="1" i="1" lang="en-US" sz="2400" u="none">
                <a:solidFill>
                  <a:schemeClr val="dk1"/>
                </a:solidFill>
                <a:latin typeface="Arimo"/>
                <a:ea typeface="Arimo"/>
                <a:cs typeface="Arimo"/>
                <a:sym typeface="Arimo"/>
              </a:rPr>
              <a:t>rwnd</a:t>
            </a:r>
            <a:r>
              <a:rPr b="1" i="0" lang="en-US" sz="2400" u="none">
                <a:solidFill>
                  <a:schemeClr val="dk1"/>
                </a:solidFill>
                <a:latin typeface="Arimo"/>
                <a:ea typeface="Arimo"/>
                <a:cs typeface="Arimo"/>
                <a:sym typeface="Arimo"/>
              </a:rPr>
              <a:t> as 4, in which 210 + 4 &lt; 206 + 12. When the send window shrinks, it creates a problem: byte 214 which has been already sent is outside the window. The relation discussed before forces the receiver to maintain the right-hand wall of the window to be as shown in part a because the receiver does not know which of the bytes 210 to 217 has already been sent. One way to prevent this situation is to let the receiver postpone its feedback until enough buffer locations are available in its window. In other words, the receiver should wait until more bytes are consumed by its process.</a:t>
            </a:r>
            <a:endParaRPr/>
          </a:p>
        </p:txBody>
      </p:sp>
      <p:grpSp>
        <p:nvGrpSpPr>
          <p:cNvPr id="1173" name="Google Shape;1173;p57"/>
          <p:cNvGrpSpPr/>
          <p:nvPr/>
        </p:nvGrpSpPr>
        <p:grpSpPr>
          <a:xfrm>
            <a:off x="0" y="0"/>
            <a:ext cx="9144000" cy="609600"/>
            <a:chOff x="0" y="2448"/>
            <a:chExt cx="5760" cy="384"/>
          </a:xfrm>
        </p:grpSpPr>
        <p:sp>
          <p:nvSpPr>
            <p:cNvPr id="1174" name="Google Shape;1174;p57"/>
            <p:cNvSpPr txBox="1"/>
            <p:nvPr/>
          </p:nvSpPr>
          <p:spPr>
            <a:xfrm>
              <a:off x="0" y="2448"/>
              <a:ext cx="5760" cy="384"/>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75" name="Google Shape;1175;p57"/>
            <p:cNvSpPr txBox="1"/>
            <p:nvPr/>
          </p:nvSpPr>
          <p:spPr>
            <a:xfrm>
              <a:off x="0" y="2448"/>
              <a:ext cx="1595" cy="365"/>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0" lang="en-US" sz="3200" u="none">
                  <a:solidFill>
                    <a:schemeClr val="lt1"/>
                  </a:solidFill>
                  <a:latin typeface="Times New Roman"/>
                  <a:ea typeface="Times New Roman"/>
                  <a:cs typeface="Times New Roman"/>
                  <a:sym typeface="Times New Roman"/>
                </a:rPr>
                <a:t>Example 15.2</a:t>
              </a:r>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p58"/>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182" name="Google Shape;1182;p58"/>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183" name="Google Shape;1183;p58"/>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15.26</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Example 15.2</a:t>
            </a:r>
            <a:endParaRPr/>
          </a:p>
        </p:txBody>
      </p:sp>
      <p:sp>
        <p:nvSpPr>
          <p:cNvPr id="1184" name="Google Shape;1184;p5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85" name="Google Shape;1185;p5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86" name="Google Shape;1186;p5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87" name="Google Shape;1187;p5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88" name="Google Shape;1188;p5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89" name="Google Shape;1189;p5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90" name="Google Shape;1190;p5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191" name="Google Shape;1191;p58"/>
          <p:cNvPicPr preferRelativeResize="0"/>
          <p:nvPr/>
        </p:nvPicPr>
        <p:blipFill rotWithShape="1">
          <a:blip r:embed="rId3">
            <a:alphaModFix/>
          </a:blip>
          <a:srcRect b="0" l="0" r="0" t="0"/>
          <a:stretch/>
        </p:blipFill>
        <p:spPr>
          <a:xfrm>
            <a:off x="663575" y="1412875"/>
            <a:ext cx="7897812" cy="2092325"/>
          </a:xfrm>
          <a:prstGeom prst="rect">
            <a:avLst/>
          </a:prstGeom>
          <a:noFill/>
          <a:ln>
            <a:noFill/>
          </a:ln>
        </p:spPr>
      </p:pic>
      <p:pic>
        <p:nvPicPr>
          <p:cNvPr id="1192" name="Google Shape;1192;p58"/>
          <p:cNvPicPr preferRelativeResize="0"/>
          <p:nvPr/>
        </p:nvPicPr>
        <p:blipFill rotWithShape="1">
          <a:blip r:embed="rId4">
            <a:alphaModFix/>
          </a:blip>
          <a:srcRect b="0" l="0" r="0" t="0"/>
          <a:stretch/>
        </p:blipFill>
        <p:spPr>
          <a:xfrm>
            <a:off x="665162" y="3981450"/>
            <a:ext cx="7897812" cy="2252662"/>
          </a:xfrm>
          <a:prstGeom prst="rect">
            <a:avLst/>
          </a:prstGeom>
          <a:noFill/>
          <a:ln>
            <a:noFill/>
          </a:ln>
        </p:spPr>
      </p:pic>
      <p:sp>
        <p:nvSpPr>
          <p:cNvPr id="1193" name="Google Shape;1193;p58"/>
          <p:cNvSpPr txBox="1"/>
          <p:nvPr/>
        </p:nvSpPr>
        <p:spPr>
          <a:xfrm>
            <a:off x="4152900" y="5691187"/>
            <a:ext cx="341312" cy="215900"/>
          </a:xfrm>
          <a:prstGeom prst="rect">
            <a:avLst/>
          </a:prstGeom>
          <a:solidFill>
            <a:schemeClr val="lt1"/>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0000"/>
              </a:buClr>
              <a:buSzPts val="1400"/>
              <a:buFont typeface="Tahoma"/>
              <a:buNone/>
            </a:pPr>
            <a:r>
              <a:rPr b="1" i="0" lang="en-US" sz="1400" u="none">
                <a:solidFill>
                  <a:srgbClr val="FF0000"/>
                </a:solidFill>
                <a:latin typeface="Tahoma"/>
                <a:ea typeface="Tahoma"/>
                <a:cs typeface="Tahoma"/>
                <a:sym typeface="Tahoma"/>
              </a:rPr>
              <a:t>210</a:t>
            </a:r>
            <a:endParaRPr/>
          </a:p>
        </p:txBody>
      </p:sp>
      <p:sp>
        <p:nvSpPr>
          <p:cNvPr id="1194" name="Google Shape;1194;p58"/>
          <p:cNvSpPr txBox="1"/>
          <p:nvPr/>
        </p:nvSpPr>
        <p:spPr>
          <a:xfrm>
            <a:off x="1671637" y="668337"/>
            <a:ext cx="6086475" cy="584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1600"/>
              <a:buFont typeface="Tahoma"/>
              <a:buNone/>
            </a:pPr>
            <a:r>
              <a:rPr b="1" i="0" lang="en-US" sz="1600" u="none">
                <a:solidFill>
                  <a:srgbClr val="0000FF"/>
                </a:solidFill>
                <a:latin typeface="Tahoma"/>
                <a:ea typeface="Tahoma"/>
                <a:cs typeface="Tahoma"/>
                <a:sym typeface="Tahoma"/>
              </a:rPr>
              <a:t>Prevent the shrinking of the send window: </a:t>
            </a:r>
            <a:endParaRPr/>
          </a:p>
          <a:p>
            <a:pPr indent="0" lvl="0" marL="0" marR="0" rtl="0" algn="ctr">
              <a:lnSpc>
                <a:spcPct val="100000"/>
              </a:lnSpc>
              <a:spcBef>
                <a:spcPts val="0"/>
              </a:spcBef>
              <a:spcAft>
                <a:spcPts val="0"/>
              </a:spcAft>
              <a:buClr>
                <a:srgbClr val="FF0000"/>
              </a:buClr>
              <a:buSzPts val="1600"/>
              <a:buFont typeface="Tahoma"/>
              <a:buNone/>
            </a:pPr>
            <a:r>
              <a:rPr b="1" i="0" lang="en-US" sz="1600" u="none">
                <a:solidFill>
                  <a:srgbClr val="FF0000"/>
                </a:solidFill>
                <a:latin typeface="Tahoma"/>
                <a:ea typeface="Tahoma"/>
                <a:cs typeface="Tahoma"/>
                <a:sym typeface="Tahoma"/>
              </a:rPr>
              <a:t>new ackNo + new rwnd &gt;= last ackNo + last rwnd</a:t>
            </a:r>
            <a:endParaRPr/>
          </a:p>
        </p:txBody>
      </p:sp>
      <p:sp>
        <p:nvSpPr>
          <p:cNvPr id="1195" name="Google Shape;1195;p58"/>
          <p:cNvSpPr txBox="1"/>
          <p:nvPr/>
        </p:nvSpPr>
        <p:spPr>
          <a:xfrm>
            <a:off x="5575300" y="4421187"/>
            <a:ext cx="315912"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000"/>
              <a:buFont typeface="Tahoma"/>
              <a:buNone/>
            </a:pPr>
            <a:r>
              <a:rPr b="1" i="0" lang="en-US" sz="2000" u="none">
                <a:solidFill>
                  <a:srgbClr val="0000FF"/>
                </a:solidFill>
                <a:latin typeface="Tahoma"/>
                <a:ea typeface="Tahoma"/>
                <a:cs typeface="Tahoma"/>
                <a:sym typeface="Tahoma"/>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191"/>
                                        </p:tgtEl>
                                        <p:attrNameLst>
                                          <p:attrName>style.visibility</p:attrName>
                                        </p:attrNameLst>
                                      </p:cBhvr>
                                      <p:to>
                                        <p:strVal val="visible"/>
                                      </p:to>
                                    </p:set>
                                    <p:anim calcmode="lin" valueType="num">
                                      <p:cBhvr additive="base">
                                        <p:cTn dur="500"/>
                                        <p:tgtEl>
                                          <p:spTgt spid="1191"/>
                                        </p:tgtEl>
                                        <p:attrNameLst>
                                          <p:attrName>ppt_w</p:attrName>
                                        </p:attrNameLst>
                                      </p:cBhvr>
                                      <p:tavLst>
                                        <p:tav fmla="" tm="0">
                                          <p:val>
                                            <p:strVal val="0"/>
                                          </p:val>
                                        </p:tav>
                                        <p:tav fmla="" tm="100000">
                                          <p:val>
                                            <p:strVal val="#ppt_w"/>
                                          </p:val>
                                        </p:tav>
                                      </p:tavLst>
                                    </p:anim>
                                    <p:anim calcmode="lin" valueType="num">
                                      <p:cBhvr additive="base">
                                        <p:cTn dur="500"/>
                                        <p:tgtEl>
                                          <p:spTgt spid="119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192"/>
                                        </p:tgtEl>
                                        <p:attrNameLst>
                                          <p:attrName>style.visibility</p:attrName>
                                        </p:attrNameLst>
                                      </p:cBhvr>
                                      <p:to>
                                        <p:strVal val="visible"/>
                                      </p:to>
                                    </p:set>
                                    <p:anim calcmode="lin" valueType="num">
                                      <p:cBhvr additive="base">
                                        <p:cTn dur="500"/>
                                        <p:tgtEl>
                                          <p:spTgt spid="1192"/>
                                        </p:tgtEl>
                                        <p:attrNameLst>
                                          <p:attrName>ppt_w</p:attrName>
                                        </p:attrNameLst>
                                      </p:cBhvr>
                                      <p:tavLst>
                                        <p:tav fmla="" tm="0">
                                          <p:val>
                                            <p:strVal val="0"/>
                                          </p:val>
                                        </p:tav>
                                        <p:tav fmla="" tm="100000">
                                          <p:val>
                                            <p:strVal val="#ppt_w"/>
                                          </p:val>
                                        </p:tav>
                                      </p:tavLst>
                                    </p:anim>
                                    <p:anim calcmode="lin" valueType="num">
                                      <p:cBhvr additive="base">
                                        <p:cTn dur="500"/>
                                        <p:tgtEl>
                                          <p:spTgt spid="119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59"/>
          <p:cNvSpPr txBox="1"/>
          <p:nvPr/>
        </p:nvSpPr>
        <p:spPr>
          <a:xfrm>
            <a:off x="35560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TCP/IP Protocol Suite</a:t>
            </a:r>
            <a:endParaRPr/>
          </a:p>
        </p:txBody>
      </p:sp>
      <p:sp>
        <p:nvSpPr>
          <p:cNvPr id="1201" name="Google Shape;1201;p59"/>
          <p:cNvSpPr txBox="1"/>
          <p:nvPr/>
        </p:nvSpPr>
        <p:spPr>
          <a:xfrm>
            <a:off x="67183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fld id="{00000000-1234-1234-1234-123412341234}" type="slidenum">
              <a:rPr b="0" i="0" lang="en-US" sz="1400" u="none">
                <a:solidFill>
                  <a:schemeClr val="dk1"/>
                </a:solidFill>
                <a:latin typeface="Comic Sans MS"/>
                <a:ea typeface="Comic Sans MS"/>
                <a:cs typeface="Comic Sans MS"/>
                <a:sym typeface="Comic Sans MS"/>
              </a:rPr>
              <a:t>‹#›</a:t>
            </a:fld>
            <a:endParaRPr/>
          </a:p>
        </p:txBody>
      </p:sp>
      <p:sp>
        <p:nvSpPr>
          <p:cNvPr id="1202" name="Google Shape;1202;p59"/>
          <p:cNvSpPr txBox="1"/>
          <p:nvPr>
            <p:ph type="title"/>
          </p:nvPr>
        </p:nvSpPr>
        <p:spPr>
          <a:xfrm>
            <a:off x="685800" y="228600"/>
            <a:ext cx="6870700" cy="83661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00CC"/>
              </a:buClr>
              <a:buSzPts val="4000"/>
              <a:buFont typeface="Comic Sans MS"/>
              <a:buNone/>
            </a:pPr>
            <a:r>
              <a:rPr b="1" i="0" lang="en-US" sz="4000" u="none">
                <a:solidFill>
                  <a:srgbClr val="0000CC"/>
                </a:solidFill>
                <a:latin typeface="Comic Sans MS"/>
                <a:ea typeface="Comic Sans MS"/>
                <a:cs typeface="Comic Sans MS"/>
                <a:sym typeface="Comic Sans MS"/>
              </a:rPr>
              <a:t>Silly Window Syndrome (1)</a:t>
            </a:r>
            <a:endParaRPr/>
          </a:p>
        </p:txBody>
      </p:sp>
      <p:sp>
        <p:nvSpPr>
          <p:cNvPr id="1203" name="Google Shape;1203;p59"/>
          <p:cNvSpPr txBox="1"/>
          <p:nvPr>
            <p:ph idx="1" type="body"/>
          </p:nvPr>
        </p:nvSpPr>
        <p:spPr>
          <a:xfrm>
            <a:off x="685800" y="1219200"/>
            <a:ext cx="7696200" cy="4800600"/>
          </a:xfrm>
          <a:prstGeom prst="rect">
            <a:avLst/>
          </a:prstGeom>
          <a:noFill/>
          <a:ln>
            <a:noFill/>
          </a:ln>
        </p:spPr>
        <p:txBody>
          <a:bodyPr anchorCtr="0" anchor="t" bIns="45700" lIns="91425" spcFirstLastPara="1" rIns="91425" wrap="square" tIns="45700">
            <a:noAutofit/>
          </a:bodyPr>
          <a:lstStyle/>
          <a:p>
            <a:pPr indent="-365125" lvl="0" marL="365125" rtl="0" algn="l">
              <a:lnSpc>
                <a:spcPct val="100000"/>
              </a:lnSpc>
              <a:spcBef>
                <a:spcPts val="0"/>
              </a:spcBef>
              <a:spcAft>
                <a:spcPts val="0"/>
              </a:spcAft>
              <a:buClr>
                <a:schemeClr val="dk1"/>
              </a:buClr>
              <a:buSzPts val="2800"/>
              <a:buFont typeface="Noto Sans Symbols"/>
              <a:buChar char="⮚"/>
            </a:pPr>
            <a:r>
              <a:rPr b="1" i="0" lang="en-US" sz="2800" u="none">
                <a:solidFill>
                  <a:schemeClr val="dk2"/>
                </a:solidFill>
                <a:latin typeface="Comic Sans MS"/>
                <a:ea typeface="Comic Sans MS"/>
                <a:cs typeface="Comic Sans MS"/>
                <a:sym typeface="Comic Sans MS"/>
              </a:rPr>
              <a:t>Sending data in very small segments</a:t>
            </a:r>
            <a:endParaRPr/>
          </a:p>
          <a:p>
            <a:pPr indent="-365125" lvl="0" marL="365125" rtl="0" algn="l">
              <a:lnSpc>
                <a:spcPct val="100000"/>
              </a:lnSpc>
              <a:spcBef>
                <a:spcPts val="560"/>
              </a:spcBef>
              <a:spcAft>
                <a:spcPts val="0"/>
              </a:spcAft>
              <a:buClr>
                <a:schemeClr val="lt2"/>
              </a:buClr>
              <a:buSzPts val="2800"/>
              <a:buFont typeface="Comic Sans MS"/>
              <a:buAutoNum type="arabicPeriod"/>
            </a:pPr>
            <a:r>
              <a:rPr b="0" i="0" lang="en-US" sz="2800" u="none">
                <a:solidFill>
                  <a:schemeClr val="lt2"/>
                </a:solidFill>
                <a:latin typeface="Comic Sans MS"/>
                <a:ea typeface="Comic Sans MS"/>
                <a:cs typeface="Comic Sans MS"/>
                <a:sym typeface="Comic Sans MS"/>
              </a:rPr>
              <a:t>Syndrome created by the Sender</a:t>
            </a:r>
            <a:endParaRPr/>
          </a:p>
          <a:p>
            <a:pPr indent="-263524" lvl="1" marL="808037" rtl="0" algn="l">
              <a:lnSpc>
                <a:spcPct val="100000"/>
              </a:lnSpc>
              <a:spcBef>
                <a:spcPts val="48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Sending application program creates data slowly (e.g. 1 byte at a time)</a:t>
            </a:r>
            <a:endParaRPr/>
          </a:p>
          <a:p>
            <a:pPr indent="-263524" lvl="1" marL="808037" rtl="0" algn="l">
              <a:lnSpc>
                <a:spcPct val="100000"/>
              </a:lnSpc>
              <a:spcBef>
                <a:spcPts val="48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Wait and collect data to send in a larger block</a:t>
            </a:r>
            <a:endParaRPr/>
          </a:p>
          <a:p>
            <a:pPr indent="-263524" lvl="1" marL="808037" rtl="0" algn="l">
              <a:lnSpc>
                <a:spcPct val="100000"/>
              </a:lnSpc>
              <a:spcBef>
                <a:spcPts val="48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How long should the sending TCP wait?</a:t>
            </a:r>
            <a:endParaRPr/>
          </a:p>
          <a:p>
            <a:pPr indent="-263524" lvl="1" marL="808037" rtl="0" algn="l">
              <a:lnSpc>
                <a:spcPct val="100000"/>
              </a:lnSpc>
              <a:spcBef>
                <a:spcPts val="48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Solution: </a:t>
            </a:r>
            <a:r>
              <a:rPr b="0" i="0" lang="en-US" sz="2400" u="none">
                <a:solidFill>
                  <a:schemeClr val="dk2"/>
                </a:solidFill>
                <a:latin typeface="Comic Sans MS"/>
                <a:ea typeface="Comic Sans MS"/>
                <a:cs typeface="Comic Sans MS"/>
                <a:sym typeface="Comic Sans MS"/>
              </a:rPr>
              <a:t>Nagle</a:t>
            </a:r>
            <a:r>
              <a:rPr b="0" i="0" lang="en-US" sz="2400" u="none">
                <a:solidFill>
                  <a:schemeClr val="dk2"/>
                </a:solidFill>
                <a:latin typeface="Tahoma"/>
                <a:ea typeface="Tahoma"/>
                <a:cs typeface="Tahoma"/>
                <a:sym typeface="Tahoma"/>
              </a:rPr>
              <a:t>’</a:t>
            </a:r>
            <a:r>
              <a:rPr b="0" i="0" lang="en-US" sz="2400" u="none">
                <a:solidFill>
                  <a:schemeClr val="dk2"/>
                </a:solidFill>
                <a:latin typeface="Comic Sans MS"/>
                <a:ea typeface="Comic Sans MS"/>
                <a:cs typeface="Comic Sans MS"/>
                <a:sym typeface="Comic Sans MS"/>
              </a:rPr>
              <a:t>s algorithm</a:t>
            </a:r>
            <a:endParaRPr/>
          </a:p>
          <a:p>
            <a:pPr indent="-263524" lvl="1" marL="808037" rtl="0" algn="l">
              <a:lnSpc>
                <a:spcPct val="100000"/>
              </a:lnSpc>
              <a:spcBef>
                <a:spcPts val="48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Nagle</a:t>
            </a:r>
            <a:r>
              <a:rPr b="0" i="0" lang="en-US" sz="2400" u="none">
                <a:solidFill>
                  <a:schemeClr val="dk1"/>
                </a:solidFill>
                <a:latin typeface="Tahoma"/>
                <a:ea typeface="Tahoma"/>
                <a:cs typeface="Tahoma"/>
                <a:sym typeface="Tahoma"/>
              </a:rPr>
              <a:t>’</a:t>
            </a:r>
            <a:r>
              <a:rPr b="0" i="0" lang="en-US" sz="2400" u="none">
                <a:solidFill>
                  <a:schemeClr val="dk1"/>
                </a:solidFill>
                <a:latin typeface="Comic Sans MS"/>
                <a:ea typeface="Comic Sans MS"/>
                <a:cs typeface="Comic Sans MS"/>
                <a:sym typeface="Comic Sans MS"/>
              </a:rPr>
              <a:t>s algorithm takes into account (1) </a:t>
            </a:r>
            <a:r>
              <a:rPr b="0" i="0" lang="en-US" sz="2400" u="none">
                <a:solidFill>
                  <a:srgbClr val="0000CC"/>
                </a:solidFill>
                <a:latin typeface="Comic Sans MS"/>
                <a:ea typeface="Comic Sans MS"/>
                <a:cs typeface="Comic Sans MS"/>
                <a:sym typeface="Comic Sans MS"/>
              </a:rPr>
              <a:t>the speed of the application program</a:t>
            </a:r>
            <a:r>
              <a:rPr b="0" i="0" lang="en-US" sz="2400" u="none">
                <a:solidFill>
                  <a:schemeClr val="dk1"/>
                </a:solidFill>
                <a:latin typeface="Comic Sans MS"/>
                <a:ea typeface="Comic Sans MS"/>
                <a:cs typeface="Comic Sans MS"/>
                <a:sym typeface="Comic Sans MS"/>
              </a:rPr>
              <a:t> that creates the data, and (2) </a:t>
            </a:r>
            <a:r>
              <a:rPr b="0" i="0" lang="en-US" sz="2400" u="none">
                <a:solidFill>
                  <a:srgbClr val="0000CC"/>
                </a:solidFill>
                <a:latin typeface="Comic Sans MS"/>
                <a:ea typeface="Comic Sans MS"/>
                <a:cs typeface="Comic Sans MS"/>
                <a:sym typeface="Comic Sans MS"/>
              </a:rPr>
              <a:t>the speed of the network</a:t>
            </a:r>
            <a:r>
              <a:rPr b="0" i="0" lang="en-US" sz="2400" u="none">
                <a:solidFill>
                  <a:schemeClr val="dk1"/>
                </a:solidFill>
                <a:latin typeface="Comic Sans MS"/>
                <a:ea typeface="Comic Sans MS"/>
                <a:cs typeface="Comic Sans MS"/>
                <a:sym typeface="Comic Sans MS"/>
              </a:rPr>
              <a:t> that transports the data</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60"/>
          <p:cNvSpPr txBox="1"/>
          <p:nvPr/>
        </p:nvSpPr>
        <p:spPr>
          <a:xfrm>
            <a:off x="35560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TCP/IP Protocol Suite</a:t>
            </a:r>
            <a:endParaRPr/>
          </a:p>
        </p:txBody>
      </p:sp>
      <p:sp>
        <p:nvSpPr>
          <p:cNvPr id="1209" name="Google Shape;1209;p60"/>
          <p:cNvSpPr txBox="1"/>
          <p:nvPr/>
        </p:nvSpPr>
        <p:spPr>
          <a:xfrm>
            <a:off x="67183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fld id="{00000000-1234-1234-1234-123412341234}" type="slidenum">
              <a:rPr b="0" i="0" lang="en-US" sz="1400" u="none">
                <a:solidFill>
                  <a:schemeClr val="dk1"/>
                </a:solidFill>
                <a:latin typeface="Comic Sans MS"/>
                <a:ea typeface="Comic Sans MS"/>
                <a:cs typeface="Comic Sans MS"/>
                <a:sym typeface="Comic Sans MS"/>
              </a:rPr>
              <a:t>‹#›</a:t>
            </a:fld>
            <a:endParaRPr/>
          </a:p>
        </p:txBody>
      </p:sp>
      <p:sp>
        <p:nvSpPr>
          <p:cNvPr id="1210" name="Google Shape;1210;p60"/>
          <p:cNvSpPr txBox="1"/>
          <p:nvPr>
            <p:ph type="title"/>
          </p:nvPr>
        </p:nvSpPr>
        <p:spPr>
          <a:xfrm>
            <a:off x="685800" y="228600"/>
            <a:ext cx="6870700" cy="83661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00CC"/>
              </a:buClr>
              <a:buSzPts val="4000"/>
              <a:buFont typeface="Comic Sans MS"/>
              <a:buNone/>
            </a:pPr>
            <a:r>
              <a:rPr b="1" i="0" lang="en-US" sz="4000" u="none">
                <a:solidFill>
                  <a:srgbClr val="0000CC"/>
                </a:solidFill>
                <a:latin typeface="Comic Sans MS"/>
                <a:ea typeface="Comic Sans MS"/>
                <a:cs typeface="Comic Sans MS"/>
                <a:sym typeface="Comic Sans MS"/>
              </a:rPr>
              <a:t>Silly Window Syndrome (2)</a:t>
            </a:r>
            <a:endParaRPr/>
          </a:p>
        </p:txBody>
      </p:sp>
      <p:sp>
        <p:nvSpPr>
          <p:cNvPr id="1211" name="Google Shape;1211;p60"/>
          <p:cNvSpPr txBox="1"/>
          <p:nvPr>
            <p:ph idx="1" type="body"/>
          </p:nvPr>
        </p:nvSpPr>
        <p:spPr>
          <a:xfrm>
            <a:off x="685800" y="1219200"/>
            <a:ext cx="7696200" cy="4343400"/>
          </a:xfrm>
          <a:prstGeom prst="rect">
            <a:avLst/>
          </a:prstGeom>
          <a:noFill/>
          <a:ln>
            <a:noFill/>
          </a:ln>
        </p:spPr>
        <p:txBody>
          <a:bodyPr anchorCtr="0" anchor="t" bIns="45700" lIns="91425" spcFirstLastPara="1" rIns="91425" wrap="square" tIns="45700">
            <a:noAutofit/>
          </a:bodyPr>
          <a:lstStyle/>
          <a:p>
            <a:pPr indent="-365125" lvl="0" marL="365125" rtl="0" algn="l">
              <a:lnSpc>
                <a:spcPct val="100000"/>
              </a:lnSpc>
              <a:spcBef>
                <a:spcPts val="0"/>
              </a:spcBef>
              <a:spcAft>
                <a:spcPts val="0"/>
              </a:spcAft>
              <a:buClr>
                <a:schemeClr val="lt2"/>
              </a:buClr>
              <a:buSzPts val="2800"/>
              <a:buFont typeface="Comic Sans MS"/>
              <a:buAutoNum type="arabicPeriod" startAt="2"/>
            </a:pPr>
            <a:r>
              <a:rPr b="0" i="0" lang="en-US" sz="2800" u="none">
                <a:solidFill>
                  <a:schemeClr val="lt2"/>
                </a:solidFill>
                <a:latin typeface="Comic Sans MS"/>
                <a:ea typeface="Comic Sans MS"/>
                <a:cs typeface="Comic Sans MS"/>
                <a:sym typeface="Comic Sans MS"/>
              </a:rPr>
              <a:t>Syndrome created by the Receiver</a:t>
            </a:r>
            <a:endParaRPr/>
          </a:p>
          <a:p>
            <a:pPr indent="-263524" lvl="1" marL="808037" rtl="0" algn="l">
              <a:lnSpc>
                <a:spcPct val="100000"/>
              </a:lnSpc>
              <a:spcBef>
                <a:spcPts val="48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Receiving application program consumes data slowly (e.g. 1 byte at a time)</a:t>
            </a:r>
            <a:endParaRPr/>
          </a:p>
          <a:p>
            <a:pPr indent="-263524" lvl="1" marL="808037" rtl="0" algn="l">
              <a:lnSpc>
                <a:spcPct val="100000"/>
              </a:lnSpc>
              <a:spcBef>
                <a:spcPts val="48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The receiving TCP announces a window size of 1 byte. The sending TCP sends only 1 byte</a:t>
            </a:r>
            <a:r>
              <a:rPr b="0" i="0" lang="en-US" sz="2400" u="none">
                <a:solidFill>
                  <a:schemeClr val="dk1"/>
                </a:solidFill>
                <a:latin typeface="Tahoma"/>
                <a:ea typeface="Tahoma"/>
                <a:cs typeface="Tahoma"/>
                <a:sym typeface="Tahoma"/>
              </a:rPr>
              <a:t>…</a:t>
            </a:r>
            <a:endParaRPr/>
          </a:p>
          <a:p>
            <a:pPr indent="-263524" lvl="1" marL="808037" rtl="0" algn="l">
              <a:lnSpc>
                <a:spcPct val="100000"/>
              </a:lnSpc>
              <a:spcBef>
                <a:spcPts val="48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Solution 1: </a:t>
            </a:r>
            <a:r>
              <a:rPr b="0" i="0" lang="en-US" sz="2400" u="none">
                <a:solidFill>
                  <a:schemeClr val="dk2"/>
                </a:solidFill>
                <a:latin typeface="Comic Sans MS"/>
                <a:ea typeface="Comic Sans MS"/>
                <a:cs typeface="Comic Sans MS"/>
                <a:sym typeface="Comic Sans MS"/>
              </a:rPr>
              <a:t>Clark</a:t>
            </a:r>
            <a:r>
              <a:rPr b="0" i="0" lang="en-US" sz="2400" u="none">
                <a:solidFill>
                  <a:schemeClr val="dk2"/>
                </a:solidFill>
                <a:latin typeface="Tahoma"/>
                <a:ea typeface="Tahoma"/>
                <a:cs typeface="Tahoma"/>
                <a:sym typeface="Tahoma"/>
              </a:rPr>
              <a:t>’</a:t>
            </a:r>
            <a:r>
              <a:rPr b="0" i="0" lang="en-US" sz="2400" u="none">
                <a:solidFill>
                  <a:schemeClr val="dk2"/>
                </a:solidFill>
                <a:latin typeface="Comic Sans MS"/>
                <a:ea typeface="Comic Sans MS"/>
                <a:cs typeface="Comic Sans MS"/>
                <a:sym typeface="Comic Sans MS"/>
              </a:rPr>
              <a:t>s solution</a:t>
            </a:r>
            <a:endParaRPr/>
          </a:p>
          <a:p>
            <a:pPr indent="-263524" lvl="1" marL="808037" rtl="0" algn="l">
              <a:lnSpc>
                <a:spcPct val="100000"/>
              </a:lnSpc>
              <a:spcBef>
                <a:spcPts val="48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Sending an ACK but announcing a window size of zero until there is enough space to accommodate a segment of max. size or until half of the buffer is empty</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p61"/>
          <p:cNvSpPr txBox="1"/>
          <p:nvPr/>
        </p:nvSpPr>
        <p:spPr>
          <a:xfrm>
            <a:off x="35560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TCP/IP Protocol Suite</a:t>
            </a:r>
            <a:endParaRPr/>
          </a:p>
        </p:txBody>
      </p:sp>
      <p:sp>
        <p:nvSpPr>
          <p:cNvPr id="1217" name="Google Shape;1217;p61"/>
          <p:cNvSpPr txBox="1"/>
          <p:nvPr/>
        </p:nvSpPr>
        <p:spPr>
          <a:xfrm>
            <a:off x="67183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fld id="{00000000-1234-1234-1234-123412341234}" type="slidenum">
              <a:rPr b="0" i="0" lang="en-US" sz="1400" u="none">
                <a:solidFill>
                  <a:schemeClr val="dk1"/>
                </a:solidFill>
                <a:latin typeface="Comic Sans MS"/>
                <a:ea typeface="Comic Sans MS"/>
                <a:cs typeface="Comic Sans MS"/>
                <a:sym typeface="Comic Sans MS"/>
              </a:rPr>
              <a:t>‹#›</a:t>
            </a:fld>
            <a:endParaRPr/>
          </a:p>
        </p:txBody>
      </p:sp>
      <p:sp>
        <p:nvSpPr>
          <p:cNvPr id="1218" name="Google Shape;1218;p61"/>
          <p:cNvSpPr txBox="1"/>
          <p:nvPr>
            <p:ph type="title"/>
          </p:nvPr>
        </p:nvSpPr>
        <p:spPr>
          <a:xfrm>
            <a:off x="685800" y="228600"/>
            <a:ext cx="6870700" cy="83661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00CC"/>
              </a:buClr>
              <a:buSzPts val="4000"/>
              <a:buFont typeface="Comic Sans MS"/>
              <a:buNone/>
            </a:pPr>
            <a:r>
              <a:rPr b="1" i="0" lang="en-US" sz="4000" u="none">
                <a:solidFill>
                  <a:srgbClr val="0000CC"/>
                </a:solidFill>
                <a:latin typeface="Comic Sans MS"/>
                <a:ea typeface="Comic Sans MS"/>
                <a:cs typeface="Comic Sans MS"/>
                <a:sym typeface="Comic Sans MS"/>
              </a:rPr>
              <a:t>Silly Window Syndrome (3)</a:t>
            </a:r>
            <a:endParaRPr/>
          </a:p>
        </p:txBody>
      </p:sp>
      <p:sp>
        <p:nvSpPr>
          <p:cNvPr id="1219" name="Google Shape;1219;p61"/>
          <p:cNvSpPr txBox="1"/>
          <p:nvPr>
            <p:ph idx="1" type="body"/>
          </p:nvPr>
        </p:nvSpPr>
        <p:spPr>
          <a:xfrm>
            <a:off x="685800" y="1219200"/>
            <a:ext cx="7696200" cy="4572000"/>
          </a:xfrm>
          <a:prstGeom prst="rect">
            <a:avLst/>
          </a:prstGeom>
          <a:noFill/>
          <a:ln>
            <a:noFill/>
          </a:ln>
        </p:spPr>
        <p:txBody>
          <a:bodyPr anchorCtr="0" anchor="t" bIns="45700" lIns="91425" spcFirstLastPara="1" rIns="91425" wrap="square" tIns="45700">
            <a:noAutofit/>
          </a:bodyPr>
          <a:lstStyle/>
          <a:p>
            <a:pPr indent="-263524" lvl="1" marL="808037" rtl="0" algn="l">
              <a:lnSpc>
                <a:spcPct val="100000"/>
              </a:lnSpc>
              <a:spcBef>
                <a:spcPts val="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Solution 2: </a:t>
            </a:r>
            <a:r>
              <a:rPr b="0" i="0" lang="en-US" sz="2400" u="none">
                <a:solidFill>
                  <a:schemeClr val="dk2"/>
                </a:solidFill>
                <a:latin typeface="Comic Sans MS"/>
                <a:ea typeface="Comic Sans MS"/>
                <a:cs typeface="Comic Sans MS"/>
                <a:sym typeface="Comic Sans MS"/>
              </a:rPr>
              <a:t>Delayed Acknowledgement</a:t>
            </a:r>
            <a:endParaRPr/>
          </a:p>
          <a:p>
            <a:pPr indent="-263524" lvl="1" marL="808037" rtl="0" algn="l">
              <a:lnSpc>
                <a:spcPct val="100000"/>
              </a:lnSpc>
              <a:spcBef>
                <a:spcPts val="48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The receiver waits until there is decent amount of space in its incoming buffer before acknowledging the arrived segments</a:t>
            </a:r>
            <a:endParaRPr/>
          </a:p>
          <a:p>
            <a:pPr indent="-263524" lvl="1" marL="808037" rtl="0" algn="l">
              <a:lnSpc>
                <a:spcPct val="100000"/>
              </a:lnSpc>
              <a:spcBef>
                <a:spcPts val="48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The delayed acknowledgement prevents the sending TCP from sliding its window. It also reduces traffic.</a:t>
            </a:r>
            <a:endParaRPr/>
          </a:p>
          <a:p>
            <a:pPr indent="-263524" lvl="1" marL="808037" rtl="0" algn="l">
              <a:lnSpc>
                <a:spcPct val="100000"/>
              </a:lnSpc>
              <a:spcBef>
                <a:spcPts val="48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Disadvantage: it may force the sender to retransmit the unacknowledged segments</a:t>
            </a:r>
            <a:endParaRPr/>
          </a:p>
          <a:p>
            <a:pPr indent="-263524" lvl="1" marL="808037" rtl="0" algn="l">
              <a:lnSpc>
                <a:spcPct val="100000"/>
              </a:lnSpc>
              <a:spcBef>
                <a:spcPts val="48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To balance: should not be delayed by more than 500ms</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4" name="Shape 1224"/>
        <p:cNvGrpSpPr/>
        <p:nvPr/>
      </p:nvGrpSpPr>
      <p:grpSpPr>
        <a:xfrm>
          <a:off x="0" y="0"/>
          <a:ext cx="0" cy="0"/>
          <a:chOff x="0" y="0"/>
          <a:chExt cx="0" cy="0"/>
        </a:xfrm>
      </p:grpSpPr>
      <p:sp>
        <p:nvSpPr>
          <p:cNvPr id="1225" name="Google Shape;1225;p62"/>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226" name="Google Shape;1226;p62"/>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227" name="Google Shape;1227;p62"/>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28" name="Google Shape;1228;p62"/>
          <p:cNvSpPr txBox="1"/>
          <p:nvPr/>
        </p:nvSpPr>
        <p:spPr>
          <a:xfrm>
            <a:off x="228600" y="355600"/>
            <a:ext cx="5337175" cy="650875"/>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Times"/>
              <a:buNone/>
            </a:pPr>
            <a:r>
              <a:rPr b="1" i="0" lang="en-US" sz="3600" u="none">
                <a:solidFill>
                  <a:schemeClr val="lt1"/>
                </a:solidFill>
                <a:latin typeface="Times"/>
                <a:ea typeface="Times"/>
                <a:cs typeface="Times"/>
                <a:sym typeface="Times"/>
              </a:rPr>
              <a:t>15-8  ERROR CONTROL</a:t>
            </a:r>
            <a:endParaRPr/>
          </a:p>
        </p:txBody>
      </p:sp>
      <p:sp>
        <p:nvSpPr>
          <p:cNvPr id="1229" name="Google Shape;1229;p62"/>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30" name="Google Shape;1230;p62"/>
          <p:cNvSpPr txBox="1"/>
          <p:nvPr/>
        </p:nvSpPr>
        <p:spPr>
          <a:xfrm>
            <a:off x="381000" y="1524000"/>
            <a:ext cx="8181975" cy="39354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mo"/>
              <a:buNone/>
            </a:pPr>
            <a:r>
              <a:rPr b="1" i="0" lang="en-US" sz="2800" u="none">
                <a:solidFill>
                  <a:schemeClr val="dk1"/>
                </a:solidFill>
                <a:latin typeface="Arimo"/>
                <a:ea typeface="Arimo"/>
                <a:cs typeface="Arimo"/>
                <a:sym typeface="Arimo"/>
              </a:rPr>
              <a:t>TCP is a reliable transport layer protocol. This means that an application program that delivers a stream of data to TCP relies on TCP to deliver the entire stream to the application program on the other end in order, without error, and without any part lost or duplicated.</a:t>
            </a:r>
            <a:endParaRPr/>
          </a:p>
          <a:p>
            <a:pPr indent="0" lvl="0" marL="0" marR="0" rtl="0" algn="l">
              <a:lnSpc>
                <a:spcPct val="100000"/>
              </a:lnSpc>
              <a:spcBef>
                <a:spcPts val="0"/>
              </a:spcBef>
              <a:spcAft>
                <a:spcPts val="0"/>
              </a:spcAft>
              <a:buClr>
                <a:schemeClr val="dk1"/>
              </a:buClr>
              <a:buSzPts val="2800"/>
              <a:buFont typeface="Arimo"/>
              <a:buNone/>
            </a:pPr>
            <a:r>
              <a:rPr b="1" i="0" lang="en-US" sz="2800" u="none">
                <a:solidFill>
                  <a:schemeClr val="dk1"/>
                </a:solidFill>
                <a:latin typeface="Arimo"/>
                <a:ea typeface="Arimo"/>
                <a:cs typeface="Arimo"/>
                <a:sym typeface="Arimo"/>
              </a:rPr>
              <a:t>	Error control in TCP is achieved through the use of three tools:  </a:t>
            </a:r>
            <a:r>
              <a:rPr b="1" i="1" lang="en-US" sz="2800" u="none">
                <a:solidFill>
                  <a:schemeClr val="hlink"/>
                </a:solidFill>
                <a:latin typeface="Arimo"/>
                <a:ea typeface="Arimo"/>
                <a:cs typeface="Arimo"/>
                <a:sym typeface="Arimo"/>
              </a:rPr>
              <a:t>checksum</a:t>
            </a:r>
            <a:r>
              <a:rPr b="1" i="0" lang="en-US" sz="2800" u="none">
                <a:solidFill>
                  <a:schemeClr val="dk1"/>
                </a:solidFill>
                <a:latin typeface="Arimo"/>
                <a:ea typeface="Arimo"/>
                <a:cs typeface="Arimo"/>
                <a:sym typeface="Arimo"/>
              </a:rPr>
              <a:t>, </a:t>
            </a:r>
            <a:r>
              <a:rPr b="1" i="1" lang="en-US" sz="2800" u="none">
                <a:solidFill>
                  <a:schemeClr val="hlink"/>
                </a:solidFill>
                <a:latin typeface="Arimo"/>
                <a:ea typeface="Arimo"/>
                <a:cs typeface="Arimo"/>
                <a:sym typeface="Arimo"/>
              </a:rPr>
              <a:t>acknowledgment</a:t>
            </a:r>
            <a:r>
              <a:rPr b="1" i="0" lang="en-US" sz="2800" u="none">
                <a:solidFill>
                  <a:schemeClr val="dk1"/>
                </a:solidFill>
                <a:latin typeface="Arimo"/>
                <a:ea typeface="Arimo"/>
                <a:cs typeface="Arimo"/>
                <a:sym typeface="Arimo"/>
              </a:rPr>
              <a:t>, and </a:t>
            </a:r>
            <a:r>
              <a:rPr b="1" i="1" lang="en-US" sz="2800" u="none">
                <a:solidFill>
                  <a:schemeClr val="hlink"/>
                </a:solidFill>
                <a:latin typeface="Arimo"/>
                <a:ea typeface="Arimo"/>
                <a:cs typeface="Arimo"/>
                <a:sym typeface="Arimo"/>
              </a:rPr>
              <a:t>time-out</a:t>
            </a:r>
            <a:r>
              <a:rPr b="1" i="0" lang="en-US" sz="2800" u="none">
                <a:solidFill>
                  <a:schemeClr val="dk1"/>
                </a:solidFill>
                <a:latin typeface="Arimo"/>
                <a:ea typeface="Arimo"/>
                <a:cs typeface="Arimo"/>
                <a:sym typeface="Arimo"/>
              </a:rPr>
              <a:t>.</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1235" name="Shape 1235"/>
        <p:cNvGrpSpPr/>
        <p:nvPr/>
      </p:nvGrpSpPr>
      <p:grpSpPr>
        <a:xfrm>
          <a:off x="0" y="0"/>
          <a:ext cx="0" cy="0"/>
          <a:chOff x="0" y="0"/>
          <a:chExt cx="0" cy="0"/>
        </a:xfrm>
      </p:grpSpPr>
      <p:sp>
        <p:nvSpPr>
          <p:cNvPr id="1236" name="Google Shape;1236;p63"/>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237" name="Google Shape;1237;p63"/>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238" name="Google Shape;1238;p63"/>
          <p:cNvSpPr txBox="1"/>
          <p:nvPr/>
        </p:nvSpPr>
        <p:spPr>
          <a:xfrm>
            <a:off x="228600" y="152400"/>
            <a:ext cx="54689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1239" name="Google Shape;1239;p63"/>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40" name="Google Shape;1240;p63"/>
          <p:cNvSpPr txBox="1"/>
          <p:nvPr/>
        </p:nvSpPr>
        <p:spPr>
          <a:xfrm>
            <a:off x="304800" y="989012"/>
            <a:ext cx="8382000" cy="3082925"/>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Checksum</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Acknowledgment</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Retransmission</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Out-of-Order Segments</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FSMs for Data Transfer in TCP</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Some Scenarios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0"/>
                                        </p:tgtEl>
                                        <p:attrNameLst>
                                          <p:attrName>style.visibility</p:attrName>
                                        </p:attrNameLst>
                                      </p:cBhvr>
                                      <p:to>
                                        <p:strVal val="visible"/>
                                      </p:to>
                                    </p:set>
                                    <p:animEffect filter="fade" transition="in">
                                      <p:cBhvr>
                                        <p:cTn dur="5000"/>
                                        <p:tgtEl>
                                          <p:spTgt spid="12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p64"/>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247" name="Google Shape;1247;p64"/>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248" name="Google Shape;1248;p6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49" name="Google Shape;1249;p6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50" name="Google Shape;1250;p6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51" name="Google Shape;1251;p6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52" name="Google Shape;1252;p6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53" name="Google Shape;1253;p6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54" name="Google Shape;1254;p6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255" name="Google Shape;1255;p64"/>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256" name="Google Shape;1256;p64"/>
          <p:cNvCxnSpPr/>
          <p:nvPr/>
        </p:nvCxnSpPr>
        <p:spPr>
          <a:xfrm>
            <a:off x="609600" y="43434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1257" name="Google Shape;1257;p64"/>
          <p:cNvSpPr txBox="1"/>
          <p:nvPr/>
        </p:nvSpPr>
        <p:spPr>
          <a:xfrm>
            <a:off x="647700" y="2716212"/>
            <a:ext cx="8077200" cy="1554162"/>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ACK segments do not consume sequence numbers and</a:t>
            </a:r>
            <a:endParaRPr/>
          </a:p>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are not acknowledged.</a:t>
            </a:r>
            <a:endParaRPr/>
          </a:p>
        </p:txBody>
      </p:sp>
      <p:grpSp>
        <p:nvGrpSpPr>
          <p:cNvPr id="1258" name="Google Shape;1258;p64"/>
          <p:cNvGrpSpPr/>
          <p:nvPr/>
        </p:nvGrpSpPr>
        <p:grpSpPr>
          <a:xfrm>
            <a:off x="609600" y="1981200"/>
            <a:ext cx="1143000" cy="566737"/>
            <a:chOff x="1200" y="1248"/>
            <a:chExt cx="720" cy="357"/>
          </a:xfrm>
        </p:grpSpPr>
        <p:pic>
          <p:nvPicPr>
            <p:cNvPr id="1259" name="Google Shape;1259;p64"/>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260" name="Google Shape;1260;p64"/>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255"/>
                                        </p:tgtEl>
                                        <p:attrNameLst>
                                          <p:attrName>style.visibility</p:attrName>
                                        </p:attrNameLst>
                                      </p:cBhvr>
                                      <p:to>
                                        <p:strVal val="visible"/>
                                      </p:to>
                                    </p:set>
                                    <p:animEffect filter="fade" transition="in">
                                      <p:cBhvr>
                                        <p:cTn dur="500"/>
                                        <p:tgtEl>
                                          <p:spTgt spid="125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56"/>
                                        </p:tgtEl>
                                        <p:attrNameLst>
                                          <p:attrName>style.visibility</p:attrName>
                                        </p:attrNameLst>
                                      </p:cBhvr>
                                      <p:to>
                                        <p:strVal val="visible"/>
                                      </p:to>
                                    </p:set>
                                    <p:animEffect filter="fade" transition="in">
                                      <p:cBhvr>
                                        <p:cTn dur="500"/>
                                        <p:tgtEl>
                                          <p:spTgt spid="125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57"/>
                                        </p:tgtEl>
                                        <p:attrNameLst>
                                          <p:attrName>style.visibility</p:attrName>
                                        </p:attrNameLst>
                                      </p:cBhvr>
                                      <p:to>
                                        <p:strVal val="visible"/>
                                      </p:to>
                                    </p:set>
                                    <p:animEffect filter="fade" transition="in">
                                      <p:cBhvr>
                                        <p:cTn dur="500"/>
                                        <p:tgtEl>
                                          <p:spTgt spid="12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4" name="Shape 1264"/>
        <p:cNvGrpSpPr/>
        <p:nvPr/>
      </p:nvGrpSpPr>
      <p:grpSpPr>
        <a:xfrm>
          <a:off x="0" y="0"/>
          <a:ext cx="0" cy="0"/>
          <a:chOff x="0" y="0"/>
          <a:chExt cx="0" cy="0"/>
        </a:xfrm>
      </p:grpSpPr>
      <p:sp>
        <p:nvSpPr>
          <p:cNvPr id="1265" name="Google Shape;1265;p65"/>
          <p:cNvSpPr txBox="1"/>
          <p:nvPr/>
        </p:nvSpPr>
        <p:spPr>
          <a:xfrm>
            <a:off x="35560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TCP/IP Protocol Suite</a:t>
            </a:r>
            <a:endParaRPr/>
          </a:p>
        </p:txBody>
      </p:sp>
      <p:sp>
        <p:nvSpPr>
          <p:cNvPr id="1266" name="Google Shape;1266;p65"/>
          <p:cNvSpPr txBox="1"/>
          <p:nvPr/>
        </p:nvSpPr>
        <p:spPr>
          <a:xfrm>
            <a:off x="67183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fld id="{00000000-1234-1234-1234-123412341234}" type="slidenum">
              <a:rPr b="0" i="0" lang="en-US" sz="1400" u="none">
                <a:solidFill>
                  <a:schemeClr val="dk1"/>
                </a:solidFill>
                <a:latin typeface="Comic Sans MS"/>
                <a:ea typeface="Comic Sans MS"/>
                <a:cs typeface="Comic Sans MS"/>
                <a:sym typeface="Comic Sans MS"/>
              </a:rPr>
              <a:t>‹#›</a:t>
            </a:fld>
            <a:endParaRPr/>
          </a:p>
        </p:txBody>
      </p:sp>
      <p:sp>
        <p:nvSpPr>
          <p:cNvPr id="1267" name="Google Shape;1267;p65"/>
          <p:cNvSpPr txBox="1"/>
          <p:nvPr>
            <p:ph type="title"/>
          </p:nvPr>
        </p:nvSpPr>
        <p:spPr>
          <a:xfrm>
            <a:off x="685800" y="228600"/>
            <a:ext cx="6870700" cy="83661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00CC"/>
              </a:buClr>
              <a:buSzPts val="3600"/>
              <a:buFont typeface="Comic Sans MS"/>
              <a:buNone/>
            </a:pPr>
            <a:r>
              <a:rPr b="1" i="0" lang="en-US" sz="3600" u="none">
                <a:solidFill>
                  <a:srgbClr val="0000CC"/>
                </a:solidFill>
                <a:latin typeface="Comic Sans MS"/>
                <a:ea typeface="Comic Sans MS"/>
                <a:cs typeface="Comic Sans MS"/>
                <a:sym typeface="Comic Sans MS"/>
              </a:rPr>
              <a:t>Acknowledgement Type</a:t>
            </a:r>
            <a:endParaRPr/>
          </a:p>
        </p:txBody>
      </p:sp>
      <p:sp>
        <p:nvSpPr>
          <p:cNvPr id="1268" name="Google Shape;1268;p65"/>
          <p:cNvSpPr txBox="1"/>
          <p:nvPr>
            <p:ph idx="1" type="body"/>
          </p:nvPr>
        </p:nvSpPr>
        <p:spPr>
          <a:xfrm>
            <a:off x="685800" y="1219200"/>
            <a:ext cx="7696200" cy="4572000"/>
          </a:xfrm>
          <a:prstGeom prst="rect">
            <a:avLst/>
          </a:prstGeom>
          <a:noFill/>
          <a:ln>
            <a:noFill/>
          </a:ln>
        </p:spPr>
        <p:txBody>
          <a:bodyPr anchorCtr="0" anchor="t" bIns="45700" lIns="91425" spcFirstLastPara="1" rIns="91425" wrap="square" tIns="45700">
            <a:noAutofit/>
          </a:bodyPr>
          <a:lstStyle/>
          <a:p>
            <a:pPr indent="-263524" lvl="1" marL="808037" rtl="0" algn="l">
              <a:lnSpc>
                <a:spcPct val="100000"/>
              </a:lnSpc>
              <a:spcBef>
                <a:spcPts val="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In the past, TCP used only one type of acknowledgement: Accumulative Acknowledgement (</a:t>
            </a:r>
            <a:r>
              <a:rPr b="0" i="0" lang="en-US" sz="2400" u="none">
                <a:solidFill>
                  <a:schemeClr val="lt2"/>
                </a:solidFill>
                <a:latin typeface="Comic Sans MS"/>
                <a:ea typeface="Comic Sans MS"/>
                <a:cs typeface="Comic Sans MS"/>
                <a:sym typeface="Comic Sans MS"/>
              </a:rPr>
              <a:t>ACK</a:t>
            </a:r>
            <a:r>
              <a:rPr b="0" i="0" lang="en-US" sz="2400" u="none">
                <a:solidFill>
                  <a:schemeClr val="dk1"/>
                </a:solidFill>
                <a:latin typeface="Comic Sans MS"/>
                <a:ea typeface="Comic Sans MS"/>
                <a:cs typeface="Comic Sans MS"/>
                <a:sym typeface="Comic Sans MS"/>
              </a:rPr>
              <a:t>), also namely </a:t>
            </a:r>
            <a:r>
              <a:rPr b="0" i="0" lang="en-US" sz="2400" u="none">
                <a:solidFill>
                  <a:schemeClr val="dk2"/>
                </a:solidFill>
                <a:latin typeface="Comic Sans MS"/>
                <a:ea typeface="Comic Sans MS"/>
                <a:cs typeface="Comic Sans MS"/>
                <a:sym typeface="Comic Sans MS"/>
              </a:rPr>
              <a:t>accumulative positive acknowledgement</a:t>
            </a:r>
            <a:endParaRPr/>
          </a:p>
          <a:p>
            <a:pPr indent="-263524" lvl="1" marL="808037" rtl="0" algn="l">
              <a:lnSpc>
                <a:spcPct val="100000"/>
              </a:lnSpc>
              <a:spcBef>
                <a:spcPts val="96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More and more implementations are adding another type of acknowledgement: </a:t>
            </a:r>
            <a:r>
              <a:rPr b="0" i="0" lang="en-US" sz="2400" u="none">
                <a:solidFill>
                  <a:schemeClr val="dk2"/>
                </a:solidFill>
                <a:latin typeface="Comic Sans MS"/>
                <a:ea typeface="Comic Sans MS"/>
                <a:cs typeface="Comic Sans MS"/>
                <a:sym typeface="Comic Sans MS"/>
              </a:rPr>
              <a:t>Selective Acknowledgement (</a:t>
            </a:r>
            <a:r>
              <a:rPr b="0" i="0" lang="en-US" sz="2400" u="none">
                <a:solidFill>
                  <a:schemeClr val="lt2"/>
                </a:solidFill>
                <a:latin typeface="Comic Sans MS"/>
                <a:ea typeface="Comic Sans MS"/>
                <a:cs typeface="Comic Sans MS"/>
                <a:sym typeface="Comic Sans MS"/>
              </a:rPr>
              <a:t>SACK</a:t>
            </a:r>
            <a:r>
              <a:rPr b="0" i="0" lang="en-US" sz="2400" u="none">
                <a:solidFill>
                  <a:schemeClr val="dk2"/>
                </a:solidFill>
                <a:latin typeface="Comic Sans MS"/>
                <a:ea typeface="Comic Sans MS"/>
                <a:cs typeface="Comic Sans MS"/>
                <a:sym typeface="Comic Sans MS"/>
              </a:rPr>
              <a:t>)</a:t>
            </a:r>
            <a:r>
              <a:rPr b="0" i="0" lang="en-US" sz="2400" u="none">
                <a:solidFill>
                  <a:schemeClr val="dk1"/>
                </a:solidFill>
                <a:latin typeface="Comic Sans MS"/>
                <a:ea typeface="Comic Sans MS"/>
                <a:cs typeface="Comic Sans MS"/>
                <a:sym typeface="Comic Sans MS"/>
              </a:rPr>
              <a:t>, SACK is implemented as an option at the end of the TCP header.</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3" name="Shape 1273"/>
        <p:cNvGrpSpPr/>
        <p:nvPr/>
      </p:nvGrpSpPr>
      <p:grpSpPr>
        <a:xfrm>
          <a:off x="0" y="0"/>
          <a:ext cx="0" cy="0"/>
          <a:chOff x="0" y="0"/>
          <a:chExt cx="0" cy="0"/>
        </a:xfrm>
      </p:grpSpPr>
      <p:sp>
        <p:nvSpPr>
          <p:cNvPr id="1274" name="Google Shape;1274;p66"/>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275" name="Google Shape;1275;p66"/>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276" name="Google Shape;1276;p6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77" name="Google Shape;1277;p6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78" name="Google Shape;1278;p6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79" name="Google Shape;1279;p6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80" name="Google Shape;1280;p6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81" name="Google Shape;1281;p6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82" name="Google Shape;1282;p6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283" name="Google Shape;1283;p66"/>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284" name="Google Shape;1284;p66"/>
          <p:cNvCxnSpPr/>
          <p:nvPr/>
        </p:nvCxnSpPr>
        <p:spPr>
          <a:xfrm>
            <a:off x="609600" y="48768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1285" name="Google Shape;1285;p66"/>
          <p:cNvSpPr txBox="1"/>
          <p:nvPr/>
        </p:nvSpPr>
        <p:spPr>
          <a:xfrm>
            <a:off x="647700" y="2716212"/>
            <a:ext cx="8077200" cy="2041525"/>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Data may arrive out of order and be temporarily stored by the receiving TCP,</a:t>
            </a:r>
            <a:endParaRPr/>
          </a:p>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but TCP guarantees that no out-of-order data are delivered to the process.</a:t>
            </a:r>
            <a:endParaRPr/>
          </a:p>
        </p:txBody>
      </p:sp>
      <p:grpSp>
        <p:nvGrpSpPr>
          <p:cNvPr id="1286" name="Google Shape;1286;p66"/>
          <p:cNvGrpSpPr/>
          <p:nvPr/>
        </p:nvGrpSpPr>
        <p:grpSpPr>
          <a:xfrm>
            <a:off x="609600" y="1981200"/>
            <a:ext cx="1143000" cy="566737"/>
            <a:chOff x="1200" y="1248"/>
            <a:chExt cx="720" cy="357"/>
          </a:xfrm>
        </p:grpSpPr>
        <p:pic>
          <p:nvPicPr>
            <p:cNvPr id="1287" name="Google Shape;1287;p66"/>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288" name="Google Shape;1288;p66"/>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283"/>
                                        </p:tgtEl>
                                        <p:attrNameLst>
                                          <p:attrName>style.visibility</p:attrName>
                                        </p:attrNameLst>
                                      </p:cBhvr>
                                      <p:to>
                                        <p:strVal val="visible"/>
                                      </p:to>
                                    </p:set>
                                    <p:animEffect filter="fade" transition="in">
                                      <p:cBhvr>
                                        <p:cTn dur="500"/>
                                        <p:tgtEl>
                                          <p:spTgt spid="128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84"/>
                                        </p:tgtEl>
                                        <p:attrNameLst>
                                          <p:attrName>style.visibility</p:attrName>
                                        </p:attrNameLst>
                                      </p:cBhvr>
                                      <p:to>
                                        <p:strVal val="visible"/>
                                      </p:to>
                                    </p:set>
                                    <p:animEffect filter="fade" transition="in">
                                      <p:cBhvr>
                                        <p:cTn dur="500"/>
                                        <p:tgtEl>
                                          <p:spTgt spid="128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85"/>
                                        </p:tgtEl>
                                        <p:attrNameLst>
                                          <p:attrName>style.visibility</p:attrName>
                                        </p:attrNameLst>
                                      </p:cBhvr>
                                      <p:to>
                                        <p:strVal val="visible"/>
                                      </p:to>
                                    </p:set>
                                    <p:animEffect filter="fade" transition="in">
                                      <p:cBhvr>
                                        <p:cTn dur="500"/>
                                        <p:tgtEl>
                                          <p:spTgt spid="12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3" name="Shape 1293"/>
        <p:cNvGrpSpPr/>
        <p:nvPr/>
      </p:nvGrpSpPr>
      <p:grpSpPr>
        <a:xfrm>
          <a:off x="0" y="0"/>
          <a:ext cx="0" cy="0"/>
          <a:chOff x="0" y="0"/>
          <a:chExt cx="0" cy="0"/>
        </a:xfrm>
      </p:grpSpPr>
      <p:sp>
        <p:nvSpPr>
          <p:cNvPr id="1294" name="Google Shape;1294;p67"/>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295" name="Google Shape;1295;p67"/>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296" name="Google Shape;1296;p6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97" name="Google Shape;1297;p6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98" name="Google Shape;1298;p6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99" name="Google Shape;1299;p6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00" name="Google Shape;1300;p6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01" name="Google Shape;1301;p6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02" name="Google Shape;1302;p6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303" name="Google Shape;1303;p67"/>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304" name="Google Shape;1304;p67"/>
          <p:cNvCxnSpPr/>
          <p:nvPr/>
        </p:nvCxnSpPr>
        <p:spPr>
          <a:xfrm>
            <a:off x="609600" y="38862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1305" name="Google Shape;1305;p67"/>
          <p:cNvSpPr txBox="1"/>
          <p:nvPr/>
        </p:nvSpPr>
        <p:spPr>
          <a:xfrm>
            <a:off x="647700" y="2716212"/>
            <a:ext cx="8077200" cy="10668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TCP can be best modeled as a </a:t>
            </a:r>
            <a:br>
              <a:rPr b="1" i="1" lang="en-US" sz="3200" u="none">
                <a:solidFill>
                  <a:schemeClr val="lt1"/>
                </a:solidFill>
                <a:latin typeface="Arial"/>
                <a:ea typeface="Arial"/>
                <a:cs typeface="Arial"/>
                <a:sym typeface="Arial"/>
              </a:rPr>
            </a:br>
            <a:r>
              <a:rPr b="1" i="1" lang="en-US" sz="3200" u="none">
                <a:solidFill>
                  <a:schemeClr val="lt1"/>
                </a:solidFill>
                <a:latin typeface="Arial"/>
                <a:ea typeface="Arial"/>
                <a:cs typeface="Arial"/>
                <a:sym typeface="Arial"/>
              </a:rPr>
              <a:t>Selective Repeat protocol.</a:t>
            </a:r>
            <a:endParaRPr/>
          </a:p>
        </p:txBody>
      </p:sp>
      <p:grpSp>
        <p:nvGrpSpPr>
          <p:cNvPr id="1306" name="Google Shape;1306;p67"/>
          <p:cNvGrpSpPr/>
          <p:nvPr/>
        </p:nvGrpSpPr>
        <p:grpSpPr>
          <a:xfrm>
            <a:off x="609600" y="1981200"/>
            <a:ext cx="1143000" cy="566737"/>
            <a:chOff x="1200" y="1248"/>
            <a:chExt cx="720" cy="357"/>
          </a:xfrm>
        </p:grpSpPr>
        <p:pic>
          <p:nvPicPr>
            <p:cNvPr id="1307" name="Google Shape;1307;p67"/>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308" name="Google Shape;1308;p67"/>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303"/>
                                        </p:tgtEl>
                                        <p:attrNameLst>
                                          <p:attrName>style.visibility</p:attrName>
                                        </p:attrNameLst>
                                      </p:cBhvr>
                                      <p:to>
                                        <p:strVal val="visible"/>
                                      </p:to>
                                    </p:set>
                                    <p:animEffect filter="fade" transition="in">
                                      <p:cBhvr>
                                        <p:cTn dur="500"/>
                                        <p:tgtEl>
                                          <p:spTgt spid="130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04"/>
                                        </p:tgtEl>
                                        <p:attrNameLst>
                                          <p:attrName>style.visibility</p:attrName>
                                        </p:attrNameLst>
                                      </p:cBhvr>
                                      <p:to>
                                        <p:strVal val="visible"/>
                                      </p:to>
                                    </p:set>
                                    <p:animEffect filter="fade" transition="in">
                                      <p:cBhvr>
                                        <p:cTn dur="500"/>
                                        <p:tgtEl>
                                          <p:spTgt spid="130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05"/>
                                        </p:tgtEl>
                                        <p:attrNameLst>
                                          <p:attrName>style.visibility</p:attrName>
                                        </p:attrNameLst>
                                      </p:cBhvr>
                                      <p:to>
                                        <p:strVal val="visible"/>
                                      </p:to>
                                    </p:set>
                                    <p:animEffect filter="fade" transition="in">
                                      <p:cBhvr>
                                        <p:cTn dur="500"/>
                                        <p:tgtEl>
                                          <p:spTgt spid="13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3" name="Shape 1313"/>
        <p:cNvGrpSpPr/>
        <p:nvPr/>
      </p:nvGrpSpPr>
      <p:grpSpPr>
        <a:xfrm>
          <a:off x="0" y="0"/>
          <a:ext cx="0" cy="0"/>
          <a:chOff x="0" y="0"/>
          <a:chExt cx="0" cy="0"/>
        </a:xfrm>
      </p:grpSpPr>
      <p:sp>
        <p:nvSpPr>
          <p:cNvPr id="1314" name="Google Shape;1314;p68"/>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315" name="Google Shape;1315;p68"/>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316" name="Google Shape;1316;p68"/>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15.27</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Simplified FSM for sender site</a:t>
            </a:r>
            <a:endParaRPr/>
          </a:p>
        </p:txBody>
      </p:sp>
      <p:sp>
        <p:nvSpPr>
          <p:cNvPr id="1317" name="Google Shape;1317;p6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18" name="Google Shape;1318;p6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19" name="Google Shape;1319;p6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20" name="Google Shape;1320;p6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21" name="Google Shape;1321;p6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22" name="Google Shape;1322;p6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23" name="Google Shape;1323;p6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324" name="Google Shape;1324;p68"/>
          <p:cNvPicPr preferRelativeResize="0"/>
          <p:nvPr/>
        </p:nvPicPr>
        <p:blipFill rotWithShape="1">
          <a:blip r:embed="rId3">
            <a:alphaModFix/>
          </a:blip>
          <a:srcRect b="0" l="0" r="0" t="0"/>
          <a:stretch/>
        </p:blipFill>
        <p:spPr>
          <a:xfrm>
            <a:off x="428625" y="1123950"/>
            <a:ext cx="8513762" cy="5049837"/>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9" name="Shape 1329"/>
        <p:cNvGrpSpPr/>
        <p:nvPr/>
      </p:nvGrpSpPr>
      <p:grpSpPr>
        <a:xfrm>
          <a:off x="0" y="0"/>
          <a:ext cx="0" cy="0"/>
          <a:chOff x="0" y="0"/>
          <a:chExt cx="0" cy="0"/>
        </a:xfrm>
      </p:grpSpPr>
      <p:sp>
        <p:nvSpPr>
          <p:cNvPr id="1330" name="Google Shape;1330;p69"/>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331" name="Google Shape;1331;p69"/>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332" name="Google Shape;1332;p69"/>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15.28</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Simplified FSM for the receiver site</a:t>
            </a:r>
            <a:endParaRPr/>
          </a:p>
        </p:txBody>
      </p:sp>
      <p:sp>
        <p:nvSpPr>
          <p:cNvPr id="1333" name="Google Shape;1333;p6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34" name="Google Shape;1334;p6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35" name="Google Shape;1335;p6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36" name="Google Shape;1336;p6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37" name="Google Shape;1337;p6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38" name="Google Shape;1338;p6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39" name="Google Shape;1339;p6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340" name="Google Shape;1340;p69"/>
          <p:cNvPicPr preferRelativeResize="0"/>
          <p:nvPr/>
        </p:nvPicPr>
        <p:blipFill rotWithShape="1">
          <a:blip r:embed="rId3">
            <a:alphaModFix/>
          </a:blip>
          <a:srcRect b="0" l="0" r="0" t="0"/>
          <a:stretch/>
        </p:blipFill>
        <p:spPr>
          <a:xfrm>
            <a:off x="1038225" y="925512"/>
            <a:ext cx="7496175" cy="5322887"/>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sp>
        <p:nvSpPr>
          <p:cNvPr id="1345" name="Google Shape;1345;p70"/>
          <p:cNvSpPr txBox="1"/>
          <p:nvPr/>
        </p:nvSpPr>
        <p:spPr>
          <a:xfrm>
            <a:off x="35560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TCP/IP Protocol Suite</a:t>
            </a:r>
            <a:endParaRPr/>
          </a:p>
        </p:txBody>
      </p:sp>
      <p:sp>
        <p:nvSpPr>
          <p:cNvPr id="1346" name="Google Shape;1346;p70"/>
          <p:cNvSpPr txBox="1"/>
          <p:nvPr/>
        </p:nvSpPr>
        <p:spPr>
          <a:xfrm>
            <a:off x="67183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fld id="{00000000-1234-1234-1234-123412341234}" type="slidenum">
              <a:rPr b="0" i="0" lang="en-US" sz="1400" u="none">
                <a:solidFill>
                  <a:schemeClr val="dk1"/>
                </a:solidFill>
                <a:latin typeface="Comic Sans MS"/>
                <a:ea typeface="Comic Sans MS"/>
                <a:cs typeface="Comic Sans MS"/>
                <a:sym typeface="Comic Sans MS"/>
              </a:rPr>
              <a:t>‹#›</a:t>
            </a:fld>
            <a:endParaRPr/>
          </a:p>
        </p:txBody>
      </p:sp>
      <p:sp>
        <p:nvSpPr>
          <p:cNvPr id="1347" name="Google Shape;1347;p70"/>
          <p:cNvSpPr txBox="1"/>
          <p:nvPr>
            <p:ph type="title"/>
          </p:nvPr>
        </p:nvSpPr>
        <p:spPr>
          <a:xfrm>
            <a:off x="685800" y="228600"/>
            <a:ext cx="6870700" cy="83661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00CC"/>
              </a:buClr>
              <a:buSzPts val="3600"/>
              <a:buFont typeface="Comic Sans MS"/>
              <a:buNone/>
            </a:pPr>
            <a:r>
              <a:rPr b="1" i="0" lang="en-US" sz="3600" u="none">
                <a:solidFill>
                  <a:srgbClr val="0000CC"/>
                </a:solidFill>
                <a:latin typeface="Comic Sans MS"/>
                <a:ea typeface="Comic Sans MS"/>
                <a:cs typeface="Comic Sans MS"/>
                <a:sym typeface="Comic Sans MS"/>
              </a:rPr>
              <a:t>Rules for Generating ACK (1)</a:t>
            </a:r>
            <a:endParaRPr/>
          </a:p>
        </p:txBody>
      </p:sp>
      <p:sp>
        <p:nvSpPr>
          <p:cNvPr id="1348" name="Google Shape;1348;p70"/>
          <p:cNvSpPr txBox="1"/>
          <p:nvPr>
            <p:ph idx="1" type="body"/>
          </p:nvPr>
        </p:nvSpPr>
        <p:spPr>
          <a:xfrm>
            <a:off x="685800" y="1219200"/>
            <a:ext cx="7696200" cy="4572000"/>
          </a:xfrm>
          <a:prstGeom prst="rect">
            <a:avLst/>
          </a:prstGeom>
          <a:noFill/>
          <a:ln>
            <a:noFill/>
          </a:ln>
        </p:spPr>
        <p:txBody>
          <a:bodyPr anchorCtr="0" anchor="t" bIns="45700" lIns="91425" spcFirstLastPara="1" rIns="91425" wrap="square" tIns="45700">
            <a:noAutofit/>
          </a:bodyPr>
          <a:lstStyle/>
          <a:p>
            <a:pPr indent="-263524" lvl="1" marL="808037" rtl="0" algn="l">
              <a:lnSpc>
                <a:spcPct val="90000"/>
              </a:lnSpc>
              <a:spcBef>
                <a:spcPts val="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1. When one end sends a data segment to the other end, it must include an ACK.  That gives the next sequence number it expects to receive. (</a:t>
            </a:r>
            <a:r>
              <a:rPr b="0" i="0" lang="en-US" sz="2400" u="none">
                <a:solidFill>
                  <a:schemeClr val="dk2"/>
                </a:solidFill>
                <a:latin typeface="Comic Sans MS"/>
                <a:ea typeface="Comic Sans MS"/>
                <a:cs typeface="Comic Sans MS"/>
                <a:sym typeface="Comic Sans MS"/>
              </a:rPr>
              <a:t>Piggyback</a:t>
            </a:r>
            <a:r>
              <a:rPr b="0" i="0" lang="en-US" sz="2400" u="none">
                <a:solidFill>
                  <a:schemeClr val="dk1"/>
                </a:solidFill>
                <a:latin typeface="Comic Sans MS"/>
                <a:ea typeface="Comic Sans MS"/>
                <a:cs typeface="Comic Sans MS"/>
                <a:sym typeface="Comic Sans MS"/>
              </a:rPr>
              <a:t>)</a:t>
            </a:r>
            <a:endParaRPr/>
          </a:p>
          <a:p>
            <a:pPr indent="-263524" lvl="1" marL="808037" rtl="0" algn="l">
              <a:lnSpc>
                <a:spcPct val="90000"/>
              </a:lnSpc>
              <a:spcBef>
                <a:spcPts val="96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2.</a:t>
            </a:r>
            <a:r>
              <a:rPr b="0" i="0" lang="en-US" sz="2400" u="none">
                <a:solidFill>
                  <a:schemeClr val="dk2"/>
                </a:solidFill>
                <a:latin typeface="Comic Sans MS"/>
                <a:ea typeface="Comic Sans MS"/>
                <a:cs typeface="Comic Sans MS"/>
                <a:sym typeface="Comic Sans MS"/>
              </a:rPr>
              <a:t> </a:t>
            </a:r>
            <a:r>
              <a:rPr b="0" i="0" lang="en-US" sz="2400" u="none">
                <a:solidFill>
                  <a:schemeClr val="dk1"/>
                </a:solidFill>
                <a:latin typeface="Comic Sans MS"/>
                <a:ea typeface="Comic Sans MS"/>
                <a:cs typeface="Comic Sans MS"/>
                <a:sym typeface="Comic Sans MS"/>
              </a:rPr>
              <a:t>The receiver needs to </a:t>
            </a:r>
            <a:r>
              <a:rPr b="0" i="0" lang="en-US" sz="2400" u="none">
                <a:solidFill>
                  <a:schemeClr val="dk2"/>
                </a:solidFill>
                <a:latin typeface="Comic Sans MS"/>
                <a:ea typeface="Comic Sans MS"/>
                <a:cs typeface="Comic Sans MS"/>
                <a:sym typeface="Comic Sans MS"/>
              </a:rPr>
              <a:t>delay sending</a:t>
            </a:r>
            <a:r>
              <a:rPr b="0" i="0" lang="en-US" sz="2400" u="none">
                <a:solidFill>
                  <a:schemeClr val="dk1"/>
                </a:solidFill>
                <a:latin typeface="Comic Sans MS"/>
                <a:ea typeface="Comic Sans MS"/>
                <a:cs typeface="Comic Sans MS"/>
                <a:sym typeface="Comic Sans MS"/>
              </a:rPr>
              <a:t> (until </a:t>
            </a:r>
            <a:r>
              <a:rPr b="0" i="0" lang="en-US" sz="2400" u="none">
                <a:solidFill>
                  <a:schemeClr val="lt2"/>
                </a:solidFill>
                <a:latin typeface="Comic Sans MS"/>
                <a:ea typeface="Comic Sans MS"/>
                <a:cs typeface="Comic Sans MS"/>
                <a:sym typeface="Comic Sans MS"/>
              </a:rPr>
              <a:t>another segment arrives or 500ms</a:t>
            </a:r>
            <a:r>
              <a:rPr b="0" i="0" lang="en-US" sz="2400" u="none">
                <a:solidFill>
                  <a:schemeClr val="dk1"/>
                </a:solidFill>
                <a:latin typeface="Comic Sans MS"/>
                <a:ea typeface="Comic Sans MS"/>
                <a:cs typeface="Comic Sans MS"/>
                <a:sym typeface="Comic Sans MS"/>
              </a:rPr>
              <a:t>) an ACK segment if there is only one outstanding in-order segment. It prevents ACK segments from creating extra traffic</a:t>
            </a:r>
            <a:r>
              <a:rPr b="0" i="0" lang="en-US" sz="2400" u="none">
                <a:solidFill>
                  <a:schemeClr val="dk2"/>
                </a:solidFill>
                <a:latin typeface="Comic Sans MS"/>
                <a:ea typeface="Comic Sans MS"/>
                <a:cs typeface="Comic Sans MS"/>
                <a:sym typeface="Comic Sans MS"/>
              </a:rPr>
              <a:t>.</a:t>
            </a:r>
            <a:endParaRPr/>
          </a:p>
          <a:p>
            <a:pPr indent="-263524" lvl="1" marL="808037" rtl="0" algn="l">
              <a:lnSpc>
                <a:spcPct val="90000"/>
              </a:lnSpc>
              <a:spcBef>
                <a:spcPts val="96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3. There </a:t>
            </a:r>
            <a:r>
              <a:rPr b="0" i="0" lang="en-US" sz="2400" u="none">
                <a:solidFill>
                  <a:schemeClr val="dk2"/>
                </a:solidFill>
                <a:latin typeface="Comic Sans MS"/>
                <a:ea typeface="Comic Sans MS"/>
                <a:cs typeface="Comic Sans MS"/>
                <a:sym typeface="Comic Sans MS"/>
              </a:rPr>
              <a:t>should not be more than 2 in-order unacknowledged segments</a:t>
            </a:r>
            <a:r>
              <a:rPr b="0" i="0" lang="en-US" sz="2400" u="none">
                <a:solidFill>
                  <a:schemeClr val="dk1"/>
                </a:solidFill>
                <a:latin typeface="Comic Sans MS"/>
                <a:ea typeface="Comic Sans MS"/>
                <a:cs typeface="Comic Sans MS"/>
                <a:sym typeface="Comic Sans MS"/>
              </a:rPr>
              <a:t> at any time. It prevent the unnecessary retransmission</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2" name="Shape 1352"/>
        <p:cNvGrpSpPr/>
        <p:nvPr/>
      </p:nvGrpSpPr>
      <p:grpSpPr>
        <a:xfrm>
          <a:off x="0" y="0"/>
          <a:ext cx="0" cy="0"/>
          <a:chOff x="0" y="0"/>
          <a:chExt cx="0" cy="0"/>
        </a:xfrm>
      </p:grpSpPr>
      <p:sp>
        <p:nvSpPr>
          <p:cNvPr id="1353" name="Google Shape;1353;p71"/>
          <p:cNvSpPr txBox="1"/>
          <p:nvPr/>
        </p:nvSpPr>
        <p:spPr>
          <a:xfrm>
            <a:off x="35560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TCP/IP Protocol Suite</a:t>
            </a:r>
            <a:endParaRPr/>
          </a:p>
        </p:txBody>
      </p:sp>
      <p:sp>
        <p:nvSpPr>
          <p:cNvPr id="1354" name="Google Shape;1354;p71"/>
          <p:cNvSpPr txBox="1"/>
          <p:nvPr/>
        </p:nvSpPr>
        <p:spPr>
          <a:xfrm>
            <a:off x="67183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fld id="{00000000-1234-1234-1234-123412341234}" type="slidenum">
              <a:rPr b="0" i="0" lang="en-US" sz="1400" u="none">
                <a:solidFill>
                  <a:schemeClr val="dk1"/>
                </a:solidFill>
                <a:latin typeface="Comic Sans MS"/>
                <a:ea typeface="Comic Sans MS"/>
                <a:cs typeface="Comic Sans MS"/>
                <a:sym typeface="Comic Sans MS"/>
              </a:rPr>
              <a:t>‹#›</a:t>
            </a:fld>
            <a:endParaRPr/>
          </a:p>
        </p:txBody>
      </p:sp>
      <p:sp>
        <p:nvSpPr>
          <p:cNvPr id="1355" name="Google Shape;1355;p71"/>
          <p:cNvSpPr txBox="1"/>
          <p:nvPr>
            <p:ph type="title"/>
          </p:nvPr>
        </p:nvSpPr>
        <p:spPr>
          <a:xfrm>
            <a:off x="685800" y="228600"/>
            <a:ext cx="6870700" cy="83661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00CC"/>
              </a:buClr>
              <a:buSzPts val="3600"/>
              <a:buFont typeface="Comic Sans MS"/>
              <a:buNone/>
            </a:pPr>
            <a:r>
              <a:rPr b="1" i="0" lang="en-US" sz="3600" u="none">
                <a:solidFill>
                  <a:srgbClr val="0000CC"/>
                </a:solidFill>
                <a:latin typeface="Comic Sans MS"/>
                <a:ea typeface="Comic Sans MS"/>
                <a:cs typeface="Comic Sans MS"/>
                <a:sym typeface="Comic Sans MS"/>
              </a:rPr>
              <a:t>Rules for Generating ACK (2)</a:t>
            </a:r>
            <a:endParaRPr/>
          </a:p>
        </p:txBody>
      </p:sp>
      <p:sp>
        <p:nvSpPr>
          <p:cNvPr id="1356" name="Google Shape;1356;p71"/>
          <p:cNvSpPr txBox="1"/>
          <p:nvPr>
            <p:ph idx="1" type="body"/>
          </p:nvPr>
        </p:nvSpPr>
        <p:spPr>
          <a:xfrm>
            <a:off x="685800" y="1219200"/>
            <a:ext cx="7696200" cy="4572000"/>
          </a:xfrm>
          <a:prstGeom prst="rect">
            <a:avLst/>
          </a:prstGeom>
          <a:noFill/>
          <a:ln>
            <a:noFill/>
          </a:ln>
        </p:spPr>
        <p:txBody>
          <a:bodyPr anchorCtr="0" anchor="t" bIns="45700" lIns="91425" spcFirstLastPara="1" rIns="91425" wrap="square" tIns="45700">
            <a:noAutofit/>
          </a:bodyPr>
          <a:lstStyle/>
          <a:p>
            <a:pPr indent="-263524" lvl="1" marL="808037" rtl="0" algn="l">
              <a:lnSpc>
                <a:spcPct val="100000"/>
              </a:lnSpc>
              <a:spcBef>
                <a:spcPts val="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4. When a </a:t>
            </a:r>
            <a:r>
              <a:rPr b="0" i="0" lang="en-US" sz="2400" u="none">
                <a:solidFill>
                  <a:schemeClr val="lt2"/>
                </a:solidFill>
                <a:latin typeface="Comic Sans MS"/>
                <a:ea typeface="Comic Sans MS"/>
                <a:cs typeface="Comic Sans MS"/>
                <a:sym typeface="Comic Sans MS"/>
              </a:rPr>
              <a:t>segment arrives with an out-of-order sequence number</a:t>
            </a:r>
            <a:r>
              <a:rPr b="0" i="0" lang="en-US" sz="2400" u="none">
                <a:solidFill>
                  <a:schemeClr val="dk1"/>
                </a:solidFill>
                <a:latin typeface="Comic Sans MS"/>
                <a:ea typeface="Comic Sans MS"/>
                <a:cs typeface="Comic Sans MS"/>
                <a:sym typeface="Comic Sans MS"/>
              </a:rPr>
              <a:t> that is higher than expected, the receiver immediately sends an ACK segment announcing the sequence number of the next expected segment. (for </a:t>
            </a:r>
            <a:r>
              <a:rPr b="0" i="0" lang="en-US" sz="2400" u="none">
                <a:solidFill>
                  <a:schemeClr val="dk2"/>
                </a:solidFill>
                <a:latin typeface="Comic Sans MS"/>
                <a:ea typeface="Comic Sans MS"/>
                <a:cs typeface="Comic Sans MS"/>
                <a:sym typeface="Comic Sans MS"/>
              </a:rPr>
              <a:t>fast retransmission</a:t>
            </a:r>
            <a:r>
              <a:rPr b="0" i="0" lang="en-US" sz="2400" u="none">
                <a:solidFill>
                  <a:schemeClr val="dk1"/>
                </a:solidFill>
                <a:latin typeface="Comic Sans MS"/>
                <a:ea typeface="Comic Sans MS"/>
                <a:cs typeface="Comic Sans MS"/>
                <a:sym typeface="Comic Sans MS"/>
              </a:rPr>
              <a:t>)</a:t>
            </a:r>
            <a:endParaRPr/>
          </a:p>
          <a:p>
            <a:pPr indent="-263524" lvl="1" marL="808037" rtl="0" algn="l">
              <a:lnSpc>
                <a:spcPct val="100000"/>
              </a:lnSpc>
              <a:spcBef>
                <a:spcPts val="96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5.</a:t>
            </a:r>
            <a:r>
              <a:rPr b="0" i="0" lang="en-US" sz="2400" u="none">
                <a:solidFill>
                  <a:schemeClr val="dk2"/>
                </a:solidFill>
                <a:latin typeface="Comic Sans MS"/>
                <a:ea typeface="Comic Sans MS"/>
                <a:cs typeface="Comic Sans MS"/>
                <a:sym typeface="Comic Sans MS"/>
              </a:rPr>
              <a:t> </a:t>
            </a:r>
            <a:r>
              <a:rPr b="0" i="0" lang="en-US" sz="2400" u="none">
                <a:solidFill>
                  <a:schemeClr val="dk1"/>
                </a:solidFill>
                <a:latin typeface="Comic Sans MS"/>
                <a:ea typeface="Comic Sans MS"/>
                <a:cs typeface="Comic Sans MS"/>
                <a:sym typeface="Comic Sans MS"/>
              </a:rPr>
              <a:t>When a </a:t>
            </a:r>
            <a:r>
              <a:rPr b="0" i="0" lang="en-US" sz="2400" u="none">
                <a:solidFill>
                  <a:schemeClr val="lt2"/>
                </a:solidFill>
                <a:latin typeface="Comic Sans MS"/>
                <a:ea typeface="Comic Sans MS"/>
                <a:cs typeface="Comic Sans MS"/>
                <a:sym typeface="Comic Sans MS"/>
              </a:rPr>
              <a:t>missing segment</a:t>
            </a:r>
            <a:r>
              <a:rPr b="0" i="0" lang="en-US" sz="2400" u="none">
                <a:solidFill>
                  <a:schemeClr val="dk1"/>
                </a:solidFill>
                <a:latin typeface="Comic Sans MS"/>
                <a:ea typeface="Comic Sans MS"/>
                <a:cs typeface="Comic Sans MS"/>
                <a:sym typeface="Comic Sans MS"/>
              </a:rPr>
              <a:t> arrives, the receiver sends an ACK segment to announce the next sequence number expected.</a:t>
            </a:r>
            <a:endParaRPr/>
          </a:p>
          <a:p>
            <a:pPr indent="-263524" lvl="1" marL="808037" rtl="0" algn="l">
              <a:lnSpc>
                <a:spcPct val="100000"/>
              </a:lnSpc>
              <a:spcBef>
                <a:spcPts val="96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6. If a </a:t>
            </a:r>
            <a:r>
              <a:rPr b="0" i="0" lang="en-US" sz="2400" u="none">
                <a:solidFill>
                  <a:schemeClr val="lt2"/>
                </a:solidFill>
                <a:latin typeface="Comic Sans MS"/>
                <a:ea typeface="Comic Sans MS"/>
                <a:cs typeface="Comic Sans MS"/>
                <a:sym typeface="Comic Sans MS"/>
              </a:rPr>
              <a:t>duplicate segment</a:t>
            </a:r>
            <a:r>
              <a:rPr b="0" i="0" lang="en-US" sz="2400" u="none">
                <a:solidFill>
                  <a:schemeClr val="dk1"/>
                </a:solidFill>
                <a:latin typeface="Comic Sans MS"/>
                <a:ea typeface="Comic Sans MS"/>
                <a:cs typeface="Comic Sans MS"/>
                <a:sym typeface="Comic Sans MS"/>
              </a:rPr>
              <a:t> arrives, the receiver immediately sends an ACK.</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1" name="Shape 1361"/>
        <p:cNvGrpSpPr/>
        <p:nvPr/>
      </p:nvGrpSpPr>
      <p:grpSpPr>
        <a:xfrm>
          <a:off x="0" y="0"/>
          <a:ext cx="0" cy="0"/>
          <a:chOff x="0" y="0"/>
          <a:chExt cx="0" cy="0"/>
        </a:xfrm>
      </p:grpSpPr>
      <p:sp>
        <p:nvSpPr>
          <p:cNvPr id="1362" name="Google Shape;1362;p72"/>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363" name="Google Shape;1363;p72"/>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364" name="Google Shape;1364;p72"/>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15.29</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Normal operation</a:t>
            </a:r>
            <a:endParaRPr/>
          </a:p>
        </p:txBody>
      </p:sp>
      <p:sp>
        <p:nvSpPr>
          <p:cNvPr id="1365" name="Google Shape;1365;p7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66" name="Google Shape;1366;p7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67" name="Google Shape;1367;p7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68" name="Google Shape;1368;p7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69" name="Google Shape;1369;p7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70" name="Google Shape;1370;p7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71" name="Google Shape;1371;p7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372" name="Google Shape;1372;p72"/>
          <p:cNvPicPr preferRelativeResize="0"/>
          <p:nvPr/>
        </p:nvPicPr>
        <p:blipFill rotWithShape="1">
          <a:blip r:embed="rId3">
            <a:alphaModFix/>
          </a:blip>
          <a:srcRect b="0" l="0" r="0" t="0"/>
          <a:stretch/>
        </p:blipFill>
        <p:spPr>
          <a:xfrm>
            <a:off x="395287" y="1352550"/>
            <a:ext cx="8016875" cy="437515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7" name="Shape 1377"/>
        <p:cNvGrpSpPr/>
        <p:nvPr/>
      </p:nvGrpSpPr>
      <p:grpSpPr>
        <a:xfrm>
          <a:off x="0" y="0"/>
          <a:ext cx="0" cy="0"/>
          <a:chOff x="0" y="0"/>
          <a:chExt cx="0" cy="0"/>
        </a:xfrm>
      </p:grpSpPr>
      <p:sp>
        <p:nvSpPr>
          <p:cNvPr id="1378" name="Google Shape;1378;p73"/>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379" name="Google Shape;1379;p73"/>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380" name="Google Shape;1380;p73"/>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15.30</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Lost segment</a:t>
            </a:r>
            <a:endParaRPr/>
          </a:p>
        </p:txBody>
      </p:sp>
      <p:sp>
        <p:nvSpPr>
          <p:cNvPr id="1381" name="Google Shape;1381;p7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82" name="Google Shape;1382;p7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83" name="Google Shape;1383;p7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84" name="Google Shape;1384;p7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85" name="Google Shape;1385;p7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86" name="Google Shape;1386;p7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87" name="Google Shape;1387;p7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388" name="Google Shape;1388;p73"/>
          <p:cNvPicPr preferRelativeResize="0"/>
          <p:nvPr/>
        </p:nvPicPr>
        <p:blipFill rotWithShape="1">
          <a:blip r:embed="rId3">
            <a:alphaModFix/>
          </a:blip>
          <a:srcRect b="0" l="0" r="0" t="0"/>
          <a:stretch/>
        </p:blipFill>
        <p:spPr>
          <a:xfrm>
            <a:off x="153987" y="1617662"/>
            <a:ext cx="8755062" cy="4097337"/>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sp>
        <p:nvSpPr>
          <p:cNvPr id="1394" name="Google Shape;1394;p74"/>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395" name="Google Shape;1395;p74"/>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396" name="Google Shape;1396;p7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97" name="Google Shape;1397;p7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98" name="Google Shape;1398;p7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99" name="Google Shape;1399;p7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00" name="Google Shape;1400;p7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01" name="Google Shape;1401;p7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02" name="Google Shape;1402;p7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403" name="Google Shape;1403;p74"/>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404" name="Google Shape;1404;p74"/>
          <p:cNvCxnSpPr/>
          <p:nvPr/>
        </p:nvCxnSpPr>
        <p:spPr>
          <a:xfrm>
            <a:off x="609600" y="38862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1405" name="Google Shape;1405;p74"/>
          <p:cNvSpPr txBox="1"/>
          <p:nvPr/>
        </p:nvSpPr>
        <p:spPr>
          <a:xfrm>
            <a:off x="647700" y="2716212"/>
            <a:ext cx="8077200" cy="10668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receiver TCP delivers only ordered data to the process.</a:t>
            </a:r>
            <a:endParaRPr/>
          </a:p>
        </p:txBody>
      </p:sp>
      <p:grpSp>
        <p:nvGrpSpPr>
          <p:cNvPr id="1406" name="Google Shape;1406;p74"/>
          <p:cNvGrpSpPr/>
          <p:nvPr/>
        </p:nvGrpSpPr>
        <p:grpSpPr>
          <a:xfrm>
            <a:off x="609600" y="1981200"/>
            <a:ext cx="1143000" cy="566737"/>
            <a:chOff x="1200" y="1248"/>
            <a:chExt cx="720" cy="357"/>
          </a:xfrm>
        </p:grpSpPr>
        <p:pic>
          <p:nvPicPr>
            <p:cNvPr id="1407" name="Google Shape;1407;p74"/>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408" name="Google Shape;1408;p74"/>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403"/>
                                        </p:tgtEl>
                                        <p:attrNameLst>
                                          <p:attrName>style.visibility</p:attrName>
                                        </p:attrNameLst>
                                      </p:cBhvr>
                                      <p:to>
                                        <p:strVal val="visible"/>
                                      </p:to>
                                    </p:set>
                                    <p:animEffect filter="fade" transition="in">
                                      <p:cBhvr>
                                        <p:cTn dur="500"/>
                                        <p:tgtEl>
                                          <p:spTgt spid="140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04"/>
                                        </p:tgtEl>
                                        <p:attrNameLst>
                                          <p:attrName>style.visibility</p:attrName>
                                        </p:attrNameLst>
                                      </p:cBhvr>
                                      <p:to>
                                        <p:strVal val="visible"/>
                                      </p:to>
                                    </p:set>
                                    <p:animEffect filter="fade" transition="in">
                                      <p:cBhvr>
                                        <p:cTn dur="500"/>
                                        <p:tgtEl>
                                          <p:spTgt spid="140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05"/>
                                        </p:tgtEl>
                                        <p:attrNameLst>
                                          <p:attrName>style.visibility</p:attrName>
                                        </p:attrNameLst>
                                      </p:cBhvr>
                                      <p:to>
                                        <p:strVal val="visible"/>
                                      </p:to>
                                    </p:set>
                                    <p:animEffect filter="fade" transition="in">
                                      <p:cBhvr>
                                        <p:cTn dur="500"/>
                                        <p:tgtEl>
                                          <p:spTgt spid="14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3" name="Shape 1413"/>
        <p:cNvGrpSpPr/>
        <p:nvPr/>
      </p:nvGrpSpPr>
      <p:grpSpPr>
        <a:xfrm>
          <a:off x="0" y="0"/>
          <a:ext cx="0" cy="0"/>
          <a:chOff x="0" y="0"/>
          <a:chExt cx="0" cy="0"/>
        </a:xfrm>
      </p:grpSpPr>
      <p:sp>
        <p:nvSpPr>
          <p:cNvPr id="1414" name="Google Shape;1414;p75"/>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415" name="Google Shape;1415;p75"/>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416" name="Google Shape;1416;p75"/>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15.31</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Fast retransmission</a:t>
            </a:r>
            <a:endParaRPr/>
          </a:p>
        </p:txBody>
      </p:sp>
      <p:sp>
        <p:nvSpPr>
          <p:cNvPr id="1417" name="Google Shape;1417;p7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18" name="Google Shape;1418;p7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19" name="Google Shape;1419;p7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20" name="Google Shape;1420;p7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21" name="Google Shape;1421;p7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22" name="Google Shape;1422;p7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23" name="Google Shape;1423;p7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424" name="Google Shape;1424;p75"/>
          <p:cNvPicPr preferRelativeResize="0"/>
          <p:nvPr/>
        </p:nvPicPr>
        <p:blipFill rotWithShape="1">
          <a:blip r:embed="rId3">
            <a:alphaModFix/>
          </a:blip>
          <a:srcRect b="0" l="0" r="0" t="0"/>
          <a:stretch/>
        </p:blipFill>
        <p:spPr>
          <a:xfrm>
            <a:off x="968375" y="1001712"/>
            <a:ext cx="7413625" cy="5170487"/>
          </a:xfrm>
          <a:prstGeom prst="rect">
            <a:avLst/>
          </a:prstGeom>
          <a:noFill/>
          <a:ln>
            <a:noFill/>
          </a:ln>
        </p:spPr>
      </p:pic>
      <p:pic>
        <p:nvPicPr>
          <p:cNvPr id="1425" name="Google Shape;1425;p75"/>
          <p:cNvPicPr preferRelativeResize="0"/>
          <p:nvPr/>
        </p:nvPicPr>
        <p:blipFill rotWithShape="1">
          <a:blip r:embed="rId4">
            <a:alphaModFix/>
          </a:blip>
          <a:srcRect b="0" l="0" r="0" t="0"/>
          <a:stretch/>
        </p:blipFill>
        <p:spPr>
          <a:xfrm>
            <a:off x="7229475" y="3433762"/>
            <a:ext cx="1181100" cy="1352550"/>
          </a:xfrm>
          <a:prstGeom prst="rect">
            <a:avLst/>
          </a:prstGeom>
          <a:noFill/>
          <a:ln>
            <a:noFill/>
          </a:ln>
        </p:spPr>
      </p:pic>
      <p:pic>
        <p:nvPicPr>
          <p:cNvPr id="1426" name="Google Shape;1426;p75"/>
          <p:cNvPicPr preferRelativeResize="0"/>
          <p:nvPr/>
        </p:nvPicPr>
        <p:blipFill rotWithShape="1">
          <a:blip r:embed="rId5">
            <a:alphaModFix/>
          </a:blip>
          <a:srcRect b="0" l="0" r="0" t="0"/>
          <a:stretch/>
        </p:blipFill>
        <p:spPr>
          <a:xfrm>
            <a:off x="7232650" y="3719512"/>
            <a:ext cx="1219200" cy="323850"/>
          </a:xfrm>
          <a:prstGeom prst="rect">
            <a:avLst/>
          </a:prstGeom>
          <a:noFill/>
          <a:ln>
            <a:noFill/>
          </a:ln>
        </p:spPr>
      </p:pic>
      <p:pic>
        <p:nvPicPr>
          <p:cNvPr id="1427" name="Google Shape;1427;p75"/>
          <p:cNvPicPr preferRelativeResize="0"/>
          <p:nvPr/>
        </p:nvPicPr>
        <p:blipFill rotWithShape="1">
          <a:blip r:embed="rId6">
            <a:alphaModFix/>
          </a:blip>
          <a:srcRect b="0" l="0" r="0" t="0"/>
          <a:stretch/>
        </p:blipFill>
        <p:spPr>
          <a:xfrm>
            <a:off x="7210425" y="4419600"/>
            <a:ext cx="1228725" cy="371475"/>
          </a:xfrm>
          <a:prstGeom prst="rect">
            <a:avLst/>
          </a:prstGeom>
          <a:noFill/>
          <a:ln>
            <a:noFill/>
          </a:ln>
        </p:spPr>
      </p:pic>
      <p:pic>
        <p:nvPicPr>
          <p:cNvPr id="1428" name="Google Shape;1428;p75"/>
          <p:cNvPicPr preferRelativeResize="0"/>
          <p:nvPr/>
        </p:nvPicPr>
        <p:blipFill rotWithShape="1">
          <a:blip r:embed="rId7">
            <a:alphaModFix/>
          </a:blip>
          <a:srcRect b="0" l="0" r="0" t="0"/>
          <a:stretch/>
        </p:blipFill>
        <p:spPr>
          <a:xfrm>
            <a:off x="7889875" y="4445000"/>
            <a:ext cx="523875" cy="304800"/>
          </a:xfrm>
          <a:prstGeom prst="rect">
            <a:avLst/>
          </a:prstGeom>
          <a:noFill/>
          <a:ln>
            <a:noFill/>
          </a:ln>
        </p:spPr>
      </p:pic>
      <p:pic>
        <p:nvPicPr>
          <p:cNvPr id="1429" name="Google Shape;1429;p75"/>
          <p:cNvPicPr preferRelativeResize="0"/>
          <p:nvPr/>
        </p:nvPicPr>
        <p:blipFill rotWithShape="1">
          <a:blip r:embed="rId8">
            <a:alphaModFix/>
          </a:blip>
          <a:srcRect b="0" l="0" r="0" t="0"/>
          <a:stretch/>
        </p:blipFill>
        <p:spPr>
          <a:xfrm>
            <a:off x="7229475" y="5265737"/>
            <a:ext cx="1228725" cy="561975"/>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4" name="Shape 1434"/>
        <p:cNvGrpSpPr/>
        <p:nvPr/>
      </p:nvGrpSpPr>
      <p:grpSpPr>
        <a:xfrm>
          <a:off x="0" y="0"/>
          <a:ext cx="0" cy="0"/>
          <a:chOff x="0" y="0"/>
          <a:chExt cx="0" cy="0"/>
        </a:xfrm>
      </p:grpSpPr>
      <p:sp>
        <p:nvSpPr>
          <p:cNvPr id="1435" name="Google Shape;1435;p76"/>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436" name="Google Shape;1436;p76"/>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437" name="Google Shape;1437;p76"/>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15.32</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Lost acknowledgment</a:t>
            </a:r>
            <a:endParaRPr/>
          </a:p>
        </p:txBody>
      </p:sp>
      <p:sp>
        <p:nvSpPr>
          <p:cNvPr id="1438" name="Google Shape;1438;p7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39" name="Google Shape;1439;p7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40" name="Google Shape;1440;p7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41" name="Google Shape;1441;p7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42" name="Google Shape;1442;p7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43" name="Google Shape;1443;p7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44" name="Google Shape;1444;p7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445" name="Google Shape;1445;p76"/>
          <p:cNvPicPr preferRelativeResize="0"/>
          <p:nvPr/>
        </p:nvPicPr>
        <p:blipFill rotWithShape="1">
          <a:blip r:embed="rId3">
            <a:alphaModFix/>
          </a:blip>
          <a:srcRect b="0" l="0" r="0" t="0"/>
          <a:stretch/>
        </p:blipFill>
        <p:spPr>
          <a:xfrm>
            <a:off x="620712" y="1543050"/>
            <a:ext cx="7651750" cy="413385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0" name="Shape 1450"/>
        <p:cNvGrpSpPr/>
        <p:nvPr/>
      </p:nvGrpSpPr>
      <p:grpSpPr>
        <a:xfrm>
          <a:off x="0" y="0"/>
          <a:ext cx="0" cy="0"/>
          <a:chOff x="0" y="0"/>
          <a:chExt cx="0" cy="0"/>
        </a:xfrm>
      </p:grpSpPr>
      <p:sp>
        <p:nvSpPr>
          <p:cNvPr id="1451" name="Google Shape;1451;p77"/>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452" name="Google Shape;1452;p77"/>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453" name="Google Shape;1453;p77"/>
          <p:cNvSpPr txBox="1"/>
          <p:nvPr/>
        </p:nvSpPr>
        <p:spPr>
          <a:xfrm>
            <a:off x="990600" y="90487"/>
            <a:ext cx="79248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15.33</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Lost acknowledgment corrected by resending a segment</a:t>
            </a:r>
            <a:endParaRPr/>
          </a:p>
        </p:txBody>
      </p:sp>
      <p:sp>
        <p:nvSpPr>
          <p:cNvPr id="1454" name="Google Shape;1454;p7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55" name="Google Shape;1455;p7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56" name="Google Shape;1456;p7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57" name="Google Shape;1457;p7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58" name="Google Shape;1458;p7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59" name="Google Shape;1459;p7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60" name="Google Shape;1460;p7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461" name="Google Shape;1461;p77"/>
          <p:cNvPicPr preferRelativeResize="0"/>
          <p:nvPr/>
        </p:nvPicPr>
        <p:blipFill rotWithShape="1">
          <a:blip r:embed="rId3">
            <a:alphaModFix/>
          </a:blip>
          <a:srcRect b="0" l="0" r="0" t="0"/>
          <a:stretch/>
        </p:blipFill>
        <p:spPr>
          <a:xfrm>
            <a:off x="522287" y="1689100"/>
            <a:ext cx="8197850" cy="37973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6" name="Shape 1466"/>
        <p:cNvGrpSpPr/>
        <p:nvPr/>
      </p:nvGrpSpPr>
      <p:grpSpPr>
        <a:xfrm>
          <a:off x="0" y="0"/>
          <a:ext cx="0" cy="0"/>
          <a:chOff x="0" y="0"/>
          <a:chExt cx="0" cy="0"/>
        </a:xfrm>
      </p:grpSpPr>
      <p:sp>
        <p:nvSpPr>
          <p:cNvPr id="1467" name="Google Shape;1467;p78"/>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468" name="Google Shape;1468;p78"/>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469" name="Google Shape;1469;p7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70" name="Google Shape;1470;p7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71" name="Google Shape;1471;p7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72" name="Google Shape;1472;p7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73" name="Google Shape;1473;p7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74" name="Google Shape;1474;p7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75" name="Google Shape;1475;p7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476" name="Google Shape;1476;p78"/>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477" name="Google Shape;1477;p78"/>
          <p:cNvCxnSpPr/>
          <p:nvPr/>
        </p:nvCxnSpPr>
        <p:spPr>
          <a:xfrm>
            <a:off x="609600" y="43434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1478" name="Google Shape;1478;p78"/>
          <p:cNvSpPr txBox="1"/>
          <p:nvPr/>
        </p:nvSpPr>
        <p:spPr>
          <a:xfrm>
            <a:off x="647700" y="2716212"/>
            <a:ext cx="8077200" cy="1554162"/>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Lost acknowledgments may create deadlock if they are not</a:t>
            </a:r>
            <a:endParaRPr/>
          </a:p>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properly handled.</a:t>
            </a:r>
            <a:endParaRPr/>
          </a:p>
        </p:txBody>
      </p:sp>
      <p:grpSp>
        <p:nvGrpSpPr>
          <p:cNvPr id="1479" name="Google Shape;1479;p78"/>
          <p:cNvGrpSpPr/>
          <p:nvPr/>
        </p:nvGrpSpPr>
        <p:grpSpPr>
          <a:xfrm>
            <a:off x="609600" y="1981200"/>
            <a:ext cx="1143000" cy="566737"/>
            <a:chOff x="1200" y="1248"/>
            <a:chExt cx="720" cy="357"/>
          </a:xfrm>
        </p:grpSpPr>
        <p:pic>
          <p:nvPicPr>
            <p:cNvPr id="1480" name="Google Shape;1480;p78"/>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481" name="Google Shape;1481;p78"/>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476"/>
                                        </p:tgtEl>
                                        <p:attrNameLst>
                                          <p:attrName>style.visibility</p:attrName>
                                        </p:attrNameLst>
                                      </p:cBhvr>
                                      <p:to>
                                        <p:strVal val="visible"/>
                                      </p:to>
                                    </p:set>
                                    <p:animEffect filter="fade" transition="in">
                                      <p:cBhvr>
                                        <p:cTn dur="500"/>
                                        <p:tgtEl>
                                          <p:spTgt spid="147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77"/>
                                        </p:tgtEl>
                                        <p:attrNameLst>
                                          <p:attrName>style.visibility</p:attrName>
                                        </p:attrNameLst>
                                      </p:cBhvr>
                                      <p:to>
                                        <p:strVal val="visible"/>
                                      </p:to>
                                    </p:set>
                                    <p:animEffect filter="fade" transition="in">
                                      <p:cBhvr>
                                        <p:cTn dur="500"/>
                                        <p:tgtEl>
                                          <p:spTgt spid="147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78"/>
                                        </p:tgtEl>
                                        <p:attrNameLst>
                                          <p:attrName>style.visibility</p:attrName>
                                        </p:attrNameLst>
                                      </p:cBhvr>
                                      <p:to>
                                        <p:strVal val="visible"/>
                                      </p:to>
                                    </p:set>
                                    <p:animEffect filter="fade" transition="in">
                                      <p:cBhvr>
                                        <p:cTn dur="500"/>
                                        <p:tgtEl>
                                          <p:spTgt spid="14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6" name="Shape 1486"/>
        <p:cNvGrpSpPr/>
        <p:nvPr/>
      </p:nvGrpSpPr>
      <p:grpSpPr>
        <a:xfrm>
          <a:off x="0" y="0"/>
          <a:ext cx="0" cy="0"/>
          <a:chOff x="0" y="0"/>
          <a:chExt cx="0" cy="0"/>
        </a:xfrm>
      </p:grpSpPr>
      <p:sp>
        <p:nvSpPr>
          <p:cNvPr id="1487" name="Google Shape;1487;p79"/>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488" name="Google Shape;1488;p79"/>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489" name="Google Shape;1489;p79"/>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90" name="Google Shape;1490;p79"/>
          <p:cNvSpPr txBox="1"/>
          <p:nvPr/>
        </p:nvSpPr>
        <p:spPr>
          <a:xfrm>
            <a:off x="228600" y="355600"/>
            <a:ext cx="6784975" cy="650875"/>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Times"/>
              <a:buNone/>
            </a:pPr>
            <a:r>
              <a:rPr b="1" i="0" lang="en-US" sz="3600" u="none">
                <a:solidFill>
                  <a:schemeClr val="lt1"/>
                </a:solidFill>
                <a:latin typeface="Times"/>
                <a:ea typeface="Times"/>
                <a:cs typeface="Times"/>
                <a:sym typeface="Times"/>
              </a:rPr>
              <a:t>15-9  CONGESTION CONTROL</a:t>
            </a:r>
            <a:endParaRPr/>
          </a:p>
        </p:txBody>
      </p:sp>
      <p:sp>
        <p:nvSpPr>
          <p:cNvPr id="1491" name="Google Shape;1491;p79"/>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92" name="Google Shape;1492;p79"/>
          <p:cNvSpPr txBox="1"/>
          <p:nvPr/>
        </p:nvSpPr>
        <p:spPr>
          <a:xfrm>
            <a:off x="152400" y="1524000"/>
            <a:ext cx="8839200" cy="26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mo"/>
              <a:buNone/>
            </a:pPr>
            <a:r>
              <a:rPr b="1" i="0" lang="en-US" sz="2800" u="none">
                <a:solidFill>
                  <a:schemeClr val="dk1"/>
                </a:solidFill>
                <a:latin typeface="Arimo"/>
                <a:ea typeface="Arimo"/>
                <a:cs typeface="Arimo"/>
                <a:sym typeface="Arimo"/>
              </a:rPr>
              <a:t>We discussed congestion control in Chapter 13. Congestion control in TCP is based on both open loop and closed-loop mechanisms. TCP uses a congestion window and a congestion policy that avoid congestion and detect and alleviate congestion after it has occurred.</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1497" name="Shape 1497"/>
        <p:cNvGrpSpPr/>
        <p:nvPr/>
      </p:nvGrpSpPr>
      <p:grpSpPr>
        <a:xfrm>
          <a:off x="0" y="0"/>
          <a:ext cx="0" cy="0"/>
          <a:chOff x="0" y="0"/>
          <a:chExt cx="0" cy="0"/>
        </a:xfrm>
      </p:grpSpPr>
      <p:sp>
        <p:nvSpPr>
          <p:cNvPr id="1498" name="Google Shape;1498;p80"/>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499" name="Google Shape;1499;p80"/>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500" name="Google Shape;1500;p80"/>
          <p:cNvSpPr txBox="1"/>
          <p:nvPr/>
        </p:nvSpPr>
        <p:spPr>
          <a:xfrm>
            <a:off x="228600" y="152400"/>
            <a:ext cx="54689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1501" name="Google Shape;1501;p80"/>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02" name="Google Shape;1502;p80"/>
          <p:cNvSpPr txBox="1"/>
          <p:nvPr/>
        </p:nvSpPr>
        <p:spPr>
          <a:xfrm>
            <a:off x="304800" y="989012"/>
            <a:ext cx="8382000" cy="1031875"/>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Congestion Window</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Congestion Policy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2"/>
                                        </p:tgtEl>
                                        <p:attrNameLst>
                                          <p:attrName>style.visibility</p:attrName>
                                        </p:attrNameLst>
                                      </p:cBhvr>
                                      <p:to>
                                        <p:strVal val="visible"/>
                                      </p:to>
                                    </p:set>
                                    <p:animEffect filter="fade" transition="in">
                                      <p:cBhvr>
                                        <p:cTn dur="5000"/>
                                        <p:tgtEl>
                                          <p:spTgt spid="15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7" name="Shape 1507"/>
        <p:cNvGrpSpPr/>
        <p:nvPr/>
      </p:nvGrpSpPr>
      <p:grpSpPr>
        <a:xfrm>
          <a:off x="0" y="0"/>
          <a:ext cx="0" cy="0"/>
          <a:chOff x="0" y="0"/>
          <a:chExt cx="0" cy="0"/>
        </a:xfrm>
      </p:grpSpPr>
      <p:sp>
        <p:nvSpPr>
          <p:cNvPr id="1508" name="Google Shape;1508;p81"/>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509" name="Google Shape;1509;p81"/>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510" name="Google Shape;1510;p81"/>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15.34</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Slow start, exponential increase</a:t>
            </a:r>
            <a:endParaRPr/>
          </a:p>
        </p:txBody>
      </p:sp>
      <p:sp>
        <p:nvSpPr>
          <p:cNvPr id="1511" name="Google Shape;1511;p8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12" name="Google Shape;1512;p8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13" name="Google Shape;1513;p8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14" name="Google Shape;1514;p8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15" name="Google Shape;1515;p81"/>
          <p:cNvSpPr txBox="1"/>
          <p:nvPr/>
        </p:nvSpPr>
        <p:spPr>
          <a:xfrm>
            <a:off x="0" y="479425"/>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16" name="Google Shape;1516;p8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517" name="Google Shape;1517;p81"/>
          <p:cNvPicPr preferRelativeResize="0"/>
          <p:nvPr/>
        </p:nvPicPr>
        <p:blipFill rotWithShape="1">
          <a:blip r:embed="rId3">
            <a:alphaModFix/>
          </a:blip>
          <a:srcRect b="0" l="0" r="0" t="0"/>
          <a:stretch/>
        </p:blipFill>
        <p:spPr>
          <a:xfrm>
            <a:off x="3471862" y="1014412"/>
            <a:ext cx="3317875" cy="4708525"/>
          </a:xfrm>
          <a:prstGeom prst="rect">
            <a:avLst/>
          </a:prstGeom>
          <a:noFill/>
          <a:ln>
            <a:noFill/>
          </a:ln>
        </p:spPr>
      </p:pic>
      <p:sp>
        <p:nvSpPr>
          <p:cNvPr id="1518" name="Google Shape;1518;p8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519" name="Google Shape;1519;p81"/>
          <p:cNvPicPr preferRelativeResize="0"/>
          <p:nvPr/>
        </p:nvPicPr>
        <p:blipFill rotWithShape="1">
          <a:blip r:embed="rId4">
            <a:alphaModFix/>
          </a:blip>
          <a:srcRect b="0" l="0" r="0" t="0"/>
          <a:stretch/>
        </p:blipFill>
        <p:spPr>
          <a:xfrm>
            <a:off x="3757612" y="2041525"/>
            <a:ext cx="2770187" cy="538162"/>
          </a:xfrm>
          <a:prstGeom prst="rect">
            <a:avLst/>
          </a:prstGeom>
          <a:noFill/>
          <a:ln>
            <a:noFill/>
          </a:ln>
        </p:spPr>
      </p:pic>
      <p:pic>
        <p:nvPicPr>
          <p:cNvPr id="1520" name="Google Shape;1520;p81"/>
          <p:cNvPicPr preferRelativeResize="0"/>
          <p:nvPr/>
        </p:nvPicPr>
        <p:blipFill rotWithShape="1">
          <a:blip r:embed="rId5">
            <a:alphaModFix/>
          </a:blip>
          <a:srcRect b="0" l="0" r="0" t="0"/>
          <a:stretch/>
        </p:blipFill>
        <p:spPr>
          <a:xfrm>
            <a:off x="3752850" y="2625725"/>
            <a:ext cx="2760662" cy="358775"/>
          </a:xfrm>
          <a:prstGeom prst="rect">
            <a:avLst/>
          </a:prstGeom>
          <a:noFill/>
          <a:ln>
            <a:noFill/>
          </a:ln>
        </p:spPr>
      </p:pic>
      <p:pic>
        <p:nvPicPr>
          <p:cNvPr id="1521" name="Google Shape;1521;p81"/>
          <p:cNvPicPr preferRelativeResize="0"/>
          <p:nvPr/>
        </p:nvPicPr>
        <p:blipFill rotWithShape="1">
          <a:blip r:embed="rId6">
            <a:alphaModFix/>
          </a:blip>
          <a:srcRect b="0" l="0" r="0" t="0"/>
          <a:stretch/>
        </p:blipFill>
        <p:spPr>
          <a:xfrm>
            <a:off x="2514600" y="1831975"/>
            <a:ext cx="941387" cy="508000"/>
          </a:xfrm>
          <a:prstGeom prst="rect">
            <a:avLst/>
          </a:prstGeom>
          <a:noFill/>
          <a:ln>
            <a:noFill/>
          </a:ln>
        </p:spPr>
      </p:pic>
      <p:pic>
        <p:nvPicPr>
          <p:cNvPr id="1522" name="Google Shape;1522;p81"/>
          <p:cNvPicPr preferRelativeResize="0"/>
          <p:nvPr/>
        </p:nvPicPr>
        <p:blipFill rotWithShape="1">
          <a:blip r:embed="rId7">
            <a:alphaModFix/>
          </a:blip>
          <a:srcRect b="0" l="0" r="0" t="0"/>
          <a:stretch/>
        </p:blipFill>
        <p:spPr>
          <a:xfrm>
            <a:off x="2432050" y="2046287"/>
            <a:ext cx="1216025" cy="1160462"/>
          </a:xfrm>
          <a:prstGeom prst="rect">
            <a:avLst/>
          </a:prstGeom>
          <a:noFill/>
          <a:ln>
            <a:noFill/>
          </a:ln>
        </p:spPr>
      </p:pic>
      <p:pic>
        <p:nvPicPr>
          <p:cNvPr id="1523" name="Google Shape;1523;p81"/>
          <p:cNvPicPr preferRelativeResize="0"/>
          <p:nvPr/>
        </p:nvPicPr>
        <p:blipFill rotWithShape="1">
          <a:blip r:embed="rId8">
            <a:alphaModFix/>
          </a:blip>
          <a:srcRect b="0" l="0" r="0" t="0"/>
          <a:stretch/>
        </p:blipFill>
        <p:spPr>
          <a:xfrm>
            <a:off x="3762375" y="3006725"/>
            <a:ext cx="2787650" cy="674687"/>
          </a:xfrm>
          <a:prstGeom prst="rect">
            <a:avLst/>
          </a:prstGeom>
          <a:noFill/>
          <a:ln>
            <a:noFill/>
          </a:ln>
        </p:spPr>
      </p:pic>
      <p:pic>
        <p:nvPicPr>
          <p:cNvPr id="1524" name="Google Shape;1524;p81"/>
          <p:cNvPicPr preferRelativeResize="0"/>
          <p:nvPr/>
        </p:nvPicPr>
        <p:blipFill rotWithShape="1">
          <a:blip r:embed="rId9">
            <a:alphaModFix/>
          </a:blip>
          <a:srcRect b="0" l="0" r="0" t="0"/>
          <a:stretch/>
        </p:blipFill>
        <p:spPr>
          <a:xfrm>
            <a:off x="3743325" y="3552825"/>
            <a:ext cx="2751137" cy="482600"/>
          </a:xfrm>
          <a:prstGeom prst="rect">
            <a:avLst/>
          </a:prstGeom>
          <a:noFill/>
          <a:ln>
            <a:noFill/>
          </a:ln>
        </p:spPr>
      </p:pic>
      <p:pic>
        <p:nvPicPr>
          <p:cNvPr id="1525" name="Google Shape;1525;p81"/>
          <p:cNvPicPr preferRelativeResize="0"/>
          <p:nvPr/>
        </p:nvPicPr>
        <p:blipFill rotWithShape="1">
          <a:blip r:embed="rId10">
            <a:alphaModFix/>
          </a:blip>
          <a:srcRect b="0" l="0" r="0" t="0"/>
          <a:stretch/>
        </p:blipFill>
        <p:spPr>
          <a:xfrm>
            <a:off x="1979612" y="3132137"/>
            <a:ext cx="1682750" cy="1135062"/>
          </a:xfrm>
          <a:prstGeom prst="rect">
            <a:avLst/>
          </a:prstGeom>
          <a:noFill/>
          <a:ln>
            <a:noFill/>
          </a:ln>
        </p:spPr>
      </p:pic>
      <p:pic>
        <p:nvPicPr>
          <p:cNvPr id="1526" name="Google Shape;1526;p81"/>
          <p:cNvPicPr preferRelativeResize="0"/>
          <p:nvPr/>
        </p:nvPicPr>
        <p:blipFill rotWithShape="1">
          <a:blip r:embed="rId11">
            <a:alphaModFix/>
          </a:blip>
          <a:srcRect b="0" l="0" r="0" t="0"/>
          <a:stretch/>
        </p:blipFill>
        <p:spPr>
          <a:xfrm>
            <a:off x="3743325" y="4097337"/>
            <a:ext cx="2797175" cy="939800"/>
          </a:xfrm>
          <a:prstGeom prst="rect">
            <a:avLst/>
          </a:prstGeom>
          <a:noFill/>
          <a:ln>
            <a:noFill/>
          </a:ln>
        </p:spPr>
      </p:pic>
      <p:pic>
        <p:nvPicPr>
          <p:cNvPr id="1527" name="Google Shape;1527;p81"/>
          <p:cNvPicPr preferRelativeResize="0"/>
          <p:nvPr/>
        </p:nvPicPr>
        <p:blipFill rotWithShape="1">
          <a:blip r:embed="rId12">
            <a:alphaModFix/>
          </a:blip>
          <a:srcRect b="0" l="0" r="0" t="0"/>
          <a:stretch/>
        </p:blipFill>
        <p:spPr>
          <a:xfrm>
            <a:off x="3736975" y="4645025"/>
            <a:ext cx="2760662" cy="792162"/>
          </a:xfrm>
          <a:prstGeom prst="rect">
            <a:avLst/>
          </a:prstGeom>
          <a:noFill/>
          <a:ln>
            <a:noFill/>
          </a:ln>
        </p:spPr>
      </p:pic>
      <p:pic>
        <p:nvPicPr>
          <p:cNvPr id="1528" name="Google Shape;1528;p81"/>
          <p:cNvPicPr preferRelativeResize="0"/>
          <p:nvPr/>
        </p:nvPicPr>
        <p:blipFill rotWithShape="1">
          <a:blip r:embed="rId13">
            <a:alphaModFix/>
          </a:blip>
          <a:srcRect b="0" l="0" r="0" t="0"/>
          <a:stretch/>
        </p:blipFill>
        <p:spPr>
          <a:xfrm>
            <a:off x="984250" y="4365625"/>
            <a:ext cx="2697162" cy="1292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9"/>
                                        </p:tgtEl>
                                        <p:attrNameLst>
                                          <p:attrName>style.visibility</p:attrName>
                                        </p:attrNameLst>
                                      </p:cBhvr>
                                      <p:to>
                                        <p:strVal val="visible"/>
                                      </p:to>
                                    </p:set>
                                    <p:animEffect filter="fade" transition="in">
                                      <p:cBhvr>
                                        <p:cTn dur="1000"/>
                                        <p:tgtEl>
                                          <p:spTgt spid="15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0"/>
                                        </p:tgtEl>
                                        <p:attrNameLst>
                                          <p:attrName>style.visibility</p:attrName>
                                        </p:attrNameLst>
                                      </p:cBhvr>
                                      <p:to>
                                        <p:strVal val="visible"/>
                                      </p:to>
                                    </p:set>
                                    <p:animEffect filter="fade" transition="in">
                                      <p:cBhvr>
                                        <p:cTn dur="1000"/>
                                        <p:tgtEl>
                                          <p:spTgt spid="15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3"/>
                                        </p:tgtEl>
                                        <p:attrNameLst>
                                          <p:attrName>style.visibility</p:attrName>
                                        </p:attrNameLst>
                                      </p:cBhvr>
                                      <p:to>
                                        <p:strVal val="visible"/>
                                      </p:to>
                                    </p:set>
                                    <p:animEffect filter="fade" transition="in">
                                      <p:cBhvr>
                                        <p:cTn dur="1000"/>
                                        <p:tgtEl>
                                          <p:spTgt spid="15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4"/>
                                        </p:tgtEl>
                                        <p:attrNameLst>
                                          <p:attrName>style.visibility</p:attrName>
                                        </p:attrNameLst>
                                      </p:cBhvr>
                                      <p:to>
                                        <p:strVal val="visible"/>
                                      </p:to>
                                    </p:set>
                                    <p:animEffect filter="fade" transition="in">
                                      <p:cBhvr>
                                        <p:cTn dur="1000"/>
                                        <p:tgtEl>
                                          <p:spTgt spid="15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6"/>
                                        </p:tgtEl>
                                        <p:attrNameLst>
                                          <p:attrName>style.visibility</p:attrName>
                                        </p:attrNameLst>
                                      </p:cBhvr>
                                      <p:to>
                                        <p:strVal val="visible"/>
                                      </p:to>
                                    </p:set>
                                    <p:animEffect filter="fade" transition="in">
                                      <p:cBhvr>
                                        <p:cTn dur="1000"/>
                                        <p:tgtEl>
                                          <p:spTgt spid="15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7"/>
                                        </p:tgtEl>
                                        <p:attrNameLst>
                                          <p:attrName>style.visibility</p:attrName>
                                        </p:attrNameLst>
                                      </p:cBhvr>
                                      <p:to>
                                        <p:strVal val="visible"/>
                                      </p:to>
                                    </p:set>
                                    <p:animEffect filter="fade" transition="in">
                                      <p:cBhvr>
                                        <p:cTn dur="1000"/>
                                        <p:tgtEl>
                                          <p:spTgt spid="15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3" name="Shape 1533"/>
        <p:cNvGrpSpPr/>
        <p:nvPr/>
      </p:nvGrpSpPr>
      <p:grpSpPr>
        <a:xfrm>
          <a:off x="0" y="0"/>
          <a:ext cx="0" cy="0"/>
          <a:chOff x="0" y="0"/>
          <a:chExt cx="0" cy="0"/>
        </a:xfrm>
      </p:grpSpPr>
      <p:sp>
        <p:nvSpPr>
          <p:cNvPr id="1534" name="Google Shape;1534;p82"/>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535" name="Google Shape;1535;p82"/>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536" name="Google Shape;1536;p8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37" name="Google Shape;1537;p8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38" name="Google Shape;1538;p8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39" name="Google Shape;1539;p8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40" name="Google Shape;1540;p8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41" name="Google Shape;1541;p8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42" name="Google Shape;1542;p8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543" name="Google Shape;1543;p82"/>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544" name="Google Shape;1544;p82"/>
          <p:cNvCxnSpPr/>
          <p:nvPr/>
        </p:nvCxnSpPr>
        <p:spPr>
          <a:xfrm>
            <a:off x="609600" y="48768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1545" name="Google Shape;1545;p82"/>
          <p:cNvSpPr txBox="1"/>
          <p:nvPr/>
        </p:nvSpPr>
        <p:spPr>
          <a:xfrm>
            <a:off x="647700" y="2716212"/>
            <a:ext cx="8077200" cy="2041525"/>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In the slow start algorithm, the size of the congestion window increases exponentially until it reaches a threshold.</a:t>
            </a:r>
            <a:endParaRPr/>
          </a:p>
        </p:txBody>
      </p:sp>
      <p:grpSp>
        <p:nvGrpSpPr>
          <p:cNvPr id="1546" name="Google Shape;1546;p82"/>
          <p:cNvGrpSpPr/>
          <p:nvPr/>
        </p:nvGrpSpPr>
        <p:grpSpPr>
          <a:xfrm>
            <a:off x="609600" y="1981200"/>
            <a:ext cx="1143000" cy="566737"/>
            <a:chOff x="1200" y="1248"/>
            <a:chExt cx="720" cy="357"/>
          </a:xfrm>
        </p:grpSpPr>
        <p:pic>
          <p:nvPicPr>
            <p:cNvPr id="1547" name="Google Shape;1547;p82"/>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548" name="Google Shape;1548;p82"/>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543"/>
                                        </p:tgtEl>
                                        <p:attrNameLst>
                                          <p:attrName>style.visibility</p:attrName>
                                        </p:attrNameLst>
                                      </p:cBhvr>
                                      <p:to>
                                        <p:strVal val="visible"/>
                                      </p:to>
                                    </p:set>
                                    <p:animEffect filter="fade" transition="in">
                                      <p:cBhvr>
                                        <p:cTn dur="500"/>
                                        <p:tgtEl>
                                          <p:spTgt spid="154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44"/>
                                        </p:tgtEl>
                                        <p:attrNameLst>
                                          <p:attrName>style.visibility</p:attrName>
                                        </p:attrNameLst>
                                      </p:cBhvr>
                                      <p:to>
                                        <p:strVal val="visible"/>
                                      </p:to>
                                    </p:set>
                                    <p:animEffect filter="fade" transition="in">
                                      <p:cBhvr>
                                        <p:cTn dur="500"/>
                                        <p:tgtEl>
                                          <p:spTgt spid="154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45"/>
                                        </p:tgtEl>
                                        <p:attrNameLst>
                                          <p:attrName>style.visibility</p:attrName>
                                        </p:attrNameLst>
                                      </p:cBhvr>
                                      <p:to>
                                        <p:strVal val="visible"/>
                                      </p:to>
                                    </p:set>
                                    <p:animEffect filter="fade" transition="in">
                                      <p:cBhvr>
                                        <p:cTn dur="500"/>
                                        <p:tgtEl>
                                          <p:spTgt spid="15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3" name="Shape 1553"/>
        <p:cNvGrpSpPr/>
        <p:nvPr/>
      </p:nvGrpSpPr>
      <p:grpSpPr>
        <a:xfrm>
          <a:off x="0" y="0"/>
          <a:ext cx="0" cy="0"/>
          <a:chOff x="0" y="0"/>
          <a:chExt cx="0" cy="0"/>
        </a:xfrm>
      </p:grpSpPr>
      <p:sp>
        <p:nvSpPr>
          <p:cNvPr id="1554" name="Google Shape;1554;p83"/>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555" name="Google Shape;1555;p83"/>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556" name="Google Shape;1556;p83"/>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15.35</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Congestion avoidance, additive increase</a:t>
            </a:r>
            <a:endParaRPr/>
          </a:p>
        </p:txBody>
      </p:sp>
      <p:sp>
        <p:nvSpPr>
          <p:cNvPr id="1557" name="Google Shape;1557;p8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58" name="Google Shape;1558;p8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59" name="Google Shape;1559;p8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60" name="Google Shape;1560;p8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61" name="Google Shape;1561;p8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62" name="Google Shape;1562;p8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63" name="Google Shape;1563;p8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564" name="Google Shape;1564;p83"/>
          <p:cNvPicPr preferRelativeResize="0"/>
          <p:nvPr/>
        </p:nvPicPr>
        <p:blipFill rotWithShape="1">
          <a:blip r:embed="rId3">
            <a:alphaModFix/>
          </a:blip>
          <a:srcRect b="0" l="0" r="0" t="0"/>
          <a:stretch/>
        </p:blipFill>
        <p:spPr>
          <a:xfrm>
            <a:off x="1371600" y="990600"/>
            <a:ext cx="7331075" cy="5251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4"/>
                                        </p:tgtEl>
                                        <p:attrNameLst>
                                          <p:attrName>style.visibility</p:attrName>
                                        </p:attrNameLst>
                                      </p:cBhvr>
                                      <p:to>
                                        <p:strVal val="visible"/>
                                      </p:to>
                                    </p:set>
                                    <p:animEffect filter="fade" transition="in">
                                      <p:cBhvr>
                                        <p:cTn dur="3000"/>
                                        <p:tgtEl>
                                          <p:spTgt spid="15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9" name="Shape 1569"/>
        <p:cNvGrpSpPr/>
        <p:nvPr/>
      </p:nvGrpSpPr>
      <p:grpSpPr>
        <a:xfrm>
          <a:off x="0" y="0"/>
          <a:ext cx="0" cy="0"/>
          <a:chOff x="0" y="0"/>
          <a:chExt cx="0" cy="0"/>
        </a:xfrm>
      </p:grpSpPr>
      <p:sp>
        <p:nvSpPr>
          <p:cNvPr id="1570" name="Google Shape;1570;p84"/>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571" name="Google Shape;1571;p84"/>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572" name="Google Shape;1572;p8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73" name="Google Shape;1573;p8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74" name="Google Shape;1574;p8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75" name="Google Shape;1575;p8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76" name="Google Shape;1576;p8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77" name="Google Shape;1577;p8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78" name="Google Shape;1578;p8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579" name="Google Shape;1579;p84"/>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580" name="Google Shape;1580;p84"/>
          <p:cNvCxnSpPr/>
          <p:nvPr/>
        </p:nvCxnSpPr>
        <p:spPr>
          <a:xfrm>
            <a:off x="609600" y="48768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1581" name="Google Shape;1581;p84"/>
          <p:cNvSpPr txBox="1"/>
          <p:nvPr/>
        </p:nvSpPr>
        <p:spPr>
          <a:xfrm>
            <a:off x="647700" y="2716212"/>
            <a:ext cx="8077200" cy="2041525"/>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In the congestion avoidance algorithm the size of the congestion window</a:t>
            </a:r>
            <a:endParaRPr/>
          </a:p>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increases additively until </a:t>
            </a:r>
            <a:endParaRPr/>
          </a:p>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congestion is detected.</a:t>
            </a:r>
            <a:endParaRPr/>
          </a:p>
        </p:txBody>
      </p:sp>
      <p:grpSp>
        <p:nvGrpSpPr>
          <p:cNvPr id="1582" name="Google Shape;1582;p84"/>
          <p:cNvGrpSpPr/>
          <p:nvPr/>
        </p:nvGrpSpPr>
        <p:grpSpPr>
          <a:xfrm>
            <a:off x="609600" y="1981200"/>
            <a:ext cx="1143000" cy="566737"/>
            <a:chOff x="1200" y="1248"/>
            <a:chExt cx="720" cy="357"/>
          </a:xfrm>
        </p:grpSpPr>
        <p:pic>
          <p:nvPicPr>
            <p:cNvPr id="1583" name="Google Shape;1583;p84"/>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584" name="Google Shape;1584;p84"/>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579"/>
                                        </p:tgtEl>
                                        <p:attrNameLst>
                                          <p:attrName>style.visibility</p:attrName>
                                        </p:attrNameLst>
                                      </p:cBhvr>
                                      <p:to>
                                        <p:strVal val="visible"/>
                                      </p:to>
                                    </p:set>
                                    <p:animEffect filter="fade" transition="in">
                                      <p:cBhvr>
                                        <p:cTn dur="500"/>
                                        <p:tgtEl>
                                          <p:spTgt spid="157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80"/>
                                        </p:tgtEl>
                                        <p:attrNameLst>
                                          <p:attrName>style.visibility</p:attrName>
                                        </p:attrNameLst>
                                      </p:cBhvr>
                                      <p:to>
                                        <p:strVal val="visible"/>
                                      </p:to>
                                    </p:set>
                                    <p:animEffect filter="fade" transition="in">
                                      <p:cBhvr>
                                        <p:cTn dur="500"/>
                                        <p:tgtEl>
                                          <p:spTgt spid="158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81"/>
                                        </p:tgtEl>
                                        <p:attrNameLst>
                                          <p:attrName>style.visibility</p:attrName>
                                        </p:attrNameLst>
                                      </p:cBhvr>
                                      <p:to>
                                        <p:strVal val="visible"/>
                                      </p:to>
                                    </p:set>
                                    <p:animEffect filter="fade" transition="in">
                                      <p:cBhvr>
                                        <p:cTn dur="500"/>
                                        <p:tgtEl>
                                          <p:spTgt spid="15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9" name="Shape 1589"/>
        <p:cNvGrpSpPr/>
        <p:nvPr/>
      </p:nvGrpSpPr>
      <p:grpSpPr>
        <a:xfrm>
          <a:off x="0" y="0"/>
          <a:ext cx="0" cy="0"/>
          <a:chOff x="0" y="0"/>
          <a:chExt cx="0" cy="0"/>
        </a:xfrm>
      </p:grpSpPr>
      <p:sp>
        <p:nvSpPr>
          <p:cNvPr id="1590" name="Google Shape;1590;p85"/>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591" name="Google Shape;1591;p85"/>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592" name="Google Shape;1592;p85"/>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15.36</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TCP Congestion policy summary</a:t>
            </a:r>
            <a:endParaRPr/>
          </a:p>
        </p:txBody>
      </p:sp>
      <p:sp>
        <p:nvSpPr>
          <p:cNvPr id="1593" name="Google Shape;1593;p8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94" name="Google Shape;1594;p8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95" name="Google Shape;1595;p8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96" name="Google Shape;1596;p8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97" name="Google Shape;1597;p8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98" name="Google Shape;1598;p8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99" name="Google Shape;1599;p8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600" name="Google Shape;1600;p85"/>
          <p:cNvPicPr preferRelativeResize="0"/>
          <p:nvPr/>
        </p:nvPicPr>
        <p:blipFill rotWithShape="1">
          <a:blip r:embed="rId3">
            <a:alphaModFix/>
          </a:blip>
          <a:srcRect b="0" l="0" r="0" t="0"/>
          <a:stretch/>
        </p:blipFill>
        <p:spPr>
          <a:xfrm>
            <a:off x="1017587" y="1539875"/>
            <a:ext cx="7212012" cy="4327525"/>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5" name="Shape 1605"/>
        <p:cNvGrpSpPr/>
        <p:nvPr/>
      </p:nvGrpSpPr>
      <p:grpSpPr>
        <a:xfrm>
          <a:off x="0" y="0"/>
          <a:ext cx="0" cy="0"/>
          <a:chOff x="0" y="0"/>
          <a:chExt cx="0" cy="0"/>
        </a:xfrm>
      </p:grpSpPr>
      <p:sp>
        <p:nvSpPr>
          <p:cNvPr id="1606" name="Google Shape;1606;p86"/>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607" name="Google Shape;1607;p86"/>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608" name="Google Shape;1608;p86"/>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15.37</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Congestion example</a:t>
            </a:r>
            <a:endParaRPr/>
          </a:p>
        </p:txBody>
      </p:sp>
      <p:sp>
        <p:nvSpPr>
          <p:cNvPr id="1609" name="Google Shape;1609;p8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610" name="Google Shape;1610;p8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611" name="Google Shape;1611;p8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612" name="Google Shape;1612;p8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613" name="Google Shape;1613;p8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614" name="Google Shape;1614;p8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615" name="Google Shape;1615;p8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616" name="Google Shape;1616;p86"/>
          <p:cNvPicPr preferRelativeResize="0"/>
          <p:nvPr/>
        </p:nvPicPr>
        <p:blipFill rotWithShape="1">
          <a:blip r:embed="rId3">
            <a:alphaModFix/>
          </a:blip>
          <a:srcRect b="0" l="0" r="0" t="0"/>
          <a:stretch/>
        </p:blipFill>
        <p:spPr>
          <a:xfrm>
            <a:off x="728662" y="1528762"/>
            <a:ext cx="7805737" cy="3576637"/>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1" name="Shape 1621"/>
        <p:cNvGrpSpPr/>
        <p:nvPr/>
      </p:nvGrpSpPr>
      <p:grpSpPr>
        <a:xfrm>
          <a:off x="0" y="0"/>
          <a:ext cx="0" cy="0"/>
          <a:chOff x="0" y="0"/>
          <a:chExt cx="0" cy="0"/>
        </a:xfrm>
      </p:grpSpPr>
      <p:sp>
        <p:nvSpPr>
          <p:cNvPr id="1622" name="Google Shape;1622;p87"/>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623" name="Google Shape;1623;p87"/>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624" name="Google Shape;1624;p87"/>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625" name="Google Shape;1625;p87"/>
          <p:cNvSpPr txBox="1"/>
          <p:nvPr/>
        </p:nvSpPr>
        <p:spPr>
          <a:xfrm>
            <a:off x="228600" y="355600"/>
            <a:ext cx="4321175" cy="650875"/>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Times"/>
              <a:buNone/>
            </a:pPr>
            <a:r>
              <a:rPr b="1" i="0" lang="en-US" sz="3600" u="none">
                <a:solidFill>
                  <a:schemeClr val="lt1"/>
                </a:solidFill>
                <a:latin typeface="Times"/>
                <a:ea typeface="Times"/>
                <a:cs typeface="Times"/>
                <a:sym typeface="Times"/>
              </a:rPr>
              <a:t>15-10  TCP TIMERS</a:t>
            </a:r>
            <a:endParaRPr/>
          </a:p>
        </p:txBody>
      </p:sp>
      <p:sp>
        <p:nvSpPr>
          <p:cNvPr id="1626" name="Google Shape;1626;p87"/>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627" name="Google Shape;1627;p87"/>
          <p:cNvSpPr txBox="1"/>
          <p:nvPr/>
        </p:nvSpPr>
        <p:spPr>
          <a:xfrm>
            <a:off x="152400" y="1524000"/>
            <a:ext cx="8839200" cy="13731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mo"/>
              <a:buNone/>
            </a:pPr>
            <a:r>
              <a:rPr b="1" i="0" lang="en-US" sz="2800" u="none">
                <a:solidFill>
                  <a:schemeClr val="dk1"/>
                </a:solidFill>
                <a:latin typeface="Arimo"/>
                <a:ea typeface="Arimo"/>
                <a:cs typeface="Arimo"/>
                <a:sym typeface="Arimo"/>
              </a:rPr>
              <a:t>To perform its operation smoothly, most TCP implementations use at least four timers as shown in Figure 15.38 (slide 83).</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1632" name="Shape 1632"/>
        <p:cNvGrpSpPr/>
        <p:nvPr/>
      </p:nvGrpSpPr>
      <p:grpSpPr>
        <a:xfrm>
          <a:off x="0" y="0"/>
          <a:ext cx="0" cy="0"/>
          <a:chOff x="0" y="0"/>
          <a:chExt cx="0" cy="0"/>
        </a:xfrm>
      </p:grpSpPr>
      <p:sp>
        <p:nvSpPr>
          <p:cNvPr id="1633" name="Google Shape;1633;p88"/>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634" name="Google Shape;1634;p88"/>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635" name="Google Shape;1635;p88"/>
          <p:cNvSpPr txBox="1"/>
          <p:nvPr/>
        </p:nvSpPr>
        <p:spPr>
          <a:xfrm>
            <a:off x="228600" y="152400"/>
            <a:ext cx="54689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1636" name="Google Shape;1636;p88"/>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637" name="Google Shape;1637;p88"/>
          <p:cNvSpPr txBox="1"/>
          <p:nvPr/>
        </p:nvSpPr>
        <p:spPr>
          <a:xfrm>
            <a:off x="304800" y="989012"/>
            <a:ext cx="8382000" cy="2057400"/>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Retransmission Timer</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Persistence Timer</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Keepalive Timer</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TIME-WAIT Timer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7"/>
                                        </p:tgtEl>
                                        <p:attrNameLst>
                                          <p:attrName>style.visibility</p:attrName>
                                        </p:attrNameLst>
                                      </p:cBhvr>
                                      <p:to>
                                        <p:strVal val="visible"/>
                                      </p:to>
                                    </p:set>
                                    <p:animEffect filter="fade" transition="in">
                                      <p:cBhvr>
                                        <p:cTn dur="5000"/>
                                        <p:tgtEl>
                                          <p:spTgt spid="16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2" name="Shape 1642"/>
        <p:cNvGrpSpPr/>
        <p:nvPr/>
      </p:nvGrpSpPr>
      <p:grpSpPr>
        <a:xfrm>
          <a:off x="0" y="0"/>
          <a:ext cx="0" cy="0"/>
          <a:chOff x="0" y="0"/>
          <a:chExt cx="0" cy="0"/>
        </a:xfrm>
      </p:grpSpPr>
      <p:sp>
        <p:nvSpPr>
          <p:cNvPr id="1643" name="Google Shape;1643;p89"/>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644" name="Google Shape;1644;p89"/>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645" name="Google Shape;1645;p89"/>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15.38</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TCP timers</a:t>
            </a:r>
            <a:endParaRPr/>
          </a:p>
        </p:txBody>
      </p:sp>
      <p:sp>
        <p:nvSpPr>
          <p:cNvPr id="1646" name="Google Shape;1646;p8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647" name="Google Shape;1647;p8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648" name="Google Shape;1648;p8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649" name="Google Shape;1649;p8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650" name="Google Shape;1650;p8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651" name="Google Shape;1651;p8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652" name="Google Shape;1652;p8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653" name="Google Shape;1653;p89"/>
          <p:cNvPicPr preferRelativeResize="0"/>
          <p:nvPr/>
        </p:nvPicPr>
        <p:blipFill rotWithShape="1">
          <a:blip r:embed="rId3">
            <a:alphaModFix/>
          </a:blip>
          <a:srcRect b="0" l="0" r="0" t="0"/>
          <a:stretch/>
        </p:blipFill>
        <p:spPr>
          <a:xfrm>
            <a:off x="457200" y="2568575"/>
            <a:ext cx="8135937" cy="1203325"/>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8" name="Shape 1658"/>
        <p:cNvGrpSpPr/>
        <p:nvPr/>
      </p:nvGrpSpPr>
      <p:grpSpPr>
        <a:xfrm>
          <a:off x="0" y="0"/>
          <a:ext cx="0" cy="0"/>
          <a:chOff x="0" y="0"/>
          <a:chExt cx="0" cy="0"/>
        </a:xfrm>
      </p:grpSpPr>
      <p:sp>
        <p:nvSpPr>
          <p:cNvPr id="1659" name="Google Shape;1659;p90"/>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660" name="Google Shape;1660;p90"/>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661" name="Google Shape;1661;p90"/>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662" name="Google Shape;1662;p9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663" name="Google Shape;1663;p90"/>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664" name="Google Shape;1664;p9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665" name="Google Shape;1665;p9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666" name="Google Shape;1666;p90"/>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667" name="Google Shape;1667;p9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668" name="Google Shape;1668;p90"/>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669" name="Google Shape;1669;p90"/>
          <p:cNvCxnSpPr/>
          <p:nvPr/>
        </p:nvCxnSpPr>
        <p:spPr>
          <a:xfrm>
            <a:off x="609600" y="38862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1670" name="Google Shape;1670;p90"/>
          <p:cNvSpPr txBox="1"/>
          <p:nvPr/>
        </p:nvSpPr>
        <p:spPr>
          <a:xfrm>
            <a:off x="647700" y="2716212"/>
            <a:ext cx="8077200" cy="10668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In TCP, there can be only one RTT measurement in progress at any time.</a:t>
            </a:r>
            <a:endParaRPr/>
          </a:p>
        </p:txBody>
      </p:sp>
      <p:grpSp>
        <p:nvGrpSpPr>
          <p:cNvPr id="1671" name="Google Shape;1671;p90"/>
          <p:cNvGrpSpPr/>
          <p:nvPr/>
        </p:nvGrpSpPr>
        <p:grpSpPr>
          <a:xfrm>
            <a:off x="609600" y="1981200"/>
            <a:ext cx="1143000" cy="566737"/>
            <a:chOff x="1200" y="1248"/>
            <a:chExt cx="720" cy="357"/>
          </a:xfrm>
        </p:grpSpPr>
        <p:pic>
          <p:nvPicPr>
            <p:cNvPr id="1672" name="Google Shape;1672;p90"/>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673" name="Google Shape;1673;p90"/>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
        <p:nvSpPr>
          <p:cNvPr id="1674" name="Google Shape;1674;p90"/>
          <p:cNvSpPr txBox="1"/>
          <p:nvPr/>
        </p:nvSpPr>
        <p:spPr>
          <a:xfrm>
            <a:off x="838200" y="4343400"/>
            <a:ext cx="7467600" cy="946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Arial"/>
              <a:buNone/>
            </a:pPr>
            <a:r>
              <a:rPr b="1" i="0" lang="en-US" sz="2800" u="none">
                <a:solidFill>
                  <a:schemeClr val="hlink"/>
                </a:solidFill>
                <a:latin typeface="Arial"/>
                <a:ea typeface="Arial"/>
                <a:cs typeface="Arial"/>
                <a:sym typeface="Arial"/>
              </a:rPr>
              <a:t>Since the segments and their ACKs do not have a 1-1 relationship</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668"/>
                                        </p:tgtEl>
                                        <p:attrNameLst>
                                          <p:attrName>style.visibility</p:attrName>
                                        </p:attrNameLst>
                                      </p:cBhvr>
                                      <p:to>
                                        <p:strVal val="visible"/>
                                      </p:to>
                                    </p:set>
                                    <p:animEffect filter="fade" transition="in">
                                      <p:cBhvr>
                                        <p:cTn dur="500"/>
                                        <p:tgtEl>
                                          <p:spTgt spid="166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669"/>
                                        </p:tgtEl>
                                        <p:attrNameLst>
                                          <p:attrName>style.visibility</p:attrName>
                                        </p:attrNameLst>
                                      </p:cBhvr>
                                      <p:to>
                                        <p:strVal val="visible"/>
                                      </p:to>
                                    </p:set>
                                    <p:animEffect filter="fade" transition="in">
                                      <p:cBhvr>
                                        <p:cTn dur="500"/>
                                        <p:tgtEl>
                                          <p:spTgt spid="166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70"/>
                                        </p:tgtEl>
                                        <p:attrNameLst>
                                          <p:attrName>style.visibility</p:attrName>
                                        </p:attrNameLst>
                                      </p:cBhvr>
                                      <p:to>
                                        <p:strVal val="visible"/>
                                      </p:to>
                                    </p:set>
                                    <p:animEffect filter="fade" transition="in">
                                      <p:cBhvr>
                                        <p:cTn dur="500"/>
                                        <p:tgtEl>
                                          <p:spTgt spid="16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8" name="Shape 1678"/>
        <p:cNvGrpSpPr/>
        <p:nvPr/>
      </p:nvGrpSpPr>
      <p:grpSpPr>
        <a:xfrm>
          <a:off x="0" y="0"/>
          <a:ext cx="0" cy="0"/>
          <a:chOff x="0" y="0"/>
          <a:chExt cx="0" cy="0"/>
        </a:xfrm>
      </p:grpSpPr>
      <p:sp>
        <p:nvSpPr>
          <p:cNvPr id="1679" name="Google Shape;1679;p91"/>
          <p:cNvSpPr txBox="1"/>
          <p:nvPr/>
        </p:nvSpPr>
        <p:spPr>
          <a:xfrm>
            <a:off x="35560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TCP/IP Protocol Suite</a:t>
            </a:r>
            <a:endParaRPr/>
          </a:p>
        </p:txBody>
      </p:sp>
      <p:sp>
        <p:nvSpPr>
          <p:cNvPr id="1680" name="Google Shape;1680;p91"/>
          <p:cNvSpPr txBox="1"/>
          <p:nvPr/>
        </p:nvSpPr>
        <p:spPr>
          <a:xfrm>
            <a:off x="67183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fld id="{00000000-1234-1234-1234-123412341234}" type="slidenum">
              <a:rPr b="0" i="0" lang="en-US" sz="1400" u="none">
                <a:solidFill>
                  <a:schemeClr val="dk1"/>
                </a:solidFill>
                <a:latin typeface="Comic Sans MS"/>
                <a:ea typeface="Comic Sans MS"/>
                <a:cs typeface="Comic Sans MS"/>
                <a:sym typeface="Comic Sans MS"/>
              </a:rPr>
              <a:t>‹#›</a:t>
            </a:fld>
            <a:endParaRPr/>
          </a:p>
        </p:txBody>
      </p:sp>
      <p:sp>
        <p:nvSpPr>
          <p:cNvPr id="1681" name="Google Shape;1681;p91"/>
          <p:cNvSpPr txBox="1"/>
          <p:nvPr>
            <p:ph type="title"/>
          </p:nvPr>
        </p:nvSpPr>
        <p:spPr>
          <a:xfrm>
            <a:off x="685800" y="228600"/>
            <a:ext cx="7162800" cy="83661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00CC"/>
              </a:buClr>
              <a:buSzPts val="3600"/>
              <a:buFont typeface="Comic Sans MS"/>
              <a:buNone/>
            </a:pPr>
            <a:r>
              <a:rPr b="1" i="0" lang="en-US" sz="3600" u="none">
                <a:solidFill>
                  <a:srgbClr val="0000CC"/>
                </a:solidFill>
                <a:latin typeface="Comic Sans MS"/>
                <a:ea typeface="Comic Sans MS"/>
                <a:cs typeface="Comic Sans MS"/>
                <a:sym typeface="Comic Sans MS"/>
              </a:rPr>
              <a:t>Calculation of RTO (1)</a:t>
            </a:r>
            <a:endParaRPr/>
          </a:p>
        </p:txBody>
      </p:sp>
      <p:sp>
        <p:nvSpPr>
          <p:cNvPr id="1682" name="Google Shape;1682;p91"/>
          <p:cNvSpPr txBox="1"/>
          <p:nvPr>
            <p:ph idx="1" type="body"/>
          </p:nvPr>
        </p:nvSpPr>
        <p:spPr>
          <a:xfrm>
            <a:off x="381000" y="1219200"/>
            <a:ext cx="8305800" cy="4953000"/>
          </a:xfrm>
          <a:prstGeom prst="rect">
            <a:avLst/>
          </a:prstGeom>
          <a:noFill/>
          <a:ln>
            <a:noFill/>
          </a:ln>
        </p:spPr>
        <p:txBody>
          <a:bodyPr anchorCtr="0" anchor="t" bIns="45700" lIns="91425" spcFirstLastPara="1" rIns="91425" wrap="square" tIns="45700">
            <a:noAutofit/>
          </a:bodyPr>
          <a:lstStyle/>
          <a:p>
            <a:pPr indent="-365125" lvl="0" marL="365125" rtl="0" algn="l">
              <a:lnSpc>
                <a:spcPct val="100000"/>
              </a:lnSpc>
              <a:spcBef>
                <a:spcPts val="0"/>
              </a:spcBef>
              <a:spcAft>
                <a:spcPts val="0"/>
              </a:spcAft>
              <a:buClr>
                <a:schemeClr val="dk2"/>
              </a:buClr>
              <a:buSzPts val="2800"/>
              <a:buFont typeface="Comic Sans MS"/>
              <a:buChar char="•"/>
            </a:pPr>
            <a:r>
              <a:rPr b="1" i="0" lang="en-US" sz="2800" u="none">
                <a:solidFill>
                  <a:schemeClr val="dk2"/>
                </a:solidFill>
                <a:latin typeface="Comic Sans MS"/>
                <a:ea typeface="Comic Sans MS"/>
                <a:cs typeface="Comic Sans MS"/>
                <a:sym typeface="Comic Sans MS"/>
              </a:rPr>
              <a:t>Smoothed RTT: RTT</a:t>
            </a:r>
            <a:r>
              <a:rPr b="1" baseline="-25000" i="0" lang="en-US" sz="2800" u="none">
                <a:solidFill>
                  <a:schemeClr val="dk2"/>
                </a:solidFill>
                <a:latin typeface="Comic Sans MS"/>
                <a:ea typeface="Comic Sans MS"/>
                <a:cs typeface="Comic Sans MS"/>
                <a:sym typeface="Comic Sans MS"/>
              </a:rPr>
              <a:t>S</a:t>
            </a:r>
            <a:endParaRPr b="1" i="0" sz="2800" u="none">
              <a:solidFill>
                <a:schemeClr val="dk2"/>
              </a:solidFill>
              <a:latin typeface="Comic Sans MS"/>
              <a:ea typeface="Comic Sans MS"/>
              <a:cs typeface="Comic Sans MS"/>
              <a:sym typeface="Comic Sans MS"/>
            </a:endParaRPr>
          </a:p>
          <a:p>
            <a:pPr indent="-263524" lvl="1" marL="808037" rtl="0" algn="l">
              <a:lnSpc>
                <a:spcPct val="100000"/>
              </a:lnSpc>
              <a:spcBef>
                <a:spcPts val="960"/>
              </a:spcBef>
              <a:spcAft>
                <a:spcPts val="0"/>
              </a:spcAft>
              <a:buClr>
                <a:srgbClr val="0000CC"/>
              </a:buClr>
              <a:buSzPts val="2400"/>
              <a:buFont typeface="Comic Sans MS"/>
              <a:buChar char="–"/>
            </a:pPr>
            <a:r>
              <a:rPr b="1" i="0" lang="en-US" sz="2400" u="none">
                <a:solidFill>
                  <a:srgbClr val="0000CC"/>
                </a:solidFill>
                <a:latin typeface="Comic Sans MS"/>
                <a:ea typeface="Comic Sans MS"/>
                <a:cs typeface="Comic Sans MS"/>
                <a:sym typeface="Comic Sans MS"/>
              </a:rPr>
              <a:t>Original 🡪 No value</a:t>
            </a:r>
            <a:endParaRPr/>
          </a:p>
          <a:p>
            <a:pPr indent="-263524" lvl="1" marL="808037" rtl="0" algn="l">
              <a:lnSpc>
                <a:spcPct val="100000"/>
              </a:lnSpc>
              <a:spcBef>
                <a:spcPts val="960"/>
              </a:spcBef>
              <a:spcAft>
                <a:spcPts val="0"/>
              </a:spcAft>
              <a:buClr>
                <a:srgbClr val="0000CC"/>
              </a:buClr>
              <a:buSzPts val="2400"/>
              <a:buFont typeface="Comic Sans MS"/>
              <a:buChar char="–"/>
            </a:pPr>
            <a:r>
              <a:rPr b="1" i="0" lang="en-US" sz="2400" u="none">
                <a:solidFill>
                  <a:srgbClr val="0000CC"/>
                </a:solidFill>
                <a:latin typeface="Comic Sans MS"/>
                <a:ea typeface="Comic Sans MS"/>
                <a:cs typeface="Comic Sans MS"/>
                <a:sym typeface="Comic Sans MS"/>
              </a:rPr>
              <a:t>After 1</a:t>
            </a:r>
            <a:r>
              <a:rPr b="1" baseline="30000" i="0" lang="en-US" sz="2400" u="none">
                <a:solidFill>
                  <a:srgbClr val="0000CC"/>
                </a:solidFill>
                <a:latin typeface="Comic Sans MS"/>
                <a:ea typeface="Comic Sans MS"/>
                <a:cs typeface="Comic Sans MS"/>
                <a:sym typeface="Comic Sans MS"/>
              </a:rPr>
              <a:t>st</a:t>
            </a:r>
            <a:r>
              <a:rPr b="1" i="0" lang="en-US" sz="2400" u="none">
                <a:solidFill>
                  <a:srgbClr val="0000CC"/>
                </a:solidFill>
                <a:latin typeface="Comic Sans MS"/>
                <a:ea typeface="Comic Sans MS"/>
                <a:cs typeface="Comic Sans MS"/>
                <a:sym typeface="Comic Sans MS"/>
              </a:rPr>
              <a:t> measurement 🡪 </a:t>
            </a:r>
            <a:r>
              <a:rPr b="1" i="0" lang="en-US" sz="2400" u="none">
                <a:solidFill>
                  <a:schemeClr val="dk2"/>
                </a:solidFill>
                <a:latin typeface="Comic Sans MS"/>
                <a:ea typeface="Comic Sans MS"/>
                <a:cs typeface="Comic Sans MS"/>
                <a:sym typeface="Comic Sans MS"/>
              </a:rPr>
              <a:t>RTT</a:t>
            </a:r>
            <a:r>
              <a:rPr b="1" baseline="-25000" i="0" lang="en-US" sz="2400" u="none">
                <a:solidFill>
                  <a:schemeClr val="dk2"/>
                </a:solidFill>
                <a:latin typeface="Comic Sans MS"/>
                <a:ea typeface="Comic Sans MS"/>
                <a:cs typeface="Comic Sans MS"/>
                <a:sym typeface="Comic Sans MS"/>
              </a:rPr>
              <a:t>S</a:t>
            </a:r>
            <a:r>
              <a:rPr b="1" i="0" lang="en-US" sz="2400" u="none">
                <a:solidFill>
                  <a:schemeClr val="dk2"/>
                </a:solidFill>
                <a:latin typeface="Comic Sans MS"/>
                <a:ea typeface="Comic Sans MS"/>
                <a:cs typeface="Comic Sans MS"/>
                <a:sym typeface="Comic Sans MS"/>
              </a:rPr>
              <a:t> = RTT</a:t>
            </a:r>
            <a:r>
              <a:rPr b="1" baseline="-25000" i="0" lang="en-US" sz="2400" u="none">
                <a:solidFill>
                  <a:schemeClr val="dk2"/>
                </a:solidFill>
                <a:latin typeface="Comic Sans MS"/>
                <a:ea typeface="Comic Sans MS"/>
                <a:cs typeface="Comic Sans MS"/>
                <a:sym typeface="Comic Sans MS"/>
              </a:rPr>
              <a:t>M</a:t>
            </a:r>
            <a:endParaRPr b="1" i="0" sz="2400" u="none">
              <a:solidFill>
                <a:schemeClr val="dk2"/>
              </a:solidFill>
              <a:latin typeface="Comic Sans MS"/>
              <a:ea typeface="Comic Sans MS"/>
              <a:cs typeface="Comic Sans MS"/>
              <a:sym typeface="Comic Sans MS"/>
            </a:endParaRPr>
          </a:p>
          <a:p>
            <a:pPr indent="-263524" lvl="1" marL="808037" rtl="0" algn="l">
              <a:lnSpc>
                <a:spcPct val="100000"/>
              </a:lnSpc>
              <a:spcBef>
                <a:spcPts val="960"/>
              </a:spcBef>
              <a:spcAft>
                <a:spcPts val="0"/>
              </a:spcAft>
              <a:buClr>
                <a:srgbClr val="0000CC"/>
              </a:buClr>
              <a:buSzPts val="2400"/>
              <a:buFont typeface="Comic Sans MS"/>
              <a:buChar char="–"/>
            </a:pPr>
            <a:r>
              <a:rPr b="1" i="0" lang="en-US" sz="2400" u="none">
                <a:solidFill>
                  <a:srgbClr val="0000CC"/>
                </a:solidFill>
                <a:latin typeface="Comic Sans MS"/>
                <a:ea typeface="Comic Sans MS"/>
                <a:cs typeface="Comic Sans MS"/>
                <a:sym typeface="Comic Sans MS"/>
              </a:rPr>
              <a:t>2</a:t>
            </a:r>
            <a:r>
              <a:rPr b="1" baseline="30000" i="0" lang="en-US" sz="2400" u="none">
                <a:solidFill>
                  <a:srgbClr val="0000CC"/>
                </a:solidFill>
                <a:latin typeface="Comic Sans MS"/>
                <a:ea typeface="Comic Sans MS"/>
                <a:cs typeface="Comic Sans MS"/>
                <a:sym typeface="Comic Sans MS"/>
              </a:rPr>
              <a:t>nd</a:t>
            </a:r>
            <a:r>
              <a:rPr b="1" i="0" lang="en-US" sz="2400" u="none">
                <a:solidFill>
                  <a:srgbClr val="0000CC"/>
                </a:solidFill>
                <a:latin typeface="Comic Sans MS"/>
                <a:ea typeface="Comic Sans MS"/>
                <a:cs typeface="Comic Sans MS"/>
                <a:sym typeface="Comic Sans MS"/>
              </a:rPr>
              <a:t> … 🡪 </a:t>
            </a:r>
            <a:r>
              <a:rPr b="1" i="0" lang="en-US" sz="2400" u="none">
                <a:solidFill>
                  <a:schemeClr val="dk2"/>
                </a:solidFill>
                <a:latin typeface="Comic Sans MS"/>
                <a:ea typeface="Comic Sans MS"/>
                <a:cs typeface="Comic Sans MS"/>
                <a:sym typeface="Comic Sans MS"/>
              </a:rPr>
              <a:t>RTT</a:t>
            </a:r>
            <a:r>
              <a:rPr b="1" baseline="-25000" i="0" lang="en-US" sz="2400" u="none">
                <a:solidFill>
                  <a:schemeClr val="dk2"/>
                </a:solidFill>
                <a:latin typeface="Comic Sans MS"/>
                <a:ea typeface="Comic Sans MS"/>
                <a:cs typeface="Comic Sans MS"/>
                <a:sym typeface="Comic Sans MS"/>
              </a:rPr>
              <a:t>S</a:t>
            </a:r>
            <a:r>
              <a:rPr b="1" i="0" lang="en-US" sz="2400" u="none">
                <a:solidFill>
                  <a:schemeClr val="dk2"/>
                </a:solidFill>
                <a:latin typeface="Comic Sans MS"/>
                <a:ea typeface="Comic Sans MS"/>
                <a:cs typeface="Comic Sans MS"/>
                <a:sym typeface="Comic Sans MS"/>
              </a:rPr>
              <a:t> = (1-</a:t>
            </a:r>
            <a:r>
              <a:rPr b="1" i="0" lang="en-US" sz="2400" u="none">
                <a:solidFill>
                  <a:schemeClr val="dk2"/>
                </a:solidFill>
                <a:latin typeface="Noto Sans Symbols"/>
                <a:ea typeface="Noto Sans Symbols"/>
                <a:cs typeface="Noto Sans Symbols"/>
                <a:sym typeface="Noto Sans Symbols"/>
              </a:rPr>
              <a:t>α</a:t>
            </a:r>
            <a:r>
              <a:rPr b="1" i="0" lang="en-US" sz="2400" u="none">
                <a:solidFill>
                  <a:schemeClr val="dk2"/>
                </a:solidFill>
                <a:latin typeface="Comic Sans MS"/>
                <a:ea typeface="Comic Sans MS"/>
                <a:cs typeface="Comic Sans MS"/>
                <a:sym typeface="Comic Sans MS"/>
              </a:rPr>
              <a:t>)*RTT</a:t>
            </a:r>
            <a:r>
              <a:rPr b="1" baseline="-25000" i="0" lang="en-US" sz="2400" u="none">
                <a:solidFill>
                  <a:schemeClr val="dk2"/>
                </a:solidFill>
                <a:latin typeface="Comic Sans MS"/>
                <a:ea typeface="Comic Sans MS"/>
                <a:cs typeface="Comic Sans MS"/>
                <a:sym typeface="Comic Sans MS"/>
              </a:rPr>
              <a:t>S</a:t>
            </a:r>
            <a:r>
              <a:rPr b="1" i="0" lang="en-US" sz="2400" u="none">
                <a:solidFill>
                  <a:schemeClr val="dk2"/>
                </a:solidFill>
                <a:latin typeface="Comic Sans MS"/>
                <a:ea typeface="Comic Sans MS"/>
                <a:cs typeface="Comic Sans MS"/>
                <a:sym typeface="Comic Sans MS"/>
              </a:rPr>
              <a:t> + </a:t>
            </a:r>
            <a:r>
              <a:rPr b="1" i="0" lang="en-US" sz="2400" u="none">
                <a:solidFill>
                  <a:schemeClr val="dk2"/>
                </a:solidFill>
                <a:latin typeface="Noto Sans Symbols"/>
                <a:ea typeface="Noto Sans Symbols"/>
                <a:cs typeface="Noto Sans Symbols"/>
                <a:sym typeface="Noto Sans Symbols"/>
              </a:rPr>
              <a:t>α</a:t>
            </a:r>
            <a:r>
              <a:rPr b="1" i="0" lang="en-US" sz="2400" u="none">
                <a:solidFill>
                  <a:schemeClr val="dk2"/>
                </a:solidFill>
                <a:latin typeface="Comic Sans MS"/>
                <a:ea typeface="Comic Sans MS"/>
                <a:cs typeface="Comic Sans MS"/>
                <a:sym typeface="Comic Sans MS"/>
              </a:rPr>
              <a:t>*RTT</a:t>
            </a:r>
            <a:r>
              <a:rPr b="1" baseline="-25000" i="0" lang="en-US" sz="2400" u="none">
                <a:solidFill>
                  <a:schemeClr val="dk2"/>
                </a:solidFill>
                <a:latin typeface="Comic Sans MS"/>
                <a:ea typeface="Comic Sans MS"/>
                <a:cs typeface="Comic Sans MS"/>
                <a:sym typeface="Comic Sans MS"/>
              </a:rPr>
              <a:t>M</a:t>
            </a:r>
            <a:endParaRPr b="1" i="0" sz="2400" u="none">
              <a:solidFill>
                <a:schemeClr val="dk2"/>
              </a:solidFill>
              <a:latin typeface="Comic Sans MS"/>
              <a:ea typeface="Comic Sans MS"/>
              <a:cs typeface="Comic Sans MS"/>
              <a:sym typeface="Comic Sans MS"/>
            </a:endParaRPr>
          </a:p>
          <a:p>
            <a:pPr indent="-365125" lvl="0" marL="365125" rtl="0" algn="l">
              <a:lnSpc>
                <a:spcPct val="100000"/>
              </a:lnSpc>
              <a:spcBef>
                <a:spcPts val="1120"/>
              </a:spcBef>
              <a:spcAft>
                <a:spcPts val="0"/>
              </a:spcAft>
              <a:buClr>
                <a:schemeClr val="dk2"/>
              </a:buClr>
              <a:buSzPts val="2800"/>
              <a:buFont typeface="Comic Sans MS"/>
              <a:buChar char="•"/>
            </a:pPr>
            <a:r>
              <a:rPr b="1" i="0" lang="en-US" sz="2800" u="none">
                <a:solidFill>
                  <a:schemeClr val="dk2"/>
                </a:solidFill>
                <a:latin typeface="Comic Sans MS"/>
                <a:ea typeface="Comic Sans MS"/>
                <a:cs typeface="Comic Sans MS"/>
                <a:sym typeface="Comic Sans MS"/>
              </a:rPr>
              <a:t>RTT Deviation : RTT</a:t>
            </a:r>
            <a:r>
              <a:rPr b="1" baseline="-25000" i="0" lang="en-US" sz="2800" u="none">
                <a:solidFill>
                  <a:schemeClr val="dk2"/>
                </a:solidFill>
                <a:latin typeface="Comic Sans MS"/>
                <a:ea typeface="Comic Sans MS"/>
                <a:cs typeface="Comic Sans MS"/>
                <a:sym typeface="Comic Sans MS"/>
              </a:rPr>
              <a:t>D</a:t>
            </a:r>
            <a:endParaRPr b="1" i="0" sz="2800" u="none">
              <a:solidFill>
                <a:schemeClr val="dk2"/>
              </a:solidFill>
              <a:latin typeface="Comic Sans MS"/>
              <a:ea typeface="Comic Sans MS"/>
              <a:cs typeface="Comic Sans MS"/>
              <a:sym typeface="Comic Sans MS"/>
            </a:endParaRPr>
          </a:p>
          <a:p>
            <a:pPr indent="-263524" lvl="1" marL="808037" rtl="0" algn="l">
              <a:lnSpc>
                <a:spcPct val="100000"/>
              </a:lnSpc>
              <a:spcBef>
                <a:spcPts val="960"/>
              </a:spcBef>
              <a:spcAft>
                <a:spcPts val="0"/>
              </a:spcAft>
              <a:buClr>
                <a:srgbClr val="0000CC"/>
              </a:buClr>
              <a:buSzPts val="2400"/>
              <a:buFont typeface="Comic Sans MS"/>
              <a:buChar char="–"/>
            </a:pPr>
            <a:r>
              <a:rPr b="1" i="0" lang="en-US" sz="2400" u="none">
                <a:solidFill>
                  <a:srgbClr val="0000CC"/>
                </a:solidFill>
                <a:latin typeface="Comic Sans MS"/>
                <a:ea typeface="Comic Sans MS"/>
                <a:cs typeface="Comic Sans MS"/>
                <a:sym typeface="Comic Sans MS"/>
              </a:rPr>
              <a:t>Original 🡪 No value</a:t>
            </a:r>
            <a:endParaRPr/>
          </a:p>
          <a:p>
            <a:pPr indent="-263524" lvl="1" marL="808037" rtl="0" algn="l">
              <a:lnSpc>
                <a:spcPct val="100000"/>
              </a:lnSpc>
              <a:spcBef>
                <a:spcPts val="960"/>
              </a:spcBef>
              <a:spcAft>
                <a:spcPts val="0"/>
              </a:spcAft>
              <a:buClr>
                <a:srgbClr val="0000CC"/>
              </a:buClr>
              <a:buSzPts val="2400"/>
              <a:buFont typeface="Comic Sans MS"/>
              <a:buChar char="–"/>
            </a:pPr>
            <a:r>
              <a:rPr b="1" i="0" lang="en-US" sz="2400" u="none">
                <a:solidFill>
                  <a:srgbClr val="0000CC"/>
                </a:solidFill>
                <a:latin typeface="Comic Sans MS"/>
                <a:ea typeface="Comic Sans MS"/>
                <a:cs typeface="Comic Sans MS"/>
                <a:sym typeface="Comic Sans MS"/>
              </a:rPr>
              <a:t>After 1</a:t>
            </a:r>
            <a:r>
              <a:rPr b="1" baseline="30000" i="0" lang="en-US" sz="2400" u="none">
                <a:solidFill>
                  <a:srgbClr val="0000CC"/>
                </a:solidFill>
                <a:latin typeface="Comic Sans MS"/>
                <a:ea typeface="Comic Sans MS"/>
                <a:cs typeface="Comic Sans MS"/>
                <a:sym typeface="Comic Sans MS"/>
              </a:rPr>
              <a:t>st</a:t>
            </a:r>
            <a:r>
              <a:rPr b="1" i="0" lang="en-US" sz="2400" u="none">
                <a:solidFill>
                  <a:srgbClr val="0000CC"/>
                </a:solidFill>
                <a:latin typeface="Comic Sans MS"/>
                <a:ea typeface="Comic Sans MS"/>
                <a:cs typeface="Comic Sans MS"/>
                <a:sym typeface="Comic Sans MS"/>
              </a:rPr>
              <a:t> measurement 🡪</a:t>
            </a:r>
            <a:r>
              <a:rPr b="1" i="0" lang="en-US" sz="2400" u="none">
                <a:solidFill>
                  <a:schemeClr val="dk2"/>
                </a:solidFill>
                <a:latin typeface="Comic Sans MS"/>
                <a:ea typeface="Comic Sans MS"/>
                <a:cs typeface="Comic Sans MS"/>
                <a:sym typeface="Comic Sans MS"/>
              </a:rPr>
              <a:t> RTT</a:t>
            </a:r>
            <a:r>
              <a:rPr b="1" baseline="-25000" i="0" lang="en-US" sz="2400" u="none">
                <a:solidFill>
                  <a:schemeClr val="dk2"/>
                </a:solidFill>
                <a:latin typeface="Comic Sans MS"/>
                <a:ea typeface="Comic Sans MS"/>
                <a:cs typeface="Comic Sans MS"/>
                <a:sym typeface="Comic Sans MS"/>
              </a:rPr>
              <a:t>D</a:t>
            </a:r>
            <a:r>
              <a:rPr b="1" i="0" lang="en-US" sz="2400" u="none">
                <a:solidFill>
                  <a:schemeClr val="dk2"/>
                </a:solidFill>
                <a:latin typeface="Comic Sans MS"/>
                <a:ea typeface="Comic Sans MS"/>
                <a:cs typeface="Comic Sans MS"/>
                <a:sym typeface="Comic Sans MS"/>
              </a:rPr>
              <a:t> = 0.5*RTT</a:t>
            </a:r>
            <a:r>
              <a:rPr b="1" baseline="-25000" i="0" lang="en-US" sz="2400" u="none">
                <a:solidFill>
                  <a:schemeClr val="dk2"/>
                </a:solidFill>
                <a:latin typeface="Comic Sans MS"/>
                <a:ea typeface="Comic Sans MS"/>
                <a:cs typeface="Comic Sans MS"/>
                <a:sym typeface="Comic Sans MS"/>
              </a:rPr>
              <a:t>M</a:t>
            </a:r>
            <a:endParaRPr b="1" i="0" sz="2400" u="none">
              <a:solidFill>
                <a:schemeClr val="dk2"/>
              </a:solidFill>
              <a:latin typeface="Comic Sans MS"/>
              <a:ea typeface="Comic Sans MS"/>
              <a:cs typeface="Comic Sans MS"/>
              <a:sym typeface="Comic Sans MS"/>
            </a:endParaRPr>
          </a:p>
          <a:p>
            <a:pPr indent="-263524" lvl="1" marL="808037" rtl="0" algn="l">
              <a:lnSpc>
                <a:spcPct val="100000"/>
              </a:lnSpc>
              <a:spcBef>
                <a:spcPts val="960"/>
              </a:spcBef>
              <a:spcAft>
                <a:spcPts val="0"/>
              </a:spcAft>
              <a:buClr>
                <a:srgbClr val="0000CC"/>
              </a:buClr>
              <a:buSzPts val="2400"/>
              <a:buFont typeface="Comic Sans MS"/>
              <a:buChar char="–"/>
            </a:pPr>
            <a:r>
              <a:rPr b="1" i="0" lang="en-US" sz="2400" u="none">
                <a:solidFill>
                  <a:srgbClr val="0000CC"/>
                </a:solidFill>
                <a:latin typeface="Comic Sans MS"/>
                <a:ea typeface="Comic Sans MS"/>
                <a:cs typeface="Comic Sans MS"/>
                <a:sym typeface="Comic Sans MS"/>
              </a:rPr>
              <a:t>2</a:t>
            </a:r>
            <a:r>
              <a:rPr b="1" baseline="30000" i="0" lang="en-US" sz="2400" u="none">
                <a:solidFill>
                  <a:srgbClr val="0000CC"/>
                </a:solidFill>
                <a:latin typeface="Comic Sans MS"/>
                <a:ea typeface="Comic Sans MS"/>
                <a:cs typeface="Comic Sans MS"/>
                <a:sym typeface="Comic Sans MS"/>
              </a:rPr>
              <a:t>nd</a:t>
            </a:r>
            <a:r>
              <a:rPr b="1" i="0" lang="en-US" sz="2400" u="none">
                <a:solidFill>
                  <a:srgbClr val="0000CC"/>
                </a:solidFill>
                <a:latin typeface="Comic Sans MS"/>
                <a:ea typeface="Comic Sans MS"/>
                <a:cs typeface="Comic Sans MS"/>
                <a:sym typeface="Comic Sans MS"/>
              </a:rPr>
              <a:t> … 🡪 </a:t>
            </a:r>
            <a:r>
              <a:rPr b="1" i="0" lang="en-US" sz="2400" u="none">
                <a:solidFill>
                  <a:schemeClr val="dk2"/>
                </a:solidFill>
                <a:latin typeface="Comic Sans MS"/>
                <a:ea typeface="Comic Sans MS"/>
                <a:cs typeface="Comic Sans MS"/>
                <a:sym typeface="Comic Sans MS"/>
              </a:rPr>
              <a:t>RTT</a:t>
            </a:r>
            <a:r>
              <a:rPr b="1" baseline="-25000" i="0" lang="en-US" sz="2400" u="none">
                <a:solidFill>
                  <a:schemeClr val="dk2"/>
                </a:solidFill>
                <a:latin typeface="Comic Sans MS"/>
                <a:ea typeface="Comic Sans MS"/>
                <a:cs typeface="Comic Sans MS"/>
                <a:sym typeface="Comic Sans MS"/>
              </a:rPr>
              <a:t>D </a:t>
            </a:r>
            <a:r>
              <a:rPr b="1" i="0" lang="en-US" sz="2400" u="none">
                <a:solidFill>
                  <a:schemeClr val="dk2"/>
                </a:solidFill>
                <a:latin typeface="Comic Sans MS"/>
                <a:ea typeface="Comic Sans MS"/>
                <a:cs typeface="Comic Sans MS"/>
                <a:sym typeface="Comic Sans MS"/>
              </a:rPr>
              <a:t>= (1-</a:t>
            </a:r>
            <a:r>
              <a:rPr b="1" i="0" lang="en-US" sz="2400" u="none">
                <a:solidFill>
                  <a:schemeClr val="dk2"/>
                </a:solidFill>
                <a:latin typeface="Noto Sans Symbols"/>
                <a:ea typeface="Noto Sans Symbols"/>
                <a:cs typeface="Noto Sans Symbols"/>
                <a:sym typeface="Noto Sans Symbols"/>
              </a:rPr>
              <a:t>β</a:t>
            </a:r>
            <a:r>
              <a:rPr b="1" i="0" lang="en-US" sz="2400" u="none">
                <a:solidFill>
                  <a:schemeClr val="dk2"/>
                </a:solidFill>
                <a:latin typeface="Comic Sans MS"/>
                <a:ea typeface="Comic Sans MS"/>
                <a:cs typeface="Comic Sans MS"/>
                <a:sym typeface="Comic Sans MS"/>
              </a:rPr>
              <a:t>)*RTT</a:t>
            </a:r>
            <a:r>
              <a:rPr b="1" baseline="-25000" i="0" lang="en-US" sz="2400" u="none">
                <a:solidFill>
                  <a:schemeClr val="dk2"/>
                </a:solidFill>
                <a:latin typeface="Comic Sans MS"/>
                <a:ea typeface="Comic Sans MS"/>
                <a:cs typeface="Comic Sans MS"/>
                <a:sym typeface="Comic Sans MS"/>
              </a:rPr>
              <a:t>D</a:t>
            </a:r>
            <a:r>
              <a:rPr b="1" i="0" lang="en-US" sz="2400" u="none">
                <a:solidFill>
                  <a:schemeClr val="dk2"/>
                </a:solidFill>
                <a:latin typeface="Comic Sans MS"/>
                <a:ea typeface="Comic Sans MS"/>
                <a:cs typeface="Comic Sans MS"/>
                <a:sym typeface="Comic Sans MS"/>
              </a:rPr>
              <a:t> + </a:t>
            </a:r>
            <a:r>
              <a:rPr b="1" i="0" lang="en-US" sz="2400" u="none">
                <a:solidFill>
                  <a:schemeClr val="dk2"/>
                </a:solidFill>
                <a:latin typeface="Noto Sans Symbols"/>
                <a:ea typeface="Noto Sans Symbols"/>
                <a:cs typeface="Noto Sans Symbols"/>
                <a:sym typeface="Noto Sans Symbols"/>
              </a:rPr>
              <a:t>β</a:t>
            </a:r>
            <a:r>
              <a:rPr b="1" i="0" lang="en-US" sz="2400" u="none">
                <a:solidFill>
                  <a:schemeClr val="dk2"/>
                </a:solidFill>
                <a:latin typeface="Comic Sans MS"/>
                <a:ea typeface="Comic Sans MS"/>
                <a:cs typeface="Comic Sans MS"/>
                <a:sym typeface="Comic Sans MS"/>
              </a:rPr>
              <a:t>*|RTT</a:t>
            </a:r>
            <a:r>
              <a:rPr b="1" baseline="-25000" i="0" lang="en-US" sz="2400" u="none">
                <a:solidFill>
                  <a:schemeClr val="dk2"/>
                </a:solidFill>
                <a:latin typeface="Comic Sans MS"/>
                <a:ea typeface="Comic Sans MS"/>
                <a:cs typeface="Comic Sans MS"/>
                <a:sym typeface="Comic Sans MS"/>
              </a:rPr>
              <a:t>S</a:t>
            </a:r>
            <a:r>
              <a:rPr b="1" i="0" lang="en-US" sz="2400" u="none">
                <a:solidFill>
                  <a:schemeClr val="dk2"/>
                </a:solidFill>
                <a:latin typeface="Comic Sans MS"/>
                <a:ea typeface="Comic Sans MS"/>
                <a:cs typeface="Comic Sans MS"/>
                <a:sym typeface="Comic Sans MS"/>
              </a:rPr>
              <a:t> - RTT</a:t>
            </a:r>
            <a:r>
              <a:rPr b="1" baseline="-25000" i="0" lang="en-US" sz="2400" u="none">
                <a:solidFill>
                  <a:schemeClr val="dk2"/>
                </a:solidFill>
                <a:latin typeface="Comic Sans MS"/>
                <a:ea typeface="Comic Sans MS"/>
                <a:cs typeface="Comic Sans MS"/>
                <a:sym typeface="Comic Sans MS"/>
              </a:rPr>
              <a:t>M</a:t>
            </a:r>
            <a:r>
              <a:rPr b="1" i="0" lang="en-US" sz="2400" u="none">
                <a:solidFill>
                  <a:schemeClr val="dk2"/>
                </a:solidFill>
                <a:latin typeface="Comic Sans MS"/>
                <a:ea typeface="Comic Sans MS"/>
                <a:cs typeface="Comic Sans MS"/>
                <a:sym typeface="Comic Sans MS"/>
              </a:rPr>
              <a:t>|</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6" name="Shape 1686"/>
        <p:cNvGrpSpPr/>
        <p:nvPr/>
      </p:nvGrpSpPr>
      <p:grpSpPr>
        <a:xfrm>
          <a:off x="0" y="0"/>
          <a:ext cx="0" cy="0"/>
          <a:chOff x="0" y="0"/>
          <a:chExt cx="0" cy="0"/>
        </a:xfrm>
      </p:grpSpPr>
      <p:sp>
        <p:nvSpPr>
          <p:cNvPr id="1687" name="Google Shape;1687;p92"/>
          <p:cNvSpPr txBox="1"/>
          <p:nvPr/>
        </p:nvSpPr>
        <p:spPr>
          <a:xfrm>
            <a:off x="35560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TCP/IP Protocol Suite</a:t>
            </a:r>
            <a:endParaRPr/>
          </a:p>
        </p:txBody>
      </p:sp>
      <p:sp>
        <p:nvSpPr>
          <p:cNvPr id="1688" name="Google Shape;1688;p92"/>
          <p:cNvSpPr txBox="1"/>
          <p:nvPr/>
        </p:nvSpPr>
        <p:spPr>
          <a:xfrm>
            <a:off x="67183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fld id="{00000000-1234-1234-1234-123412341234}" type="slidenum">
              <a:rPr b="0" i="0" lang="en-US" sz="1400" u="none">
                <a:solidFill>
                  <a:schemeClr val="dk1"/>
                </a:solidFill>
                <a:latin typeface="Comic Sans MS"/>
                <a:ea typeface="Comic Sans MS"/>
                <a:cs typeface="Comic Sans MS"/>
                <a:sym typeface="Comic Sans MS"/>
              </a:rPr>
              <a:t>‹#›</a:t>
            </a:fld>
            <a:endParaRPr/>
          </a:p>
        </p:txBody>
      </p:sp>
      <p:sp>
        <p:nvSpPr>
          <p:cNvPr id="1689" name="Google Shape;1689;p92"/>
          <p:cNvSpPr txBox="1"/>
          <p:nvPr>
            <p:ph type="title"/>
          </p:nvPr>
        </p:nvSpPr>
        <p:spPr>
          <a:xfrm>
            <a:off x="685800" y="228600"/>
            <a:ext cx="7162800" cy="83661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00CC"/>
              </a:buClr>
              <a:buSzPts val="3600"/>
              <a:buFont typeface="Comic Sans MS"/>
              <a:buNone/>
            </a:pPr>
            <a:r>
              <a:rPr b="1" i="0" lang="en-US" sz="3600" u="none">
                <a:solidFill>
                  <a:srgbClr val="0000CC"/>
                </a:solidFill>
                <a:latin typeface="Comic Sans MS"/>
                <a:ea typeface="Comic Sans MS"/>
                <a:cs typeface="Comic Sans MS"/>
                <a:sym typeface="Comic Sans MS"/>
              </a:rPr>
              <a:t>Calculation of RTO (2)</a:t>
            </a:r>
            <a:endParaRPr/>
          </a:p>
        </p:txBody>
      </p:sp>
      <p:sp>
        <p:nvSpPr>
          <p:cNvPr id="1690" name="Google Shape;1690;p92"/>
          <p:cNvSpPr txBox="1"/>
          <p:nvPr>
            <p:ph idx="1" type="body"/>
          </p:nvPr>
        </p:nvSpPr>
        <p:spPr>
          <a:xfrm>
            <a:off x="381000" y="1219200"/>
            <a:ext cx="8305800" cy="4953000"/>
          </a:xfrm>
          <a:prstGeom prst="rect">
            <a:avLst/>
          </a:prstGeom>
          <a:noFill/>
          <a:ln>
            <a:noFill/>
          </a:ln>
        </p:spPr>
        <p:txBody>
          <a:bodyPr anchorCtr="0" anchor="t" bIns="45700" lIns="91425" spcFirstLastPara="1" rIns="91425" wrap="square" tIns="45700">
            <a:noAutofit/>
          </a:bodyPr>
          <a:lstStyle/>
          <a:p>
            <a:pPr indent="-365125" lvl="0" marL="365125" rtl="0" algn="l">
              <a:lnSpc>
                <a:spcPct val="100000"/>
              </a:lnSpc>
              <a:spcBef>
                <a:spcPts val="0"/>
              </a:spcBef>
              <a:spcAft>
                <a:spcPts val="0"/>
              </a:spcAft>
              <a:buClr>
                <a:schemeClr val="dk2"/>
              </a:buClr>
              <a:buSzPts val="2800"/>
              <a:buFont typeface="Comic Sans MS"/>
              <a:buChar char="•"/>
            </a:pPr>
            <a:r>
              <a:rPr b="1" i="0" lang="en-US" sz="2800" u="none">
                <a:solidFill>
                  <a:schemeClr val="dk2"/>
                </a:solidFill>
                <a:latin typeface="Comic Sans MS"/>
                <a:ea typeface="Comic Sans MS"/>
                <a:cs typeface="Comic Sans MS"/>
                <a:sym typeface="Comic Sans MS"/>
              </a:rPr>
              <a:t>Retransmission Timeout (RTO)</a:t>
            </a:r>
            <a:endParaRPr/>
          </a:p>
          <a:p>
            <a:pPr indent="-263524" lvl="1" marL="808037" rtl="0" algn="l">
              <a:lnSpc>
                <a:spcPct val="100000"/>
              </a:lnSpc>
              <a:spcBef>
                <a:spcPts val="960"/>
              </a:spcBef>
              <a:spcAft>
                <a:spcPts val="0"/>
              </a:spcAft>
              <a:buClr>
                <a:srgbClr val="0000CC"/>
              </a:buClr>
              <a:buSzPts val="2400"/>
              <a:buFont typeface="Comic Sans MS"/>
              <a:buChar char="–"/>
            </a:pPr>
            <a:r>
              <a:rPr b="1" i="0" lang="en-US" sz="2400" u="none">
                <a:solidFill>
                  <a:srgbClr val="0000CC"/>
                </a:solidFill>
                <a:latin typeface="Comic Sans MS"/>
                <a:ea typeface="Comic Sans MS"/>
                <a:cs typeface="Comic Sans MS"/>
                <a:sym typeface="Comic Sans MS"/>
              </a:rPr>
              <a:t>Original 🡪 Initial value</a:t>
            </a:r>
            <a:endParaRPr/>
          </a:p>
          <a:p>
            <a:pPr indent="-263524" lvl="1" marL="808037" rtl="0" algn="l">
              <a:lnSpc>
                <a:spcPct val="120000"/>
              </a:lnSpc>
              <a:spcBef>
                <a:spcPts val="960"/>
              </a:spcBef>
              <a:spcAft>
                <a:spcPts val="0"/>
              </a:spcAft>
              <a:buClr>
                <a:srgbClr val="0000CC"/>
              </a:buClr>
              <a:buSzPts val="2400"/>
              <a:buFont typeface="Comic Sans MS"/>
              <a:buChar char="–"/>
            </a:pPr>
            <a:r>
              <a:rPr b="1" i="0" lang="en-US" sz="2400" u="none">
                <a:solidFill>
                  <a:srgbClr val="0000CC"/>
                </a:solidFill>
                <a:latin typeface="Comic Sans MS"/>
                <a:ea typeface="Comic Sans MS"/>
                <a:cs typeface="Comic Sans MS"/>
                <a:sym typeface="Comic Sans MS"/>
              </a:rPr>
              <a:t>After any measurement</a:t>
            </a:r>
            <a:r>
              <a:rPr b="1" i="0" lang="en-US" sz="2400" u="none">
                <a:solidFill>
                  <a:schemeClr val="dk2"/>
                </a:solidFill>
                <a:latin typeface="Comic Sans MS"/>
                <a:ea typeface="Comic Sans MS"/>
                <a:cs typeface="Comic Sans MS"/>
                <a:sym typeface="Comic Sans MS"/>
              </a:rPr>
              <a:t> </a:t>
            </a:r>
            <a:br>
              <a:rPr b="1" i="0" lang="en-US" sz="2400" u="none">
                <a:solidFill>
                  <a:schemeClr val="dk2"/>
                </a:solidFill>
                <a:latin typeface="Comic Sans MS"/>
                <a:ea typeface="Comic Sans MS"/>
                <a:cs typeface="Comic Sans MS"/>
                <a:sym typeface="Comic Sans MS"/>
              </a:rPr>
            </a:br>
            <a:r>
              <a:rPr b="1" i="0" lang="en-US" sz="2400" u="none">
                <a:solidFill>
                  <a:schemeClr val="dk2"/>
                </a:solidFill>
                <a:latin typeface="Comic Sans MS"/>
                <a:ea typeface="Comic Sans MS"/>
                <a:cs typeface="Comic Sans MS"/>
                <a:sym typeface="Comic Sans MS"/>
              </a:rPr>
              <a:t>🡪 RTO = RTT</a:t>
            </a:r>
            <a:r>
              <a:rPr b="1" baseline="-25000" i="0" lang="en-US" sz="2400" u="none">
                <a:solidFill>
                  <a:schemeClr val="dk2"/>
                </a:solidFill>
                <a:latin typeface="Comic Sans MS"/>
                <a:ea typeface="Comic Sans MS"/>
                <a:cs typeface="Comic Sans MS"/>
                <a:sym typeface="Comic Sans MS"/>
              </a:rPr>
              <a:t>S</a:t>
            </a:r>
            <a:r>
              <a:rPr b="1" i="0" lang="en-US" sz="2400" u="none">
                <a:solidFill>
                  <a:schemeClr val="dk2"/>
                </a:solidFill>
                <a:latin typeface="Comic Sans MS"/>
                <a:ea typeface="Comic Sans MS"/>
                <a:cs typeface="Comic Sans MS"/>
                <a:sym typeface="Comic Sans MS"/>
              </a:rPr>
              <a:t> + 4RTT</a:t>
            </a:r>
            <a:r>
              <a:rPr b="1" baseline="-25000" i="0" lang="en-US" sz="2400" u="none">
                <a:solidFill>
                  <a:schemeClr val="dk2"/>
                </a:solidFill>
                <a:latin typeface="Comic Sans MS"/>
                <a:ea typeface="Comic Sans MS"/>
                <a:cs typeface="Comic Sans MS"/>
                <a:sym typeface="Comic Sans MS"/>
              </a:rPr>
              <a:t>D</a:t>
            </a:r>
            <a:endParaRPr/>
          </a:p>
          <a:p>
            <a:pPr indent="-365125" lvl="0" marL="365125" rtl="0" algn="l">
              <a:lnSpc>
                <a:spcPct val="100000"/>
              </a:lnSpc>
              <a:spcBef>
                <a:spcPts val="1120"/>
              </a:spcBef>
              <a:spcAft>
                <a:spcPts val="0"/>
              </a:spcAft>
              <a:buClr>
                <a:schemeClr val="dk2"/>
              </a:buClr>
              <a:buSzPts val="2800"/>
              <a:buFont typeface="Comic Sans MS"/>
              <a:buChar char="•"/>
            </a:pPr>
            <a:r>
              <a:rPr b="1" i="0" lang="en-US" sz="2800" u="none">
                <a:solidFill>
                  <a:schemeClr val="dk2"/>
                </a:solidFill>
                <a:latin typeface="Comic Sans MS"/>
                <a:ea typeface="Comic Sans MS"/>
                <a:cs typeface="Comic Sans MS"/>
                <a:sym typeface="Comic Sans MS"/>
              </a:rPr>
              <a:t>Example 10 (page 322)</a:t>
            </a:r>
            <a:endParaRPr/>
          </a:p>
          <a:p>
            <a:pPr indent="-263524" lvl="1" marL="808037" rtl="0" algn="l">
              <a:lnSpc>
                <a:spcPct val="100000"/>
              </a:lnSpc>
              <a:spcBef>
                <a:spcPts val="960"/>
              </a:spcBef>
              <a:spcAft>
                <a:spcPts val="0"/>
              </a:spcAft>
              <a:buClr>
                <a:srgbClr val="0000CC"/>
              </a:buClr>
              <a:buSzPts val="2400"/>
              <a:buFont typeface="Comic Sans MS"/>
              <a:buChar char="–"/>
            </a:pPr>
            <a:r>
              <a:rPr b="1" i="0" lang="en-US" sz="2400" u="none">
                <a:solidFill>
                  <a:srgbClr val="0000CC"/>
                </a:solidFill>
                <a:latin typeface="Comic Sans MS"/>
                <a:ea typeface="Comic Sans MS"/>
                <a:cs typeface="Comic Sans MS"/>
                <a:sym typeface="Comic Sans MS"/>
              </a:rPr>
              <a:t> </a:t>
            </a:r>
            <a:r>
              <a:rPr b="1" i="0" lang="en-US" sz="2400" u="none">
                <a:solidFill>
                  <a:srgbClr val="0000CC"/>
                </a:solidFill>
                <a:latin typeface="Noto Sans Symbols"/>
                <a:ea typeface="Noto Sans Symbols"/>
                <a:cs typeface="Noto Sans Symbols"/>
                <a:sym typeface="Noto Sans Symbols"/>
              </a:rPr>
              <a:t>α</a:t>
            </a:r>
            <a:r>
              <a:rPr b="1" i="0" lang="en-US" sz="2400" u="none">
                <a:solidFill>
                  <a:srgbClr val="0000CC"/>
                </a:solidFill>
                <a:latin typeface="Comic Sans MS"/>
                <a:ea typeface="Comic Sans MS"/>
                <a:cs typeface="Comic Sans MS"/>
                <a:sym typeface="Comic Sans MS"/>
              </a:rPr>
              <a:t> = 1/8</a:t>
            </a:r>
            <a:endParaRPr/>
          </a:p>
          <a:p>
            <a:pPr indent="-263524" lvl="1" marL="808037" rtl="0" algn="l">
              <a:lnSpc>
                <a:spcPct val="100000"/>
              </a:lnSpc>
              <a:spcBef>
                <a:spcPts val="960"/>
              </a:spcBef>
              <a:spcAft>
                <a:spcPts val="0"/>
              </a:spcAft>
              <a:buClr>
                <a:srgbClr val="0000CC"/>
              </a:buClr>
              <a:buSzPts val="2400"/>
              <a:buFont typeface="Comic Sans MS"/>
              <a:buChar char="–"/>
            </a:pPr>
            <a:r>
              <a:rPr b="1" i="0" lang="en-US" sz="2400" u="none">
                <a:solidFill>
                  <a:srgbClr val="0000CC"/>
                </a:solidFill>
                <a:latin typeface="Comic Sans MS"/>
                <a:ea typeface="Comic Sans MS"/>
                <a:cs typeface="Comic Sans MS"/>
                <a:sym typeface="Comic Sans MS"/>
              </a:rPr>
              <a:t> </a:t>
            </a:r>
            <a:r>
              <a:rPr b="1" i="0" lang="en-US" sz="2400" u="none">
                <a:solidFill>
                  <a:srgbClr val="0000CC"/>
                </a:solidFill>
                <a:latin typeface="Noto Sans Symbols"/>
                <a:ea typeface="Noto Sans Symbols"/>
                <a:cs typeface="Noto Sans Symbols"/>
                <a:sym typeface="Noto Sans Symbols"/>
              </a:rPr>
              <a:t>β</a:t>
            </a:r>
            <a:r>
              <a:rPr b="1" i="0" lang="en-US" sz="2400" u="none">
                <a:solidFill>
                  <a:srgbClr val="0000CC"/>
                </a:solidFill>
                <a:latin typeface="Comic Sans MS"/>
                <a:ea typeface="Comic Sans MS"/>
                <a:cs typeface="Comic Sans MS"/>
                <a:sym typeface="Comic Sans MS"/>
              </a:rPr>
              <a:t> = 1/4</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5" name="Shape 1695"/>
        <p:cNvGrpSpPr/>
        <p:nvPr/>
      </p:nvGrpSpPr>
      <p:grpSpPr>
        <a:xfrm>
          <a:off x="0" y="0"/>
          <a:ext cx="0" cy="0"/>
          <a:chOff x="0" y="0"/>
          <a:chExt cx="0" cy="0"/>
        </a:xfrm>
      </p:grpSpPr>
      <p:sp>
        <p:nvSpPr>
          <p:cNvPr id="1696" name="Google Shape;1696;p93"/>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697" name="Google Shape;1697;p93"/>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698" name="Google Shape;1698;p93"/>
          <p:cNvSpPr txBox="1"/>
          <p:nvPr/>
        </p:nvSpPr>
        <p:spPr>
          <a:xfrm>
            <a:off x="76200" y="696912"/>
            <a:ext cx="8801100" cy="28305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Let us give a hypothetical example. Figure 15.39 shows part of a connection. The figure shows the connection establishment and part of the data transfer phases.</a:t>
            </a:r>
            <a:endParaRPr/>
          </a:p>
          <a:p>
            <a:pPr indent="0" lvl="0" marL="0" marR="0" rtl="0" algn="just">
              <a:lnSpc>
                <a:spcPct val="100000"/>
              </a:lnSpc>
              <a:spcBef>
                <a:spcPts val="0"/>
              </a:spcBef>
              <a:spcAft>
                <a:spcPts val="0"/>
              </a:spcAft>
              <a:buClr>
                <a:schemeClr val="dk1"/>
              </a:buClr>
              <a:buSzPts val="1200"/>
              <a:buFont typeface="Tahoma"/>
              <a:buNone/>
            </a:pPr>
            <a:r>
              <a:t/>
            </a:r>
            <a:endParaRPr b="1" i="0" sz="1200" u="none">
              <a:solidFill>
                <a:schemeClr val="dk1"/>
              </a:solidFill>
              <a:latin typeface="Arimo"/>
              <a:ea typeface="Arimo"/>
              <a:cs typeface="Arimo"/>
              <a:sym typeface="Arimo"/>
            </a:endParaRPr>
          </a:p>
          <a:p>
            <a:pPr indent="0" lvl="0" marL="0" marR="0" rtl="0" algn="just">
              <a:lnSpc>
                <a:spcPct val="100000"/>
              </a:lnSpc>
              <a:spcBef>
                <a:spcPts val="0"/>
              </a:spcBef>
              <a:spcAft>
                <a:spcPts val="0"/>
              </a:spcAft>
              <a:buClr>
                <a:schemeClr val="hlink"/>
              </a:buClr>
              <a:buSzPts val="2400"/>
              <a:buFont typeface="Arimo"/>
              <a:buNone/>
            </a:pPr>
            <a:r>
              <a:rPr b="1" i="0" lang="en-US" sz="2400" u="none">
                <a:solidFill>
                  <a:schemeClr val="hlink"/>
                </a:solidFill>
                <a:latin typeface="Arimo"/>
                <a:ea typeface="Arimo"/>
                <a:cs typeface="Arimo"/>
                <a:sym typeface="Arimo"/>
              </a:rPr>
              <a:t>1.</a:t>
            </a:r>
            <a:r>
              <a:rPr b="1" i="0" lang="en-US" sz="2400" u="none">
                <a:solidFill>
                  <a:schemeClr val="dk1"/>
                </a:solidFill>
                <a:latin typeface="Arimo"/>
                <a:ea typeface="Arimo"/>
                <a:cs typeface="Arimo"/>
                <a:sym typeface="Arimo"/>
              </a:rPr>
              <a:t>	When the SYN segment is sent, there is no value for 	RTTM, RTTS, or RTTD. The value of RTO is set to 6.00 	seconds. The following shows the value of these 	variable at this moment:</a:t>
            </a:r>
            <a:endParaRPr/>
          </a:p>
        </p:txBody>
      </p:sp>
      <p:grpSp>
        <p:nvGrpSpPr>
          <p:cNvPr id="1699" name="Google Shape;1699;p93"/>
          <p:cNvGrpSpPr/>
          <p:nvPr/>
        </p:nvGrpSpPr>
        <p:grpSpPr>
          <a:xfrm>
            <a:off x="0" y="0"/>
            <a:ext cx="9144000" cy="609600"/>
            <a:chOff x="0" y="2448"/>
            <a:chExt cx="5760" cy="384"/>
          </a:xfrm>
        </p:grpSpPr>
        <p:sp>
          <p:nvSpPr>
            <p:cNvPr id="1700" name="Google Shape;1700;p93"/>
            <p:cNvSpPr txBox="1"/>
            <p:nvPr/>
          </p:nvSpPr>
          <p:spPr>
            <a:xfrm>
              <a:off x="0" y="2448"/>
              <a:ext cx="5760" cy="384"/>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701" name="Google Shape;1701;p93"/>
            <p:cNvSpPr txBox="1"/>
            <p:nvPr/>
          </p:nvSpPr>
          <p:spPr>
            <a:xfrm>
              <a:off x="0" y="2448"/>
              <a:ext cx="1595" cy="365"/>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0" lang="en-US" sz="3200" u="none">
                  <a:solidFill>
                    <a:schemeClr val="lt1"/>
                  </a:solidFill>
                  <a:latin typeface="Times New Roman"/>
                  <a:ea typeface="Times New Roman"/>
                  <a:cs typeface="Times New Roman"/>
                  <a:sym typeface="Times New Roman"/>
                </a:rPr>
                <a:t>Example 15.3</a:t>
              </a:r>
              <a:endParaRPr/>
            </a:p>
          </p:txBody>
        </p:sp>
      </p:grpSp>
      <p:pic>
        <p:nvPicPr>
          <p:cNvPr id="1702" name="Google Shape;1702;p93"/>
          <p:cNvPicPr preferRelativeResize="0"/>
          <p:nvPr/>
        </p:nvPicPr>
        <p:blipFill rotWithShape="1">
          <a:blip r:embed="rId3">
            <a:alphaModFix/>
          </a:blip>
          <a:srcRect b="0" l="0" r="0" t="0"/>
          <a:stretch/>
        </p:blipFill>
        <p:spPr>
          <a:xfrm>
            <a:off x="3575050" y="3438525"/>
            <a:ext cx="1454150" cy="582612"/>
          </a:xfrm>
          <a:prstGeom prst="rect">
            <a:avLst/>
          </a:prstGeom>
          <a:noFill/>
          <a:ln>
            <a:noFill/>
          </a:ln>
        </p:spPr>
      </p:pic>
      <p:sp>
        <p:nvSpPr>
          <p:cNvPr id="1703" name="Google Shape;1703;p93"/>
          <p:cNvSpPr txBox="1"/>
          <p:nvPr/>
        </p:nvSpPr>
        <p:spPr>
          <a:xfrm>
            <a:off x="0" y="4181475"/>
            <a:ext cx="8839200" cy="8223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hlink"/>
              </a:buClr>
              <a:buSzPts val="2400"/>
              <a:buFont typeface="Arimo"/>
              <a:buNone/>
            </a:pPr>
            <a:r>
              <a:rPr b="1" i="0" lang="en-US" sz="2400" u="none">
                <a:solidFill>
                  <a:schemeClr val="hlink"/>
                </a:solidFill>
                <a:latin typeface="Arimo"/>
                <a:ea typeface="Arimo"/>
                <a:cs typeface="Arimo"/>
                <a:sym typeface="Arimo"/>
              </a:rPr>
              <a:t>2.</a:t>
            </a:r>
            <a:r>
              <a:rPr b="1" i="0" lang="en-US" sz="2400" u="none">
                <a:solidFill>
                  <a:schemeClr val="dk1"/>
                </a:solidFill>
                <a:latin typeface="Arimo"/>
                <a:ea typeface="Arimo"/>
                <a:cs typeface="Arimo"/>
                <a:sym typeface="Arimo"/>
              </a:rPr>
              <a:t>	When the SYN+ACK segment arrives, RTTM is 	measured and is equal to 1.5 seconds.</a:t>
            </a:r>
            <a:endParaRPr/>
          </a:p>
        </p:txBody>
      </p:sp>
      <p:pic>
        <p:nvPicPr>
          <p:cNvPr id="1704" name="Google Shape;1704;p93"/>
          <p:cNvPicPr preferRelativeResize="0"/>
          <p:nvPr/>
        </p:nvPicPr>
        <p:blipFill rotWithShape="1">
          <a:blip r:embed="rId4">
            <a:alphaModFix/>
          </a:blip>
          <a:srcRect b="0" l="0" r="0" t="0"/>
          <a:stretch/>
        </p:blipFill>
        <p:spPr>
          <a:xfrm>
            <a:off x="427037" y="5000625"/>
            <a:ext cx="7907337" cy="1235075"/>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9" name="Shape 1709"/>
        <p:cNvGrpSpPr/>
        <p:nvPr/>
      </p:nvGrpSpPr>
      <p:grpSpPr>
        <a:xfrm>
          <a:off x="0" y="0"/>
          <a:ext cx="0" cy="0"/>
          <a:chOff x="0" y="0"/>
          <a:chExt cx="0" cy="0"/>
        </a:xfrm>
      </p:grpSpPr>
      <p:sp>
        <p:nvSpPr>
          <p:cNvPr id="1710" name="Google Shape;1710;p94"/>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711" name="Google Shape;1711;p94"/>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712" name="Google Shape;1712;p94"/>
          <p:cNvSpPr txBox="1"/>
          <p:nvPr/>
        </p:nvSpPr>
        <p:spPr>
          <a:xfrm>
            <a:off x="76200" y="696912"/>
            <a:ext cx="8839200" cy="3378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hlink"/>
              </a:buClr>
              <a:buSzPts val="2400"/>
              <a:buFont typeface="Arimo"/>
              <a:buNone/>
            </a:pPr>
            <a:r>
              <a:rPr b="1" i="0" lang="en-US" sz="2400" u="none">
                <a:solidFill>
                  <a:schemeClr val="hlink"/>
                </a:solidFill>
                <a:latin typeface="Arimo"/>
                <a:ea typeface="Arimo"/>
                <a:cs typeface="Arimo"/>
                <a:sym typeface="Arimo"/>
              </a:rPr>
              <a:t>3.</a:t>
            </a:r>
            <a:r>
              <a:rPr b="1" i="0" lang="en-US" sz="2400" u="none">
                <a:solidFill>
                  <a:schemeClr val="dk1"/>
                </a:solidFill>
                <a:latin typeface="Arimo"/>
                <a:ea typeface="Arimo"/>
                <a:cs typeface="Arimo"/>
                <a:sym typeface="Arimo"/>
              </a:rPr>
              <a:t>	When the first data segment is sent, a new RTT measurement starts. No RTT measurement starts for the second data segment because a measurement is already in progress. The arrival of the last ACK segment is used to calculate the next value of RTTM. Although the last ACK segment acknowledges both data segments (cumulative), its arrival finalizes the value of RTTM for the first segment. The values of these variables are now as shown below.</a:t>
            </a:r>
            <a:endParaRPr/>
          </a:p>
        </p:txBody>
      </p:sp>
      <p:grpSp>
        <p:nvGrpSpPr>
          <p:cNvPr id="1713" name="Google Shape;1713;p94"/>
          <p:cNvGrpSpPr/>
          <p:nvPr/>
        </p:nvGrpSpPr>
        <p:grpSpPr>
          <a:xfrm>
            <a:off x="0" y="0"/>
            <a:ext cx="9144000" cy="609600"/>
            <a:chOff x="0" y="2448"/>
            <a:chExt cx="5760" cy="384"/>
          </a:xfrm>
        </p:grpSpPr>
        <p:sp>
          <p:nvSpPr>
            <p:cNvPr id="1714" name="Google Shape;1714;p94"/>
            <p:cNvSpPr txBox="1"/>
            <p:nvPr/>
          </p:nvSpPr>
          <p:spPr>
            <a:xfrm>
              <a:off x="0" y="2448"/>
              <a:ext cx="5760" cy="384"/>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715" name="Google Shape;1715;p94"/>
            <p:cNvSpPr txBox="1"/>
            <p:nvPr/>
          </p:nvSpPr>
          <p:spPr>
            <a:xfrm>
              <a:off x="0" y="2448"/>
              <a:ext cx="2768" cy="365"/>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0" lang="en-US" sz="3200" u="none">
                  <a:solidFill>
                    <a:schemeClr val="lt1"/>
                  </a:solidFill>
                  <a:latin typeface="Times New Roman"/>
                  <a:ea typeface="Times New Roman"/>
                  <a:cs typeface="Times New Roman"/>
                  <a:sym typeface="Times New Roman"/>
                </a:rPr>
                <a:t>Example 15.3 </a:t>
              </a:r>
              <a:r>
                <a:rPr b="1" i="1" lang="en-US" sz="3200" u="none">
                  <a:solidFill>
                    <a:schemeClr val="lt1"/>
                  </a:solidFill>
                  <a:latin typeface="Times New Roman"/>
                  <a:ea typeface="Times New Roman"/>
                  <a:cs typeface="Times New Roman"/>
                  <a:sym typeface="Times New Roman"/>
                </a:rPr>
                <a:t>Continued</a:t>
              </a:r>
              <a:endParaRPr/>
            </a:p>
          </p:txBody>
        </p:sp>
      </p:grpSp>
      <p:pic>
        <p:nvPicPr>
          <p:cNvPr id="1716" name="Google Shape;1716;p94"/>
          <p:cNvPicPr preferRelativeResize="0"/>
          <p:nvPr/>
        </p:nvPicPr>
        <p:blipFill rotWithShape="1">
          <a:blip r:embed="rId3">
            <a:alphaModFix/>
          </a:blip>
          <a:srcRect b="0" l="0" r="0" t="0"/>
          <a:stretch/>
        </p:blipFill>
        <p:spPr>
          <a:xfrm>
            <a:off x="438150" y="4286250"/>
            <a:ext cx="8583612" cy="1438275"/>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1" name="Shape 1721"/>
        <p:cNvGrpSpPr/>
        <p:nvPr/>
      </p:nvGrpSpPr>
      <p:grpSpPr>
        <a:xfrm>
          <a:off x="0" y="0"/>
          <a:ext cx="0" cy="0"/>
          <a:chOff x="0" y="0"/>
          <a:chExt cx="0" cy="0"/>
        </a:xfrm>
      </p:grpSpPr>
      <p:sp>
        <p:nvSpPr>
          <p:cNvPr id="1722" name="Google Shape;1722;p95"/>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723" name="Google Shape;1723;p95"/>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724" name="Google Shape;1724;p95"/>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15.39</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Example 15.3</a:t>
            </a:r>
            <a:endParaRPr/>
          </a:p>
        </p:txBody>
      </p:sp>
      <p:sp>
        <p:nvSpPr>
          <p:cNvPr id="1725" name="Google Shape;1725;p9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726" name="Google Shape;1726;p9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727" name="Google Shape;1727;p9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728" name="Google Shape;1728;p9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729" name="Google Shape;1729;p9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730" name="Google Shape;1730;p9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731" name="Google Shape;1731;p9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732" name="Google Shape;1732;p95"/>
          <p:cNvPicPr preferRelativeResize="0"/>
          <p:nvPr/>
        </p:nvPicPr>
        <p:blipFill rotWithShape="1">
          <a:blip r:embed="rId3">
            <a:alphaModFix/>
          </a:blip>
          <a:srcRect b="0" l="0" r="0" t="0"/>
          <a:stretch/>
        </p:blipFill>
        <p:spPr>
          <a:xfrm>
            <a:off x="715962" y="1312862"/>
            <a:ext cx="7513637" cy="4478337"/>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7" name="Shape 1737"/>
        <p:cNvGrpSpPr/>
        <p:nvPr/>
      </p:nvGrpSpPr>
      <p:grpSpPr>
        <a:xfrm>
          <a:off x="0" y="0"/>
          <a:ext cx="0" cy="0"/>
          <a:chOff x="0" y="0"/>
          <a:chExt cx="0" cy="0"/>
        </a:xfrm>
      </p:grpSpPr>
      <p:sp>
        <p:nvSpPr>
          <p:cNvPr id="1738" name="Google Shape;1738;p96"/>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739" name="Google Shape;1739;p96"/>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740" name="Google Shape;1740;p9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741" name="Google Shape;1741;p9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742" name="Google Shape;1742;p9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743" name="Google Shape;1743;p9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744" name="Google Shape;1744;p9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745" name="Google Shape;1745;p9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746" name="Google Shape;1746;p9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747" name="Google Shape;1747;p96"/>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748" name="Google Shape;1748;p96"/>
          <p:cNvCxnSpPr/>
          <p:nvPr/>
        </p:nvCxnSpPr>
        <p:spPr>
          <a:xfrm>
            <a:off x="609600" y="43434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1749" name="Google Shape;1749;p96"/>
          <p:cNvSpPr txBox="1"/>
          <p:nvPr/>
        </p:nvSpPr>
        <p:spPr>
          <a:xfrm>
            <a:off x="647700" y="2716212"/>
            <a:ext cx="8077200" cy="1554162"/>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TCP does not consider the RTT of a retransmitted segment in its </a:t>
            </a:r>
            <a:br>
              <a:rPr b="1" i="1" lang="en-US" sz="3200" u="none">
                <a:solidFill>
                  <a:schemeClr val="lt1"/>
                </a:solidFill>
                <a:latin typeface="Arial"/>
                <a:ea typeface="Arial"/>
                <a:cs typeface="Arial"/>
                <a:sym typeface="Arial"/>
              </a:rPr>
            </a:br>
            <a:r>
              <a:rPr b="1" i="1" lang="en-US" sz="3200" u="none">
                <a:solidFill>
                  <a:schemeClr val="lt1"/>
                </a:solidFill>
                <a:latin typeface="Arial"/>
                <a:ea typeface="Arial"/>
                <a:cs typeface="Arial"/>
                <a:sym typeface="Arial"/>
              </a:rPr>
              <a:t>calculation of a new RTO.</a:t>
            </a:r>
            <a:endParaRPr/>
          </a:p>
        </p:txBody>
      </p:sp>
      <p:grpSp>
        <p:nvGrpSpPr>
          <p:cNvPr id="1750" name="Google Shape;1750;p96"/>
          <p:cNvGrpSpPr/>
          <p:nvPr/>
        </p:nvGrpSpPr>
        <p:grpSpPr>
          <a:xfrm>
            <a:off x="609600" y="1981200"/>
            <a:ext cx="1143000" cy="566737"/>
            <a:chOff x="1200" y="1248"/>
            <a:chExt cx="720" cy="357"/>
          </a:xfrm>
        </p:grpSpPr>
        <p:pic>
          <p:nvPicPr>
            <p:cNvPr id="1751" name="Google Shape;1751;p96"/>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752" name="Google Shape;1752;p96"/>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747"/>
                                        </p:tgtEl>
                                        <p:attrNameLst>
                                          <p:attrName>style.visibility</p:attrName>
                                        </p:attrNameLst>
                                      </p:cBhvr>
                                      <p:to>
                                        <p:strVal val="visible"/>
                                      </p:to>
                                    </p:set>
                                    <p:animEffect filter="fade" transition="in">
                                      <p:cBhvr>
                                        <p:cTn dur="500"/>
                                        <p:tgtEl>
                                          <p:spTgt spid="174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748"/>
                                        </p:tgtEl>
                                        <p:attrNameLst>
                                          <p:attrName>style.visibility</p:attrName>
                                        </p:attrNameLst>
                                      </p:cBhvr>
                                      <p:to>
                                        <p:strVal val="visible"/>
                                      </p:to>
                                    </p:set>
                                    <p:animEffect filter="fade" transition="in">
                                      <p:cBhvr>
                                        <p:cTn dur="500"/>
                                        <p:tgtEl>
                                          <p:spTgt spid="174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49"/>
                                        </p:tgtEl>
                                        <p:attrNameLst>
                                          <p:attrName>style.visibility</p:attrName>
                                        </p:attrNameLst>
                                      </p:cBhvr>
                                      <p:to>
                                        <p:strVal val="visible"/>
                                      </p:to>
                                    </p:set>
                                    <p:animEffect filter="fade" transition="in">
                                      <p:cBhvr>
                                        <p:cTn dur="500"/>
                                        <p:tgtEl>
                                          <p:spTgt spid="17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7" name="Shape 1757"/>
        <p:cNvGrpSpPr/>
        <p:nvPr/>
      </p:nvGrpSpPr>
      <p:grpSpPr>
        <a:xfrm>
          <a:off x="0" y="0"/>
          <a:ext cx="0" cy="0"/>
          <a:chOff x="0" y="0"/>
          <a:chExt cx="0" cy="0"/>
        </a:xfrm>
      </p:grpSpPr>
      <p:sp>
        <p:nvSpPr>
          <p:cNvPr id="1758" name="Google Shape;1758;p97"/>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759" name="Google Shape;1759;p97"/>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760" name="Google Shape;1760;p97"/>
          <p:cNvSpPr txBox="1"/>
          <p:nvPr/>
        </p:nvSpPr>
        <p:spPr>
          <a:xfrm>
            <a:off x="76200" y="696912"/>
            <a:ext cx="8905875" cy="30130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Figure 15.40 is a continuation of the previous example. There is retransmission and </a:t>
            </a:r>
            <a:r>
              <a:rPr b="1" i="0" lang="en-US" sz="2400" u="none">
                <a:solidFill>
                  <a:schemeClr val="dk2"/>
                </a:solidFill>
                <a:latin typeface="Arimo"/>
                <a:ea typeface="Arimo"/>
                <a:cs typeface="Arimo"/>
                <a:sym typeface="Arimo"/>
              </a:rPr>
              <a:t>Karn</a:t>
            </a:r>
            <a:r>
              <a:rPr b="1" i="0" lang="en-US" sz="2400" u="none">
                <a:solidFill>
                  <a:schemeClr val="dk2"/>
                </a:solidFill>
                <a:latin typeface="Arial"/>
                <a:ea typeface="Arial"/>
                <a:cs typeface="Arial"/>
                <a:sym typeface="Arial"/>
              </a:rPr>
              <a:t>’</a:t>
            </a:r>
            <a:r>
              <a:rPr b="1" i="0" lang="en-US" sz="2400" u="none">
                <a:solidFill>
                  <a:schemeClr val="dk2"/>
                </a:solidFill>
                <a:latin typeface="Arimo"/>
                <a:ea typeface="Arimo"/>
                <a:cs typeface="Arimo"/>
                <a:sym typeface="Arimo"/>
              </a:rPr>
              <a:t>s algorithm</a:t>
            </a:r>
            <a:r>
              <a:rPr b="1" i="0" lang="en-US" sz="2400" u="none">
                <a:solidFill>
                  <a:schemeClr val="dk1"/>
                </a:solidFill>
                <a:latin typeface="Arimo"/>
                <a:ea typeface="Arimo"/>
                <a:cs typeface="Arimo"/>
                <a:sym typeface="Arimo"/>
              </a:rPr>
              <a:t> is applied.</a:t>
            </a:r>
            <a:endParaRPr/>
          </a:p>
          <a:p>
            <a:pPr indent="0" lvl="0" marL="0" marR="0" rtl="0" algn="just">
              <a:lnSpc>
                <a:spcPct val="100000"/>
              </a:lnSpc>
              <a:spcBef>
                <a:spcPts val="0"/>
              </a:spcBef>
              <a:spcAft>
                <a:spcPts val="0"/>
              </a:spcAft>
              <a:buClr>
                <a:schemeClr val="dk1"/>
              </a:buClr>
              <a:buSzPts val="2400"/>
              <a:buFont typeface="Tahoma"/>
              <a:buNone/>
            </a:pPr>
            <a:r>
              <a:t/>
            </a:r>
            <a:endParaRPr b="1" i="0" sz="2400" u="none">
              <a:solidFill>
                <a:schemeClr val="dk1"/>
              </a:solidFill>
              <a:latin typeface="Arimo"/>
              <a:ea typeface="Arimo"/>
              <a:cs typeface="Arimo"/>
              <a:sym typeface="Arimo"/>
            </a:endParaRPr>
          </a:p>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The first segment in the figure is sent, but lost. The RTO timer expires after 4.74 seconds. The segment is retransmitted and the timer is set to 9.48, twice the previous value of RTO. This time an ACK is received before the time-out. We wait until we send a new segment and receive the ACK for it before recalculating the RTO (Karn</a:t>
            </a:r>
            <a:r>
              <a:rPr b="1" i="0" lang="en-US" sz="2400" u="none">
                <a:solidFill>
                  <a:schemeClr val="dk1"/>
                </a:solidFill>
                <a:latin typeface="Arial"/>
                <a:ea typeface="Arial"/>
                <a:cs typeface="Arial"/>
                <a:sym typeface="Arial"/>
              </a:rPr>
              <a:t>’</a:t>
            </a:r>
            <a:r>
              <a:rPr b="1" i="0" lang="en-US" sz="2400" u="none">
                <a:solidFill>
                  <a:schemeClr val="dk1"/>
                </a:solidFill>
                <a:latin typeface="Arimo"/>
                <a:ea typeface="Arimo"/>
                <a:cs typeface="Arimo"/>
                <a:sym typeface="Arimo"/>
              </a:rPr>
              <a:t>s algorithm).</a:t>
            </a:r>
            <a:endParaRPr/>
          </a:p>
        </p:txBody>
      </p:sp>
      <p:grpSp>
        <p:nvGrpSpPr>
          <p:cNvPr id="1761" name="Google Shape;1761;p97"/>
          <p:cNvGrpSpPr/>
          <p:nvPr/>
        </p:nvGrpSpPr>
        <p:grpSpPr>
          <a:xfrm>
            <a:off x="0" y="0"/>
            <a:ext cx="9144000" cy="609600"/>
            <a:chOff x="0" y="2448"/>
            <a:chExt cx="5760" cy="384"/>
          </a:xfrm>
        </p:grpSpPr>
        <p:sp>
          <p:nvSpPr>
            <p:cNvPr id="1762" name="Google Shape;1762;p97"/>
            <p:cNvSpPr txBox="1"/>
            <p:nvPr/>
          </p:nvSpPr>
          <p:spPr>
            <a:xfrm>
              <a:off x="0" y="2448"/>
              <a:ext cx="5760" cy="384"/>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763" name="Google Shape;1763;p97"/>
            <p:cNvSpPr txBox="1"/>
            <p:nvPr/>
          </p:nvSpPr>
          <p:spPr>
            <a:xfrm>
              <a:off x="0" y="2448"/>
              <a:ext cx="1595" cy="365"/>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0" lang="en-US" sz="3200" u="none">
                  <a:solidFill>
                    <a:schemeClr val="lt1"/>
                  </a:solidFill>
                  <a:latin typeface="Times New Roman"/>
                  <a:ea typeface="Times New Roman"/>
                  <a:cs typeface="Times New Roman"/>
                  <a:sym typeface="Times New Roman"/>
                </a:rPr>
                <a:t>Example 15.4</a:t>
              </a:r>
              <a:endParaRPr/>
            </a:p>
          </p:txBody>
        </p:sp>
      </p:gr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8" name="Shape 1768"/>
        <p:cNvGrpSpPr/>
        <p:nvPr/>
      </p:nvGrpSpPr>
      <p:grpSpPr>
        <a:xfrm>
          <a:off x="0" y="0"/>
          <a:ext cx="0" cy="0"/>
          <a:chOff x="0" y="0"/>
          <a:chExt cx="0" cy="0"/>
        </a:xfrm>
      </p:grpSpPr>
      <p:sp>
        <p:nvSpPr>
          <p:cNvPr id="1769" name="Google Shape;1769;p98"/>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770" name="Google Shape;1770;p98"/>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771" name="Google Shape;1771;p98"/>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15.40</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Example 15.4</a:t>
            </a:r>
            <a:endParaRPr/>
          </a:p>
        </p:txBody>
      </p:sp>
      <p:sp>
        <p:nvSpPr>
          <p:cNvPr id="1772" name="Google Shape;1772;p9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773" name="Google Shape;1773;p9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774" name="Google Shape;1774;p9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775" name="Google Shape;1775;p9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776" name="Google Shape;1776;p9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777" name="Google Shape;1777;p9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778" name="Google Shape;1778;p9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779" name="Google Shape;1779;p98"/>
          <p:cNvPicPr preferRelativeResize="0"/>
          <p:nvPr/>
        </p:nvPicPr>
        <p:blipFill rotWithShape="1">
          <a:blip r:embed="rId3">
            <a:alphaModFix/>
          </a:blip>
          <a:srcRect b="0" l="0" r="0" t="0"/>
          <a:stretch/>
        </p:blipFill>
        <p:spPr>
          <a:xfrm>
            <a:off x="858837" y="1336675"/>
            <a:ext cx="7523162" cy="4606925"/>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4" name="Shape 1784"/>
        <p:cNvGrpSpPr/>
        <p:nvPr/>
      </p:nvGrpSpPr>
      <p:grpSpPr>
        <a:xfrm>
          <a:off x="0" y="0"/>
          <a:ext cx="0" cy="0"/>
          <a:chOff x="0" y="0"/>
          <a:chExt cx="0" cy="0"/>
        </a:xfrm>
      </p:grpSpPr>
      <p:sp>
        <p:nvSpPr>
          <p:cNvPr id="1785" name="Google Shape;1785;p99"/>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786" name="Google Shape;1786;p99"/>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787" name="Google Shape;1787;p99"/>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788" name="Google Shape;1788;p99"/>
          <p:cNvSpPr txBox="1"/>
          <p:nvPr/>
        </p:nvSpPr>
        <p:spPr>
          <a:xfrm>
            <a:off x="228600" y="355600"/>
            <a:ext cx="3546475" cy="650875"/>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Times"/>
              <a:buNone/>
            </a:pPr>
            <a:r>
              <a:rPr b="1" i="0" lang="en-US" sz="3600" u="none">
                <a:solidFill>
                  <a:schemeClr val="lt1"/>
                </a:solidFill>
                <a:latin typeface="Times"/>
                <a:ea typeface="Times"/>
                <a:cs typeface="Times"/>
                <a:sym typeface="Times"/>
              </a:rPr>
              <a:t>15-11  OPTIONS</a:t>
            </a:r>
            <a:endParaRPr/>
          </a:p>
        </p:txBody>
      </p:sp>
      <p:sp>
        <p:nvSpPr>
          <p:cNvPr id="1789" name="Google Shape;1789;p99"/>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790" name="Google Shape;1790;p99"/>
          <p:cNvSpPr txBox="1"/>
          <p:nvPr/>
        </p:nvSpPr>
        <p:spPr>
          <a:xfrm>
            <a:off x="152400" y="1524000"/>
            <a:ext cx="8867775" cy="47894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mo"/>
              <a:buNone/>
            </a:pPr>
            <a:r>
              <a:rPr b="1" i="0" lang="en-US" sz="2800" u="none">
                <a:solidFill>
                  <a:schemeClr val="dk1"/>
                </a:solidFill>
                <a:latin typeface="Arimo"/>
                <a:ea typeface="Arimo"/>
                <a:cs typeface="Arimo"/>
                <a:sym typeface="Arimo"/>
              </a:rPr>
              <a:t>The TCP header can have up to 40 bytes of optional information. Options convey additional information to the destination or align other options. We can define two categories of options: 1-byte options and multiple-byte options. The first category contains two types of options: end of option list and no operation. The second category, in most implementations, contains five types of options: maximum segment size, window scale factor, timestamp, SACK-permitted, and SACK (see Figure 15.41).</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5" name="Shape 1795"/>
        <p:cNvGrpSpPr/>
        <p:nvPr/>
      </p:nvGrpSpPr>
      <p:grpSpPr>
        <a:xfrm>
          <a:off x="0" y="0"/>
          <a:ext cx="0" cy="0"/>
          <a:chOff x="0" y="0"/>
          <a:chExt cx="0" cy="0"/>
        </a:xfrm>
      </p:grpSpPr>
      <p:sp>
        <p:nvSpPr>
          <p:cNvPr id="1796" name="Google Shape;1796;p100"/>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797" name="Google Shape;1797;p100"/>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798" name="Google Shape;1798;p100"/>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15.41</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Options</a:t>
            </a:r>
            <a:endParaRPr/>
          </a:p>
        </p:txBody>
      </p:sp>
      <p:sp>
        <p:nvSpPr>
          <p:cNvPr id="1799" name="Google Shape;1799;p100"/>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00" name="Google Shape;1800;p10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01" name="Google Shape;1801;p100"/>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02" name="Google Shape;1802;p10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03" name="Google Shape;1803;p10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04" name="Google Shape;1804;p100"/>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05" name="Google Shape;1805;p10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806" name="Google Shape;1806;p100"/>
          <p:cNvPicPr preferRelativeResize="0"/>
          <p:nvPr/>
        </p:nvPicPr>
        <p:blipFill rotWithShape="1">
          <a:blip r:embed="rId3">
            <a:alphaModFix/>
          </a:blip>
          <a:srcRect b="0" l="0" r="0" t="0"/>
          <a:stretch/>
        </p:blipFill>
        <p:spPr>
          <a:xfrm>
            <a:off x="323850" y="1752600"/>
            <a:ext cx="8372475" cy="38782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6"/>
                                        </p:tgtEl>
                                        <p:attrNameLst>
                                          <p:attrName>style.visibility</p:attrName>
                                        </p:attrNameLst>
                                      </p:cBhvr>
                                      <p:to>
                                        <p:strVal val="visible"/>
                                      </p:to>
                                    </p:set>
                                    <p:animEffect filter="fade" transition="in">
                                      <p:cBhvr>
                                        <p:cTn dur="3000"/>
                                        <p:tgtEl>
                                          <p:spTgt spid="18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1" name="Shape 1811"/>
        <p:cNvGrpSpPr/>
        <p:nvPr/>
      </p:nvGrpSpPr>
      <p:grpSpPr>
        <a:xfrm>
          <a:off x="0" y="0"/>
          <a:ext cx="0" cy="0"/>
          <a:chOff x="0" y="0"/>
          <a:chExt cx="0" cy="0"/>
        </a:xfrm>
      </p:grpSpPr>
      <p:sp>
        <p:nvSpPr>
          <p:cNvPr id="1812" name="Google Shape;1812;p101"/>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813" name="Google Shape;1813;p101"/>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814" name="Google Shape;1814;p101"/>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15.42</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End-of-option option</a:t>
            </a:r>
            <a:endParaRPr/>
          </a:p>
        </p:txBody>
      </p:sp>
      <p:sp>
        <p:nvSpPr>
          <p:cNvPr id="1815" name="Google Shape;1815;p10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16" name="Google Shape;1816;p10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17" name="Google Shape;1817;p10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18" name="Google Shape;1818;p10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19" name="Google Shape;1819;p10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20" name="Google Shape;1820;p10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21" name="Google Shape;1821;p10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822" name="Google Shape;1822;p101"/>
          <p:cNvPicPr preferRelativeResize="0"/>
          <p:nvPr/>
        </p:nvPicPr>
        <p:blipFill rotWithShape="1">
          <a:blip r:embed="rId3">
            <a:alphaModFix/>
          </a:blip>
          <a:srcRect b="0" l="0" r="0" t="0"/>
          <a:stretch/>
        </p:blipFill>
        <p:spPr>
          <a:xfrm>
            <a:off x="514350" y="2913062"/>
            <a:ext cx="8293100" cy="1611312"/>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7" name="Shape 1827"/>
        <p:cNvGrpSpPr/>
        <p:nvPr/>
      </p:nvGrpSpPr>
      <p:grpSpPr>
        <a:xfrm>
          <a:off x="0" y="0"/>
          <a:ext cx="0" cy="0"/>
          <a:chOff x="0" y="0"/>
          <a:chExt cx="0" cy="0"/>
        </a:xfrm>
      </p:grpSpPr>
      <p:sp>
        <p:nvSpPr>
          <p:cNvPr id="1828" name="Google Shape;1828;p102"/>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829" name="Google Shape;1829;p102"/>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830" name="Google Shape;1830;p10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31" name="Google Shape;1831;p10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32" name="Google Shape;1832;p10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33" name="Google Shape;1833;p10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34" name="Google Shape;1834;p10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35" name="Google Shape;1835;p10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36" name="Google Shape;1836;p10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837" name="Google Shape;1837;p102"/>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838" name="Google Shape;1838;p102"/>
          <p:cNvCxnSpPr/>
          <p:nvPr/>
        </p:nvCxnSpPr>
        <p:spPr>
          <a:xfrm>
            <a:off x="609600" y="34290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1839" name="Google Shape;1839;p102"/>
          <p:cNvSpPr txBox="1"/>
          <p:nvPr/>
        </p:nvSpPr>
        <p:spPr>
          <a:xfrm>
            <a:off x="647700" y="2716212"/>
            <a:ext cx="8077200" cy="579437"/>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EOP can be used only once.</a:t>
            </a:r>
            <a:endParaRPr/>
          </a:p>
        </p:txBody>
      </p:sp>
      <p:grpSp>
        <p:nvGrpSpPr>
          <p:cNvPr id="1840" name="Google Shape;1840;p102"/>
          <p:cNvGrpSpPr/>
          <p:nvPr/>
        </p:nvGrpSpPr>
        <p:grpSpPr>
          <a:xfrm>
            <a:off x="609600" y="1981200"/>
            <a:ext cx="1143000" cy="566737"/>
            <a:chOff x="1200" y="1248"/>
            <a:chExt cx="720" cy="357"/>
          </a:xfrm>
        </p:grpSpPr>
        <p:pic>
          <p:nvPicPr>
            <p:cNvPr id="1841" name="Google Shape;1841;p102"/>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842" name="Google Shape;1842;p102"/>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837"/>
                                        </p:tgtEl>
                                        <p:attrNameLst>
                                          <p:attrName>style.visibility</p:attrName>
                                        </p:attrNameLst>
                                      </p:cBhvr>
                                      <p:to>
                                        <p:strVal val="visible"/>
                                      </p:to>
                                    </p:set>
                                    <p:animEffect filter="fade" transition="in">
                                      <p:cBhvr>
                                        <p:cTn dur="500"/>
                                        <p:tgtEl>
                                          <p:spTgt spid="183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838"/>
                                        </p:tgtEl>
                                        <p:attrNameLst>
                                          <p:attrName>style.visibility</p:attrName>
                                        </p:attrNameLst>
                                      </p:cBhvr>
                                      <p:to>
                                        <p:strVal val="visible"/>
                                      </p:to>
                                    </p:set>
                                    <p:animEffect filter="fade" transition="in">
                                      <p:cBhvr>
                                        <p:cTn dur="500"/>
                                        <p:tgtEl>
                                          <p:spTgt spid="183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839"/>
                                        </p:tgtEl>
                                        <p:attrNameLst>
                                          <p:attrName>style.visibility</p:attrName>
                                        </p:attrNameLst>
                                      </p:cBhvr>
                                      <p:to>
                                        <p:strVal val="visible"/>
                                      </p:to>
                                    </p:set>
                                    <p:animEffect filter="fade" transition="in">
                                      <p:cBhvr>
                                        <p:cTn dur="500"/>
                                        <p:tgtEl>
                                          <p:spTgt spid="18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7" name="Shape 1847"/>
        <p:cNvGrpSpPr/>
        <p:nvPr/>
      </p:nvGrpSpPr>
      <p:grpSpPr>
        <a:xfrm>
          <a:off x="0" y="0"/>
          <a:ext cx="0" cy="0"/>
          <a:chOff x="0" y="0"/>
          <a:chExt cx="0" cy="0"/>
        </a:xfrm>
      </p:grpSpPr>
      <p:sp>
        <p:nvSpPr>
          <p:cNvPr id="1848" name="Google Shape;1848;p103"/>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849" name="Google Shape;1849;p103"/>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850" name="Google Shape;1850;p103"/>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15.43</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No-operation option</a:t>
            </a:r>
            <a:endParaRPr/>
          </a:p>
        </p:txBody>
      </p:sp>
      <p:sp>
        <p:nvSpPr>
          <p:cNvPr id="1851" name="Google Shape;1851;p10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52" name="Google Shape;1852;p10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53" name="Google Shape;1853;p10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54" name="Google Shape;1854;p10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55" name="Google Shape;1855;p10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56" name="Google Shape;1856;p10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57" name="Google Shape;1857;p10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858" name="Google Shape;1858;p103"/>
          <p:cNvPicPr preferRelativeResize="0"/>
          <p:nvPr/>
        </p:nvPicPr>
        <p:blipFill rotWithShape="1">
          <a:blip r:embed="rId3">
            <a:alphaModFix/>
          </a:blip>
          <a:srcRect b="0" l="0" r="0" t="0"/>
          <a:stretch/>
        </p:blipFill>
        <p:spPr>
          <a:xfrm>
            <a:off x="669925" y="2562225"/>
            <a:ext cx="7331075" cy="2314575"/>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3" name="Shape 1863"/>
        <p:cNvGrpSpPr/>
        <p:nvPr/>
      </p:nvGrpSpPr>
      <p:grpSpPr>
        <a:xfrm>
          <a:off x="0" y="0"/>
          <a:ext cx="0" cy="0"/>
          <a:chOff x="0" y="0"/>
          <a:chExt cx="0" cy="0"/>
        </a:xfrm>
      </p:grpSpPr>
      <p:sp>
        <p:nvSpPr>
          <p:cNvPr id="1864" name="Google Shape;1864;p104"/>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865" name="Google Shape;1865;p104"/>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866" name="Google Shape;1866;p10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67" name="Google Shape;1867;p10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68" name="Google Shape;1868;p10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69" name="Google Shape;1869;p10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70" name="Google Shape;1870;p10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71" name="Google Shape;1871;p10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72" name="Google Shape;1872;p10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873" name="Google Shape;1873;p104"/>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874" name="Google Shape;1874;p104"/>
          <p:cNvCxnSpPr/>
          <p:nvPr/>
        </p:nvCxnSpPr>
        <p:spPr>
          <a:xfrm>
            <a:off x="609600" y="34290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1875" name="Google Shape;1875;p104"/>
          <p:cNvSpPr txBox="1"/>
          <p:nvPr/>
        </p:nvSpPr>
        <p:spPr>
          <a:xfrm>
            <a:off x="647700" y="2716212"/>
            <a:ext cx="8077200" cy="579437"/>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NOP can be used more than once.</a:t>
            </a:r>
            <a:endParaRPr/>
          </a:p>
        </p:txBody>
      </p:sp>
      <p:grpSp>
        <p:nvGrpSpPr>
          <p:cNvPr id="1876" name="Google Shape;1876;p104"/>
          <p:cNvGrpSpPr/>
          <p:nvPr/>
        </p:nvGrpSpPr>
        <p:grpSpPr>
          <a:xfrm>
            <a:off x="609600" y="1981200"/>
            <a:ext cx="1143000" cy="566737"/>
            <a:chOff x="1200" y="1248"/>
            <a:chExt cx="720" cy="357"/>
          </a:xfrm>
        </p:grpSpPr>
        <p:pic>
          <p:nvPicPr>
            <p:cNvPr id="1877" name="Google Shape;1877;p104"/>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878" name="Google Shape;1878;p104"/>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873"/>
                                        </p:tgtEl>
                                        <p:attrNameLst>
                                          <p:attrName>style.visibility</p:attrName>
                                        </p:attrNameLst>
                                      </p:cBhvr>
                                      <p:to>
                                        <p:strVal val="visible"/>
                                      </p:to>
                                    </p:set>
                                    <p:animEffect filter="fade" transition="in">
                                      <p:cBhvr>
                                        <p:cTn dur="500"/>
                                        <p:tgtEl>
                                          <p:spTgt spid="187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874"/>
                                        </p:tgtEl>
                                        <p:attrNameLst>
                                          <p:attrName>style.visibility</p:attrName>
                                        </p:attrNameLst>
                                      </p:cBhvr>
                                      <p:to>
                                        <p:strVal val="visible"/>
                                      </p:to>
                                    </p:set>
                                    <p:animEffect filter="fade" transition="in">
                                      <p:cBhvr>
                                        <p:cTn dur="500"/>
                                        <p:tgtEl>
                                          <p:spTgt spid="187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875"/>
                                        </p:tgtEl>
                                        <p:attrNameLst>
                                          <p:attrName>style.visibility</p:attrName>
                                        </p:attrNameLst>
                                      </p:cBhvr>
                                      <p:to>
                                        <p:strVal val="visible"/>
                                      </p:to>
                                    </p:set>
                                    <p:animEffect filter="fade" transition="in">
                                      <p:cBhvr>
                                        <p:cTn dur="500"/>
                                        <p:tgtEl>
                                          <p:spTgt spid="18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3" name="Shape 1883"/>
        <p:cNvGrpSpPr/>
        <p:nvPr/>
      </p:nvGrpSpPr>
      <p:grpSpPr>
        <a:xfrm>
          <a:off x="0" y="0"/>
          <a:ext cx="0" cy="0"/>
          <a:chOff x="0" y="0"/>
          <a:chExt cx="0" cy="0"/>
        </a:xfrm>
      </p:grpSpPr>
      <p:sp>
        <p:nvSpPr>
          <p:cNvPr id="1884" name="Google Shape;1884;p105"/>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885" name="Google Shape;1885;p105"/>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886" name="Google Shape;1886;p105"/>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15.44</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Minimum-segment-size option</a:t>
            </a:r>
            <a:endParaRPr/>
          </a:p>
        </p:txBody>
      </p:sp>
      <p:sp>
        <p:nvSpPr>
          <p:cNvPr id="1887" name="Google Shape;1887;p10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88" name="Google Shape;1888;p10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89" name="Google Shape;1889;p10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90" name="Google Shape;1890;p10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91" name="Google Shape;1891;p10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92" name="Google Shape;1892;p10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93" name="Google Shape;1893;p10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894" name="Google Shape;1894;p105"/>
          <p:cNvPicPr preferRelativeResize="0"/>
          <p:nvPr/>
        </p:nvPicPr>
        <p:blipFill rotWithShape="1">
          <a:blip r:embed="rId3">
            <a:alphaModFix/>
          </a:blip>
          <a:srcRect b="0" l="0" r="0" t="0"/>
          <a:stretch/>
        </p:blipFill>
        <p:spPr>
          <a:xfrm>
            <a:off x="298450" y="3213100"/>
            <a:ext cx="8007350" cy="901700"/>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9" name="Shape 1899"/>
        <p:cNvGrpSpPr/>
        <p:nvPr/>
      </p:nvGrpSpPr>
      <p:grpSpPr>
        <a:xfrm>
          <a:off x="0" y="0"/>
          <a:ext cx="0" cy="0"/>
          <a:chOff x="0" y="0"/>
          <a:chExt cx="0" cy="0"/>
        </a:xfrm>
      </p:grpSpPr>
      <p:sp>
        <p:nvSpPr>
          <p:cNvPr id="1900" name="Google Shape;1900;p106"/>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901" name="Google Shape;1901;p106"/>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902" name="Google Shape;1902;p10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03" name="Google Shape;1903;p10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04" name="Google Shape;1904;p10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05" name="Google Shape;1905;p10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06" name="Google Shape;1906;p10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07" name="Google Shape;1907;p10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08" name="Google Shape;1908;p10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909" name="Google Shape;1909;p106"/>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910" name="Google Shape;1910;p106"/>
          <p:cNvCxnSpPr/>
          <p:nvPr/>
        </p:nvCxnSpPr>
        <p:spPr>
          <a:xfrm>
            <a:off x="609600" y="43434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1911" name="Google Shape;1911;p106"/>
          <p:cNvSpPr txBox="1"/>
          <p:nvPr/>
        </p:nvSpPr>
        <p:spPr>
          <a:xfrm>
            <a:off x="647700" y="2716212"/>
            <a:ext cx="8077200" cy="1554162"/>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value of MSS is determined during connection establishment and does </a:t>
            </a:r>
            <a:br>
              <a:rPr b="1" i="1" lang="en-US" sz="3200" u="none">
                <a:solidFill>
                  <a:schemeClr val="lt1"/>
                </a:solidFill>
                <a:latin typeface="Arial"/>
                <a:ea typeface="Arial"/>
                <a:cs typeface="Arial"/>
                <a:sym typeface="Arial"/>
              </a:rPr>
            </a:br>
            <a:r>
              <a:rPr b="1" i="1" lang="en-US" sz="3200" u="none">
                <a:solidFill>
                  <a:schemeClr val="lt1"/>
                </a:solidFill>
                <a:latin typeface="Arial"/>
                <a:ea typeface="Arial"/>
                <a:cs typeface="Arial"/>
                <a:sym typeface="Arial"/>
              </a:rPr>
              <a:t>not change during the connection.</a:t>
            </a:r>
            <a:endParaRPr/>
          </a:p>
        </p:txBody>
      </p:sp>
      <p:grpSp>
        <p:nvGrpSpPr>
          <p:cNvPr id="1912" name="Google Shape;1912;p106"/>
          <p:cNvGrpSpPr/>
          <p:nvPr/>
        </p:nvGrpSpPr>
        <p:grpSpPr>
          <a:xfrm>
            <a:off x="609600" y="1981200"/>
            <a:ext cx="1143000" cy="566737"/>
            <a:chOff x="1200" y="1248"/>
            <a:chExt cx="720" cy="357"/>
          </a:xfrm>
        </p:grpSpPr>
        <p:pic>
          <p:nvPicPr>
            <p:cNvPr id="1913" name="Google Shape;1913;p106"/>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914" name="Google Shape;1914;p106"/>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909"/>
                                        </p:tgtEl>
                                        <p:attrNameLst>
                                          <p:attrName>style.visibility</p:attrName>
                                        </p:attrNameLst>
                                      </p:cBhvr>
                                      <p:to>
                                        <p:strVal val="visible"/>
                                      </p:to>
                                    </p:set>
                                    <p:animEffect filter="fade" transition="in">
                                      <p:cBhvr>
                                        <p:cTn dur="500"/>
                                        <p:tgtEl>
                                          <p:spTgt spid="190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10"/>
                                        </p:tgtEl>
                                        <p:attrNameLst>
                                          <p:attrName>style.visibility</p:attrName>
                                        </p:attrNameLst>
                                      </p:cBhvr>
                                      <p:to>
                                        <p:strVal val="visible"/>
                                      </p:to>
                                    </p:set>
                                    <p:animEffect filter="fade" transition="in">
                                      <p:cBhvr>
                                        <p:cTn dur="500"/>
                                        <p:tgtEl>
                                          <p:spTgt spid="191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11"/>
                                        </p:tgtEl>
                                        <p:attrNameLst>
                                          <p:attrName>style.visibility</p:attrName>
                                        </p:attrNameLst>
                                      </p:cBhvr>
                                      <p:to>
                                        <p:strVal val="visible"/>
                                      </p:to>
                                    </p:set>
                                    <p:animEffect filter="fade" transition="in">
                                      <p:cBhvr>
                                        <p:cTn dur="500"/>
                                        <p:tgtEl>
                                          <p:spTgt spid="19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9" name="Shape 1919"/>
        <p:cNvGrpSpPr/>
        <p:nvPr/>
      </p:nvGrpSpPr>
      <p:grpSpPr>
        <a:xfrm>
          <a:off x="0" y="0"/>
          <a:ext cx="0" cy="0"/>
          <a:chOff x="0" y="0"/>
          <a:chExt cx="0" cy="0"/>
        </a:xfrm>
      </p:grpSpPr>
      <p:sp>
        <p:nvSpPr>
          <p:cNvPr id="1920" name="Google Shape;1920;p107"/>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921" name="Google Shape;1921;p107"/>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922" name="Google Shape;1922;p107"/>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15.45</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Window-scale-factor option</a:t>
            </a:r>
            <a:endParaRPr/>
          </a:p>
        </p:txBody>
      </p:sp>
      <p:sp>
        <p:nvSpPr>
          <p:cNvPr id="1923" name="Google Shape;1923;p10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24" name="Google Shape;1924;p10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25" name="Google Shape;1925;p10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26" name="Google Shape;1926;p10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27" name="Google Shape;1927;p10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28" name="Google Shape;1928;p10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29" name="Google Shape;1929;p10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930" name="Google Shape;1930;p107"/>
          <p:cNvPicPr preferRelativeResize="0"/>
          <p:nvPr/>
        </p:nvPicPr>
        <p:blipFill rotWithShape="1">
          <a:blip r:embed="rId3">
            <a:alphaModFix/>
          </a:blip>
          <a:srcRect b="0" l="0" r="0" t="0"/>
          <a:stretch/>
        </p:blipFill>
        <p:spPr>
          <a:xfrm>
            <a:off x="288925" y="3024187"/>
            <a:ext cx="8626475" cy="1130300"/>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5" name="Shape 1935"/>
        <p:cNvGrpSpPr/>
        <p:nvPr/>
      </p:nvGrpSpPr>
      <p:grpSpPr>
        <a:xfrm>
          <a:off x="0" y="0"/>
          <a:ext cx="0" cy="0"/>
          <a:chOff x="0" y="0"/>
          <a:chExt cx="0" cy="0"/>
        </a:xfrm>
      </p:grpSpPr>
      <p:sp>
        <p:nvSpPr>
          <p:cNvPr id="1936" name="Google Shape;1936;p108"/>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937" name="Google Shape;1937;p108"/>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938" name="Google Shape;1938;p10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39" name="Google Shape;1939;p10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40" name="Google Shape;1940;p10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41" name="Google Shape;1941;p10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42" name="Google Shape;1942;p10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43" name="Google Shape;1943;p10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44" name="Google Shape;1944;p10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945" name="Google Shape;1945;p108"/>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946" name="Google Shape;1946;p108"/>
          <p:cNvCxnSpPr/>
          <p:nvPr/>
        </p:nvCxnSpPr>
        <p:spPr>
          <a:xfrm>
            <a:off x="609600" y="48768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1947" name="Google Shape;1947;p108"/>
          <p:cNvSpPr txBox="1"/>
          <p:nvPr/>
        </p:nvSpPr>
        <p:spPr>
          <a:xfrm>
            <a:off x="647700" y="2716212"/>
            <a:ext cx="8077200" cy="2041525"/>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value of the window scale factor can be determined only during connection</a:t>
            </a:r>
            <a:endParaRPr/>
          </a:p>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establishment; it does not change during the connection.</a:t>
            </a:r>
            <a:endParaRPr/>
          </a:p>
        </p:txBody>
      </p:sp>
      <p:grpSp>
        <p:nvGrpSpPr>
          <p:cNvPr id="1948" name="Google Shape;1948;p108"/>
          <p:cNvGrpSpPr/>
          <p:nvPr/>
        </p:nvGrpSpPr>
        <p:grpSpPr>
          <a:xfrm>
            <a:off x="609600" y="1981200"/>
            <a:ext cx="1143000" cy="566737"/>
            <a:chOff x="1200" y="1248"/>
            <a:chExt cx="720" cy="357"/>
          </a:xfrm>
        </p:grpSpPr>
        <p:pic>
          <p:nvPicPr>
            <p:cNvPr id="1949" name="Google Shape;1949;p108"/>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950" name="Google Shape;1950;p108"/>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945"/>
                                        </p:tgtEl>
                                        <p:attrNameLst>
                                          <p:attrName>style.visibility</p:attrName>
                                        </p:attrNameLst>
                                      </p:cBhvr>
                                      <p:to>
                                        <p:strVal val="visible"/>
                                      </p:to>
                                    </p:set>
                                    <p:animEffect filter="fade" transition="in">
                                      <p:cBhvr>
                                        <p:cTn dur="500"/>
                                        <p:tgtEl>
                                          <p:spTgt spid="194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46"/>
                                        </p:tgtEl>
                                        <p:attrNameLst>
                                          <p:attrName>style.visibility</p:attrName>
                                        </p:attrNameLst>
                                      </p:cBhvr>
                                      <p:to>
                                        <p:strVal val="visible"/>
                                      </p:to>
                                    </p:set>
                                    <p:animEffect filter="fade" transition="in">
                                      <p:cBhvr>
                                        <p:cTn dur="500"/>
                                        <p:tgtEl>
                                          <p:spTgt spid="194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47"/>
                                        </p:tgtEl>
                                        <p:attrNameLst>
                                          <p:attrName>style.visibility</p:attrName>
                                        </p:attrNameLst>
                                      </p:cBhvr>
                                      <p:to>
                                        <p:strVal val="visible"/>
                                      </p:to>
                                    </p:set>
                                    <p:animEffect filter="fade" transition="in">
                                      <p:cBhvr>
                                        <p:cTn dur="500"/>
                                        <p:tgtEl>
                                          <p:spTgt spid="19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5" name="Shape 1955"/>
        <p:cNvGrpSpPr/>
        <p:nvPr/>
      </p:nvGrpSpPr>
      <p:grpSpPr>
        <a:xfrm>
          <a:off x="0" y="0"/>
          <a:ext cx="0" cy="0"/>
          <a:chOff x="0" y="0"/>
          <a:chExt cx="0" cy="0"/>
        </a:xfrm>
      </p:grpSpPr>
      <p:sp>
        <p:nvSpPr>
          <p:cNvPr id="1956" name="Google Shape;1956;p109"/>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957" name="Google Shape;1957;p109"/>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958" name="Google Shape;1958;p109"/>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15.46</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Timestamp option</a:t>
            </a:r>
            <a:endParaRPr/>
          </a:p>
        </p:txBody>
      </p:sp>
      <p:sp>
        <p:nvSpPr>
          <p:cNvPr id="1959" name="Google Shape;1959;p10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60" name="Google Shape;1960;p10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61" name="Google Shape;1961;p10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62" name="Google Shape;1962;p10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63" name="Google Shape;1963;p10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64" name="Google Shape;1964;p10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65" name="Google Shape;1965;p10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966" name="Google Shape;1966;p109"/>
          <p:cNvPicPr preferRelativeResize="0"/>
          <p:nvPr/>
        </p:nvPicPr>
        <p:blipFill rotWithShape="1">
          <a:blip r:embed="rId3">
            <a:alphaModFix/>
          </a:blip>
          <a:srcRect b="0" l="0" r="0" t="0"/>
          <a:stretch/>
        </p:blipFill>
        <p:spPr>
          <a:xfrm>
            <a:off x="450850" y="2422525"/>
            <a:ext cx="8007350" cy="1616075"/>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1" name="Shape 1971"/>
        <p:cNvGrpSpPr/>
        <p:nvPr/>
      </p:nvGrpSpPr>
      <p:grpSpPr>
        <a:xfrm>
          <a:off x="0" y="0"/>
          <a:ext cx="0" cy="0"/>
          <a:chOff x="0" y="0"/>
          <a:chExt cx="0" cy="0"/>
        </a:xfrm>
      </p:grpSpPr>
      <p:sp>
        <p:nvSpPr>
          <p:cNvPr id="1972" name="Google Shape;1972;p110"/>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973" name="Google Shape;1973;p110"/>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974" name="Google Shape;1974;p110"/>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75" name="Google Shape;1975;p11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76" name="Google Shape;1976;p110"/>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77" name="Google Shape;1977;p11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78" name="Google Shape;1978;p11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79" name="Google Shape;1979;p110"/>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80" name="Google Shape;1980;p11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981" name="Google Shape;1981;p110"/>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982" name="Google Shape;1982;p110"/>
          <p:cNvCxnSpPr/>
          <p:nvPr/>
        </p:nvCxnSpPr>
        <p:spPr>
          <a:xfrm>
            <a:off x="609600" y="43434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1983" name="Google Shape;1983;p110"/>
          <p:cNvSpPr txBox="1"/>
          <p:nvPr/>
        </p:nvSpPr>
        <p:spPr>
          <a:xfrm>
            <a:off x="647700" y="2716212"/>
            <a:ext cx="8077200" cy="1554162"/>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One application of the timestamp option is the calculation of round-trip </a:t>
            </a:r>
            <a:br>
              <a:rPr b="1" i="1" lang="en-US" sz="3200" u="none">
                <a:solidFill>
                  <a:schemeClr val="lt1"/>
                </a:solidFill>
                <a:latin typeface="Arial"/>
                <a:ea typeface="Arial"/>
                <a:cs typeface="Arial"/>
                <a:sym typeface="Arial"/>
              </a:rPr>
            </a:br>
            <a:r>
              <a:rPr b="1" i="1" lang="en-US" sz="3200" u="none">
                <a:solidFill>
                  <a:schemeClr val="lt1"/>
                </a:solidFill>
                <a:latin typeface="Arial"/>
                <a:ea typeface="Arial"/>
                <a:cs typeface="Arial"/>
                <a:sym typeface="Arial"/>
              </a:rPr>
              <a:t>time (RTT).</a:t>
            </a:r>
            <a:endParaRPr/>
          </a:p>
        </p:txBody>
      </p:sp>
      <p:grpSp>
        <p:nvGrpSpPr>
          <p:cNvPr id="1984" name="Google Shape;1984;p110"/>
          <p:cNvGrpSpPr/>
          <p:nvPr/>
        </p:nvGrpSpPr>
        <p:grpSpPr>
          <a:xfrm>
            <a:off x="609600" y="1981200"/>
            <a:ext cx="1143000" cy="566737"/>
            <a:chOff x="1200" y="1248"/>
            <a:chExt cx="720" cy="357"/>
          </a:xfrm>
        </p:grpSpPr>
        <p:pic>
          <p:nvPicPr>
            <p:cNvPr id="1985" name="Google Shape;1985;p110"/>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986" name="Google Shape;1986;p110"/>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981"/>
                                        </p:tgtEl>
                                        <p:attrNameLst>
                                          <p:attrName>style.visibility</p:attrName>
                                        </p:attrNameLst>
                                      </p:cBhvr>
                                      <p:to>
                                        <p:strVal val="visible"/>
                                      </p:to>
                                    </p:set>
                                    <p:animEffect filter="fade" transition="in">
                                      <p:cBhvr>
                                        <p:cTn dur="500"/>
                                        <p:tgtEl>
                                          <p:spTgt spid="198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82"/>
                                        </p:tgtEl>
                                        <p:attrNameLst>
                                          <p:attrName>style.visibility</p:attrName>
                                        </p:attrNameLst>
                                      </p:cBhvr>
                                      <p:to>
                                        <p:strVal val="visible"/>
                                      </p:to>
                                    </p:set>
                                    <p:animEffect filter="fade" transition="in">
                                      <p:cBhvr>
                                        <p:cTn dur="500"/>
                                        <p:tgtEl>
                                          <p:spTgt spid="198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83"/>
                                        </p:tgtEl>
                                        <p:attrNameLst>
                                          <p:attrName>style.visibility</p:attrName>
                                        </p:attrNameLst>
                                      </p:cBhvr>
                                      <p:to>
                                        <p:strVal val="visible"/>
                                      </p:to>
                                    </p:set>
                                    <p:animEffect filter="fade" transition="in">
                                      <p:cBhvr>
                                        <p:cTn dur="500"/>
                                        <p:tgtEl>
                                          <p:spTgt spid="19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1" name="Shape 1991"/>
        <p:cNvGrpSpPr/>
        <p:nvPr/>
      </p:nvGrpSpPr>
      <p:grpSpPr>
        <a:xfrm>
          <a:off x="0" y="0"/>
          <a:ext cx="0" cy="0"/>
          <a:chOff x="0" y="0"/>
          <a:chExt cx="0" cy="0"/>
        </a:xfrm>
      </p:grpSpPr>
      <p:sp>
        <p:nvSpPr>
          <p:cNvPr id="1992" name="Google Shape;1992;p111"/>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993" name="Google Shape;1993;p111"/>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994" name="Google Shape;1994;p111"/>
          <p:cNvSpPr txBox="1"/>
          <p:nvPr/>
        </p:nvSpPr>
        <p:spPr>
          <a:xfrm>
            <a:off x="76200" y="696912"/>
            <a:ext cx="8839200" cy="11874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Figure 15.47 shows an example that calculates the round-trip time for one end. Everything must be flipped if we want to calculate the RTT for the other end.</a:t>
            </a:r>
            <a:endParaRPr/>
          </a:p>
        </p:txBody>
      </p:sp>
      <p:grpSp>
        <p:nvGrpSpPr>
          <p:cNvPr id="1995" name="Google Shape;1995;p111"/>
          <p:cNvGrpSpPr/>
          <p:nvPr/>
        </p:nvGrpSpPr>
        <p:grpSpPr>
          <a:xfrm>
            <a:off x="0" y="0"/>
            <a:ext cx="9144000" cy="609600"/>
            <a:chOff x="0" y="2448"/>
            <a:chExt cx="5760" cy="384"/>
          </a:xfrm>
        </p:grpSpPr>
        <p:sp>
          <p:nvSpPr>
            <p:cNvPr id="1996" name="Google Shape;1996;p111"/>
            <p:cNvSpPr txBox="1"/>
            <p:nvPr/>
          </p:nvSpPr>
          <p:spPr>
            <a:xfrm>
              <a:off x="0" y="2448"/>
              <a:ext cx="5760" cy="384"/>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97" name="Google Shape;1997;p111"/>
            <p:cNvSpPr txBox="1"/>
            <p:nvPr/>
          </p:nvSpPr>
          <p:spPr>
            <a:xfrm>
              <a:off x="0" y="2448"/>
              <a:ext cx="1595" cy="365"/>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0" lang="en-US" sz="3200" u="none">
                  <a:solidFill>
                    <a:schemeClr val="lt1"/>
                  </a:solidFill>
                  <a:latin typeface="Times New Roman"/>
                  <a:ea typeface="Times New Roman"/>
                  <a:cs typeface="Times New Roman"/>
                  <a:sym typeface="Times New Roman"/>
                </a:rPr>
                <a:t>Example 15.5</a:t>
              </a:r>
              <a:endParaRPr/>
            </a:p>
          </p:txBody>
        </p:sp>
      </p:gr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2" name="Shape 2002"/>
        <p:cNvGrpSpPr/>
        <p:nvPr/>
      </p:nvGrpSpPr>
      <p:grpSpPr>
        <a:xfrm>
          <a:off x="0" y="0"/>
          <a:ext cx="0" cy="0"/>
          <a:chOff x="0" y="0"/>
          <a:chExt cx="0" cy="0"/>
        </a:xfrm>
      </p:grpSpPr>
      <p:sp>
        <p:nvSpPr>
          <p:cNvPr id="2003" name="Google Shape;2003;p112"/>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004" name="Google Shape;2004;p112"/>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2005" name="Google Shape;2005;p112"/>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15.47</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Example 15.5</a:t>
            </a:r>
            <a:endParaRPr/>
          </a:p>
        </p:txBody>
      </p:sp>
      <p:sp>
        <p:nvSpPr>
          <p:cNvPr id="2006" name="Google Shape;2006;p11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07" name="Google Shape;2007;p11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08" name="Google Shape;2008;p11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09" name="Google Shape;2009;p11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10" name="Google Shape;2010;p11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11" name="Google Shape;2011;p11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12" name="Google Shape;2012;p11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2013" name="Google Shape;2013;p112"/>
          <p:cNvPicPr preferRelativeResize="0"/>
          <p:nvPr/>
        </p:nvPicPr>
        <p:blipFill rotWithShape="1">
          <a:blip r:embed="rId3">
            <a:alphaModFix/>
          </a:blip>
          <a:srcRect b="0" l="0" r="0" t="0"/>
          <a:stretch/>
        </p:blipFill>
        <p:spPr>
          <a:xfrm>
            <a:off x="109537" y="1471612"/>
            <a:ext cx="8501062" cy="4297362"/>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8" name="Shape 2018"/>
        <p:cNvGrpSpPr/>
        <p:nvPr/>
      </p:nvGrpSpPr>
      <p:grpSpPr>
        <a:xfrm>
          <a:off x="0" y="0"/>
          <a:ext cx="0" cy="0"/>
          <a:chOff x="0" y="0"/>
          <a:chExt cx="0" cy="0"/>
        </a:xfrm>
      </p:grpSpPr>
      <p:sp>
        <p:nvSpPr>
          <p:cNvPr id="2019" name="Google Shape;2019;p113"/>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020" name="Google Shape;2020;p113"/>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2021" name="Google Shape;2021;p11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22" name="Google Shape;2022;p11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23" name="Google Shape;2023;p11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24" name="Google Shape;2024;p11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25" name="Google Shape;2025;p11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26" name="Google Shape;2026;p11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27" name="Google Shape;2027;p11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2028" name="Google Shape;2028;p113"/>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2029" name="Google Shape;2029;p113"/>
          <p:cNvCxnSpPr/>
          <p:nvPr/>
        </p:nvCxnSpPr>
        <p:spPr>
          <a:xfrm>
            <a:off x="609600" y="38862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2030" name="Google Shape;2030;p113"/>
          <p:cNvSpPr txBox="1"/>
          <p:nvPr/>
        </p:nvSpPr>
        <p:spPr>
          <a:xfrm>
            <a:off x="647700" y="2716212"/>
            <a:ext cx="8077200" cy="10668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timestamp option can also be used for PAWS.</a:t>
            </a:r>
            <a:endParaRPr/>
          </a:p>
        </p:txBody>
      </p:sp>
      <p:grpSp>
        <p:nvGrpSpPr>
          <p:cNvPr id="2031" name="Google Shape;2031;p113"/>
          <p:cNvGrpSpPr/>
          <p:nvPr/>
        </p:nvGrpSpPr>
        <p:grpSpPr>
          <a:xfrm>
            <a:off x="609600" y="1981200"/>
            <a:ext cx="1143000" cy="566737"/>
            <a:chOff x="1200" y="1248"/>
            <a:chExt cx="720" cy="357"/>
          </a:xfrm>
        </p:grpSpPr>
        <p:pic>
          <p:nvPicPr>
            <p:cNvPr id="2032" name="Google Shape;2032;p113"/>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2033" name="Google Shape;2033;p113"/>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028"/>
                                        </p:tgtEl>
                                        <p:attrNameLst>
                                          <p:attrName>style.visibility</p:attrName>
                                        </p:attrNameLst>
                                      </p:cBhvr>
                                      <p:to>
                                        <p:strVal val="visible"/>
                                      </p:to>
                                    </p:set>
                                    <p:animEffect filter="fade" transition="in">
                                      <p:cBhvr>
                                        <p:cTn dur="500"/>
                                        <p:tgtEl>
                                          <p:spTgt spid="202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29"/>
                                        </p:tgtEl>
                                        <p:attrNameLst>
                                          <p:attrName>style.visibility</p:attrName>
                                        </p:attrNameLst>
                                      </p:cBhvr>
                                      <p:to>
                                        <p:strVal val="visible"/>
                                      </p:to>
                                    </p:set>
                                    <p:animEffect filter="fade" transition="in">
                                      <p:cBhvr>
                                        <p:cTn dur="500"/>
                                        <p:tgtEl>
                                          <p:spTgt spid="202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30"/>
                                        </p:tgtEl>
                                        <p:attrNameLst>
                                          <p:attrName>style.visibility</p:attrName>
                                        </p:attrNameLst>
                                      </p:cBhvr>
                                      <p:to>
                                        <p:strVal val="visible"/>
                                      </p:to>
                                    </p:set>
                                    <p:animEffect filter="fade" transition="in">
                                      <p:cBhvr>
                                        <p:cTn dur="500"/>
                                        <p:tgtEl>
                                          <p:spTgt spid="20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8" name="Shape 2038"/>
        <p:cNvGrpSpPr/>
        <p:nvPr/>
      </p:nvGrpSpPr>
      <p:grpSpPr>
        <a:xfrm>
          <a:off x="0" y="0"/>
          <a:ext cx="0" cy="0"/>
          <a:chOff x="0" y="0"/>
          <a:chExt cx="0" cy="0"/>
        </a:xfrm>
      </p:grpSpPr>
      <p:sp>
        <p:nvSpPr>
          <p:cNvPr id="2039" name="Google Shape;2039;p114"/>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040" name="Google Shape;2040;p114"/>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2041" name="Google Shape;2041;p114"/>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15.48</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SACK</a:t>
            </a:r>
            <a:endParaRPr/>
          </a:p>
        </p:txBody>
      </p:sp>
      <p:sp>
        <p:nvSpPr>
          <p:cNvPr id="2042" name="Google Shape;2042;p11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43" name="Google Shape;2043;p11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44" name="Google Shape;2044;p11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45" name="Google Shape;2045;p11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46" name="Google Shape;2046;p11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47" name="Google Shape;2047;p11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48" name="Google Shape;2048;p11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2049" name="Google Shape;2049;p114"/>
          <p:cNvPicPr preferRelativeResize="0"/>
          <p:nvPr/>
        </p:nvPicPr>
        <p:blipFill rotWithShape="1">
          <a:blip r:embed="rId3">
            <a:alphaModFix/>
          </a:blip>
          <a:srcRect b="0" l="0" r="0" t="0"/>
          <a:stretch/>
        </p:blipFill>
        <p:spPr>
          <a:xfrm>
            <a:off x="457200" y="1676400"/>
            <a:ext cx="7989887" cy="3892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9"/>
                                        </p:tgtEl>
                                        <p:attrNameLst>
                                          <p:attrName>style.visibility</p:attrName>
                                        </p:attrNameLst>
                                      </p:cBhvr>
                                      <p:to>
                                        <p:strVal val="visible"/>
                                      </p:to>
                                    </p:set>
                                    <p:animEffect filter="fade" transition="in">
                                      <p:cBhvr>
                                        <p:cTn dur="5000"/>
                                        <p:tgtEl>
                                          <p:spTgt spid="20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4" name="Shape 2054"/>
        <p:cNvGrpSpPr/>
        <p:nvPr/>
      </p:nvGrpSpPr>
      <p:grpSpPr>
        <a:xfrm>
          <a:off x="0" y="0"/>
          <a:ext cx="0" cy="0"/>
          <a:chOff x="0" y="0"/>
          <a:chExt cx="0" cy="0"/>
        </a:xfrm>
      </p:grpSpPr>
      <p:sp>
        <p:nvSpPr>
          <p:cNvPr id="2055" name="Google Shape;2055;p115"/>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056" name="Google Shape;2056;p115"/>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2057" name="Google Shape;2057;p115"/>
          <p:cNvSpPr txBox="1"/>
          <p:nvPr/>
        </p:nvSpPr>
        <p:spPr>
          <a:xfrm>
            <a:off x="76200" y="696912"/>
            <a:ext cx="8839200" cy="11874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Let us see how the SACK option is used to list out-of-order blocks. In Figure 15.49 an end has received five segments of data.</a:t>
            </a:r>
            <a:endParaRPr/>
          </a:p>
        </p:txBody>
      </p:sp>
      <p:grpSp>
        <p:nvGrpSpPr>
          <p:cNvPr id="2058" name="Google Shape;2058;p115"/>
          <p:cNvGrpSpPr/>
          <p:nvPr/>
        </p:nvGrpSpPr>
        <p:grpSpPr>
          <a:xfrm>
            <a:off x="0" y="0"/>
            <a:ext cx="9144000" cy="609600"/>
            <a:chOff x="0" y="2448"/>
            <a:chExt cx="5760" cy="384"/>
          </a:xfrm>
        </p:grpSpPr>
        <p:sp>
          <p:nvSpPr>
            <p:cNvPr id="2059" name="Google Shape;2059;p115"/>
            <p:cNvSpPr txBox="1"/>
            <p:nvPr/>
          </p:nvSpPr>
          <p:spPr>
            <a:xfrm>
              <a:off x="0" y="2448"/>
              <a:ext cx="5760" cy="384"/>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60" name="Google Shape;2060;p115"/>
            <p:cNvSpPr txBox="1"/>
            <p:nvPr/>
          </p:nvSpPr>
          <p:spPr>
            <a:xfrm>
              <a:off x="0" y="2448"/>
              <a:ext cx="1595" cy="365"/>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0" lang="en-US" sz="3200" u="none">
                  <a:solidFill>
                    <a:schemeClr val="lt1"/>
                  </a:solidFill>
                  <a:latin typeface="Times New Roman"/>
                  <a:ea typeface="Times New Roman"/>
                  <a:cs typeface="Times New Roman"/>
                  <a:sym typeface="Times New Roman"/>
                </a:rPr>
                <a:t>Example 15.6</a:t>
              </a:r>
              <a:endParaRPr/>
            </a:p>
          </p:txBody>
        </p:sp>
      </p:gr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5" name="Shape 2065"/>
        <p:cNvGrpSpPr/>
        <p:nvPr/>
      </p:nvGrpSpPr>
      <p:grpSpPr>
        <a:xfrm>
          <a:off x="0" y="0"/>
          <a:ext cx="0" cy="0"/>
          <a:chOff x="0" y="0"/>
          <a:chExt cx="0" cy="0"/>
        </a:xfrm>
      </p:grpSpPr>
      <p:sp>
        <p:nvSpPr>
          <p:cNvPr id="2066" name="Google Shape;2066;p116"/>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067" name="Google Shape;2067;p116"/>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2068" name="Google Shape;2068;p116"/>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15.49</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Example 15.6</a:t>
            </a:r>
            <a:endParaRPr/>
          </a:p>
        </p:txBody>
      </p:sp>
      <p:sp>
        <p:nvSpPr>
          <p:cNvPr id="2069" name="Google Shape;2069;p11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70" name="Google Shape;2070;p11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71" name="Google Shape;2071;p11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72" name="Google Shape;2072;p11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73" name="Google Shape;2073;p11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74" name="Google Shape;2074;p11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75" name="Google Shape;2075;p11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2076" name="Google Shape;2076;p116"/>
          <p:cNvPicPr preferRelativeResize="0"/>
          <p:nvPr/>
        </p:nvPicPr>
        <p:blipFill rotWithShape="1">
          <a:blip r:embed="rId3">
            <a:alphaModFix/>
          </a:blip>
          <a:srcRect b="0" l="0" r="0" t="0"/>
          <a:stretch/>
        </p:blipFill>
        <p:spPr>
          <a:xfrm>
            <a:off x="457200" y="2030412"/>
            <a:ext cx="7897812" cy="2541587"/>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1" name="Shape 2081"/>
        <p:cNvGrpSpPr/>
        <p:nvPr/>
      </p:nvGrpSpPr>
      <p:grpSpPr>
        <a:xfrm>
          <a:off x="0" y="0"/>
          <a:ext cx="0" cy="0"/>
          <a:chOff x="0" y="0"/>
          <a:chExt cx="0" cy="0"/>
        </a:xfrm>
      </p:grpSpPr>
      <p:sp>
        <p:nvSpPr>
          <p:cNvPr id="2082" name="Google Shape;2082;p117"/>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083" name="Google Shape;2083;p117"/>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2084" name="Google Shape;2084;p117"/>
          <p:cNvSpPr txBox="1"/>
          <p:nvPr/>
        </p:nvSpPr>
        <p:spPr>
          <a:xfrm>
            <a:off x="76200" y="696912"/>
            <a:ext cx="8867775" cy="4838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Figure 15.50 shows how a duplicate segment can be detected with a combination of ACK and SACK. In this case, we have some out-of-order segments (in one block) and one duplicate segment. To show both out-of-order and duplicate data, SACK uses the first block, in this case, to show the duplicate data and other blocks to show out-of-order data. Note that only the first block can be used for duplicate data. The natural question is how the sender, when it receives these ACK and SACK values, knows that the first block is for duplicate data (compare this example with the previous example). The answer is that the bytes in the first block are already acknowledged in the ACK field; therefore, this block must be a duplicate.</a:t>
            </a:r>
            <a:endParaRPr/>
          </a:p>
        </p:txBody>
      </p:sp>
      <p:grpSp>
        <p:nvGrpSpPr>
          <p:cNvPr id="2085" name="Google Shape;2085;p117"/>
          <p:cNvGrpSpPr/>
          <p:nvPr/>
        </p:nvGrpSpPr>
        <p:grpSpPr>
          <a:xfrm>
            <a:off x="0" y="0"/>
            <a:ext cx="9144000" cy="609600"/>
            <a:chOff x="0" y="2448"/>
            <a:chExt cx="5760" cy="384"/>
          </a:xfrm>
        </p:grpSpPr>
        <p:sp>
          <p:nvSpPr>
            <p:cNvPr id="2086" name="Google Shape;2086;p117"/>
            <p:cNvSpPr txBox="1"/>
            <p:nvPr/>
          </p:nvSpPr>
          <p:spPr>
            <a:xfrm>
              <a:off x="0" y="2448"/>
              <a:ext cx="5760" cy="384"/>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87" name="Google Shape;2087;p117"/>
            <p:cNvSpPr txBox="1"/>
            <p:nvPr/>
          </p:nvSpPr>
          <p:spPr>
            <a:xfrm>
              <a:off x="0" y="2448"/>
              <a:ext cx="1595" cy="365"/>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0" lang="en-US" sz="3200" u="none">
                  <a:solidFill>
                    <a:schemeClr val="lt1"/>
                  </a:solidFill>
                  <a:latin typeface="Times New Roman"/>
                  <a:ea typeface="Times New Roman"/>
                  <a:cs typeface="Times New Roman"/>
                  <a:sym typeface="Times New Roman"/>
                </a:rPr>
                <a:t>Example 15.7</a:t>
              </a:r>
              <a:endParaRPr/>
            </a:p>
          </p:txBody>
        </p:sp>
      </p:gr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2" name="Shape 2092"/>
        <p:cNvGrpSpPr/>
        <p:nvPr/>
      </p:nvGrpSpPr>
      <p:grpSpPr>
        <a:xfrm>
          <a:off x="0" y="0"/>
          <a:ext cx="0" cy="0"/>
          <a:chOff x="0" y="0"/>
          <a:chExt cx="0" cy="0"/>
        </a:xfrm>
      </p:grpSpPr>
      <p:sp>
        <p:nvSpPr>
          <p:cNvPr id="2093" name="Google Shape;2093;p118"/>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094" name="Google Shape;2094;p118"/>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2095" name="Google Shape;2095;p118"/>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15.50</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Example 15.7</a:t>
            </a:r>
            <a:endParaRPr/>
          </a:p>
        </p:txBody>
      </p:sp>
      <p:sp>
        <p:nvSpPr>
          <p:cNvPr id="2096" name="Google Shape;2096;p11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97" name="Google Shape;2097;p11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98" name="Google Shape;2098;p11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99" name="Google Shape;2099;p11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00" name="Google Shape;2100;p11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01" name="Google Shape;2101;p11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02" name="Google Shape;2102;p11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2103" name="Google Shape;2103;p118"/>
          <p:cNvPicPr preferRelativeResize="0"/>
          <p:nvPr/>
        </p:nvPicPr>
        <p:blipFill rotWithShape="1">
          <a:blip r:embed="rId3">
            <a:alphaModFix/>
          </a:blip>
          <a:srcRect b="0" l="0" r="0" t="0"/>
          <a:stretch/>
        </p:blipFill>
        <p:spPr>
          <a:xfrm>
            <a:off x="533400" y="1717675"/>
            <a:ext cx="7907337" cy="3165475"/>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8" name="Shape 2108"/>
        <p:cNvGrpSpPr/>
        <p:nvPr/>
      </p:nvGrpSpPr>
      <p:grpSpPr>
        <a:xfrm>
          <a:off x="0" y="0"/>
          <a:ext cx="0" cy="0"/>
          <a:chOff x="0" y="0"/>
          <a:chExt cx="0" cy="0"/>
        </a:xfrm>
      </p:grpSpPr>
      <p:sp>
        <p:nvSpPr>
          <p:cNvPr id="2109" name="Google Shape;2109;p119"/>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110" name="Google Shape;2110;p119"/>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2111" name="Google Shape;2111;p119"/>
          <p:cNvSpPr txBox="1"/>
          <p:nvPr/>
        </p:nvSpPr>
        <p:spPr>
          <a:xfrm>
            <a:off x="76200" y="696912"/>
            <a:ext cx="8848725" cy="37433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Figure 15.51 shows what happens if one of the segments in the out-of-order section is also duplicated. In this example, one of the segments (4001:5000) is duplicated.</a:t>
            </a:r>
            <a:endParaRPr/>
          </a:p>
          <a:p>
            <a:pPr indent="0" lvl="0" marL="0" marR="0" rtl="0" algn="just">
              <a:lnSpc>
                <a:spcPct val="100000"/>
              </a:lnSpc>
              <a:spcBef>
                <a:spcPts val="0"/>
              </a:spcBef>
              <a:spcAft>
                <a:spcPts val="0"/>
              </a:spcAft>
              <a:buClr>
                <a:schemeClr val="dk1"/>
              </a:buClr>
              <a:buSzPts val="2400"/>
              <a:buFont typeface="Tahoma"/>
              <a:buNone/>
            </a:pPr>
            <a:r>
              <a:t/>
            </a:r>
            <a:endParaRPr b="1" i="0" sz="2400" u="none">
              <a:solidFill>
                <a:schemeClr val="dk1"/>
              </a:solidFill>
              <a:latin typeface="Arimo"/>
              <a:ea typeface="Arimo"/>
              <a:cs typeface="Arimo"/>
              <a:sym typeface="Arimo"/>
            </a:endParaRPr>
          </a:p>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The SACK option announces this duplicate data first and then the out-of-order block. This time, however, the duplicated block is not yet acknowledged by ACK, but because it is part of the out-of-order block (4001:5000 is part of 4001:6000), it is understood by the sender that it defines the duplicate data.</a:t>
            </a:r>
            <a:endParaRPr/>
          </a:p>
        </p:txBody>
      </p:sp>
      <p:grpSp>
        <p:nvGrpSpPr>
          <p:cNvPr id="2112" name="Google Shape;2112;p119"/>
          <p:cNvGrpSpPr/>
          <p:nvPr/>
        </p:nvGrpSpPr>
        <p:grpSpPr>
          <a:xfrm>
            <a:off x="0" y="0"/>
            <a:ext cx="9144000" cy="609600"/>
            <a:chOff x="0" y="2448"/>
            <a:chExt cx="5760" cy="384"/>
          </a:xfrm>
        </p:grpSpPr>
        <p:sp>
          <p:nvSpPr>
            <p:cNvPr id="2113" name="Google Shape;2113;p119"/>
            <p:cNvSpPr txBox="1"/>
            <p:nvPr/>
          </p:nvSpPr>
          <p:spPr>
            <a:xfrm>
              <a:off x="0" y="2448"/>
              <a:ext cx="5760" cy="384"/>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14" name="Google Shape;2114;p119"/>
            <p:cNvSpPr txBox="1"/>
            <p:nvPr/>
          </p:nvSpPr>
          <p:spPr>
            <a:xfrm>
              <a:off x="0" y="2448"/>
              <a:ext cx="1595" cy="365"/>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0" lang="en-US" sz="3200" u="none">
                  <a:solidFill>
                    <a:schemeClr val="lt1"/>
                  </a:solidFill>
                  <a:latin typeface="Times New Roman"/>
                  <a:ea typeface="Times New Roman"/>
                  <a:cs typeface="Times New Roman"/>
                  <a:sym typeface="Times New Roman"/>
                </a:rPr>
                <a:t>Example 15.8</a:t>
              </a:r>
              <a:endParaRPr/>
            </a:p>
          </p:txBody>
        </p:sp>
      </p:gr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9" name="Shape 2119"/>
        <p:cNvGrpSpPr/>
        <p:nvPr/>
      </p:nvGrpSpPr>
      <p:grpSpPr>
        <a:xfrm>
          <a:off x="0" y="0"/>
          <a:ext cx="0" cy="0"/>
          <a:chOff x="0" y="0"/>
          <a:chExt cx="0" cy="0"/>
        </a:xfrm>
      </p:grpSpPr>
      <p:sp>
        <p:nvSpPr>
          <p:cNvPr id="2120" name="Google Shape;2120;p120"/>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121" name="Google Shape;2121;p120"/>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2122" name="Google Shape;2122;p120"/>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15.51</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Example 15.8</a:t>
            </a:r>
            <a:endParaRPr/>
          </a:p>
        </p:txBody>
      </p:sp>
      <p:sp>
        <p:nvSpPr>
          <p:cNvPr id="2123" name="Google Shape;2123;p120"/>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24" name="Google Shape;2124;p12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25" name="Google Shape;2125;p120"/>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26" name="Google Shape;2126;p12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27" name="Google Shape;2127;p12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28" name="Google Shape;2128;p120"/>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29" name="Google Shape;2129;p12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2130" name="Google Shape;2130;p120"/>
          <p:cNvPicPr preferRelativeResize="0"/>
          <p:nvPr/>
        </p:nvPicPr>
        <p:blipFill rotWithShape="1">
          <a:blip r:embed="rId3">
            <a:alphaModFix/>
          </a:blip>
          <a:srcRect b="0" l="0" r="0" t="0"/>
          <a:stretch/>
        </p:blipFill>
        <p:spPr>
          <a:xfrm>
            <a:off x="533400" y="2033587"/>
            <a:ext cx="7970837" cy="2995612"/>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5" name="Shape 2135"/>
        <p:cNvGrpSpPr/>
        <p:nvPr/>
      </p:nvGrpSpPr>
      <p:grpSpPr>
        <a:xfrm>
          <a:off x="0" y="0"/>
          <a:ext cx="0" cy="0"/>
          <a:chOff x="0" y="0"/>
          <a:chExt cx="0" cy="0"/>
        </a:xfrm>
      </p:grpSpPr>
      <p:sp>
        <p:nvSpPr>
          <p:cNvPr id="2136" name="Google Shape;2136;p121"/>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137" name="Google Shape;2137;p121"/>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2138" name="Google Shape;2138;p121"/>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39" name="Google Shape;2139;p121"/>
          <p:cNvSpPr txBox="1"/>
          <p:nvPr/>
        </p:nvSpPr>
        <p:spPr>
          <a:xfrm>
            <a:off x="228600" y="355600"/>
            <a:ext cx="4803775" cy="650875"/>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Times"/>
              <a:buNone/>
            </a:pPr>
            <a:r>
              <a:rPr b="1" i="0" lang="en-US" sz="3600" u="none">
                <a:solidFill>
                  <a:schemeClr val="lt1"/>
                </a:solidFill>
                <a:latin typeface="Times"/>
                <a:ea typeface="Times"/>
                <a:cs typeface="Times"/>
                <a:sym typeface="Times"/>
              </a:rPr>
              <a:t>15-12  TCP PACKAGE</a:t>
            </a:r>
            <a:endParaRPr/>
          </a:p>
        </p:txBody>
      </p:sp>
      <p:sp>
        <p:nvSpPr>
          <p:cNvPr id="2140" name="Google Shape;2140;p121"/>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41" name="Google Shape;2141;p121"/>
          <p:cNvSpPr txBox="1"/>
          <p:nvPr/>
        </p:nvSpPr>
        <p:spPr>
          <a:xfrm>
            <a:off x="152400" y="1524000"/>
            <a:ext cx="8877300" cy="47894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mo"/>
              <a:buNone/>
            </a:pPr>
            <a:r>
              <a:rPr b="1" i="0" lang="en-US" sz="2800" u="none">
                <a:solidFill>
                  <a:schemeClr val="dk1"/>
                </a:solidFill>
                <a:latin typeface="Arimo"/>
                <a:ea typeface="Arimo"/>
                <a:cs typeface="Arimo"/>
                <a:sym typeface="Arimo"/>
              </a:rPr>
              <a:t>The TCP header can have up to 40 bytes of optional information. Options convey additional information to the destination or align other options. We can define two categories of options: 1-byte options and multiple-byte options. The first category contains two types of options: end of option list and no operation. The second category, in most implementations, contains five types of options: maximum segment size, window scale factor, timestamp, SACK-permitted, and SACK (see Figure 15.41).</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2146" name="Shape 2146"/>
        <p:cNvGrpSpPr/>
        <p:nvPr/>
      </p:nvGrpSpPr>
      <p:grpSpPr>
        <a:xfrm>
          <a:off x="0" y="0"/>
          <a:ext cx="0" cy="0"/>
          <a:chOff x="0" y="0"/>
          <a:chExt cx="0" cy="0"/>
        </a:xfrm>
      </p:grpSpPr>
      <p:sp>
        <p:nvSpPr>
          <p:cNvPr id="2147" name="Google Shape;2147;p122"/>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148" name="Google Shape;2148;p122"/>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2149" name="Google Shape;2149;p122"/>
          <p:cNvSpPr txBox="1"/>
          <p:nvPr/>
        </p:nvSpPr>
        <p:spPr>
          <a:xfrm>
            <a:off x="228600" y="152400"/>
            <a:ext cx="54689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2150" name="Google Shape;2150;p122"/>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51" name="Google Shape;2151;p122"/>
          <p:cNvSpPr txBox="1"/>
          <p:nvPr/>
        </p:nvSpPr>
        <p:spPr>
          <a:xfrm>
            <a:off x="304800" y="989012"/>
            <a:ext cx="8382000" cy="2570162"/>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Transmission Control Block TCBs</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Timers</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Main Module</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Input Processing Module</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Output Processing Module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1"/>
                                        </p:tgtEl>
                                        <p:attrNameLst>
                                          <p:attrName>style.visibility</p:attrName>
                                        </p:attrNameLst>
                                      </p:cBhvr>
                                      <p:to>
                                        <p:strVal val="visible"/>
                                      </p:to>
                                    </p:set>
                                    <p:animEffect filter="fade" transition="in">
                                      <p:cBhvr>
                                        <p:cTn dur="5000"/>
                                        <p:tgtEl>
                                          <p:spTgt spid="21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6" name="Shape 2156"/>
        <p:cNvGrpSpPr/>
        <p:nvPr/>
      </p:nvGrpSpPr>
      <p:grpSpPr>
        <a:xfrm>
          <a:off x="0" y="0"/>
          <a:ext cx="0" cy="0"/>
          <a:chOff x="0" y="0"/>
          <a:chExt cx="0" cy="0"/>
        </a:xfrm>
      </p:grpSpPr>
      <p:sp>
        <p:nvSpPr>
          <p:cNvPr id="2157" name="Google Shape;2157;p123"/>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158" name="Google Shape;2158;p123"/>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2159" name="Google Shape;2159;p123"/>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15.52</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TCBs</a:t>
            </a:r>
            <a:endParaRPr/>
          </a:p>
        </p:txBody>
      </p:sp>
      <p:sp>
        <p:nvSpPr>
          <p:cNvPr id="2160" name="Google Shape;2160;p12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61" name="Google Shape;2161;p12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62" name="Google Shape;2162;p12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63" name="Google Shape;2163;p12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64" name="Google Shape;2164;p12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65" name="Google Shape;2165;p12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66" name="Google Shape;2166;p12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2167" name="Google Shape;2167;p123"/>
          <p:cNvPicPr preferRelativeResize="0"/>
          <p:nvPr/>
        </p:nvPicPr>
        <p:blipFill rotWithShape="1">
          <a:blip r:embed="rId3">
            <a:alphaModFix/>
          </a:blip>
          <a:srcRect b="0" l="0" r="0" t="0"/>
          <a:stretch/>
        </p:blipFill>
        <p:spPr>
          <a:xfrm>
            <a:off x="496887" y="1176337"/>
            <a:ext cx="7961312" cy="4386262"/>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2" name="Shape 2172"/>
        <p:cNvGrpSpPr/>
        <p:nvPr/>
      </p:nvGrpSpPr>
      <p:grpSpPr>
        <a:xfrm>
          <a:off x="0" y="0"/>
          <a:ext cx="0" cy="0"/>
          <a:chOff x="0" y="0"/>
          <a:chExt cx="0" cy="0"/>
        </a:xfrm>
      </p:grpSpPr>
      <p:sp>
        <p:nvSpPr>
          <p:cNvPr id="2173" name="Google Shape;2173;p124"/>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174" name="Google Shape;2174;p124"/>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2175" name="Google Shape;2175;p124"/>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15.53</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TCP/IP protocol suite</a:t>
            </a:r>
            <a:endParaRPr/>
          </a:p>
        </p:txBody>
      </p:sp>
      <p:sp>
        <p:nvSpPr>
          <p:cNvPr id="2176" name="Google Shape;2176;p12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77" name="Google Shape;2177;p12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78" name="Google Shape;2178;p12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79" name="Google Shape;2179;p12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80" name="Google Shape;2180;p12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81" name="Google Shape;2181;p12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82" name="Google Shape;2182;p12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2183" name="Google Shape;2183;p124"/>
          <p:cNvPicPr preferRelativeResize="0"/>
          <p:nvPr/>
        </p:nvPicPr>
        <p:blipFill rotWithShape="1">
          <a:blip r:embed="rId3">
            <a:alphaModFix/>
          </a:blip>
          <a:srcRect b="0" l="0" r="0" t="0"/>
          <a:stretch/>
        </p:blipFill>
        <p:spPr>
          <a:xfrm>
            <a:off x="271462" y="3068637"/>
            <a:ext cx="8262937" cy="969962"/>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8" name="Shape 2188"/>
        <p:cNvGrpSpPr/>
        <p:nvPr/>
      </p:nvGrpSpPr>
      <p:grpSpPr>
        <a:xfrm>
          <a:off x="0" y="0"/>
          <a:ext cx="0" cy="0"/>
          <a:chOff x="0" y="0"/>
          <a:chExt cx="0" cy="0"/>
        </a:xfrm>
      </p:grpSpPr>
      <p:sp>
        <p:nvSpPr>
          <p:cNvPr id="2189" name="Google Shape;2189;p125"/>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190" name="Google Shape;2190;p125"/>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grpSp>
        <p:nvGrpSpPr>
          <p:cNvPr id="2191" name="Google Shape;2191;p125"/>
          <p:cNvGrpSpPr/>
          <p:nvPr/>
        </p:nvGrpSpPr>
        <p:grpSpPr>
          <a:xfrm>
            <a:off x="228600" y="228600"/>
            <a:ext cx="8458200" cy="5791200"/>
            <a:chOff x="144" y="144"/>
            <a:chExt cx="5328" cy="3648"/>
          </a:xfrm>
        </p:grpSpPr>
        <p:grpSp>
          <p:nvGrpSpPr>
            <p:cNvPr id="2192" name="Google Shape;2192;p125"/>
            <p:cNvGrpSpPr/>
            <p:nvPr/>
          </p:nvGrpSpPr>
          <p:grpSpPr>
            <a:xfrm>
              <a:off x="144" y="144"/>
              <a:ext cx="432" cy="3648"/>
              <a:chOff x="48" y="48"/>
              <a:chExt cx="576" cy="3984"/>
            </a:xfrm>
          </p:grpSpPr>
          <p:sp>
            <p:nvSpPr>
              <p:cNvPr id="2193" name="Google Shape;2193;p125"/>
              <p:cNvSpPr txBox="1"/>
              <p:nvPr/>
            </p:nvSpPr>
            <p:spPr>
              <a:xfrm>
                <a:off x="240"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94" name="Google Shape;2194;p125"/>
              <p:cNvSpPr txBox="1"/>
              <p:nvPr/>
            </p:nvSpPr>
            <p:spPr>
              <a:xfrm>
                <a:off x="48"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95" name="Google Shape;2195;p125"/>
              <p:cNvSpPr txBox="1"/>
              <p:nvPr/>
            </p:nvSpPr>
            <p:spPr>
              <a:xfrm>
                <a:off x="432"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196" name="Google Shape;2196;p125"/>
            <p:cNvGrpSpPr/>
            <p:nvPr/>
          </p:nvGrpSpPr>
          <p:grpSpPr>
            <a:xfrm>
              <a:off x="144" y="144"/>
              <a:ext cx="5328" cy="336"/>
              <a:chOff x="0" y="144"/>
              <a:chExt cx="5760" cy="432"/>
            </a:xfrm>
          </p:grpSpPr>
          <p:sp>
            <p:nvSpPr>
              <p:cNvPr id="2197" name="Google Shape;2197;p125"/>
              <p:cNvSpPr txBox="1"/>
              <p:nvPr/>
            </p:nvSpPr>
            <p:spPr>
              <a:xfrm>
                <a:off x="0" y="144"/>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98" name="Google Shape;2198;p125"/>
              <p:cNvSpPr txBox="1"/>
              <p:nvPr/>
            </p:nvSpPr>
            <p:spPr>
              <a:xfrm>
                <a:off x="0" y="288"/>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99" name="Google Shape;2199;p125"/>
              <p:cNvSpPr txBox="1"/>
              <p:nvPr/>
            </p:nvSpPr>
            <p:spPr>
              <a:xfrm>
                <a:off x="0" y="432"/>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200" name="Google Shape;2200;p125"/>
            <p:cNvGrpSpPr/>
            <p:nvPr/>
          </p:nvGrpSpPr>
          <p:grpSpPr>
            <a:xfrm>
              <a:off x="144" y="144"/>
              <a:ext cx="432" cy="336"/>
              <a:chOff x="144" y="144"/>
              <a:chExt cx="432" cy="336"/>
            </a:xfrm>
          </p:grpSpPr>
          <p:grpSp>
            <p:nvGrpSpPr>
              <p:cNvPr id="2201" name="Google Shape;2201;p125"/>
              <p:cNvGrpSpPr/>
              <p:nvPr/>
            </p:nvGrpSpPr>
            <p:grpSpPr>
              <a:xfrm>
                <a:off x="144" y="256"/>
                <a:ext cx="432" cy="112"/>
                <a:chOff x="288" y="256"/>
                <a:chExt cx="432" cy="112"/>
              </a:xfrm>
            </p:grpSpPr>
            <p:sp>
              <p:nvSpPr>
                <p:cNvPr id="2202" name="Google Shape;2202;p125"/>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03" name="Google Shape;2203;p125"/>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04" name="Google Shape;2204;p125"/>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205" name="Google Shape;2205;p125"/>
              <p:cNvGrpSpPr/>
              <p:nvPr/>
            </p:nvGrpSpPr>
            <p:grpSpPr>
              <a:xfrm>
                <a:off x="144" y="144"/>
                <a:ext cx="432" cy="336"/>
                <a:chOff x="144" y="144"/>
                <a:chExt cx="432" cy="336"/>
              </a:xfrm>
            </p:grpSpPr>
            <p:grpSp>
              <p:nvGrpSpPr>
                <p:cNvPr id="2206" name="Google Shape;2206;p125"/>
                <p:cNvGrpSpPr/>
                <p:nvPr/>
              </p:nvGrpSpPr>
              <p:grpSpPr>
                <a:xfrm>
                  <a:off x="144" y="144"/>
                  <a:ext cx="432" cy="112"/>
                  <a:chOff x="288" y="256"/>
                  <a:chExt cx="432" cy="112"/>
                </a:xfrm>
              </p:grpSpPr>
              <p:sp>
                <p:nvSpPr>
                  <p:cNvPr id="2207" name="Google Shape;2207;p125"/>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08" name="Google Shape;2208;p125"/>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09" name="Google Shape;2209;p125"/>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210" name="Google Shape;2210;p125"/>
                <p:cNvGrpSpPr/>
                <p:nvPr/>
              </p:nvGrpSpPr>
              <p:grpSpPr>
                <a:xfrm>
                  <a:off x="144" y="368"/>
                  <a:ext cx="432" cy="112"/>
                  <a:chOff x="288" y="256"/>
                  <a:chExt cx="432" cy="112"/>
                </a:xfrm>
              </p:grpSpPr>
              <p:sp>
                <p:nvSpPr>
                  <p:cNvPr id="2211" name="Google Shape;2211;p125"/>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12" name="Google Shape;2212;p125"/>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13" name="Google Shape;2213;p125"/>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grpSp>
      </p:grpSp>
      <p:pic>
        <p:nvPicPr>
          <p:cNvPr id="2214" name="Google Shape;2214;p125"/>
          <p:cNvPicPr preferRelativeResize="0"/>
          <p:nvPr/>
        </p:nvPicPr>
        <p:blipFill rotWithShape="1">
          <a:blip r:embed="rId3">
            <a:alphaModFix/>
          </a:blip>
          <a:srcRect b="0" l="0" r="0" t="0"/>
          <a:stretch/>
        </p:blipFill>
        <p:spPr>
          <a:xfrm>
            <a:off x="1498600" y="1135062"/>
            <a:ext cx="5969000" cy="5049837"/>
          </a:xfrm>
          <a:prstGeom prst="rect">
            <a:avLst/>
          </a:prstGeom>
          <a:noFill/>
          <a:ln>
            <a:noFill/>
          </a:ln>
        </p:spPr>
      </p:pic>
      <p:pic>
        <p:nvPicPr>
          <p:cNvPr id="2215" name="Google Shape;2215;p125"/>
          <p:cNvPicPr preferRelativeResize="0"/>
          <p:nvPr/>
        </p:nvPicPr>
        <p:blipFill rotWithShape="1">
          <a:blip r:embed="rId4">
            <a:alphaModFix/>
          </a:blip>
          <a:srcRect b="0" l="0" r="0" t="0"/>
          <a:stretch/>
        </p:blipFill>
        <p:spPr>
          <a:xfrm>
            <a:off x="1524000" y="811212"/>
            <a:ext cx="1846262" cy="336550"/>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0" name="Shape 2220"/>
        <p:cNvGrpSpPr/>
        <p:nvPr/>
      </p:nvGrpSpPr>
      <p:grpSpPr>
        <a:xfrm>
          <a:off x="0" y="0"/>
          <a:ext cx="0" cy="0"/>
          <a:chOff x="0" y="0"/>
          <a:chExt cx="0" cy="0"/>
        </a:xfrm>
      </p:grpSpPr>
      <p:sp>
        <p:nvSpPr>
          <p:cNvPr id="2221" name="Google Shape;2221;p126"/>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222" name="Google Shape;2222;p126"/>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grpSp>
        <p:nvGrpSpPr>
          <p:cNvPr id="2223" name="Google Shape;2223;p126"/>
          <p:cNvGrpSpPr/>
          <p:nvPr/>
        </p:nvGrpSpPr>
        <p:grpSpPr>
          <a:xfrm>
            <a:off x="228600" y="228600"/>
            <a:ext cx="8458200" cy="5791200"/>
            <a:chOff x="144" y="144"/>
            <a:chExt cx="5328" cy="3648"/>
          </a:xfrm>
        </p:grpSpPr>
        <p:grpSp>
          <p:nvGrpSpPr>
            <p:cNvPr id="2224" name="Google Shape;2224;p126"/>
            <p:cNvGrpSpPr/>
            <p:nvPr/>
          </p:nvGrpSpPr>
          <p:grpSpPr>
            <a:xfrm>
              <a:off x="144" y="144"/>
              <a:ext cx="432" cy="3648"/>
              <a:chOff x="48" y="48"/>
              <a:chExt cx="576" cy="3984"/>
            </a:xfrm>
          </p:grpSpPr>
          <p:sp>
            <p:nvSpPr>
              <p:cNvPr id="2225" name="Google Shape;2225;p126"/>
              <p:cNvSpPr txBox="1"/>
              <p:nvPr/>
            </p:nvSpPr>
            <p:spPr>
              <a:xfrm>
                <a:off x="240"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26" name="Google Shape;2226;p126"/>
              <p:cNvSpPr txBox="1"/>
              <p:nvPr/>
            </p:nvSpPr>
            <p:spPr>
              <a:xfrm>
                <a:off x="48"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27" name="Google Shape;2227;p126"/>
              <p:cNvSpPr txBox="1"/>
              <p:nvPr/>
            </p:nvSpPr>
            <p:spPr>
              <a:xfrm>
                <a:off x="432"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228" name="Google Shape;2228;p126"/>
            <p:cNvGrpSpPr/>
            <p:nvPr/>
          </p:nvGrpSpPr>
          <p:grpSpPr>
            <a:xfrm>
              <a:off x="144" y="144"/>
              <a:ext cx="5328" cy="336"/>
              <a:chOff x="0" y="144"/>
              <a:chExt cx="5760" cy="432"/>
            </a:xfrm>
          </p:grpSpPr>
          <p:sp>
            <p:nvSpPr>
              <p:cNvPr id="2229" name="Google Shape;2229;p126"/>
              <p:cNvSpPr txBox="1"/>
              <p:nvPr/>
            </p:nvSpPr>
            <p:spPr>
              <a:xfrm>
                <a:off x="0" y="144"/>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30" name="Google Shape;2230;p126"/>
              <p:cNvSpPr txBox="1"/>
              <p:nvPr/>
            </p:nvSpPr>
            <p:spPr>
              <a:xfrm>
                <a:off x="0" y="288"/>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31" name="Google Shape;2231;p126"/>
              <p:cNvSpPr txBox="1"/>
              <p:nvPr/>
            </p:nvSpPr>
            <p:spPr>
              <a:xfrm>
                <a:off x="0" y="432"/>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232" name="Google Shape;2232;p126"/>
            <p:cNvGrpSpPr/>
            <p:nvPr/>
          </p:nvGrpSpPr>
          <p:grpSpPr>
            <a:xfrm>
              <a:off x="144" y="144"/>
              <a:ext cx="432" cy="336"/>
              <a:chOff x="144" y="144"/>
              <a:chExt cx="432" cy="336"/>
            </a:xfrm>
          </p:grpSpPr>
          <p:grpSp>
            <p:nvGrpSpPr>
              <p:cNvPr id="2233" name="Google Shape;2233;p126"/>
              <p:cNvGrpSpPr/>
              <p:nvPr/>
            </p:nvGrpSpPr>
            <p:grpSpPr>
              <a:xfrm>
                <a:off x="144" y="256"/>
                <a:ext cx="432" cy="112"/>
                <a:chOff x="288" y="256"/>
                <a:chExt cx="432" cy="112"/>
              </a:xfrm>
            </p:grpSpPr>
            <p:sp>
              <p:nvSpPr>
                <p:cNvPr id="2234" name="Google Shape;2234;p126"/>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35" name="Google Shape;2235;p126"/>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36" name="Google Shape;2236;p126"/>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237" name="Google Shape;2237;p126"/>
              <p:cNvGrpSpPr/>
              <p:nvPr/>
            </p:nvGrpSpPr>
            <p:grpSpPr>
              <a:xfrm>
                <a:off x="144" y="144"/>
                <a:ext cx="432" cy="336"/>
                <a:chOff x="144" y="144"/>
                <a:chExt cx="432" cy="336"/>
              </a:xfrm>
            </p:grpSpPr>
            <p:grpSp>
              <p:nvGrpSpPr>
                <p:cNvPr id="2238" name="Google Shape;2238;p126"/>
                <p:cNvGrpSpPr/>
                <p:nvPr/>
              </p:nvGrpSpPr>
              <p:grpSpPr>
                <a:xfrm>
                  <a:off x="144" y="144"/>
                  <a:ext cx="432" cy="112"/>
                  <a:chOff x="288" y="256"/>
                  <a:chExt cx="432" cy="112"/>
                </a:xfrm>
              </p:grpSpPr>
              <p:sp>
                <p:nvSpPr>
                  <p:cNvPr id="2239" name="Google Shape;2239;p126"/>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40" name="Google Shape;2240;p126"/>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41" name="Google Shape;2241;p126"/>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242" name="Google Shape;2242;p126"/>
                <p:cNvGrpSpPr/>
                <p:nvPr/>
              </p:nvGrpSpPr>
              <p:grpSpPr>
                <a:xfrm>
                  <a:off x="144" y="368"/>
                  <a:ext cx="432" cy="112"/>
                  <a:chOff x="288" y="256"/>
                  <a:chExt cx="432" cy="112"/>
                </a:xfrm>
              </p:grpSpPr>
              <p:sp>
                <p:nvSpPr>
                  <p:cNvPr id="2243" name="Google Shape;2243;p126"/>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44" name="Google Shape;2244;p126"/>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45" name="Google Shape;2245;p126"/>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grpSp>
      </p:grpSp>
      <p:pic>
        <p:nvPicPr>
          <p:cNvPr id="2246" name="Google Shape;2246;p126"/>
          <p:cNvPicPr preferRelativeResize="0"/>
          <p:nvPr/>
        </p:nvPicPr>
        <p:blipFill rotWithShape="1">
          <a:blip r:embed="rId3">
            <a:alphaModFix/>
          </a:blip>
          <a:srcRect b="0" l="0" r="0" t="0"/>
          <a:stretch/>
        </p:blipFill>
        <p:spPr>
          <a:xfrm>
            <a:off x="1338262" y="1622425"/>
            <a:ext cx="7653337" cy="4292600"/>
          </a:xfrm>
          <a:prstGeom prst="rect">
            <a:avLst/>
          </a:prstGeom>
          <a:noFill/>
          <a:ln>
            <a:noFill/>
          </a:ln>
        </p:spPr>
      </p:pic>
      <p:pic>
        <p:nvPicPr>
          <p:cNvPr id="2247" name="Google Shape;2247;p126"/>
          <p:cNvPicPr preferRelativeResize="0"/>
          <p:nvPr/>
        </p:nvPicPr>
        <p:blipFill rotWithShape="1">
          <a:blip r:embed="rId4">
            <a:alphaModFix/>
          </a:blip>
          <a:srcRect b="0" l="0" r="0" t="0"/>
          <a:stretch/>
        </p:blipFill>
        <p:spPr>
          <a:xfrm>
            <a:off x="1362075" y="1162050"/>
            <a:ext cx="2587625" cy="296862"/>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2" name="Shape 2252"/>
        <p:cNvGrpSpPr/>
        <p:nvPr/>
      </p:nvGrpSpPr>
      <p:grpSpPr>
        <a:xfrm>
          <a:off x="0" y="0"/>
          <a:ext cx="0" cy="0"/>
          <a:chOff x="0" y="0"/>
          <a:chExt cx="0" cy="0"/>
        </a:xfrm>
      </p:grpSpPr>
      <p:sp>
        <p:nvSpPr>
          <p:cNvPr id="2253" name="Google Shape;2253;p127"/>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254" name="Google Shape;2254;p127"/>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grpSp>
        <p:nvGrpSpPr>
          <p:cNvPr id="2255" name="Google Shape;2255;p127"/>
          <p:cNvGrpSpPr/>
          <p:nvPr/>
        </p:nvGrpSpPr>
        <p:grpSpPr>
          <a:xfrm>
            <a:off x="228600" y="228600"/>
            <a:ext cx="8458200" cy="5791200"/>
            <a:chOff x="144" y="144"/>
            <a:chExt cx="5328" cy="3648"/>
          </a:xfrm>
        </p:grpSpPr>
        <p:grpSp>
          <p:nvGrpSpPr>
            <p:cNvPr id="2256" name="Google Shape;2256;p127"/>
            <p:cNvGrpSpPr/>
            <p:nvPr/>
          </p:nvGrpSpPr>
          <p:grpSpPr>
            <a:xfrm>
              <a:off x="144" y="144"/>
              <a:ext cx="432" cy="3648"/>
              <a:chOff x="48" y="48"/>
              <a:chExt cx="576" cy="3984"/>
            </a:xfrm>
          </p:grpSpPr>
          <p:sp>
            <p:nvSpPr>
              <p:cNvPr id="2257" name="Google Shape;2257;p127"/>
              <p:cNvSpPr txBox="1"/>
              <p:nvPr/>
            </p:nvSpPr>
            <p:spPr>
              <a:xfrm>
                <a:off x="240"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58" name="Google Shape;2258;p127"/>
              <p:cNvSpPr txBox="1"/>
              <p:nvPr/>
            </p:nvSpPr>
            <p:spPr>
              <a:xfrm>
                <a:off x="48"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59" name="Google Shape;2259;p127"/>
              <p:cNvSpPr txBox="1"/>
              <p:nvPr/>
            </p:nvSpPr>
            <p:spPr>
              <a:xfrm>
                <a:off x="432"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260" name="Google Shape;2260;p127"/>
            <p:cNvGrpSpPr/>
            <p:nvPr/>
          </p:nvGrpSpPr>
          <p:grpSpPr>
            <a:xfrm>
              <a:off x="144" y="144"/>
              <a:ext cx="5328" cy="336"/>
              <a:chOff x="0" y="144"/>
              <a:chExt cx="5760" cy="432"/>
            </a:xfrm>
          </p:grpSpPr>
          <p:sp>
            <p:nvSpPr>
              <p:cNvPr id="2261" name="Google Shape;2261;p127"/>
              <p:cNvSpPr txBox="1"/>
              <p:nvPr/>
            </p:nvSpPr>
            <p:spPr>
              <a:xfrm>
                <a:off x="0" y="144"/>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62" name="Google Shape;2262;p127"/>
              <p:cNvSpPr txBox="1"/>
              <p:nvPr/>
            </p:nvSpPr>
            <p:spPr>
              <a:xfrm>
                <a:off x="0" y="288"/>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63" name="Google Shape;2263;p127"/>
              <p:cNvSpPr txBox="1"/>
              <p:nvPr/>
            </p:nvSpPr>
            <p:spPr>
              <a:xfrm>
                <a:off x="0" y="432"/>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264" name="Google Shape;2264;p127"/>
            <p:cNvGrpSpPr/>
            <p:nvPr/>
          </p:nvGrpSpPr>
          <p:grpSpPr>
            <a:xfrm>
              <a:off x="144" y="144"/>
              <a:ext cx="432" cy="336"/>
              <a:chOff x="144" y="144"/>
              <a:chExt cx="432" cy="336"/>
            </a:xfrm>
          </p:grpSpPr>
          <p:grpSp>
            <p:nvGrpSpPr>
              <p:cNvPr id="2265" name="Google Shape;2265;p127"/>
              <p:cNvGrpSpPr/>
              <p:nvPr/>
            </p:nvGrpSpPr>
            <p:grpSpPr>
              <a:xfrm>
                <a:off x="144" y="256"/>
                <a:ext cx="432" cy="112"/>
                <a:chOff x="288" y="256"/>
                <a:chExt cx="432" cy="112"/>
              </a:xfrm>
            </p:grpSpPr>
            <p:sp>
              <p:nvSpPr>
                <p:cNvPr id="2266" name="Google Shape;2266;p127"/>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67" name="Google Shape;2267;p127"/>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68" name="Google Shape;2268;p127"/>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269" name="Google Shape;2269;p127"/>
              <p:cNvGrpSpPr/>
              <p:nvPr/>
            </p:nvGrpSpPr>
            <p:grpSpPr>
              <a:xfrm>
                <a:off x="144" y="144"/>
                <a:ext cx="432" cy="336"/>
                <a:chOff x="144" y="144"/>
                <a:chExt cx="432" cy="336"/>
              </a:xfrm>
            </p:grpSpPr>
            <p:grpSp>
              <p:nvGrpSpPr>
                <p:cNvPr id="2270" name="Google Shape;2270;p127"/>
                <p:cNvGrpSpPr/>
                <p:nvPr/>
              </p:nvGrpSpPr>
              <p:grpSpPr>
                <a:xfrm>
                  <a:off x="144" y="144"/>
                  <a:ext cx="432" cy="112"/>
                  <a:chOff x="288" y="256"/>
                  <a:chExt cx="432" cy="112"/>
                </a:xfrm>
              </p:grpSpPr>
              <p:sp>
                <p:nvSpPr>
                  <p:cNvPr id="2271" name="Google Shape;2271;p127"/>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72" name="Google Shape;2272;p127"/>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73" name="Google Shape;2273;p127"/>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274" name="Google Shape;2274;p127"/>
                <p:cNvGrpSpPr/>
                <p:nvPr/>
              </p:nvGrpSpPr>
              <p:grpSpPr>
                <a:xfrm>
                  <a:off x="144" y="368"/>
                  <a:ext cx="432" cy="112"/>
                  <a:chOff x="288" y="256"/>
                  <a:chExt cx="432" cy="112"/>
                </a:xfrm>
              </p:grpSpPr>
              <p:sp>
                <p:nvSpPr>
                  <p:cNvPr id="2275" name="Google Shape;2275;p127"/>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76" name="Google Shape;2276;p127"/>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77" name="Google Shape;2277;p127"/>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grpSp>
      </p:grpSp>
      <p:grpSp>
        <p:nvGrpSpPr>
          <p:cNvPr id="2278" name="Google Shape;2278;p127"/>
          <p:cNvGrpSpPr/>
          <p:nvPr/>
        </p:nvGrpSpPr>
        <p:grpSpPr>
          <a:xfrm>
            <a:off x="1270000" y="1354137"/>
            <a:ext cx="7308850" cy="4570412"/>
            <a:chOff x="902" y="913"/>
            <a:chExt cx="3760" cy="2351"/>
          </a:xfrm>
        </p:grpSpPr>
        <p:pic>
          <p:nvPicPr>
            <p:cNvPr id="2279" name="Google Shape;2279;p127"/>
            <p:cNvPicPr preferRelativeResize="0"/>
            <p:nvPr/>
          </p:nvPicPr>
          <p:blipFill rotWithShape="1">
            <a:blip r:embed="rId3">
              <a:alphaModFix/>
            </a:blip>
            <a:srcRect b="0" l="0" r="0" t="0"/>
            <a:stretch/>
          </p:blipFill>
          <p:spPr>
            <a:xfrm>
              <a:off x="902" y="913"/>
              <a:ext cx="3760" cy="153"/>
            </a:xfrm>
            <a:prstGeom prst="rect">
              <a:avLst/>
            </a:prstGeom>
            <a:noFill/>
            <a:ln>
              <a:noFill/>
            </a:ln>
          </p:spPr>
        </p:pic>
        <p:pic>
          <p:nvPicPr>
            <p:cNvPr id="2280" name="Google Shape;2280;p127"/>
            <p:cNvPicPr preferRelativeResize="0"/>
            <p:nvPr/>
          </p:nvPicPr>
          <p:blipFill rotWithShape="1">
            <a:blip r:embed="rId4">
              <a:alphaModFix/>
            </a:blip>
            <a:srcRect b="0" l="0" r="0" t="1913"/>
            <a:stretch/>
          </p:blipFill>
          <p:spPr>
            <a:xfrm>
              <a:off x="912" y="1052"/>
              <a:ext cx="3737" cy="2212"/>
            </a:xfrm>
            <a:prstGeom prst="rect">
              <a:avLst/>
            </a:prstGeom>
            <a:noFill/>
            <a:ln>
              <a:noFill/>
            </a:ln>
          </p:spPr>
        </p:pic>
      </p:grpSp>
      <p:pic>
        <p:nvPicPr>
          <p:cNvPr id="2281" name="Google Shape;2281;p127"/>
          <p:cNvPicPr preferRelativeResize="0"/>
          <p:nvPr/>
        </p:nvPicPr>
        <p:blipFill rotWithShape="1">
          <a:blip r:embed="rId5">
            <a:alphaModFix/>
          </a:blip>
          <a:srcRect b="0" l="0" r="0" t="0"/>
          <a:stretch/>
        </p:blipFill>
        <p:spPr>
          <a:xfrm>
            <a:off x="1350962" y="971550"/>
            <a:ext cx="2587625" cy="296862"/>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6" name="Shape 2286"/>
        <p:cNvGrpSpPr/>
        <p:nvPr/>
      </p:nvGrpSpPr>
      <p:grpSpPr>
        <a:xfrm>
          <a:off x="0" y="0"/>
          <a:ext cx="0" cy="0"/>
          <a:chOff x="0" y="0"/>
          <a:chExt cx="0" cy="0"/>
        </a:xfrm>
      </p:grpSpPr>
      <p:sp>
        <p:nvSpPr>
          <p:cNvPr id="2287" name="Google Shape;2287;p128"/>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288" name="Google Shape;2288;p128"/>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grpSp>
        <p:nvGrpSpPr>
          <p:cNvPr id="2289" name="Google Shape;2289;p128"/>
          <p:cNvGrpSpPr/>
          <p:nvPr/>
        </p:nvGrpSpPr>
        <p:grpSpPr>
          <a:xfrm>
            <a:off x="228600" y="228600"/>
            <a:ext cx="8458200" cy="5791200"/>
            <a:chOff x="144" y="144"/>
            <a:chExt cx="5328" cy="3648"/>
          </a:xfrm>
        </p:grpSpPr>
        <p:grpSp>
          <p:nvGrpSpPr>
            <p:cNvPr id="2290" name="Google Shape;2290;p128"/>
            <p:cNvGrpSpPr/>
            <p:nvPr/>
          </p:nvGrpSpPr>
          <p:grpSpPr>
            <a:xfrm>
              <a:off x="144" y="144"/>
              <a:ext cx="432" cy="3648"/>
              <a:chOff x="48" y="48"/>
              <a:chExt cx="576" cy="3984"/>
            </a:xfrm>
          </p:grpSpPr>
          <p:sp>
            <p:nvSpPr>
              <p:cNvPr id="2291" name="Google Shape;2291;p128"/>
              <p:cNvSpPr txBox="1"/>
              <p:nvPr/>
            </p:nvSpPr>
            <p:spPr>
              <a:xfrm>
                <a:off x="240"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92" name="Google Shape;2292;p128"/>
              <p:cNvSpPr txBox="1"/>
              <p:nvPr/>
            </p:nvSpPr>
            <p:spPr>
              <a:xfrm>
                <a:off x="48"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93" name="Google Shape;2293;p128"/>
              <p:cNvSpPr txBox="1"/>
              <p:nvPr/>
            </p:nvSpPr>
            <p:spPr>
              <a:xfrm>
                <a:off x="432"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294" name="Google Shape;2294;p128"/>
            <p:cNvGrpSpPr/>
            <p:nvPr/>
          </p:nvGrpSpPr>
          <p:grpSpPr>
            <a:xfrm>
              <a:off x="144" y="144"/>
              <a:ext cx="5328" cy="336"/>
              <a:chOff x="0" y="144"/>
              <a:chExt cx="5760" cy="432"/>
            </a:xfrm>
          </p:grpSpPr>
          <p:sp>
            <p:nvSpPr>
              <p:cNvPr id="2295" name="Google Shape;2295;p128"/>
              <p:cNvSpPr txBox="1"/>
              <p:nvPr/>
            </p:nvSpPr>
            <p:spPr>
              <a:xfrm>
                <a:off x="0" y="144"/>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96" name="Google Shape;2296;p128"/>
              <p:cNvSpPr txBox="1"/>
              <p:nvPr/>
            </p:nvSpPr>
            <p:spPr>
              <a:xfrm>
                <a:off x="0" y="288"/>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97" name="Google Shape;2297;p128"/>
              <p:cNvSpPr txBox="1"/>
              <p:nvPr/>
            </p:nvSpPr>
            <p:spPr>
              <a:xfrm>
                <a:off x="0" y="432"/>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298" name="Google Shape;2298;p128"/>
            <p:cNvGrpSpPr/>
            <p:nvPr/>
          </p:nvGrpSpPr>
          <p:grpSpPr>
            <a:xfrm>
              <a:off x="144" y="144"/>
              <a:ext cx="432" cy="336"/>
              <a:chOff x="144" y="144"/>
              <a:chExt cx="432" cy="336"/>
            </a:xfrm>
          </p:grpSpPr>
          <p:grpSp>
            <p:nvGrpSpPr>
              <p:cNvPr id="2299" name="Google Shape;2299;p128"/>
              <p:cNvGrpSpPr/>
              <p:nvPr/>
            </p:nvGrpSpPr>
            <p:grpSpPr>
              <a:xfrm>
                <a:off x="144" y="256"/>
                <a:ext cx="432" cy="112"/>
                <a:chOff x="288" y="256"/>
                <a:chExt cx="432" cy="112"/>
              </a:xfrm>
            </p:grpSpPr>
            <p:sp>
              <p:nvSpPr>
                <p:cNvPr id="2300" name="Google Shape;2300;p128"/>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01" name="Google Shape;2301;p128"/>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02" name="Google Shape;2302;p128"/>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303" name="Google Shape;2303;p128"/>
              <p:cNvGrpSpPr/>
              <p:nvPr/>
            </p:nvGrpSpPr>
            <p:grpSpPr>
              <a:xfrm>
                <a:off x="144" y="144"/>
                <a:ext cx="432" cy="336"/>
                <a:chOff x="144" y="144"/>
                <a:chExt cx="432" cy="336"/>
              </a:xfrm>
            </p:grpSpPr>
            <p:grpSp>
              <p:nvGrpSpPr>
                <p:cNvPr id="2304" name="Google Shape;2304;p128"/>
                <p:cNvGrpSpPr/>
                <p:nvPr/>
              </p:nvGrpSpPr>
              <p:grpSpPr>
                <a:xfrm>
                  <a:off x="144" y="144"/>
                  <a:ext cx="432" cy="112"/>
                  <a:chOff x="288" y="256"/>
                  <a:chExt cx="432" cy="112"/>
                </a:xfrm>
              </p:grpSpPr>
              <p:sp>
                <p:nvSpPr>
                  <p:cNvPr id="2305" name="Google Shape;2305;p128"/>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06" name="Google Shape;2306;p128"/>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07" name="Google Shape;2307;p128"/>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308" name="Google Shape;2308;p128"/>
                <p:cNvGrpSpPr/>
                <p:nvPr/>
              </p:nvGrpSpPr>
              <p:grpSpPr>
                <a:xfrm>
                  <a:off x="144" y="368"/>
                  <a:ext cx="432" cy="112"/>
                  <a:chOff x="288" y="256"/>
                  <a:chExt cx="432" cy="112"/>
                </a:xfrm>
              </p:grpSpPr>
              <p:sp>
                <p:nvSpPr>
                  <p:cNvPr id="2309" name="Google Shape;2309;p128"/>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10" name="Google Shape;2310;p128"/>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11" name="Google Shape;2311;p128"/>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grpSp>
      </p:grpSp>
      <p:pic>
        <p:nvPicPr>
          <p:cNvPr id="2312" name="Google Shape;2312;p128"/>
          <p:cNvPicPr preferRelativeResize="0"/>
          <p:nvPr/>
        </p:nvPicPr>
        <p:blipFill rotWithShape="1">
          <a:blip r:embed="rId3">
            <a:alphaModFix/>
          </a:blip>
          <a:srcRect b="0" l="0" r="0" t="0"/>
          <a:stretch/>
        </p:blipFill>
        <p:spPr>
          <a:xfrm>
            <a:off x="1538287" y="1212850"/>
            <a:ext cx="6688137" cy="4759325"/>
          </a:xfrm>
          <a:prstGeom prst="rect">
            <a:avLst/>
          </a:prstGeom>
          <a:noFill/>
          <a:ln>
            <a:noFill/>
          </a:ln>
        </p:spPr>
      </p:pic>
      <p:pic>
        <p:nvPicPr>
          <p:cNvPr id="2313" name="Google Shape;2313;p128"/>
          <p:cNvPicPr preferRelativeResize="0"/>
          <p:nvPr/>
        </p:nvPicPr>
        <p:blipFill rotWithShape="1">
          <a:blip r:embed="rId4">
            <a:alphaModFix/>
          </a:blip>
          <a:srcRect b="0" l="0" r="0" t="0"/>
          <a:stretch/>
        </p:blipFill>
        <p:spPr>
          <a:xfrm>
            <a:off x="1524000" y="882650"/>
            <a:ext cx="2587625" cy="296862"/>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8" name="Shape 2318"/>
        <p:cNvGrpSpPr/>
        <p:nvPr/>
      </p:nvGrpSpPr>
      <p:grpSpPr>
        <a:xfrm>
          <a:off x="0" y="0"/>
          <a:ext cx="0" cy="0"/>
          <a:chOff x="0" y="0"/>
          <a:chExt cx="0" cy="0"/>
        </a:xfrm>
      </p:grpSpPr>
      <p:sp>
        <p:nvSpPr>
          <p:cNvPr id="2319" name="Google Shape;2319;p129"/>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320" name="Google Shape;2320;p129"/>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grpSp>
        <p:nvGrpSpPr>
          <p:cNvPr id="2321" name="Google Shape;2321;p129"/>
          <p:cNvGrpSpPr/>
          <p:nvPr/>
        </p:nvGrpSpPr>
        <p:grpSpPr>
          <a:xfrm>
            <a:off x="228600" y="228600"/>
            <a:ext cx="8458200" cy="5791200"/>
            <a:chOff x="144" y="144"/>
            <a:chExt cx="5328" cy="3648"/>
          </a:xfrm>
        </p:grpSpPr>
        <p:grpSp>
          <p:nvGrpSpPr>
            <p:cNvPr id="2322" name="Google Shape;2322;p129"/>
            <p:cNvGrpSpPr/>
            <p:nvPr/>
          </p:nvGrpSpPr>
          <p:grpSpPr>
            <a:xfrm>
              <a:off x="144" y="144"/>
              <a:ext cx="432" cy="3648"/>
              <a:chOff x="48" y="48"/>
              <a:chExt cx="576" cy="3984"/>
            </a:xfrm>
          </p:grpSpPr>
          <p:sp>
            <p:nvSpPr>
              <p:cNvPr id="2323" name="Google Shape;2323;p129"/>
              <p:cNvSpPr txBox="1"/>
              <p:nvPr/>
            </p:nvSpPr>
            <p:spPr>
              <a:xfrm>
                <a:off x="240"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24" name="Google Shape;2324;p129"/>
              <p:cNvSpPr txBox="1"/>
              <p:nvPr/>
            </p:nvSpPr>
            <p:spPr>
              <a:xfrm>
                <a:off x="48"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25" name="Google Shape;2325;p129"/>
              <p:cNvSpPr txBox="1"/>
              <p:nvPr/>
            </p:nvSpPr>
            <p:spPr>
              <a:xfrm>
                <a:off x="432"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326" name="Google Shape;2326;p129"/>
            <p:cNvGrpSpPr/>
            <p:nvPr/>
          </p:nvGrpSpPr>
          <p:grpSpPr>
            <a:xfrm>
              <a:off x="144" y="144"/>
              <a:ext cx="5328" cy="336"/>
              <a:chOff x="0" y="144"/>
              <a:chExt cx="5760" cy="432"/>
            </a:xfrm>
          </p:grpSpPr>
          <p:sp>
            <p:nvSpPr>
              <p:cNvPr id="2327" name="Google Shape;2327;p129"/>
              <p:cNvSpPr txBox="1"/>
              <p:nvPr/>
            </p:nvSpPr>
            <p:spPr>
              <a:xfrm>
                <a:off x="0" y="144"/>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28" name="Google Shape;2328;p129"/>
              <p:cNvSpPr txBox="1"/>
              <p:nvPr/>
            </p:nvSpPr>
            <p:spPr>
              <a:xfrm>
                <a:off x="0" y="288"/>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29" name="Google Shape;2329;p129"/>
              <p:cNvSpPr txBox="1"/>
              <p:nvPr/>
            </p:nvSpPr>
            <p:spPr>
              <a:xfrm>
                <a:off x="0" y="432"/>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330" name="Google Shape;2330;p129"/>
            <p:cNvGrpSpPr/>
            <p:nvPr/>
          </p:nvGrpSpPr>
          <p:grpSpPr>
            <a:xfrm>
              <a:off x="144" y="144"/>
              <a:ext cx="432" cy="336"/>
              <a:chOff x="144" y="144"/>
              <a:chExt cx="432" cy="336"/>
            </a:xfrm>
          </p:grpSpPr>
          <p:grpSp>
            <p:nvGrpSpPr>
              <p:cNvPr id="2331" name="Google Shape;2331;p129"/>
              <p:cNvGrpSpPr/>
              <p:nvPr/>
            </p:nvGrpSpPr>
            <p:grpSpPr>
              <a:xfrm>
                <a:off x="144" y="256"/>
                <a:ext cx="432" cy="112"/>
                <a:chOff x="288" y="256"/>
                <a:chExt cx="432" cy="112"/>
              </a:xfrm>
            </p:grpSpPr>
            <p:sp>
              <p:nvSpPr>
                <p:cNvPr id="2332" name="Google Shape;2332;p129"/>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33" name="Google Shape;2333;p129"/>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34" name="Google Shape;2334;p129"/>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335" name="Google Shape;2335;p129"/>
              <p:cNvGrpSpPr/>
              <p:nvPr/>
            </p:nvGrpSpPr>
            <p:grpSpPr>
              <a:xfrm>
                <a:off x="144" y="144"/>
                <a:ext cx="432" cy="336"/>
                <a:chOff x="144" y="144"/>
                <a:chExt cx="432" cy="336"/>
              </a:xfrm>
            </p:grpSpPr>
            <p:grpSp>
              <p:nvGrpSpPr>
                <p:cNvPr id="2336" name="Google Shape;2336;p129"/>
                <p:cNvGrpSpPr/>
                <p:nvPr/>
              </p:nvGrpSpPr>
              <p:grpSpPr>
                <a:xfrm>
                  <a:off x="144" y="144"/>
                  <a:ext cx="432" cy="112"/>
                  <a:chOff x="288" y="256"/>
                  <a:chExt cx="432" cy="112"/>
                </a:xfrm>
              </p:grpSpPr>
              <p:sp>
                <p:nvSpPr>
                  <p:cNvPr id="2337" name="Google Shape;2337;p129"/>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38" name="Google Shape;2338;p129"/>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39" name="Google Shape;2339;p129"/>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340" name="Google Shape;2340;p129"/>
                <p:cNvGrpSpPr/>
                <p:nvPr/>
              </p:nvGrpSpPr>
              <p:grpSpPr>
                <a:xfrm>
                  <a:off x="144" y="368"/>
                  <a:ext cx="432" cy="112"/>
                  <a:chOff x="288" y="256"/>
                  <a:chExt cx="432" cy="112"/>
                </a:xfrm>
              </p:grpSpPr>
              <p:sp>
                <p:nvSpPr>
                  <p:cNvPr id="2341" name="Google Shape;2341;p129"/>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42" name="Google Shape;2342;p129"/>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43" name="Google Shape;2343;p129"/>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grpSp>
      </p:grpSp>
      <p:grpSp>
        <p:nvGrpSpPr>
          <p:cNvPr id="2344" name="Google Shape;2344;p129"/>
          <p:cNvGrpSpPr/>
          <p:nvPr/>
        </p:nvGrpSpPr>
        <p:grpSpPr>
          <a:xfrm>
            <a:off x="1285875" y="1516062"/>
            <a:ext cx="6067425" cy="4537075"/>
            <a:chOff x="810" y="955"/>
            <a:chExt cx="3750" cy="2678"/>
          </a:xfrm>
        </p:grpSpPr>
        <p:pic>
          <p:nvPicPr>
            <p:cNvPr id="2345" name="Google Shape;2345;p129"/>
            <p:cNvPicPr preferRelativeResize="0"/>
            <p:nvPr/>
          </p:nvPicPr>
          <p:blipFill rotWithShape="1">
            <a:blip r:embed="rId3">
              <a:alphaModFix/>
            </a:blip>
            <a:srcRect b="0" l="0" r="0" t="0"/>
            <a:stretch/>
          </p:blipFill>
          <p:spPr>
            <a:xfrm>
              <a:off x="810" y="955"/>
              <a:ext cx="3726" cy="436"/>
            </a:xfrm>
            <a:prstGeom prst="rect">
              <a:avLst/>
            </a:prstGeom>
            <a:noFill/>
            <a:ln>
              <a:noFill/>
            </a:ln>
          </p:spPr>
        </p:pic>
        <p:pic>
          <p:nvPicPr>
            <p:cNvPr id="2346" name="Google Shape;2346;p129"/>
            <p:cNvPicPr preferRelativeResize="0"/>
            <p:nvPr/>
          </p:nvPicPr>
          <p:blipFill rotWithShape="1">
            <a:blip r:embed="rId4">
              <a:alphaModFix/>
            </a:blip>
            <a:srcRect b="0" l="0" r="0" t="0"/>
            <a:stretch/>
          </p:blipFill>
          <p:spPr>
            <a:xfrm>
              <a:off x="823" y="1392"/>
              <a:ext cx="3737" cy="2241"/>
            </a:xfrm>
            <a:prstGeom prst="rect">
              <a:avLst/>
            </a:prstGeom>
            <a:noFill/>
            <a:ln>
              <a:noFill/>
            </a:ln>
          </p:spPr>
        </p:pic>
      </p:grpSp>
      <p:pic>
        <p:nvPicPr>
          <p:cNvPr id="2347" name="Google Shape;2347;p129"/>
          <p:cNvPicPr preferRelativeResize="0"/>
          <p:nvPr/>
        </p:nvPicPr>
        <p:blipFill rotWithShape="1">
          <a:blip r:embed="rId5">
            <a:alphaModFix/>
          </a:blip>
          <a:srcRect b="0" l="0" r="0" t="0"/>
          <a:stretch/>
        </p:blipFill>
        <p:spPr>
          <a:xfrm>
            <a:off x="1295400" y="1150937"/>
            <a:ext cx="2587625" cy="296862"/>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2" name="Shape 2352"/>
        <p:cNvGrpSpPr/>
        <p:nvPr/>
      </p:nvGrpSpPr>
      <p:grpSpPr>
        <a:xfrm>
          <a:off x="0" y="0"/>
          <a:ext cx="0" cy="0"/>
          <a:chOff x="0" y="0"/>
          <a:chExt cx="0" cy="0"/>
        </a:xfrm>
      </p:grpSpPr>
      <p:sp>
        <p:nvSpPr>
          <p:cNvPr id="2353" name="Google Shape;2353;p130"/>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354" name="Google Shape;2354;p130"/>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grpSp>
        <p:nvGrpSpPr>
          <p:cNvPr id="2355" name="Google Shape;2355;p130"/>
          <p:cNvGrpSpPr/>
          <p:nvPr/>
        </p:nvGrpSpPr>
        <p:grpSpPr>
          <a:xfrm>
            <a:off x="228600" y="228600"/>
            <a:ext cx="8458200" cy="5791200"/>
            <a:chOff x="144" y="144"/>
            <a:chExt cx="5328" cy="3648"/>
          </a:xfrm>
        </p:grpSpPr>
        <p:grpSp>
          <p:nvGrpSpPr>
            <p:cNvPr id="2356" name="Google Shape;2356;p130"/>
            <p:cNvGrpSpPr/>
            <p:nvPr/>
          </p:nvGrpSpPr>
          <p:grpSpPr>
            <a:xfrm>
              <a:off x="144" y="144"/>
              <a:ext cx="432" cy="3648"/>
              <a:chOff x="48" y="48"/>
              <a:chExt cx="576" cy="3984"/>
            </a:xfrm>
          </p:grpSpPr>
          <p:sp>
            <p:nvSpPr>
              <p:cNvPr id="2357" name="Google Shape;2357;p130"/>
              <p:cNvSpPr txBox="1"/>
              <p:nvPr/>
            </p:nvSpPr>
            <p:spPr>
              <a:xfrm>
                <a:off x="240"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58" name="Google Shape;2358;p130"/>
              <p:cNvSpPr txBox="1"/>
              <p:nvPr/>
            </p:nvSpPr>
            <p:spPr>
              <a:xfrm>
                <a:off x="48"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59" name="Google Shape;2359;p130"/>
              <p:cNvSpPr txBox="1"/>
              <p:nvPr/>
            </p:nvSpPr>
            <p:spPr>
              <a:xfrm>
                <a:off x="432"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360" name="Google Shape;2360;p130"/>
            <p:cNvGrpSpPr/>
            <p:nvPr/>
          </p:nvGrpSpPr>
          <p:grpSpPr>
            <a:xfrm>
              <a:off x="144" y="144"/>
              <a:ext cx="5328" cy="336"/>
              <a:chOff x="0" y="144"/>
              <a:chExt cx="5760" cy="432"/>
            </a:xfrm>
          </p:grpSpPr>
          <p:sp>
            <p:nvSpPr>
              <p:cNvPr id="2361" name="Google Shape;2361;p130"/>
              <p:cNvSpPr txBox="1"/>
              <p:nvPr/>
            </p:nvSpPr>
            <p:spPr>
              <a:xfrm>
                <a:off x="0" y="144"/>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62" name="Google Shape;2362;p130"/>
              <p:cNvSpPr txBox="1"/>
              <p:nvPr/>
            </p:nvSpPr>
            <p:spPr>
              <a:xfrm>
                <a:off x="0" y="288"/>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63" name="Google Shape;2363;p130"/>
              <p:cNvSpPr txBox="1"/>
              <p:nvPr/>
            </p:nvSpPr>
            <p:spPr>
              <a:xfrm>
                <a:off x="0" y="432"/>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364" name="Google Shape;2364;p130"/>
            <p:cNvGrpSpPr/>
            <p:nvPr/>
          </p:nvGrpSpPr>
          <p:grpSpPr>
            <a:xfrm>
              <a:off x="144" y="144"/>
              <a:ext cx="432" cy="336"/>
              <a:chOff x="144" y="144"/>
              <a:chExt cx="432" cy="336"/>
            </a:xfrm>
          </p:grpSpPr>
          <p:grpSp>
            <p:nvGrpSpPr>
              <p:cNvPr id="2365" name="Google Shape;2365;p130"/>
              <p:cNvGrpSpPr/>
              <p:nvPr/>
            </p:nvGrpSpPr>
            <p:grpSpPr>
              <a:xfrm>
                <a:off x="144" y="256"/>
                <a:ext cx="432" cy="112"/>
                <a:chOff x="288" y="256"/>
                <a:chExt cx="432" cy="112"/>
              </a:xfrm>
            </p:grpSpPr>
            <p:sp>
              <p:nvSpPr>
                <p:cNvPr id="2366" name="Google Shape;2366;p130"/>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67" name="Google Shape;2367;p130"/>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68" name="Google Shape;2368;p130"/>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369" name="Google Shape;2369;p130"/>
              <p:cNvGrpSpPr/>
              <p:nvPr/>
            </p:nvGrpSpPr>
            <p:grpSpPr>
              <a:xfrm>
                <a:off x="144" y="144"/>
                <a:ext cx="432" cy="336"/>
                <a:chOff x="144" y="144"/>
                <a:chExt cx="432" cy="336"/>
              </a:xfrm>
            </p:grpSpPr>
            <p:grpSp>
              <p:nvGrpSpPr>
                <p:cNvPr id="2370" name="Google Shape;2370;p130"/>
                <p:cNvGrpSpPr/>
                <p:nvPr/>
              </p:nvGrpSpPr>
              <p:grpSpPr>
                <a:xfrm>
                  <a:off x="144" y="144"/>
                  <a:ext cx="432" cy="112"/>
                  <a:chOff x="288" y="256"/>
                  <a:chExt cx="432" cy="112"/>
                </a:xfrm>
              </p:grpSpPr>
              <p:sp>
                <p:nvSpPr>
                  <p:cNvPr id="2371" name="Google Shape;2371;p130"/>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72" name="Google Shape;2372;p130"/>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73" name="Google Shape;2373;p130"/>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374" name="Google Shape;2374;p130"/>
                <p:cNvGrpSpPr/>
                <p:nvPr/>
              </p:nvGrpSpPr>
              <p:grpSpPr>
                <a:xfrm>
                  <a:off x="144" y="368"/>
                  <a:ext cx="432" cy="112"/>
                  <a:chOff x="288" y="256"/>
                  <a:chExt cx="432" cy="112"/>
                </a:xfrm>
              </p:grpSpPr>
              <p:sp>
                <p:nvSpPr>
                  <p:cNvPr id="2375" name="Google Shape;2375;p130"/>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76" name="Google Shape;2376;p130"/>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77" name="Google Shape;2377;p130"/>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grpSp>
      </p:grpSp>
      <p:pic>
        <p:nvPicPr>
          <p:cNvPr id="2378" name="Google Shape;2378;p130"/>
          <p:cNvPicPr preferRelativeResize="0"/>
          <p:nvPr/>
        </p:nvPicPr>
        <p:blipFill rotWithShape="1">
          <a:blip r:embed="rId3">
            <a:alphaModFix/>
          </a:blip>
          <a:srcRect b="0" l="0" r="0" t="0"/>
          <a:stretch/>
        </p:blipFill>
        <p:spPr>
          <a:xfrm>
            <a:off x="1606550" y="1570037"/>
            <a:ext cx="6894512" cy="4357687"/>
          </a:xfrm>
          <a:prstGeom prst="rect">
            <a:avLst/>
          </a:prstGeom>
          <a:noFill/>
          <a:ln>
            <a:noFill/>
          </a:ln>
        </p:spPr>
      </p:pic>
      <p:pic>
        <p:nvPicPr>
          <p:cNvPr id="2379" name="Google Shape;2379;p130"/>
          <p:cNvPicPr preferRelativeResize="0"/>
          <p:nvPr/>
        </p:nvPicPr>
        <p:blipFill rotWithShape="1">
          <a:blip r:embed="rId4">
            <a:alphaModFix/>
          </a:blip>
          <a:srcRect b="0" l="0" r="0" t="0"/>
          <a:stretch/>
        </p:blipFill>
        <p:spPr>
          <a:xfrm>
            <a:off x="1679575" y="1235075"/>
            <a:ext cx="2587625" cy="296862"/>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4" name="Shape 2384"/>
        <p:cNvGrpSpPr/>
        <p:nvPr/>
      </p:nvGrpSpPr>
      <p:grpSpPr>
        <a:xfrm>
          <a:off x="0" y="0"/>
          <a:ext cx="0" cy="0"/>
          <a:chOff x="0" y="0"/>
          <a:chExt cx="0" cy="0"/>
        </a:xfrm>
      </p:grpSpPr>
      <p:sp>
        <p:nvSpPr>
          <p:cNvPr id="2385" name="Google Shape;2385;p131"/>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386" name="Google Shape;2386;p131"/>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grpSp>
        <p:nvGrpSpPr>
          <p:cNvPr id="2387" name="Google Shape;2387;p131"/>
          <p:cNvGrpSpPr/>
          <p:nvPr/>
        </p:nvGrpSpPr>
        <p:grpSpPr>
          <a:xfrm>
            <a:off x="228600" y="228600"/>
            <a:ext cx="8458200" cy="5791200"/>
            <a:chOff x="144" y="144"/>
            <a:chExt cx="5328" cy="3648"/>
          </a:xfrm>
        </p:grpSpPr>
        <p:grpSp>
          <p:nvGrpSpPr>
            <p:cNvPr id="2388" name="Google Shape;2388;p131"/>
            <p:cNvGrpSpPr/>
            <p:nvPr/>
          </p:nvGrpSpPr>
          <p:grpSpPr>
            <a:xfrm>
              <a:off x="144" y="144"/>
              <a:ext cx="432" cy="3648"/>
              <a:chOff x="48" y="48"/>
              <a:chExt cx="576" cy="3984"/>
            </a:xfrm>
          </p:grpSpPr>
          <p:sp>
            <p:nvSpPr>
              <p:cNvPr id="2389" name="Google Shape;2389;p131"/>
              <p:cNvSpPr txBox="1"/>
              <p:nvPr/>
            </p:nvSpPr>
            <p:spPr>
              <a:xfrm>
                <a:off x="240"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90" name="Google Shape;2390;p131"/>
              <p:cNvSpPr txBox="1"/>
              <p:nvPr/>
            </p:nvSpPr>
            <p:spPr>
              <a:xfrm>
                <a:off x="48"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91" name="Google Shape;2391;p131"/>
              <p:cNvSpPr txBox="1"/>
              <p:nvPr/>
            </p:nvSpPr>
            <p:spPr>
              <a:xfrm>
                <a:off x="432"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392" name="Google Shape;2392;p131"/>
            <p:cNvGrpSpPr/>
            <p:nvPr/>
          </p:nvGrpSpPr>
          <p:grpSpPr>
            <a:xfrm>
              <a:off x="144" y="144"/>
              <a:ext cx="5328" cy="336"/>
              <a:chOff x="0" y="144"/>
              <a:chExt cx="5760" cy="432"/>
            </a:xfrm>
          </p:grpSpPr>
          <p:sp>
            <p:nvSpPr>
              <p:cNvPr id="2393" name="Google Shape;2393;p131"/>
              <p:cNvSpPr txBox="1"/>
              <p:nvPr/>
            </p:nvSpPr>
            <p:spPr>
              <a:xfrm>
                <a:off x="0" y="144"/>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94" name="Google Shape;2394;p131"/>
              <p:cNvSpPr txBox="1"/>
              <p:nvPr/>
            </p:nvSpPr>
            <p:spPr>
              <a:xfrm>
                <a:off x="0" y="288"/>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95" name="Google Shape;2395;p131"/>
              <p:cNvSpPr txBox="1"/>
              <p:nvPr/>
            </p:nvSpPr>
            <p:spPr>
              <a:xfrm>
                <a:off x="0" y="432"/>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396" name="Google Shape;2396;p131"/>
            <p:cNvGrpSpPr/>
            <p:nvPr/>
          </p:nvGrpSpPr>
          <p:grpSpPr>
            <a:xfrm>
              <a:off x="144" y="144"/>
              <a:ext cx="432" cy="336"/>
              <a:chOff x="144" y="144"/>
              <a:chExt cx="432" cy="336"/>
            </a:xfrm>
          </p:grpSpPr>
          <p:grpSp>
            <p:nvGrpSpPr>
              <p:cNvPr id="2397" name="Google Shape;2397;p131"/>
              <p:cNvGrpSpPr/>
              <p:nvPr/>
            </p:nvGrpSpPr>
            <p:grpSpPr>
              <a:xfrm>
                <a:off x="144" y="256"/>
                <a:ext cx="432" cy="112"/>
                <a:chOff x="288" y="256"/>
                <a:chExt cx="432" cy="112"/>
              </a:xfrm>
            </p:grpSpPr>
            <p:sp>
              <p:nvSpPr>
                <p:cNvPr id="2398" name="Google Shape;2398;p131"/>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99" name="Google Shape;2399;p131"/>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00" name="Google Shape;2400;p131"/>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401" name="Google Shape;2401;p131"/>
              <p:cNvGrpSpPr/>
              <p:nvPr/>
            </p:nvGrpSpPr>
            <p:grpSpPr>
              <a:xfrm>
                <a:off x="144" y="144"/>
                <a:ext cx="432" cy="336"/>
                <a:chOff x="144" y="144"/>
                <a:chExt cx="432" cy="336"/>
              </a:xfrm>
            </p:grpSpPr>
            <p:grpSp>
              <p:nvGrpSpPr>
                <p:cNvPr id="2402" name="Google Shape;2402;p131"/>
                <p:cNvGrpSpPr/>
                <p:nvPr/>
              </p:nvGrpSpPr>
              <p:grpSpPr>
                <a:xfrm>
                  <a:off x="144" y="144"/>
                  <a:ext cx="432" cy="112"/>
                  <a:chOff x="288" y="256"/>
                  <a:chExt cx="432" cy="112"/>
                </a:xfrm>
              </p:grpSpPr>
              <p:sp>
                <p:nvSpPr>
                  <p:cNvPr id="2403" name="Google Shape;2403;p131"/>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04" name="Google Shape;2404;p131"/>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05" name="Google Shape;2405;p131"/>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406" name="Google Shape;2406;p131"/>
                <p:cNvGrpSpPr/>
                <p:nvPr/>
              </p:nvGrpSpPr>
              <p:grpSpPr>
                <a:xfrm>
                  <a:off x="144" y="368"/>
                  <a:ext cx="432" cy="112"/>
                  <a:chOff x="288" y="256"/>
                  <a:chExt cx="432" cy="112"/>
                </a:xfrm>
              </p:grpSpPr>
              <p:sp>
                <p:nvSpPr>
                  <p:cNvPr id="2407" name="Google Shape;2407;p131"/>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08" name="Google Shape;2408;p131"/>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09" name="Google Shape;2409;p131"/>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grpSp>
      </p:grpSp>
      <p:pic>
        <p:nvPicPr>
          <p:cNvPr id="2410" name="Google Shape;2410;p131"/>
          <p:cNvPicPr preferRelativeResize="0"/>
          <p:nvPr/>
        </p:nvPicPr>
        <p:blipFill rotWithShape="1">
          <a:blip r:embed="rId3">
            <a:alphaModFix/>
          </a:blip>
          <a:srcRect b="0" l="0" r="0" t="0"/>
          <a:stretch/>
        </p:blipFill>
        <p:spPr>
          <a:xfrm>
            <a:off x="1752600" y="2743200"/>
            <a:ext cx="5969000" cy="3098800"/>
          </a:xfrm>
          <a:prstGeom prst="rect">
            <a:avLst/>
          </a:prstGeom>
          <a:noFill/>
          <a:ln>
            <a:noFill/>
          </a:ln>
        </p:spPr>
      </p:pic>
      <p:pic>
        <p:nvPicPr>
          <p:cNvPr id="2411" name="Google Shape;2411;p131"/>
          <p:cNvPicPr preferRelativeResize="0"/>
          <p:nvPr/>
        </p:nvPicPr>
        <p:blipFill rotWithShape="1">
          <a:blip r:embed="rId4">
            <a:alphaModFix/>
          </a:blip>
          <a:srcRect b="0" l="0" r="0" t="0"/>
          <a:stretch/>
        </p:blipFill>
        <p:spPr>
          <a:xfrm>
            <a:off x="1793875" y="1006475"/>
            <a:ext cx="2587625" cy="296862"/>
          </a:xfrm>
          <a:prstGeom prst="rect">
            <a:avLst/>
          </a:prstGeom>
          <a:noFill/>
          <a:ln>
            <a:noFill/>
          </a:ln>
        </p:spPr>
      </p:pic>
      <p:pic>
        <p:nvPicPr>
          <p:cNvPr id="2412" name="Google Shape;2412;p131"/>
          <p:cNvPicPr preferRelativeResize="0"/>
          <p:nvPr/>
        </p:nvPicPr>
        <p:blipFill rotWithShape="1">
          <a:blip r:embed="rId5">
            <a:alphaModFix/>
          </a:blip>
          <a:srcRect b="0" l="0" r="0" t="0"/>
          <a:stretch/>
        </p:blipFill>
        <p:spPr>
          <a:xfrm>
            <a:off x="1749425" y="1338262"/>
            <a:ext cx="5915025" cy="1403350"/>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7" name="Shape 2417"/>
        <p:cNvGrpSpPr/>
        <p:nvPr/>
      </p:nvGrpSpPr>
      <p:grpSpPr>
        <a:xfrm>
          <a:off x="0" y="0"/>
          <a:ext cx="0" cy="0"/>
          <a:chOff x="0" y="0"/>
          <a:chExt cx="0" cy="0"/>
        </a:xfrm>
      </p:grpSpPr>
      <p:sp>
        <p:nvSpPr>
          <p:cNvPr id="2418" name="Google Shape;2418;p132"/>
          <p:cNvSpPr txBox="1"/>
          <p:nvPr/>
        </p:nvSpPr>
        <p:spPr>
          <a:xfrm>
            <a:off x="76200" y="6296025"/>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419" name="Google Shape;2419;p132"/>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grpSp>
        <p:nvGrpSpPr>
          <p:cNvPr id="2420" name="Google Shape;2420;p132"/>
          <p:cNvGrpSpPr/>
          <p:nvPr/>
        </p:nvGrpSpPr>
        <p:grpSpPr>
          <a:xfrm>
            <a:off x="228600" y="228600"/>
            <a:ext cx="8458200" cy="5791200"/>
            <a:chOff x="144" y="144"/>
            <a:chExt cx="5328" cy="3648"/>
          </a:xfrm>
        </p:grpSpPr>
        <p:grpSp>
          <p:nvGrpSpPr>
            <p:cNvPr id="2421" name="Google Shape;2421;p132"/>
            <p:cNvGrpSpPr/>
            <p:nvPr/>
          </p:nvGrpSpPr>
          <p:grpSpPr>
            <a:xfrm>
              <a:off x="144" y="144"/>
              <a:ext cx="432" cy="3648"/>
              <a:chOff x="48" y="48"/>
              <a:chExt cx="576" cy="3984"/>
            </a:xfrm>
          </p:grpSpPr>
          <p:sp>
            <p:nvSpPr>
              <p:cNvPr id="2422" name="Google Shape;2422;p132"/>
              <p:cNvSpPr txBox="1"/>
              <p:nvPr/>
            </p:nvSpPr>
            <p:spPr>
              <a:xfrm>
                <a:off x="240"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23" name="Google Shape;2423;p132"/>
              <p:cNvSpPr txBox="1"/>
              <p:nvPr/>
            </p:nvSpPr>
            <p:spPr>
              <a:xfrm>
                <a:off x="48"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24" name="Google Shape;2424;p132"/>
              <p:cNvSpPr txBox="1"/>
              <p:nvPr/>
            </p:nvSpPr>
            <p:spPr>
              <a:xfrm>
                <a:off x="432"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425" name="Google Shape;2425;p132"/>
            <p:cNvGrpSpPr/>
            <p:nvPr/>
          </p:nvGrpSpPr>
          <p:grpSpPr>
            <a:xfrm>
              <a:off x="144" y="144"/>
              <a:ext cx="5328" cy="336"/>
              <a:chOff x="0" y="144"/>
              <a:chExt cx="5760" cy="432"/>
            </a:xfrm>
          </p:grpSpPr>
          <p:sp>
            <p:nvSpPr>
              <p:cNvPr id="2426" name="Google Shape;2426;p132"/>
              <p:cNvSpPr txBox="1"/>
              <p:nvPr/>
            </p:nvSpPr>
            <p:spPr>
              <a:xfrm>
                <a:off x="0" y="144"/>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27" name="Google Shape;2427;p132"/>
              <p:cNvSpPr txBox="1"/>
              <p:nvPr/>
            </p:nvSpPr>
            <p:spPr>
              <a:xfrm>
                <a:off x="0" y="288"/>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28" name="Google Shape;2428;p132"/>
              <p:cNvSpPr txBox="1"/>
              <p:nvPr/>
            </p:nvSpPr>
            <p:spPr>
              <a:xfrm>
                <a:off x="0" y="432"/>
                <a:ext cx="5760" cy="144"/>
              </a:xfrm>
              <a:prstGeom prst="rect">
                <a:avLst/>
              </a:prstGeom>
              <a:solidFill>
                <a:srgbClr val="DDDDDD"/>
              </a:solidFill>
              <a:ln cap="flat" cmpd="sng" w="1905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429" name="Google Shape;2429;p132"/>
            <p:cNvGrpSpPr/>
            <p:nvPr/>
          </p:nvGrpSpPr>
          <p:grpSpPr>
            <a:xfrm>
              <a:off x="144" y="144"/>
              <a:ext cx="432" cy="336"/>
              <a:chOff x="144" y="144"/>
              <a:chExt cx="432" cy="336"/>
            </a:xfrm>
          </p:grpSpPr>
          <p:grpSp>
            <p:nvGrpSpPr>
              <p:cNvPr id="2430" name="Google Shape;2430;p132"/>
              <p:cNvGrpSpPr/>
              <p:nvPr/>
            </p:nvGrpSpPr>
            <p:grpSpPr>
              <a:xfrm>
                <a:off x="144" y="256"/>
                <a:ext cx="432" cy="112"/>
                <a:chOff x="288" y="256"/>
                <a:chExt cx="432" cy="112"/>
              </a:xfrm>
            </p:grpSpPr>
            <p:sp>
              <p:nvSpPr>
                <p:cNvPr id="2431" name="Google Shape;2431;p132"/>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32" name="Google Shape;2432;p132"/>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33" name="Google Shape;2433;p132"/>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434" name="Google Shape;2434;p132"/>
              <p:cNvGrpSpPr/>
              <p:nvPr/>
            </p:nvGrpSpPr>
            <p:grpSpPr>
              <a:xfrm>
                <a:off x="144" y="144"/>
                <a:ext cx="432" cy="336"/>
                <a:chOff x="144" y="144"/>
                <a:chExt cx="432" cy="336"/>
              </a:xfrm>
            </p:grpSpPr>
            <p:grpSp>
              <p:nvGrpSpPr>
                <p:cNvPr id="2435" name="Google Shape;2435;p132"/>
                <p:cNvGrpSpPr/>
                <p:nvPr/>
              </p:nvGrpSpPr>
              <p:grpSpPr>
                <a:xfrm>
                  <a:off x="144" y="144"/>
                  <a:ext cx="432" cy="112"/>
                  <a:chOff x="288" y="256"/>
                  <a:chExt cx="432" cy="112"/>
                </a:xfrm>
              </p:grpSpPr>
              <p:sp>
                <p:nvSpPr>
                  <p:cNvPr id="2436" name="Google Shape;2436;p132"/>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37" name="Google Shape;2437;p132"/>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38" name="Google Shape;2438;p132"/>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2439" name="Google Shape;2439;p132"/>
                <p:cNvGrpSpPr/>
                <p:nvPr/>
              </p:nvGrpSpPr>
              <p:grpSpPr>
                <a:xfrm>
                  <a:off x="144" y="368"/>
                  <a:ext cx="432" cy="112"/>
                  <a:chOff x="288" y="256"/>
                  <a:chExt cx="432" cy="112"/>
                </a:xfrm>
              </p:grpSpPr>
              <p:sp>
                <p:nvSpPr>
                  <p:cNvPr id="2440" name="Google Shape;2440;p132"/>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41" name="Google Shape;2441;p132"/>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42" name="Google Shape;2442;p132"/>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grpSp>
      </p:grpSp>
      <p:pic>
        <p:nvPicPr>
          <p:cNvPr id="2443" name="Google Shape;2443;p132"/>
          <p:cNvPicPr preferRelativeResize="0"/>
          <p:nvPr/>
        </p:nvPicPr>
        <p:blipFill rotWithShape="1">
          <a:blip r:embed="rId3">
            <a:alphaModFix/>
          </a:blip>
          <a:srcRect b="0" l="0" r="0" t="0"/>
          <a:stretch/>
        </p:blipFill>
        <p:spPr>
          <a:xfrm>
            <a:off x="1157287" y="1114425"/>
            <a:ext cx="7183437" cy="4838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_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2000-01-15T04:50:39Z</dcterms:created>
  <dc:creator>Valued Gateway Client</dc:creator>
</cp:coreProperties>
</file>