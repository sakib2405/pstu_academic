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4630400" cy="8229600"/>
  <p:notesSz cx="8229600" cy="14630400"/>
  <p:embeddedFontLst>
    <p:embeddedFont>
      <p:font typeface="Barlow" panose="00000800000000000000" pitchFamily="34" charset="0"/>
      <p:bold r:id="rId18"/>
    </p:embeddedFont>
    <p:embeddedFont>
      <p:font typeface="Barlow" panose="00000800000000000000" pitchFamily="34" charset="-122"/>
      <p:bold r:id="rId19"/>
    </p:embeddedFont>
    <p:embeddedFont>
      <p:font typeface="Barlow" panose="00000800000000000000" pitchFamily="34" charset="-120"/>
      <p:bold r:id="rId20"/>
    </p:embeddedFont>
    <p:embeddedFont>
      <p:font typeface="Consolas" panose="020B0609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34" charset="-122"/>
      <p:regular r:id="rId25"/>
    </p:embeddedFont>
    <p:embeddedFont>
      <p:font typeface="Consolas" panose="020B0609020204030204" pitchFamily="34" charset="-120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8.xml"/><Relationship Id="rId10" Type="http://schemas.openxmlformats.org/officeDocument/2006/relationships/image" Target="../media/image21.sv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729" y="2245043"/>
            <a:ext cx="4868942" cy="37393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4037" y="2037278"/>
            <a:ext cx="7415927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Remote Calculator: Socket CLI + Flask Web UI</a:t>
            </a:r>
            <a:endParaRPr lang="en-US" sz="4300" dirty="0"/>
          </a:p>
        </p:txBody>
      </p:sp>
      <p:sp>
        <p:nvSpPr>
          <p:cNvPr id="5" name="Text 1"/>
          <p:cNvSpPr/>
          <p:nvPr/>
        </p:nvSpPr>
        <p:spPr>
          <a:xfrm>
            <a:off x="864037" y="3779163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Presented By: Nazmus Sakib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64037" y="4451866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Student ID: 2102066 | Reg: 10193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64037" y="5124569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B.Sc. CSE – 5th Semester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64037" y="5797272"/>
            <a:ext cx="74159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Date: 22/11/2025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343"/>
    </mc:Choice>
    <mc:Fallback>
      <p:transition spd="slow" advTm="3534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064" y="603766"/>
            <a:ext cx="7666673" cy="11722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 Statement: Remote Calculation</a:t>
            </a:r>
            <a:endParaRPr lang="en-US" sz="365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6225064" y="2092643"/>
            <a:ext cx="7666673" cy="1225034"/>
          </a:xfrm>
          <a:prstGeom prst="roundRect">
            <a:avLst>
              <a:gd name="adj" fmla="val 8957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6202204" y="2092643"/>
            <a:ext cx="91440" cy="1225034"/>
          </a:xfrm>
          <a:prstGeom prst="roundRect">
            <a:avLst>
              <a:gd name="adj" fmla="val 346232"/>
            </a:avLst>
          </a:prstGeom>
          <a:solidFill>
            <a:srgbClr val="16FFBB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6527482" y="2326481"/>
            <a:ext cx="2345055" cy="2931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Remote Calculation</a:t>
            </a:r>
            <a:endParaRPr lang="en-US" sz="18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6527482" y="2746177"/>
            <a:ext cx="7130415" cy="3376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Perform operations like "a operator b" remotely.</a:t>
            </a:r>
            <a:endParaRPr lang="en-US" sz="1650" dirty="0"/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6225064" y="3528655"/>
            <a:ext cx="7666673" cy="1225034"/>
          </a:xfrm>
          <a:prstGeom prst="roundRect">
            <a:avLst>
              <a:gd name="adj" fmla="val 8957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6202204" y="3528655"/>
            <a:ext cx="91440" cy="1225034"/>
          </a:xfrm>
          <a:prstGeom prst="roundRect">
            <a:avLst>
              <a:gd name="adj" fmla="val 346232"/>
            </a:avLst>
          </a:prstGeom>
          <a:solidFill>
            <a:srgbClr val="29DDDA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6527482" y="3762494"/>
            <a:ext cx="2345055" cy="2931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Float Support</a:t>
            </a:r>
            <a:endParaRPr lang="en-US" sz="1800" dirty="0"/>
          </a:p>
        </p:txBody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6527482" y="4182189"/>
            <a:ext cx="7130415" cy="3376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Handle decimal numbers, returning integers when applicable.</a:t>
            </a:r>
            <a:endParaRPr lang="en-US" sz="1650" dirty="0"/>
          </a:p>
        </p:txBody>
      </p:sp>
      <p:sp>
        <p:nvSpPr>
          <p:cNvPr id="12" name="Shape 9"/>
          <p:cNvSpPr/>
          <p:nvPr>
            <p:custDataLst>
              <p:tags r:id="rId10"/>
            </p:custDataLst>
          </p:nvPr>
        </p:nvSpPr>
        <p:spPr>
          <a:xfrm>
            <a:off x="6225064" y="4964668"/>
            <a:ext cx="7666673" cy="1225034"/>
          </a:xfrm>
          <a:prstGeom prst="roundRect">
            <a:avLst>
              <a:gd name="adj" fmla="val 8957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6202204" y="4964668"/>
            <a:ext cx="91440" cy="1225034"/>
          </a:xfrm>
          <a:prstGeom prst="roundRect">
            <a:avLst>
              <a:gd name="adj" fmla="val 346232"/>
            </a:avLst>
          </a:prstGeom>
          <a:solidFill>
            <a:srgbClr val="37A7E7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6527482" y="5198507"/>
            <a:ext cx="2345055" cy="2931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User-Friendly Web UI</a:t>
            </a:r>
            <a:endParaRPr lang="en-US" sz="1800" dirty="0"/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6527482" y="5618202"/>
            <a:ext cx="7130415" cy="3376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Provide a simple and intuitive web interface.</a:t>
            </a:r>
            <a:endParaRPr lang="en-US" sz="1650" dirty="0"/>
          </a:p>
        </p:txBody>
      </p:sp>
      <p:sp>
        <p:nvSpPr>
          <p:cNvPr id="16" name="Shape 13"/>
          <p:cNvSpPr/>
          <p:nvPr>
            <p:custDataLst>
              <p:tags r:id="rId14"/>
            </p:custDataLst>
          </p:nvPr>
        </p:nvSpPr>
        <p:spPr>
          <a:xfrm>
            <a:off x="6293644" y="6506091"/>
            <a:ext cx="7666673" cy="1225034"/>
          </a:xfrm>
          <a:prstGeom prst="roundRect">
            <a:avLst>
              <a:gd name="adj" fmla="val 8957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>
            <p:custDataLst>
              <p:tags r:id="rId15"/>
            </p:custDataLst>
          </p:nvPr>
        </p:nvSpPr>
        <p:spPr>
          <a:xfrm>
            <a:off x="6202204" y="6400681"/>
            <a:ext cx="91440" cy="1225034"/>
          </a:xfrm>
          <a:prstGeom prst="roundRect">
            <a:avLst>
              <a:gd name="adj" fmla="val 346232"/>
            </a:avLst>
          </a:prstGeom>
          <a:solidFill>
            <a:srgbClr val="091231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6527482" y="6634520"/>
            <a:ext cx="2345055" cy="2931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Session History</a:t>
            </a:r>
            <a:endParaRPr lang="en-US" sz="1800" dirty="0"/>
          </a:p>
        </p:txBody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6527482" y="7054215"/>
            <a:ext cx="7130415" cy="3376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Maintain calculation history per browser session.</a:t>
            </a:r>
            <a:endParaRPr lang="en-US" sz="1650" dirty="0"/>
          </a:p>
        </p:txBody>
      </p:sp>
      <p:sp>
        <p:nvSpPr>
          <p:cNvPr id="22" name="Rectangles 21"/>
          <p:cNvSpPr/>
          <p:nvPr/>
        </p:nvSpPr>
        <p:spPr>
          <a:xfrm>
            <a:off x="12726670" y="7625715"/>
            <a:ext cx="1814830" cy="4984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291"/>
    </mc:Choice>
    <mc:Fallback>
      <p:transition spd="slow" advTm="3529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524833"/>
            <a:ext cx="7415927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Challenges in Remote Calculation Systems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266718"/>
            <a:ext cx="7415927" cy="19752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Developing robust remote calculation systems entails navigating complex hurdles in distributed computing. Successfully performing mathematical operations across a network demands careful consideration of data transmission, latency, and potential network failures.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5519618"/>
            <a:ext cx="7415927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Building reliable systems requires sophisticated error handling, data integrity checks, and a resilient architecture to ensure accuracy and continuous availability, making the design phase particularly intricate.</a:t>
            </a:r>
            <a:endParaRPr lang="en-US" sz="1900" dirty="0"/>
          </a:p>
        </p:txBody>
      </p:sp>
      <p:sp>
        <p:nvSpPr>
          <p:cNvPr id="22" name="Rectangles 21"/>
          <p:cNvSpPr/>
          <p:nvPr/>
        </p:nvSpPr>
        <p:spPr>
          <a:xfrm>
            <a:off x="12726670" y="7625715"/>
            <a:ext cx="1814830" cy="4984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26"/>
    </mc:Choice>
    <mc:Fallback>
      <p:transition spd="slow" advTm="40026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189" y="440174"/>
            <a:ext cx="4285536" cy="4446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 Built: Two Versions</a:t>
            </a:r>
            <a:endParaRPr lang="en-US" sz="3600" b="1" dirty="0">
              <a:solidFill>
                <a:srgbClr val="F0FCFF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0189" y="1284923"/>
            <a:ext cx="2845832" cy="3556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TCP Version</a:t>
            </a:r>
            <a:endParaRPr lang="en-US" sz="2800" b="1" dirty="0">
              <a:solidFill>
                <a:srgbClr val="F0FCFF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0189" y="1800582"/>
            <a:ext cx="6559748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SzPct val="100000"/>
              <a:buNone/>
            </a:pPr>
            <a:r>
              <a:rPr lang="en-US" sz="1600" u="sng" dirty="0">
                <a:solidFill>
                  <a:srgbClr val="16FFBB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client.py</a:t>
            </a: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: TCP client for direct interaction.</a:t>
            </a:r>
            <a:endParaRPr lang="en-US" sz="16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0189" y="2112764"/>
            <a:ext cx="6559748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SzPct val="100000"/>
              <a:buNone/>
            </a:pPr>
            <a:r>
              <a:rPr lang="en-US" sz="1600" u="sng" dirty="0">
                <a:solidFill>
                  <a:srgbClr val="16FFBB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server.py</a:t>
            </a: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: TCP server, listening on port 7000.</a:t>
            </a:r>
            <a:endParaRPr lang="en-US" sz="16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25" y="3289300"/>
            <a:ext cx="5422265" cy="37763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18083" y="1284923"/>
            <a:ext cx="2845832" cy="3556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Web Version</a:t>
            </a:r>
            <a:endParaRPr lang="en-US" sz="2800" b="1" dirty="0">
              <a:solidFill>
                <a:srgbClr val="F0FCFF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18083" y="1800582"/>
            <a:ext cx="6559748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SzPct val="100000"/>
              <a:buNone/>
            </a:pP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web_</a:t>
            </a:r>
            <a:r>
              <a:rPr lang="en-US" sz="1600" u="sng" dirty="0">
                <a:solidFill>
                  <a:srgbClr val="16FFBB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server.py</a:t>
            </a: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: Flask backend for web requests.</a:t>
            </a:r>
            <a:endParaRPr lang="en-US" sz="16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18083" y="2112764"/>
            <a:ext cx="6559748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index.html: Frontend Web UI for user interaction.</a:t>
            </a:r>
            <a:endParaRPr lang="en-US" sz="16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18083" y="2424946"/>
            <a:ext cx="6559748" cy="2562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main.js: JavaScript for keypad logic and interactivity.</a:t>
            </a:r>
            <a:endParaRPr lang="en-US" sz="16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083" y="2861191"/>
            <a:ext cx="3889415" cy="3889415"/>
          </a:xfrm>
          <a:prstGeom prst="rect">
            <a:avLst/>
          </a:prstGeom>
        </p:spPr>
      </p:pic>
      <p:sp>
        <p:nvSpPr>
          <p:cNvPr id="22" name="Rectangles 21"/>
          <p:cNvSpPr/>
          <p:nvPr/>
        </p:nvSpPr>
        <p:spPr>
          <a:xfrm>
            <a:off x="12750800" y="7625715"/>
            <a:ext cx="1814830" cy="4984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106"/>
    </mc:Choice>
    <mc:Fallback>
      <p:transition spd="slow" advTm="27106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087160"/>
            <a:ext cx="7415927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Calculation Logic: Precision &amp; Error Handling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3353554"/>
            <a:ext cx="3584496" cy="2230755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627733" y="3449241"/>
            <a:ext cx="2865596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Supported Operations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627733" y="3984069"/>
            <a:ext cx="3029903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Includes +, -, *, /, and % for comprehensive calculations.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749" y="3226554"/>
            <a:ext cx="3584615" cy="2230755"/>
          </a:xfrm>
          <a:prstGeom prst="roundRect">
            <a:avLst>
              <a:gd name="adj" fmla="val 16601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59045" y="3449241"/>
            <a:ext cx="283333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Float &amp; Integer Output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459045" y="3984069"/>
            <a:ext cx="3030022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Computes in float, but returns integer if result has no decimal.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5896531"/>
            <a:ext cx="7415927" cy="1835706"/>
          </a:xfrm>
          <a:prstGeom prst="roundRect">
            <a:avLst>
              <a:gd name="adj" fmla="val 20174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27733" y="6112232"/>
            <a:ext cx="274320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Error Handling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545183" y="6645791"/>
            <a:ext cx="6861334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JSON-formatted errors for invalid input or divide-by-zero scenarios.</a:t>
            </a:r>
            <a:endParaRPr lang="en-US" sz="1900" dirty="0"/>
          </a:p>
        </p:txBody>
      </p:sp>
      <p:sp>
        <p:nvSpPr>
          <p:cNvPr id="22" name="Rectangles 21"/>
          <p:cNvSpPr/>
          <p:nvPr/>
        </p:nvSpPr>
        <p:spPr>
          <a:xfrm>
            <a:off x="12903835" y="7814945"/>
            <a:ext cx="1603375" cy="3524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583"/>
    </mc:Choice>
    <mc:Fallback>
      <p:transition spd="slow" advTm="33583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064" y="400764"/>
            <a:ext cx="4904661" cy="404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Web API &amp; Session Management</a:t>
            </a:r>
            <a:endParaRPr lang="en-US" sz="3200" b="1" dirty="0">
              <a:solidFill>
                <a:srgbClr val="F0FCFF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0064" y="1170027"/>
            <a:ext cx="2591276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Endpoints</a:t>
            </a:r>
            <a:endParaRPr lang="en-US" sz="2800" b="1" dirty="0">
              <a:solidFill>
                <a:srgbClr val="F0FCFF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0064" y="1639610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SzPct val="100000"/>
              <a:buNone/>
            </a:pPr>
            <a:r>
              <a:rPr lang="en-US" sz="1400" b="1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POST /api/calc</a:t>
            </a: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: Performs calculations.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0064" y="1923693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SzPct val="100000"/>
              <a:buNone/>
            </a:pPr>
            <a:r>
              <a:rPr lang="en-US" sz="1400" b="1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GET /api/history</a:t>
            </a: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: Retrieves session history.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0064" y="2207776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SzPct val="100000"/>
              <a:buNone/>
            </a:pPr>
            <a:r>
              <a:rPr lang="en-US" sz="1400" b="1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POST /api/history/clear</a:t>
            </a: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: Clears history.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0064" y="2491859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SzPct val="100000"/>
              <a:buNone/>
            </a:pPr>
            <a:r>
              <a:rPr lang="en-US" sz="1400" b="1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POST /shutdown</a:t>
            </a: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: Secure development shutdown.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442970"/>
            <a:ext cx="6627495" cy="491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00580" y="1170027"/>
            <a:ext cx="2636758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Session Management</a:t>
            </a:r>
            <a:endParaRPr lang="en-US" sz="2800" b="1" dirty="0">
              <a:solidFill>
                <a:srgbClr val="F0FCFF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00580" y="1639610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Flask signed cookie stores the last 20 entries per browser, ensuring session-based history.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580" y="2725023"/>
            <a:ext cx="6627376" cy="6627376"/>
          </a:xfrm>
          <a:prstGeom prst="rect">
            <a:avLst/>
          </a:prstGeom>
        </p:spPr>
      </p:pic>
      <p:sp>
        <p:nvSpPr>
          <p:cNvPr id="22" name="Rectangles 21"/>
          <p:cNvSpPr/>
          <p:nvPr/>
        </p:nvSpPr>
        <p:spPr>
          <a:xfrm>
            <a:off x="12738735" y="7625715"/>
            <a:ext cx="1814830" cy="4984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405"/>
    </mc:Choice>
    <mc:Fallback>
      <p:transition spd="slow" advTm="2540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1624251"/>
            <a:ext cx="2796540" cy="4983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8413" y="501610"/>
            <a:ext cx="5353288" cy="5067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Frontend UI: Intuitive Design</a:t>
            </a:r>
            <a:endParaRPr lang="en-US" sz="3600" b="1" dirty="0">
              <a:solidFill>
                <a:srgbClr val="F0FCFF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413" y="1455791"/>
            <a:ext cx="456009" cy="45600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4361" y="2074180"/>
            <a:ext cx="2026920" cy="2532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Mobile-Style Keypad</a:t>
            </a:r>
            <a:endParaRPr lang="en-US" sz="24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7" name="Text 2"/>
          <p:cNvSpPr/>
          <p:nvPr/>
        </p:nvSpPr>
        <p:spPr>
          <a:xfrm>
            <a:off x="604361" y="2419770"/>
            <a:ext cx="7867174" cy="291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Familiar </a:t>
            </a:r>
            <a:r>
              <a:rPr lang="en-US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layout for easy input.</a:t>
            </a:r>
            <a:endParaRPr lang="en-US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361" y="3034315"/>
            <a:ext cx="456009" cy="45600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8413" y="3689913"/>
            <a:ext cx="2026920" cy="2532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Display &amp; Controls</a:t>
            </a:r>
            <a:endParaRPr lang="en-US" sz="24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638413" y="4018433"/>
            <a:ext cx="7867174" cy="291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Clear, backspace, and result display functions.</a:t>
            </a:r>
            <a:endParaRPr lang="en-US" sz="2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413" y="4522959"/>
            <a:ext cx="456009" cy="45600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38413" y="5077790"/>
            <a:ext cx="2026920" cy="2532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Operator Chaining</a:t>
            </a:r>
            <a:endParaRPr lang="en-US" sz="24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638413" y="5356996"/>
            <a:ext cx="7867174" cy="291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Seamlessly link multiple </a:t>
            </a:r>
            <a:r>
              <a:rPr lang="en-US" sz="2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operations</a:t>
            </a:r>
            <a:r>
              <a:rPr lang="en-US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.</a:t>
            </a:r>
            <a:endParaRPr lang="en-US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8413" y="5827456"/>
            <a:ext cx="456009" cy="45600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38413" y="6481108"/>
            <a:ext cx="2026920" cy="2532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Dark/Light Theme</a:t>
            </a:r>
            <a:endParaRPr lang="en-US" sz="24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66367" y="6767989"/>
            <a:ext cx="7867174" cy="291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User-selectable visual </a:t>
            </a:r>
            <a:r>
              <a:rPr lang="en-US" sz="2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preference</a:t>
            </a:r>
            <a:r>
              <a:rPr lang="en-US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.</a:t>
            </a:r>
            <a:endParaRPr lang="en-US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690"/>
    </mc:Choice>
    <mc:Fallback>
      <p:transition spd="slow" advTm="2669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896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900" y="2324695"/>
            <a:ext cx="5387697" cy="4212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Live Demo: Running the Calculator</a:t>
            </a:r>
            <a:endParaRPr lang="en-US" sz="3200" b="1" dirty="0">
              <a:solidFill>
                <a:srgbClr val="F0FCFF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30900" y="2973467"/>
            <a:ext cx="6708458" cy="2459236"/>
          </a:xfrm>
          <a:prstGeom prst="roundRect">
            <a:avLst>
              <a:gd name="adj" fmla="val 9252"/>
            </a:avLst>
          </a:prstGeom>
          <a:solidFill>
            <a:srgbClr val="0A081B">
              <a:alpha val="75000"/>
            </a:srgbClr>
          </a:solidFill>
          <a:ln w="1524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6140" y="2988707"/>
            <a:ext cx="6677978" cy="455057"/>
          </a:xfrm>
          <a:prstGeom prst="roundRect">
            <a:avLst>
              <a:gd name="adj" fmla="val 45984"/>
            </a:avLst>
          </a:prstGeom>
          <a:solidFill>
            <a:srgbClr val="0A081B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771305" y="3066455"/>
            <a:ext cx="227528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0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7825" y="3595449"/>
            <a:ext cx="1685449" cy="210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Run Backend</a:t>
            </a:r>
            <a:endParaRPr lang="en-US" sz="16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97825" y="3897154"/>
            <a:ext cx="6374606" cy="242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Set environment variables and execute </a:t>
            </a:r>
            <a:r>
              <a:rPr lang="en-US" sz="1400" dirty="0">
                <a:solidFill>
                  <a:srgbClr val="E0E4E6"/>
                </a:solidFill>
                <a:highlight>
                  <a:srgbClr val="17152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web_server.py</a:t>
            </a: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97825" y="4310420"/>
            <a:ext cx="6374606" cy="955358"/>
          </a:xfrm>
          <a:prstGeom prst="roundRect">
            <a:avLst>
              <a:gd name="adj" fmla="val 23817"/>
            </a:avLst>
          </a:prstGeom>
          <a:solidFill>
            <a:srgbClr val="171528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90324" y="4310420"/>
            <a:ext cx="6389608" cy="955358"/>
          </a:xfrm>
          <a:prstGeom prst="roundRect">
            <a:avLst>
              <a:gd name="adj" fmla="val 2382"/>
            </a:avLst>
          </a:prstGeom>
          <a:solidFill>
            <a:srgbClr val="171528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42010" y="4424124"/>
            <a:ext cx="6086237" cy="7279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highlight>
                  <a:srgbClr val="17152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$env:REMOTE_CALC_SECRET="change-me"$env:REMOTE_CALC_SHUTDOWN_TOKEN="dev-token"python web_server.py</a:t>
            </a:r>
            <a:endParaRPr lang="en-US" sz="1400" dirty="0">
              <a:solidFill>
                <a:srgbClr val="E0E4E6"/>
              </a:solidFill>
              <a:highlight>
                <a:srgbClr val="171528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91043" y="2973467"/>
            <a:ext cx="6708458" cy="2459236"/>
          </a:xfrm>
          <a:prstGeom prst="roundRect">
            <a:avLst>
              <a:gd name="adj" fmla="val 9252"/>
            </a:avLst>
          </a:prstGeom>
          <a:solidFill>
            <a:srgbClr val="0A081B">
              <a:alpha val="75000"/>
            </a:srgbClr>
          </a:solidFill>
          <a:ln w="1524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06283" y="2988707"/>
            <a:ext cx="6677978" cy="455057"/>
          </a:xfrm>
          <a:prstGeom prst="roundRect">
            <a:avLst>
              <a:gd name="adj" fmla="val 45984"/>
            </a:avLst>
          </a:prstGeom>
          <a:solidFill>
            <a:srgbClr val="0A081B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631448" y="3066455"/>
            <a:ext cx="227528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0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557968" y="3595449"/>
            <a:ext cx="1685449" cy="210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Open Browser</a:t>
            </a:r>
            <a:endParaRPr lang="en-US" sz="16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557968" y="3897154"/>
            <a:ext cx="6374606" cy="242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Access the application at </a:t>
            </a:r>
            <a:r>
              <a:rPr lang="en-US" sz="1400" u="sng" dirty="0">
                <a:solidFill>
                  <a:srgbClr val="16FFBB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http://127.0.0.1:5000/</a:t>
            </a: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30900" y="5584388"/>
            <a:ext cx="6708458" cy="2216587"/>
          </a:xfrm>
          <a:prstGeom prst="roundRect">
            <a:avLst>
              <a:gd name="adj" fmla="val 10265"/>
            </a:avLst>
          </a:prstGeom>
          <a:solidFill>
            <a:srgbClr val="0A081B">
              <a:alpha val="75000"/>
            </a:srgbClr>
          </a:solidFill>
          <a:ln w="1524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6140" y="5599628"/>
            <a:ext cx="6677978" cy="455057"/>
          </a:xfrm>
          <a:prstGeom prst="roundRect">
            <a:avLst>
              <a:gd name="adj" fmla="val 45984"/>
            </a:avLst>
          </a:prstGeom>
          <a:solidFill>
            <a:srgbClr val="0A081B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771305" y="5677376"/>
            <a:ext cx="227528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0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97825" y="6206371"/>
            <a:ext cx="1685449" cy="210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Demo Operations</a:t>
            </a:r>
            <a:endParaRPr lang="en-US" sz="16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97825" y="6508075"/>
            <a:ext cx="6374606" cy="242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Test calculations: 7 + 5 → 12, 7 / 2 → 3.5, 7 / 0 → error.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391043" y="5584388"/>
            <a:ext cx="6708458" cy="2216587"/>
          </a:xfrm>
          <a:prstGeom prst="roundRect">
            <a:avLst>
              <a:gd name="adj" fmla="val 10265"/>
            </a:avLst>
          </a:prstGeom>
          <a:solidFill>
            <a:srgbClr val="0A081B">
              <a:alpha val="75000"/>
            </a:srgbClr>
          </a:solidFill>
          <a:ln w="1524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406283" y="5599628"/>
            <a:ext cx="6677978" cy="455057"/>
          </a:xfrm>
          <a:prstGeom prst="roundRect">
            <a:avLst>
              <a:gd name="adj" fmla="val 45984"/>
            </a:avLst>
          </a:prstGeom>
          <a:solidFill>
            <a:srgbClr val="0A081B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631448" y="5677376"/>
            <a:ext cx="227528" cy="284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0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557968" y="6206371"/>
            <a:ext cx="1685449" cy="210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Shutdown (Dev Only)</a:t>
            </a:r>
            <a:endParaRPr lang="en-US" sz="1600" b="1" dirty="0">
              <a:solidFill>
                <a:srgbClr val="E0E4E6"/>
              </a:solidFill>
              <a:latin typeface="Spline Sans Bold" pitchFamily="34" charset="0"/>
              <a:ea typeface="Spline Sans Bold" pitchFamily="34" charset="-122"/>
              <a:cs typeface="Spline Sans Bold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557968" y="6508075"/>
            <a:ext cx="6374606" cy="242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Use a POST request with the specified token to shut down.</a:t>
            </a:r>
            <a:endParaRPr lang="en-US" sz="1400" dirty="0">
              <a:solidFill>
                <a:srgbClr val="E0E4E6"/>
              </a:solidFill>
              <a:latin typeface="Barlow" panose="00000800000000000000" pitchFamily="34" charset="0"/>
              <a:ea typeface="Barlow" panose="00000800000000000000" pitchFamily="34" charset="-122"/>
              <a:cs typeface="Barlow" panose="00000800000000000000" pitchFamily="34" charset="-12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557968" y="6921341"/>
            <a:ext cx="6374606" cy="712708"/>
          </a:xfrm>
          <a:prstGeom prst="roundRect">
            <a:avLst>
              <a:gd name="adj" fmla="val 31926"/>
            </a:avLst>
          </a:prstGeom>
          <a:solidFill>
            <a:srgbClr val="171528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550468" y="6921341"/>
            <a:ext cx="6389608" cy="712708"/>
          </a:xfrm>
          <a:prstGeom prst="roundRect">
            <a:avLst>
              <a:gd name="adj" fmla="val 3193"/>
            </a:avLst>
          </a:prstGeom>
          <a:solidFill>
            <a:srgbClr val="171528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702153" y="7035046"/>
            <a:ext cx="6086237" cy="4852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0E4E6"/>
                </a:solidFill>
                <a:highlight>
                  <a:srgbClr val="17152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Invoke-RestMethod -Method Post -Uri "http://127.0.0.1:5000/shutdown" -Body '{"token":"dev-token"}' -ContentType 'application/json'</a:t>
            </a:r>
            <a:endParaRPr lang="en-US" sz="1400" dirty="0">
              <a:solidFill>
                <a:srgbClr val="E0E4E6"/>
              </a:solidFill>
              <a:highlight>
                <a:srgbClr val="171528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12726670" y="7625715"/>
            <a:ext cx="1814830" cy="4984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186"/>
    </mc:Choice>
    <mc:Fallback>
      <p:transition spd="slow" advTm="39186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731044"/>
            <a:ext cx="7415927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Implementation Notes: Design Choices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548" y="2480608"/>
            <a:ext cx="370284" cy="3702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66280" y="2472928"/>
            <a:ext cx="274320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Flask Sessions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666280" y="2963942"/>
            <a:ext cx="6613684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Utilised for history, eliminating the need for a database.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6548" y="3860423"/>
            <a:ext cx="370284" cy="3702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66280" y="3852743"/>
            <a:ext cx="274320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TCP Server Retention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666280" y="4343757"/>
            <a:ext cx="6613684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Maintained for assignment compatibility requirements.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6548" y="5240238"/>
            <a:ext cx="370284" cy="3702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66280" y="5232559"/>
            <a:ext cx="274320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Float Computation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666280" y="5723573"/>
            <a:ext cx="6613684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Calculates with floats, formatting integer-like results cleanly.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548" y="6620054"/>
            <a:ext cx="370284" cy="3702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66280" y="6612374"/>
            <a:ext cx="2743200" cy="342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Extensibility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666280" y="7103388"/>
            <a:ext cx="6613684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Code designed for future integration with SQLite or Redis.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381"/>
    </mc:Choice>
    <mc:Fallback>
      <p:transition spd="slow" advTm="5138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064" y="400764"/>
            <a:ext cx="3715464" cy="404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Limitations &amp; Next Steps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10064" y="1170027"/>
            <a:ext cx="2591276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Current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10064" y="1639610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Session-only history.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0064" y="1923693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Partial keyboard support.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0064" y="2207776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Accessibility (ARIA) improvements needed.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0064" y="2491859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No production deployment.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94" y="1399858"/>
            <a:ext cx="6627376" cy="66273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00580" y="1170027"/>
            <a:ext cx="262366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500580" y="1639610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Persistent history (SQLite/Redis).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00580" y="1923693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Full keyboard support &amp; enhanced accessibility.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00580" y="2207776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WSGI + HTTPS deployment for production.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00580" y="2491859"/>
            <a:ext cx="6627376" cy="233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anose="00000800000000000000" pitchFamily="34" charset="0"/>
                <a:ea typeface="Barlow" panose="00000800000000000000" pitchFamily="34" charset="-122"/>
                <a:cs typeface="Barlow" panose="00000800000000000000" pitchFamily="34" charset="-120"/>
              </a:rPr>
              <a:t>Removal of dev shutdown endpoint.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2865" y="1601788"/>
            <a:ext cx="6627376" cy="66273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299"/>
    </mc:Choice>
    <mc:Fallback>
      <p:transition spd="slow" advTm="39299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unched Tape 1"/>
          <p:cNvSpPr/>
          <p:nvPr/>
        </p:nvSpPr>
        <p:spPr>
          <a:xfrm>
            <a:off x="2889250" y="2655265"/>
            <a:ext cx="9714865" cy="3256915"/>
          </a:xfrm>
          <a:prstGeom prst="flowChartPunchedTape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54549" y="3669030"/>
            <a:ext cx="61842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8800" b="1" dirty="0"/>
              <a:t>Thank You</a:t>
            </a:r>
            <a:endParaRPr lang="en-US" altLang="en-GB" sz="8800" b="1" dirty="0"/>
          </a:p>
        </p:txBody>
      </p:sp>
      <p:sp>
        <p:nvSpPr>
          <p:cNvPr id="30" name="Rectangles 29"/>
          <p:cNvSpPr/>
          <p:nvPr/>
        </p:nvSpPr>
        <p:spPr>
          <a:xfrm>
            <a:off x="12726670" y="7625715"/>
            <a:ext cx="1814830" cy="4984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95"/>
    </mc:Choice>
    <mc:Fallback>
      <p:transition spd="slow" advTm="4695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2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3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4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5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6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7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8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9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10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11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12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13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14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15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ags/tag16.xml><?xml version="1.0" encoding="utf-8"?>
<p:tagLst xmlns:p="http://schemas.openxmlformats.org/presentationml/2006/main">
  <p:tag name="KSO_WM_DIAGRAM_VIRTUALLY_FRAME" val="{&quot;height&quot;:443.9749606299212,&quot;left&quot;:488.3625196850394,&quot;top&quot;:164.77503937007873,&quot;width&quot;:610.875039370078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3318</Words>
  <Application>WPS Presentation</Application>
  <PresentationFormat>Custom</PresentationFormat>
  <Paragraphs>170</Paragraphs>
  <Slides>11</Slides>
  <Notes>10</Notes>
  <HiddenSlides>0</HiddenSlides>
  <MMClips>11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SimSun</vt:lpstr>
      <vt:lpstr>Wingdings</vt:lpstr>
      <vt:lpstr>Spline Sans Bold</vt:lpstr>
      <vt:lpstr>Segoe Print</vt:lpstr>
      <vt:lpstr>Spline Sans Bold</vt:lpstr>
      <vt:lpstr>Spline Sans Bold</vt:lpstr>
      <vt:lpstr>Barlow</vt:lpstr>
      <vt:lpstr>Barlow</vt:lpstr>
      <vt:lpstr>Barlow</vt:lpstr>
      <vt:lpstr>Consolas</vt:lpstr>
      <vt:lpstr>Consolas</vt:lpstr>
      <vt:lpstr>Consolas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Nazmus Sakib</dc:creator>
  <cp:lastModifiedBy>Nazmus Sakib</cp:lastModifiedBy>
  <cp:revision>5</cp:revision>
  <dcterms:created xsi:type="dcterms:W3CDTF">2025-11-22T07:45:00Z</dcterms:created>
  <dcterms:modified xsi:type="dcterms:W3CDTF">2025-11-22T16:41:42Z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C626A110CE4345908BDEC438E03F1CBE_13</vt:lpwstr>
  </property>
  <property fmtid="{D5CDD505-2E9C-101B-9397-08002B2CF9AE}" pid="3" name="KSOProductBuildVer">
    <vt:lpwstr>2057-12.2.0.23155</vt:lpwstr>
  </property>
</Properties>
</file>