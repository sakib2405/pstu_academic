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1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Abadi" panose="020B0604020104020204" pitchFamily="34" charset="0"/>
      <p:regular r:id="rId14"/>
      <p:bold r:id="rId15"/>
    </p:embeddedFont>
    <p:embeddedFont>
      <p:font typeface="ADLaM Display" panose="02010000000000000000" pitchFamily="2" charset="0"/>
      <p:regular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IBM Plex Sans" panose="020B0503050203000203" pitchFamily="34" charset="0"/>
      <p:regular r:id="rId21"/>
      <p:bold r:id="rId22"/>
      <p:italic r:id="rId23"/>
      <p:boldItalic r:id="rId24"/>
    </p:embeddedFont>
    <p:embeddedFont>
      <p:font typeface="Outfit Medium" panose="020B060402020202020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6" autoAdjust="0"/>
    <p:restoredTop sz="94610"/>
  </p:normalViewPr>
  <p:slideViewPr>
    <p:cSldViewPr snapToGrid="0" snapToObjects="1">
      <p:cViewPr>
        <p:scale>
          <a:sx n="10" d="100"/>
          <a:sy n="10" d="100"/>
        </p:scale>
        <p:origin x="3100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6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164086"/>
            <a:ext cx="11338560" cy="2190115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358641"/>
            <a:ext cx="11338560" cy="82296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91473" y="5177194"/>
            <a:ext cx="3493008" cy="449570"/>
          </a:xfrm>
        </p:spPr>
        <p:txBody>
          <a:bodyPr/>
          <a:lstStyle/>
          <a:p>
            <a:fld id="{9AB3A824-1A51-4B26-AD58-A6D8E14F6C04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45920" y="5188615"/>
            <a:ext cx="7680960" cy="43815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2640" y="1717040"/>
            <a:ext cx="3291840" cy="43815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6589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2229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904240"/>
            <a:ext cx="12984479" cy="3362322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4370071"/>
            <a:ext cx="12588240" cy="1146810"/>
          </a:xfrm>
        </p:spPr>
        <p:txBody>
          <a:bodyPr>
            <a:normAutofit/>
          </a:bodyPr>
          <a:lstStyle>
            <a:lvl1pPr marL="0" indent="0" algn="r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3E5059C3-6A89-4494-99FF-5A4D6FFD50EB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2"/>
            <a:ext cx="8389790" cy="436878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9104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0763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0" y="914400"/>
            <a:ext cx="10332720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91" y="2620563"/>
            <a:ext cx="6095989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1" y="3759200"/>
            <a:ext cx="637413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0960" y="2620563"/>
            <a:ext cx="6126480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759200"/>
            <a:ext cx="640080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9590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2300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0811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4937760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698" y="896111"/>
            <a:ext cx="7812742" cy="65663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4937760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0809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8247888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33486" y="901490"/>
            <a:ext cx="4373954" cy="6560932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8247888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615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32" y="5636833"/>
            <a:ext cx="12986441" cy="983226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8072" y="1129728"/>
            <a:ext cx="12986208" cy="4173793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6620059"/>
            <a:ext cx="12984480" cy="842363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463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04239"/>
            <a:ext cx="12984480" cy="3362960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378960"/>
            <a:ext cx="12156619" cy="1198880"/>
          </a:xfrm>
        </p:spPr>
        <p:txBody>
          <a:bodyPr anchor="ctr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3618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61" y="904240"/>
            <a:ext cx="12181840" cy="3125394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64638" y="4038668"/>
            <a:ext cx="11511283" cy="53333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751835"/>
            <a:ext cx="12181840" cy="815845"/>
          </a:xfrm>
        </p:spPr>
        <p:txBody>
          <a:bodyPr anchor="ctr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71500" y="11201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1076" y="324154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697243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94" y="1349642"/>
            <a:ext cx="12175423" cy="3014202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0" y="4377979"/>
            <a:ext cx="12173585" cy="1199862"/>
          </a:xfrm>
        </p:spPr>
        <p:txBody>
          <a:bodyPr anchor="t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466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4660"/>
            <a:ext cx="8389790" cy="43815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07199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64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42496"/>
            <a:ext cx="4147718" cy="74078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22959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2560" y="2641600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240230" y="3484880"/>
            <a:ext cx="4147718" cy="3977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62160" y="2631439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662161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138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26342" y="5029201"/>
            <a:ext cx="4141898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26342" y="2834640"/>
            <a:ext cx="4141898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26342" y="5848518"/>
            <a:ext cx="4141898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9116" y="5029201"/>
            <a:ext cx="4138722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249116" y="2834640"/>
            <a:ext cx="4138723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249117" y="5848516"/>
            <a:ext cx="4138722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59678" y="5029201"/>
            <a:ext cx="4147763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59826" y="2834640"/>
            <a:ext cx="4137454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59678" y="5848514"/>
            <a:ext cx="4142934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5748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2633471"/>
            <a:ext cx="12984480" cy="4828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5286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8560" y="894080"/>
            <a:ext cx="2468880" cy="468376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894081"/>
            <a:ext cx="9845041" cy="4683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593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D3FFE419-2371-464F-8239-3959401C3561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1"/>
            <a:ext cx="8389790" cy="43815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10168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7501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3627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0206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695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7301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4834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0107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9598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5450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82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17297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4720" y="917247"/>
            <a:ext cx="10332720" cy="1551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33473"/>
            <a:ext cx="12984480" cy="48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4432" y="7627621"/>
            <a:ext cx="349300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7627015"/>
            <a:ext cx="9326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5600" y="45720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352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  <p:sldLayoutId id="2147483835" r:id="rId21"/>
    <p:sldLayoutId id="2147483836" r:id="rId22"/>
    <p:sldLayoutId id="2147483837" r:id="rId23"/>
    <p:sldLayoutId id="2147483838" r:id="rId24"/>
    <p:sldLayoutId id="2147483839" r:id="rId25"/>
    <p:sldLayoutId id="2147483840" r:id="rId26"/>
    <p:sldLayoutId id="2147483841" r:id="rId27"/>
  </p:sldLayoutIdLst>
  <p:hf sldNum="0" hdr="0" ftr="0" dt="0"/>
  <p:txStyles>
    <p:titleStyle>
      <a:lvl1pPr algn="r" defTabSz="1097280" rtl="0" eaLnBrk="1" latinLnBrk="0" hangingPunct="1">
        <a:lnSpc>
          <a:spcPct val="90000"/>
        </a:lnSpc>
        <a:spcBef>
          <a:spcPct val="0"/>
        </a:spcBef>
        <a:buNone/>
        <a:defRPr sz="4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91622" y="2152888"/>
            <a:ext cx="65321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Newton–Raphson Method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1491622" y="2952393"/>
            <a:ext cx="612374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0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 Fast Root-Finding Technique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491622" y="38595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Course:</a:t>
            </a:r>
            <a:r>
              <a:rPr lang="en-US" sz="2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Numerical Methods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91622" y="44775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Presented by:</a:t>
            </a:r>
            <a:r>
              <a:rPr lang="en-US" sz="2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Nazmus Sakib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1622" y="509563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ID: </a:t>
            </a:r>
            <a:r>
              <a:rPr lang="en-US" sz="2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2102066 Reg: 10193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1622" y="571369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Date: </a:t>
            </a:r>
            <a:r>
              <a:rPr lang="en-US" sz="2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27/11/25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737"/>
    </mc:Choice>
    <mc:Fallback>
      <p:transition spd="slow" advTm="227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564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3790" y="428494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133951" y="4164449"/>
            <a:ext cx="38184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Numerical methods give </a:t>
            </a:r>
            <a:r>
              <a:rPr lang="en-US" sz="3200" b="1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approximate solutions</a:t>
            </a:r>
            <a:r>
              <a:rPr lang="en-US" sz="3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235893" y="428494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576054" y="4164449"/>
            <a:ext cx="38184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Useful when exact analytical solutions are hard.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677995" y="428494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10018157" y="4164449"/>
            <a:ext cx="38184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Used in engineering &amp; computing.</a:t>
            </a:r>
            <a:endParaRPr lang="en-US" sz="3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84756E-752C-575D-918F-BA55CE713A0B}"/>
              </a:ext>
            </a:extLst>
          </p:cNvPr>
          <p:cNvSpPr/>
          <p:nvPr/>
        </p:nvSpPr>
        <p:spPr>
          <a:xfrm>
            <a:off x="12801601" y="7748336"/>
            <a:ext cx="1732547" cy="4812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09"/>
    </mc:Choice>
    <mc:Fallback>
      <p:transition spd="slow" advTm="3020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5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What is Root Finding?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280190" y="375046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root is a value of x where: </a:t>
            </a:r>
            <a:r>
              <a:rPr lang="en-US" sz="24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f(x) = 0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80190" y="436852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equations can’t be solved algebraically.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280190" y="481072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use numerical methods instead.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2D9E7E-0F88-ED1C-1C99-F453161DF31E}"/>
              </a:ext>
            </a:extLst>
          </p:cNvPr>
          <p:cNvSpPr/>
          <p:nvPr/>
        </p:nvSpPr>
        <p:spPr>
          <a:xfrm>
            <a:off x="12801601" y="7748336"/>
            <a:ext cx="1732547" cy="4812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275"/>
    </mc:Choice>
    <mc:Fallback>
      <p:transition spd="slow" advTm="1627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99197"/>
            <a:ext cx="34950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Newton–Raphson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3790" y="3907154"/>
            <a:ext cx="4196358" cy="1482991"/>
          </a:xfrm>
          <a:prstGeom prst="roundRect">
            <a:avLst>
              <a:gd name="adj" fmla="val 1196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763310" y="3907155"/>
            <a:ext cx="121920" cy="1223248"/>
          </a:xfrm>
          <a:prstGeom prst="roundRect">
            <a:avLst>
              <a:gd name="adj" fmla="val 167442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1142524" y="4164449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Fast and widely used method.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216962" y="3907155"/>
            <a:ext cx="4196358" cy="1482992"/>
          </a:xfrm>
          <a:prstGeom prst="roundRect">
            <a:avLst>
              <a:gd name="adj" fmla="val 1196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186482" y="3907155"/>
            <a:ext cx="121920" cy="1223248"/>
          </a:xfrm>
          <a:prstGeom prst="roundRect">
            <a:avLst>
              <a:gd name="adj" fmla="val 167442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5565696" y="4164449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Uses </a:t>
            </a:r>
            <a:r>
              <a:rPr lang="en-US" sz="3200" b="1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derivatives</a:t>
            </a:r>
            <a:r>
              <a:rPr lang="en-US" sz="3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and </a:t>
            </a:r>
            <a:r>
              <a:rPr lang="en-US" sz="3200" b="1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iterative refinement</a:t>
            </a:r>
            <a:r>
              <a:rPr lang="en-US" sz="3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9640133" y="3907155"/>
            <a:ext cx="4196358" cy="1482990"/>
          </a:xfrm>
          <a:prstGeom prst="roundRect">
            <a:avLst>
              <a:gd name="adj" fmla="val 1196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0" name="Shape 8"/>
          <p:cNvSpPr/>
          <p:nvPr/>
        </p:nvSpPr>
        <p:spPr>
          <a:xfrm>
            <a:off x="9609653" y="3907155"/>
            <a:ext cx="121920" cy="1223248"/>
          </a:xfrm>
          <a:prstGeom prst="roundRect">
            <a:avLst>
              <a:gd name="adj" fmla="val 167442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9988868" y="4164449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Needs a good initial guess to converge.</a:t>
            </a:r>
            <a:endParaRPr lang="en-US" sz="3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DC33C9-66C8-243F-F979-4C1637F4C8A1}"/>
              </a:ext>
            </a:extLst>
          </p:cNvPr>
          <p:cNvSpPr/>
          <p:nvPr/>
        </p:nvSpPr>
        <p:spPr>
          <a:xfrm>
            <a:off x="12801601" y="7748336"/>
            <a:ext cx="1732547" cy="4812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652"/>
    </mc:Choice>
    <mc:Fallback>
      <p:transition spd="slow" advTm="2965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9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Formula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93790" y="3077766"/>
            <a:ext cx="13042821" cy="729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77766"/>
            <a:ext cx="13042821" cy="729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0944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Where: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93790" y="47124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x_n</a:t>
            </a: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current estimate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3790" y="51546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x_{n+1}</a:t>
            </a: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next estimate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93790" y="55968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Requires derivative </a:t>
            </a:r>
            <a:r>
              <a:rPr lang="en-US" sz="24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f'(x)</a:t>
            </a:r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9978BF-4D1B-A3D6-9993-83AE9298C815}"/>
              </a:ext>
            </a:extLst>
          </p:cNvPr>
          <p:cNvSpPr/>
          <p:nvPr/>
        </p:nvSpPr>
        <p:spPr>
          <a:xfrm>
            <a:off x="12801601" y="7748336"/>
            <a:ext cx="1732547" cy="4812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683"/>
    </mc:Choice>
    <mc:Fallback>
      <p:transition spd="slow" advTm="3268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Geometric Idea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280190" y="383833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tangent at </a:t>
            </a:r>
            <a:r>
              <a:rPr lang="en-US" sz="24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(x_n, f(</a:t>
            </a:r>
            <a:r>
              <a:rPr lang="en-US" sz="2400" i="1" dirty="0" err="1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x_n</a:t>
            </a:r>
            <a:r>
              <a:rPr lang="en-US" sz="24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))</a:t>
            </a: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80190" y="42805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Tangent intersects x–axis → next estimate.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280190" y="4722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 until stable.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63BD7C-E566-0702-9B8D-3056DEB0FF8B}"/>
              </a:ext>
            </a:extLst>
          </p:cNvPr>
          <p:cNvSpPr/>
          <p:nvPr/>
        </p:nvSpPr>
        <p:spPr>
          <a:xfrm>
            <a:off x="12801601" y="7748336"/>
            <a:ext cx="1732547" cy="4812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145"/>
    </mc:Choice>
    <mc:Fallback>
      <p:transition spd="slow" advTm="3114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94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Algorithm Steps</a:t>
            </a:r>
            <a:endParaRPr lang="en-US" sz="2800" b="1" dirty="0"/>
          </a:p>
        </p:txBody>
      </p:sp>
      <p:sp>
        <p:nvSpPr>
          <p:cNvPr id="3" name="Text 1"/>
          <p:cNvSpPr/>
          <p:nvPr/>
        </p:nvSpPr>
        <p:spPr>
          <a:xfrm>
            <a:off x="793790" y="38028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793790" y="4157901"/>
            <a:ext cx="4196358" cy="30480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US" sz="2400" b="1"/>
          </a:p>
        </p:txBody>
      </p:sp>
      <p:sp>
        <p:nvSpPr>
          <p:cNvPr id="5" name="Text 3"/>
          <p:cNvSpPr/>
          <p:nvPr/>
        </p:nvSpPr>
        <p:spPr>
          <a:xfrm>
            <a:off x="793790" y="4332208"/>
            <a:ext cx="2860358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Choose initial guess </a:t>
            </a:r>
            <a:r>
              <a:rPr lang="en-US" sz="2800" i="1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x_0</a:t>
            </a:r>
            <a:r>
              <a:rPr lang="en-US" sz="2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6962" y="38028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5216962" y="4157901"/>
            <a:ext cx="4196358" cy="30480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US" sz="2400" b="1"/>
          </a:p>
        </p:txBody>
      </p:sp>
      <p:sp>
        <p:nvSpPr>
          <p:cNvPr id="8" name="Text 6"/>
          <p:cNvSpPr/>
          <p:nvPr/>
        </p:nvSpPr>
        <p:spPr>
          <a:xfrm>
            <a:off x="5216962" y="4332208"/>
            <a:ext cx="3759994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Apply formula to get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800" i="1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x_1, x_2, \dots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640133" y="38028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9640133" y="4157901"/>
            <a:ext cx="4196358" cy="30480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40133" y="4332208"/>
            <a:ext cx="4196358" cy="73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Stop when error is small: </a:t>
            </a:r>
            <a:r>
              <a:rPr lang="en-US" sz="2800" i="1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|x_{n+1} - x_n| &lt; \epsilon</a:t>
            </a:r>
            <a:r>
              <a:rPr lang="en-US" sz="2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.</a:t>
            </a:r>
            <a:endParaRPr lang="en-US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D5C6BE-A8B8-66E9-D9DD-3BE9A26269C6}"/>
              </a:ext>
            </a:extLst>
          </p:cNvPr>
          <p:cNvSpPr/>
          <p:nvPr/>
        </p:nvSpPr>
        <p:spPr>
          <a:xfrm>
            <a:off x="12801601" y="7748336"/>
            <a:ext cx="1732547" cy="4812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21"/>
    </mc:Choice>
    <mc:Fallback>
      <p:transition spd="slow" advTm="2362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99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000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Example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6979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Solve: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790" y="3347918"/>
            <a:ext cx="13042821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47918"/>
            <a:ext cx="13042821" cy="3932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0282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Derivative: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93790" y="4678204"/>
            <a:ext cx="13042821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4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678204"/>
            <a:ext cx="13042821" cy="3932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3790" y="53585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Initial guess: </a:t>
            </a:r>
            <a:r>
              <a:rPr lang="en-US" sz="32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x_0 = 3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793790" y="59765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3 iterations → Root ≈ 2</a:t>
            </a:r>
            <a:endParaRPr lang="en-US" sz="3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5BECFD-F34B-BB76-7A5B-5AAF1C607F41}"/>
              </a:ext>
            </a:extLst>
          </p:cNvPr>
          <p:cNvSpPr/>
          <p:nvPr/>
        </p:nvSpPr>
        <p:spPr>
          <a:xfrm>
            <a:off x="12801601" y="7748336"/>
            <a:ext cx="1732547" cy="4812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595"/>
    </mc:Choice>
    <mc:Fallback>
      <p:transition spd="slow" advTm="3559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00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000" b="1" dirty="0">
                <a:solidFill>
                  <a:srgbClr val="A2B9F9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Pros &amp; Cons</a:t>
            </a:r>
            <a:endParaRPr lang="en-US" sz="4000" b="1" dirty="0"/>
          </a:p>
        </p:txBody>
      </p:sp>
      <p:sp>
        <p:nvSpPr>
          <p:cNvPr id="3" name="Text 1"/>
          <p:cNvSpPr/>
          <p:nvPr/>
        </p:nvSpPr>
        <p:spPr>
          <a:xfrm>
            <a:off x="793790" y="36215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000" b="1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Advantages:</a:t>
            </a:r>
            <a:endParaRPr lang="en-US" sz="4000" b="1" dirty="0"/>
          </a:p>
        </p:txBody>
      </p:sp>
      <p:sp>
        <p:nvSpPr>
          <p:cNvPr id="4" name="Text 2"/>
          <p:cNvSpPr/>
          <p:nvPr/>
        </p:nvSpPr>
        <p:spPr>
          <a:xfrm>
            <a:off x="793790" y="42026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3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Very fast (quadratic convergence)</a:t>
            </a:r>
            <a:endParaRPr lang="en-US" sz="3200" b="1" dirty="0"/>
          </a:p>
        </p:txBody>
      </p:sp>
      <p:sp>
        <p:nvSpPr>
          <p:cNvPr id="5" name="Text 3"/>
          <p:cNvSpPr/>
          <p:nvPr/>
        </p:nvSpPr>
        <p:spPr>
          <a:xfrm>
            <a:off x="793790" y="46448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3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Simple formula</a:t>
            </a:r>
            <a:endParaRPr lang="en-US" sz="3200" b="1" dirty="0"/>
          </a:p>
        </p:txBody>
      </p:sp>
      <p:sp>
        <p:nvSpPr>
          <p:cNvPr id="6" name="Text 4"/>
          <p:cNvSpPr/>
          <p:nvPr/>
        </p:nvSpPr>
        <p:spPr>
          <a:xfrm>
            <a:off x="7599521" y="36215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000" b="1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Limitations:</a:t>
            </a:r>
            <a:endParaRPr lang="en-US" sz="4000" b="1" dirty="0"/>
          </a:p>
        </p:txBody>
      </p:sp>
      <p:sp>
        <p:nvSpPr>
          <p:cNvPr id="7" name="Text 5"/>
          <p:cNvSpPr/>
          <p:nvPr/>
        </p:nvSpPr>
        <p:spPr>
          <a:xfrm>
            <a:off x="7599521" y="42026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3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Needs derivative</a:t>
            </a:r>
            <a:endParaRPr lang="en-US" sz="3200" b="1" dirty="0"/>
          </a:p>
        </p:txBody>
      </p:sp>
      <p:sp>
        <p:nvSpPr>
          <p:cNvPr id="8" name="Text 6"/>
          <p:cNvSpPr/>
          <p:nvPr/>
        </p:nvSpPr>
        <p:spPr>
          <a:xfrm>
            <a:off x="7599521" y="46448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3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Fails if initial guess is poor</a:t>
            </a:r>
            <a:endParaRPr lang="en-US" sz="3200" b="1" dirty="0"/>
          </a:p>
        </p:txBody>
      </p:sp>
      <p:sp>
        <p:nvSpPr>
          <p:cNvPr id="9" name="Text 7"/>
          <p:cNvSpPr/>
          <p:nvPr/>
        </p:nvSpPr>
        <p:spPr>
          <a:xfrm>
            <a:off x="7599521" y="50870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3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Fails if </a:t>
            </a:r>
            <a:r>
              <a:rPr lang="en-US" sz="3200" b="1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f'(x) = 0</a:t>
            </a:r>
            <a:endParaRPr lang="en-US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C0DCCA-C4F0-6AF5-6ED5-73AE871F8A1E}"/>
              </a:ext>
            </a:extLst>
          </p:cNvPr>
          <p:cNvSpPr/>
          <p:nvPr/>
        </p:nvSpPr>
        <p:spPr>
          <a:xfrm>
            <a:off x="12801601" y="7748336"/>
            <a:ext cx="1732547" cy="4812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911"/>
    </mc:Choice>
    <mc:Fallback>
      <p:transition spd="slow" advTm="2891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032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77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A2B9F9"/>
                </a:solidFill>
                <a:latin typeface="Abadi" panose="020F0502020204030204" pitchFamily="34" charset="0"/>
                <a:ea typeface="Outfit Medium" pitchFamily="34" charset="-122"/>
                <a:cs typeface="Outfit Medium" pitchFamily="34" charset="-120"/>
              </a:rPr>
              <a:t>Conclusion</a:t>
            </a:r>
            <a:endParaRPr lang="en-US" sz="3200" b="1" dirty="0">
              <a:latin typeface="Abad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9715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666666"/>
                </a:solidFill>
                <a:latin typeface="Abadi" panose="020F0502020204030204" pitchFamily="34" charset="0"/>
                <a:ea typeface="IBM Plex Sans" pitchFamily="34" charset="-122"/>
                <a:cs typeface="IBM Plex Sans" pitchFamily="34" charset="-120"/>
              </a:rPr>
              <a:t>Newton–Raphson is powerful &amp; fast.</a:t>
            </a:r>
            <a:endParaRPr lang="en-US" sz="2400" b="1" dirty="0">
              <a:latin typeface="Abadi" panose="020F05020202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5896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666666"/>
                </a:solidFill>
                <a:latin typeface="Abadi" panose="020F0502020204030204" pitchFamily="34" charset="0"/>
                <a:ea typeface="IBM Plex Sans" pitchFamily="34" charset="-122"/>
                <a:cs typeface="IBM Plex Sans" pitchFamily="34" charset="-120"/>
              </a:rPr>
              <a:t>Works best for smooth functions with a good initial guess. </a:t>
            </a:r>
            <a:endParaRPr lang="en-US" sz="2400" b="1" dirty="0">
              <a:latin typeface="Abad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B9F19F-883A-DD16-4910-B0AAB46ABB86}"/>
              </a:ext>
            </a:extLst>
          </p:cNvPr>
          <p:cNvSpPr/>
          <p:nvPr/>
        </p:nvSpPr>
        <p:spPr>
          <a:xfrm>
            <a:off x="12801601" y="7748336"/>
            <a:ext cx="1732547" cy="4812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b="1">
              <a:latin typeface="Abad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448"/>
    </mc:Choice>
    <mc:Fallback>
      <p:transition spd="slow" advTm="1644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>
            <a:extLst>
              <a:ext uri="{FF2B5EF4-FFF2-40B4-BE49-F238E27FC236}">
                <a16:creationId xmlns:a16="http://schemas.microsoft.com/office/drawing/2014/main" id="{C6978484-C576-45D7-CECB-C6F8E8F5C03C}"/>
              </a:ext>
            </a:extLst>
          </p:cNvPr>
          <p:cNvSpPr/>
          <p:nvPr/>
        </p:nvSpPr>
        <p:spPr>
          <a:xfrm>
            <a:off x="3621505" y="2863516"/>
            <a:ext cx="7435516" cy="3609473"/>
          </a:xfrm>
          <a:prstGeom prst="teardrop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4DB76-C1CE-42D9-0538-B39FCD16C8F8}"/>
              </a:ext>
            </a:extLst>
          </p:cNvPr>
          <p:cNvSpPr txBox="1"/>
          <p:nvPr/>
        </p:nvSpPr>
        <p:spPr>
          <a:xfrm>
            <a:off x="4872789" y="4114800"/>
            <a:ext cx="48848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1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you!</a:t>
            </a:r>
            <a:endParaRPr lang="en-US" sz="6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651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9"/>
    </mc:Choice>
    <mc:Fallback>
      <p:transition spd="slow" advTm="4169"/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33</TotalTime>
  <Words>290</Words>
  <Application>Microsoft Office PowerPoint</Application>
  <PresentationFormat>Custom</PresentationFormat>
  <Paragraphs>62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Outfit Light</vt:lpstr>
      <vt:lpstr>Century Gothic</vt:lpstr>
      <vt:lpstr>Abadi</vt:lpstr>
      <vt:lpstr>ADLaM Display</vt:lpstr>
      <vt:lpstr>IBM Plex Sans</vt:lpstr>
      <vt:lpstr>Arial</vt:lpstr>
      <vt:lpstr>Outfit Medium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Nazmus Sakib</dc:creator>
  <cp:lastModifiedBy>Nazmus Sakib</cp:lastModifiedBy>
  <cp:revision>4</cp:revision>
  <dcterms:created xsi:type="dcterms:W3CDTF">2025-11-26T16:02:46Z</dcterms:created>
  <dcterms:modified xsi:type="dcterms:W3CDTF">2025-11-27T12:19:50Z</dcterms:modified>
</cp:coreProperties>
</file>