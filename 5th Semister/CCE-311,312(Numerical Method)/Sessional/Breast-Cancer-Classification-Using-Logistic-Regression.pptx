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Calibri" panose="020F0502020204030204" pitchFamily="34" charset="0"/>
      <p:regular r:id="rId11"/>
      <p:bold r:id="rId12"/>
      <p:italic r:id="rId13"/>
      <p:boldItalic r:id="rId14"/>
    </p:embeddedFont>
    <p:embeddedFont>
      <p:font typeface="Lato" panose="020F0502020204030203" pitchFamily="34" charset="0"/>
      <p:regular r:id="rId15"/>
      <p:bold r:id="rId16"/>
      <p:italic r:id="rId17"/>
    </p:embeddedFont>
    <p:embeddedFont>
      <p:font typeface="Lato Bold" panose="020F0502020204030203" pitchFamily="34"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8" d="100"/>
          <a:sy n="58" d="100"/>
        </p:scale>
        <p:origin x="52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096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6"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3" y="2869527"/>
            <a:ext cx="7556421" cy="1240155"/>
          </a:xfrm>
          <a:prstGeom prst="rect">
            <a:avLst/>
          </a:prstGeom>
          <a:noFill/>
          <a:ln/>
        </p:spPr>
        <p:txBody>
          <a:bodyPr wrap="squar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Breast Cancer Classification Using Logistic Regression</a:t>
            </a:r>
            <a:endParaRPr lang="en-US" sz="3900" dirty="0"/>
          </a:p>
        </p:txBody>
      </p:sp>
      <p:sp>
        <p:nvSpPr>
          <p:cNvPr id="4" name="Text 1"/>
          <p:cNvSpPr/>
          <p:nvPr/>
        </p:nvSpPr>
        <p:spPr>
          <a:xfrm>
            <a:off x="6280193" y="4407340"/>
            <a:ext cx="7556421"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In this project, we apply Logistic Regression with Gradient Descent to classify breast cancer tumors as malignant or benign. This presentation details our methodology and findings using a well-known dataset from the UCI Machine Learning Repository.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85461"/>
            <a:ext cx="4961811"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Dataset Overview</a:t>
            </a:r>
            <a:endParaRPr lang="en-US" sz="3900" dirty="0"/>
          </a:p>
        </p:txBody>
      </p:sp>
      <p:sp>
        <p:nvSpPr>
          <p:cNvPr id="3" name="Text 1"/>
          <p:cNvSpPr/>
          <p:nvPr/>
        </p:nvSpPr>
        <p:spPr>
          <a:xfrm>
            <a:off x="793790" y="2881789"/>
            <a:ext cx="6279356"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dataset contains features computed from digitized images of a breast mass, providing crucial insights into the characteristics of the tumors.</a:t>
            </a:r>
            <a:endParaRPr lang="en-US" sz="1550" dirty="0"/>
          </a:p>
        </p:txBody>
      </p:sp>
      <p:sp>
        <p:nvSpPr>
          <p:cNvPr id="4" name="Text 2"/>
          <p:cNvSpPr/>
          <p:nvPr/>
        </p:nvSpPr>
        <p:spPr>
          <a:xfrm>
            <a:off x="793790" y="4013002"/>
            <a:ext cx="6279356" cy="317540"/>
          </a:xfrm>
          <a:prstGeom prst="rect">
            <a:avLst/>
          </a:prstGeom>
          <a:noFill/>
          <a:ln/>
        </p:spPr>
        <p:txBody>
          <a:bodyPr wrap="none" lIns="0" tIns="0" rIns="0" bIns="0" rtlCol="0" anchor="t"/>
          <a:lstStyle/>
          <a:p>
            <a:pPr marL="342892" indent="-342892">
              <a:lnSpc>
                <a:spcPts val="2500"/>
              </a:lnSpc>
              <a:buSzPct val="100000"/>
              <a:buChar char="•"/>
            </a:pPr>
            <a:r>
              <a:rPr lang="en-US" sz="1550" dirty="0">
                <a:solidFill>
                  <a:srgbClr val="4A4A45"/>
                </a:solidFill>
                <a:latin typeface="Lato" pitchFamily="34" charset="0"/>
                <a:ea typeface="Lato" pitchFamily="34" charset="-122"/>
                <a:cs typeface="Lato" pitchFamily="34" charset="-120"/>
              </a:rPr>
              <a:t>Total records: 569 unique instances</a:t>
            </a:r>
            <a:endParaRPr lang="en-US" sz="1550" dirty="0"/>
          </a:p>
        </p:txBody>
      </p:sp>
      <p:sp>
        <p:nvSpPr>
          <p:cNvPr id="5" name="Text 3"/>
          <p:cNvSpPr/>
          <p:nvPr/>
        </p:nvSpPr>
        <p:spPr>
          <a:xfrm>
            <a:off x="793790" y="4399955"/>
            <a:ext cx="6279356" cy="1587698"/>
          </a:xfrm>
          <a:prstGeom prst="rect">
            <a:avLst/>
          </a:prstGeom>
          <a:noFill/>
          <a:ln/>
        </p:spPr>
        <p:txBody>
          <a:bodyPr wrap="square" lIns="0" tIns="0" rIns="0" bIns="0" rtlCol="0" anchor="t"/>
          <a:lstStyle/>
          <a:p>
            <a:pPr marL="342892" indent="-342892">
              <a:lnSpc>
                <a:spcPts val="2500"/>
              </a:lnSpc>
              <a:buSzPct val="100000"/>
              <a:buChar char="•"/>
            </a:pPr>
            <a:r>
              <a:rPr lang="en-US" sz="1550" dirty="0">
                <a:solidFill>
                  <a:srgbClr val="4A4A45"/>
                </a:solidFill>
                <a:latin typeface="Lato" pitchFamily="34" charset="0"/>
                <a:ea typeface="Lato" pitchFamily="34" charset="-122"/>
                <a:cs typeface="Lato" pitchFamily="34" charset="-120"/>
              </a:rPr>
              <a:t>Features: 30 numeric features, including measurements like radius, texture, perimeter, area, smoothness, compactness, concavity, concave points, symmetry, and fractal dimension. These are computed for the mean, standard error, and "worst" (largest) of each mass.</a:t>
            </a:r>
            <a:endParaRPr lang="en-US" sz="1550" dirty="0"/>
          </a:p>
        </p:txBody>
      </p:sp>
      <p:sp>
        <p:nvSpPr>
          <p:cNvPr id="6" name="Text 4"/>
          <p:cNvSpPr/>
          <p:nvPr/>
        </p:nvSpPr>
        <p:spPr>
          <a:xfrm>
            <a:off x="793790" y="6057067"/>
            <a:ext cx="6279356" cy="317540"/>
          </a:xfrm>
          <a:prstGeom prst="rect">
            <a:avLst/>
          </a:prstGeom>
          <a:noFill/>
          <a:ln/>
        </p:spPr>
        <p:txBody>
          <a:bodyPr wrap="none" lIns="0" tIns="0" rIns="0" bIns="0" rtlCol="0" anchor="t"/>
          <a:lstStyle/>
          <a:p>
            <a:pPr marL="342892" indent="-342892">
              <a:lnSpc>
                <a:spcPts val="2500"/>
              </a:lnSpc>
              <a:buSzPct val="100000"/>
              <a:buChar char="•"/>
            </a:pPr>
            <a:r>
              <a:rPr lang="en-US" sz="1550" dirty="0">
                <a:solidFill>
                  <a:srgbClr val="4A4A45"/>
                </a:solidFill>
                <a:latin typeface="Lato" pitchFamily="34" charset="0"/>
                <a:ea typeface="Lato" pitchFamily="34" charset="-122"/>
                <a:cs typeface="Lato" pitchFamily="34" charset="-120"/>
              </a:rPr>
              <a:t>Target: Diagnosis (M = Malignant, B = Benign)</a:t>
            </a:r>
            <a:endParaRPr lang="en-US" sz="1550" dirty="0"/>
          </a:p>
        </p:txBody>
      </p:sp>
      <p:pic>
        <p:nvPicPr>
          <p:cNvPr id="7" name="Image 0" descr="preencoded.png"/>
          <p:cNvPicPr>
            <a:picLocks noChangeAspect="1"/>
          </p:cNvPicPr>
          <p:nvPr/>
        </p:nvPicPr>
        <p:blipFill>
          <a:blip r:embed="rId3"/>
          <a:stretch>
            <a:fillRect/>
          </a:stretch>
        </p:blipFill>
        <p:spPr>
          <a:xfrm>
            <a:off x="7564875" y="2926440"/>
            <a:ext cx="6279356" cy="27095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98590"/>
            <a:ext cx="4961811"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Preprocessing Steps</a:t>
            </a:r>
            <a:endParaRPr lang="en-US" sz="3900" dirty="0"/>
          </a:p>
        </p:txBody>
      </p:sp>
      <p:sp>
        <p:nvSpPr>
          <p:cNvPr id="3" name="Shape 1"/>
          <p:cNvSpPr/>
          <p:nvPr/>
        </p:nvSpPr>
        <p:spPr>
          <a:xfrm>
            <a:off x="793790" y="2413159"/>
            <a:ext cx="6446996" cy="198358"/>
          </a:xfrm>
          <a:prstGeom prst="roundRect">
            <a:avLst>
              <a:gd name="adj" fmla="val 15009"/>
            </a:avLst>
          </a:prstGeom>
          <a:solidFill>
            <a:srgbClr val="E5DFD2"/>
          </a:solidFill>
          <a:ln/>
        </p:spPr>
      </p:sp>
      <p:sp>
        <p:nvSpPr>
          <p:cNvPr id="4" name="Text 2"/>
          <p:cNvSpPr/>
          <p:nvPr/>
        </p:nvSpPr>
        <p:spPr>
          <a:xfrm>
            <a:off x="992148" y="2809875"/>
            <a:ext cx="2480905"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Column Management</a:t>
            </a:r>
            <a:endParaRPr lang="en-US" sz="1950" dirty="0"/>
          </a:p>
        </p:txBody>
      </p:sp>
      <p:sp>
        <p:nvSpPr>
          <p:cNvPr id="5" name="Text 3"/>
          <p:cNvSpPr/>
          <p:nvPr/>
        </p:nvSpPr>
        <p:spPr>
          <a:xfrm>
            <a:off x="992148" y="3239095"/>
            <a:ext cx="6050280"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Irrelevant columns such as 'id' (a unique identifier) and 'Unnamed: 32' (an empty column) were dropped to streamline the dataset and prevent noise in the model.</a:t>
            </a:r>
            <a:endParaRPr lang="en-US" sz="1550" dirty="0"/>
          </a:p>
        </p:txBody>
      </p:sp>
      <p:sp>
        <p:nvSpPr>
          <p:cNvPr id="6" name="Shape 4"/>
          <p:cNvSpPr/>
          <p:nvPr/>
        </p:nvSpPr>
        <p:spPr>
          <a:xfrm>
            <a:off x="7389615" y="2115504"/>
            <a:ext cx="6446996" cy="198358"/>
          </a:xfrm>
          <a:prstGeom prst="roundRect">
            <a:avLst>
              <a:gd name="adj" fmla="val 15009"/>
            </a:avLst>
          </a:prstGeom>
          <a:solidFill>
            <a:srgbClr val="E5DFD2"/>
          </a:solidFill>
          <a:ln/>
        </p:spPr>
      </p:sp>
      <p:sp>
        <p:nvSpPr>
          <p:cNvPr id="7" name="Text 5"/>
          <p:cNvSpPr/>
          <p:nvPr/>
        </p:nvSpPr>
        <p:spPr>
          <a:xfrm>
            <a:off x="7587975" y="2512219"/>
            <a:ext cx="2480905"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Target Encoding</a:t>
            </a:r>
            <a:endParaRPr lang="en-US" sz="1950" dirty="0"/>
          </a:p>
        </p:txBody>
      </p:sp>
      <p:sp>
        <p:nvSpPr>
          <p:cNvPr id="8" name="Text 6"/>
          <p:cNvSpPr/>
          <p:nvPr/>
        </p:nvSpPr>
        <p:spPr>
          <a:xfrm>
            <a:off x="7587972" y="2941442"/>
            <a:ext cx="6050280"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categorical 'diagnosis' target variable was encoded into numerical format: Malignant (M) tumors were assigned a value of 1, and Benign (B) tumors were assigned a value of 0.</a:t>
            </a:r>
            <a:endParaRPr lang="en-US" sz="1550" dirty="0"/>
          </a:p>
        </p:txBody>
      </p:sp>
      <p:sp>
        <p:nvSpPr>
          <p:cNvPr id="9" name="Shape 7"/>
          <p:cNvSpPr/>
          <p:nvPr/>
        </p:nvSpPr>
        <p:spPr>
          <a:xfrm>
            <a:off x="793790" y="4836557"/>
            <a:ext cx="6446996" cy="198358"/>
          </a:xfrm>
          <a:prstGeom prst="roundRect">
            <a:avLst>
              <a:gd name="adj" fmla="val 15009"/>
            </a:avLst>
          </a:prstGeom>
          <a:solidFill>
            <a:srgbClr val="E5DFD2"/>
          </a:solidFill>
          <a:ln/>
        </p:spPr>
      </p:sp>
      <p:sp>
        <p:nvSpPr>
          <p:cNvPr id="10" name="Text 8"/>
          <p:cNvSpPr/>
          <p:nvPr/>
        </p:nvSpPr>
        <p:spPr>
          <a:xfrm>
            <a:off x="992148" y="5233273"/>
            <a:ext cx="2506861"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Feature Normalization</a:t>
            </a:r>
            <a:endParaRPr lang="en-US" sz="1950" dirty="0"/>
          </a:p>
        </p:txBody>
      </p:sp>
      <p:sp>
        <p:nvSpPr>
          <p:cNvPr id="11" name="Text 9"/>
          <p:cNvSpPr/>
          <p:nvPr/>
        </p:nvSpPr>
        <p:spPr>
          <a:xfrm>
            <a:off x="992148" y="5662493"/>
            <a:ext cx="6050280"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All 30 numeric feature values were normalized using StandardScaler to ensure that features with larger numerical ranges do not disproportionately influence the model, leading to faster convergence during training.</a:t>
            </a:r>
            <a:endParaRPr lang="en-US" sz="1550" dirty="0"/>
          </a:p>
        </p:txBody>
      </p:sp>
      <p:sp>
        <p:nvSpPr>
          <p:cNvPr id="12" name="Shape 10"/>
          <p:cNvSpPr/>
          <p:nvPr/>
        </p:nvSpPr>
        <p:spPr>
          <a:xfrm>
            <a:off x="7389615" y="4538901"/>
            <a:ext cx="6446996" cy="198358"/>
          </a:xfrm>
          <a:prstGeom prst="roundRect">
            <a:avLst>
              <a:gd name="adj" fmla="val 15009"/>
            </a:avLst>
          </a:prstGeom>
          <a:solidFill>
            <a:srgbClr val="E5DFD2"/>
          </a:solidFill>
          <a:ln/>
        </p:spPr>
      </p:sp>
      <p:sp>
        <p:nvSpPr>
          <p:cNvPr id="13" name="Text 11"/>
          <p:cNvSpPr/>
          <p:nvPr/>
        </p:nvSpPr>
        <p:spPr>
          <a:xfrm>
            <a:off x="7587975" y="4935617"/>
            <a:ext cx="2480905"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Data Splitting</a:t>
            </a:r>
            <a:endParaRPr lang="en-US" sz="1950" dirty="0"/>
          </a:p>
        </p:txBody>
      </p:sp>
      <p:sp>
        <p:nvSpPr>
          <p:cNvPr id="14" name="Text 12"/>
          <p:cNvSpPr/>
          <p:nvPr/>
        </p:nvSpPr>
        <p:spPr>
          <a:xfrm>
            <a:off x="7587972" y="5364840"/>
            <a:ext cx="6050280"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preprocessed data was split into features (X) for model input and labels (y) for target prediction, preparing the dataset for training and testing phases.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05220"/>
            <a:ext cx="6516529"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Logistic Regression Overview</a:t>
            </a:r>
            <a:endParaRPr lang="en-US" sz="3900" dirty="0"/>
          </a:p>
        </p:txBody>
      </p:sp>
      <p:sp>
        <p:nvSpPr>
          <p:cNvPr id="3" name="Text 1"/>
          <p:cNvSpPr/>
          <p:nvPr/>
        </p:nvSpPr>
        <p:spPr>
          <a:xfrm>
            <a:off x="793790" y="1901547"/>
            <a:ext cx="7632025" cy="1587698"/>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Logistic Regression is a fundamental statistical model used primarily for binary classification tasks. Despite its name, it is a classification algorithm that models the probability of a binary outcome. It works by fitting data to a sigmoid function, which maps any real-valued number into a value between 0 and 1, interpreting it as a probability.</a:t>
            </a:r>
            <a:endParaRPr lang="en-US" sz="1550" dirty="0"/>
          </a:p>
        </p:txBody>
      </p:sp>
      <p:sp>
        <p:nvSpPr>
          <p:cNvPr id="4" name="Text 2"/>
          <p:cNvSpPr/>
          <p:nvPr/>
        </p:nvSpPr>
        <p:spPr>
          <a:xfrm>
            <a:off x="793790" y="3687604"/>
            <a:ext cx="2480905" cy="310158"/>
          </a:xfrm>
          <a:prstGeom prst="rect">
            <a:avLst/>
          </a:prstGeom>
          <a:noFill/>
          <a:ln/>
        </p:spPr>
        <p:txBody>
          <a:bodyPr wrap="none" lIns="0" tIns="0" rIns="0" bIns="0" rtlCol="0" anchor="t"/>
          <a:lstStyle/>
          <a:p>
            <a:pPr>
              <a:lnSpc>
                <a:spcPts val="2400"/>
              </a:lnSpc>
            </a:pPr>
            <a:r>
              <a:rPr lang="en-US" sz="1950" b="1" dirty="0">
                <a:solidFill>
                  <a:srgbClr val="282824"/>
                </a:solidFill>
                <a:latin typeface="Lato Bold" pitchFamily="34" charset="0"/>
                <a:ea typeface="Lato Bold" pitchFamily="34" charset="-122"/>
                <a:cs typeface="Lato Bold" pitchFamily="34" charset="-120"/>
              </a:rPr>
              <a:t>Sigmoid Function:</a:t>
            </a:r>
            <a:endParaRPr lang="en-US" sz="1950" dirty="0"/>
          </a:p>
        </p:txBody>
      </p:sp>
      <p:sp>
        <p:nvSpPr>
          <p:cNvPr id="5" name="Text 3"/>
          <p:cNvSpPr/>
          <p:nvPr/>
        </p:nvSpPr>
        <p:spPr>
          <a:xfrm>
            <a:off x="793790" y="4248864"/>
            <a:ext cx="7632025" cy="564833"/>
          </a:xfrm>
          <a:prstGeom prst="rect">
            <a:avLst/>
          </a:prstGeom>
          <a:noFill/>
          <a:ln/>
        </p:spPr>
        <p:txBody>
          <a:bodyPr wrap="square" lIns="0" tIns="0" rIns="0" bIns="0" rtlCol="0" anchor="t"/>
          <a:lstStyle/>
          <a:p>
            <a:pPr>
              <a:lnSpc>
                <a:spcPts val="2800"/>
              </a:lnSpc>
            </a:pPr>
            <a:endParaRPr lang="en-US" sz="1750" dirty="0"/>
          </a:p>
        </p:txBody>
      </p:sp>
      <p:pic>
        <p:nvPicPr>
          <p:cNvPr id="6" name="Image 0" descr="preencoded.png"/>
          <p:cNvPicPr>
            <a:picLocks noChangeAspect="1"/>
          </p:cNvPicPr>
          <p:nvPr/>
        </p:nvPicPr>
        <p:blipFill>
          <a:blip r:embed="rId3"/>
          <a:stretch>
            <a:fillRect/>
          </a:stretch>
        </p:blipFill>
        <p:spPr>
          <a:xfrm>
            <a:off x="793790" y="4248864"/>
            <a:ext cx="7632025" cy="564833"/>
          </a:xfrm>
          <a:prstGeom prst="rect">
            <a:avLst/>
          </a:prstGeom>
        </p:spPr>
      </p:pic>
      <p:sp>
        <p:nvSpPr>
          <p:cNvPr id="7" name="Text 4"/>
          <p:cNvSpPr/>
          <p:nvPr/>
        </p:nvSpPr>
        <p:spPr>
          <a:xfrm>
            <a:off x="793790" y="5064800"/>
            <a:ext cx="7632025" cy="63507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output, </a:t>
            </a:r>
            <a:r>
              <a:rPr lang="en-US" sz="1550" i="1" dirty="0">
                <a:solidFill>
                  <a:srgbClr val="4A4A45"/>
                </a:solidFill>
                <a:latin typeface="Lato" pitchFamily="34" charset="0"/>
                <a:ea typeface="Lato" pitchFamily="34" charset="-122"/>
                <a:cs typeface="Lato" pitchFamily="34" charset="-120"/>
              </a:rPr>
              <a:t>\sigma(z)</a:t>
            </a:r>
            <a:r>
              <a:rPr lang="en-US" sz="1550" dirty="0">
                <a:solidFill>
                  <a:srgbClr val="4A4A45"/>
                </a:solidFill>
                <a:latin typeface="Lato" pitchFamily="34" charset="0"/>
                <a:ea typeface="Lato" pitchFamily="34" charset="-122"/>
                <a:cs typeface="Lato" pitchFamily="34" charset="-120"/>
              </a:rPr>
              <a:t>, represents the probability that the instance belongs to the positive class (e.g., malignant).</a:t>
            </a:r>
            <a:endParaRPr lang="en-US" sz="1550" dirty="0"/>
          </a:p>
        </p:txBody>
      </p:sp>
      <p:pic>
        <p:nvPicPr>
          <p:cNvPr id="8" name="Image 1" descr="preencoded.png"/>
          <p:cNvPicPr>
            <a:picLocks noChangeAspect="1"/>
          </p:cNvPicPr>
          <p:nvPr/>
        </p:nvPicPr>
        <p:blipFill rotWithShape="1">
          <a:blip r:embed="rId4"/>
          <a:srcRect b="6040"/>
          <a:stretch/>
        </p:blipFill>
        <p:spPr>
          <a:xfrm>
            <a:off x="8917544" y="1946197"/>
            <a:ext cx="4926568" cy="50049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40951"/>
            <a:ext cx="6245185"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Gradient Descent Algorithm</a:t>
            </a:r>
            <a:endParaRPr lang="en-US" sz="3900" dirty="0"/>
          </a:p>
        </p:txBody>
      </p:sp>
      <p:sp>
        <p:nvSpPr>
          <p:cNvPr id="3" name="Text 1"/>
          <p:cNvSpPr/>
          <p:nvPr/>
        </p:nvSpPr>
        <p:spPr>
          <a:xfrm>
            <a:off x="793790" y="2037278"/>
            <a:ext cx="6279356"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Gradient Descent is an iterative optimization algorithm used to minimize the loss (cost) function of a model by finding the optimal parameters (weights and bias). It works by taking steps proportional to the negative of the gradient of the function at the current point.</a:t>
            </a:r>
            <a:endParaRPr lang="en-US" sz="1550" dirty="0"/>
          </a:p>
        </p:txBody>
      </p:sp>
      <p:sp>
        <p:nvSpPr>
          <p:cNvPr id="4" name="Text 2"/>
          <p:cNvSpPr/>
          <p:nvPr/>
        </p:nvSpPr>
        <p:spPr>
          <a:xfrm>
            <a:off x="793790" y="3505795"/>
            <a:ext cx="2480905" cy="310158"/>
          </a:xfrm>
          <a:prstGeom prst="rect">
            <a:avLst/>
          </a:prstGeom>
          <a:noFill/>
          <a:ln/>
        </p:spPr>
        <p:txBody>
          <a:bodyPr wrap="none" lIns="0" tIns="0" rIns="0" bIns="0" rtlCol="0" anchor="t"/>
          <a:lstStyle/>
          <a:p>
            <a:pPr>
              <a:lnSpc>
                <a:spcPts val="2400"/>
              </a:lnSpc>
            </a:pPr>
            <a:r>
              <a:rPr lang="en-US" sz="1950" b="1" dirty="0">
                <a:solidFill>
                  <a:srgbClr val="282824"/>
                </a:solidFill>
                <a:latin typeface="Lato Bold" pitchFamily="34" charset="0"/>
                <a:ea typeface="Lato Bold" pitchFamily="34" charset="-122"/>
                <a:cs typeface="Lato Bold" pitchFamily="34" charset="-120"/>
              </a:rPr>
              <a:t>Steps:</a:t>
            </a:r>
            <a:endParaRPr lang="en-US" sz="1950" dirty="0"/>
          </a:p>
        </p:txBody>
      </p:sp>
      <p:sp>
        <p:nvSpPr>
          <p:cNvPr id="5" name="Text 3"/>
          <p:cNvSpPr/>
          <p:nvPr/>
        </p:nvSpPr>
        <p:spPr>
          <a:xfrm>
            <a:off x="793790" y="4014311"/>
            <a:ext cx="6279356" cy="317540"/>
          </a:xfrm>
          <a:prstGeom prst="rect">
            <a:avLst/>
          </a:prstGeom>
          <a:noFill/>
          <a:ln/>
        </p:spPr>
        <p:txBody>
          <a:bodyPr wrap="none" lIns="0" tIns="0" rIns="0" bIns="0" rtlCol="0" anchor="t"/>
          <a:lstStyle/>
          <a:p>
            <a:pPr marL="342892" indent="-342892">
              <a:lnSpc>
                <a:spcPts val="2500"/>
              </a:lnSpc>
              <a:buSzPct val="100000"/>
              <a:buFont typeface="+mj-lt"/>
              <a:buAutoNum type="arabicPeriod"/>
            </a:pPr>
            <a:r>
              <a:rPr lang="en-US" sz="1550" b="1" dirty="0">
                <a:solidFill>
                  <a:srgbClr val="4A4A45"/>
                </a:solidFill>
                <a:latin typeface="Lato" pitchFamily="34" charset="0"/>
                <a:ea typeface="Lato" pitchFamily="34" charset="-122"/>
                <a:cs typeface="Lato" pitchFamily="34" charset="-120"/>
              </a:rPr>
              <a:t>Initialize weights and bias:</a:t>
            </a:r>
            <a:r>
              <a:rPr lang="en-US" sz="1550" dirty="0">
                <a:solidFill>
                  <a:srgbClr val="4A4A45"/>
                </a:solidFill>
                <a:latin typeface="Lato" pitchFamily="34" charset="0"/>
                <a:ea typeface="Lato" pitchFamily="34" charset="-122"/>
                <a:cs typeface="Lato" pitchFamily="34" charset="-120"/>
              </a:rPr>
              <a:t> Start with random or zero values.</a:t>
            </a:r>
            <a:endParaRPr lang="en-US" sz="1550" dirty="0"/>
          </a:p>
        </p:txBody>
      </p:sp>
      <p:sp>
        <p:nvSpPr>
          <p:cNvPr id="6" name="Text 4"/>
          <p:cNvSpPr/>
          <p:nvPr/>
        </p:nvSpPr>
        <p:spPr>
          <a:xfrm>
            <a:off x="793790" y="4401264"/>
            <a:ext cx="6279356" cy="635079"/>
          </a:xfrm>
          <a:prstGeom prst="rect">
            <a:avLst/>
          </a:prstGeom>
          <a:noFill/>
          <a:ln/>
        </p:spPr>
        <p:txBody>
          <a:bodyPr wrap="square" lIns="0" tIns="0" rIns="0" bIns="0" rtlCol="0" anchor="t"/>
          <a:lstStyle/>
          <a:p>
            <a:pPr marL="342892" indent="-342892">
              <a:lnSpc>
                <a:spcPts val="2500"/>
              </a:lnSpc>
              <a:buSzPct val="100000"/>
              <a:buFont typeface="+mj-lt"/>
              <a:buAutoNum type="arabicPeriod" startAt="2"/>
            </a:pPr>
            <a:r>
              <a:rPr lang="en-US" sz="1550" b="1" dirty="0">
                <a:solidFill>
                  <a:srgbClr val="4A4A45"/>
                </a:solidFill>
                <a:latin typeface="Lato" pitchFamily="34" charset="0"/>
                <a:ea typeface="Lato" pitchFamily="34" charset="-122"/>
                <a:cs typeface="Lato" pitchFamily="34" charset="-120"/>
              </a:rPr>
              <a:t>Compute predictions:</a:t>
            </a:r>
            <a:r>
              <a:rPr lang="en-US" sz="1550" dirty="0">
                <a:solidFill>
                  <a:srgbClr val="4A4A45"/>
                </a:solidFill>
                <a:latin typeface="Lato" pitchFamily="34" charset="0"/>
                <a:ea typeface="Lato" pitchFamily="34" charset="-122"/>
                <a:cs typeface="Lato" pitchFamily="34" charset="-120"/>
              </a:rPr>
              <a:t> Calculate the model's output for the current parameters.</a:t>
            </a:r>
            <a:endParaRPr lang="en-US" sz="1550" dirty="0"/>
          </a:p>
        </p:txBody>
      </p:sp>
      <p:sp>
        <p:nvSpPr>
          <p:cNvPr id="7" name="Text 5"/>
          <p:cNvSpPr/>
          <p:nvPr/>
        </p:nvSpPr>
        <p:spPr>
          <a:xfrm>
            <a:off x="793790" y="5105757"/>
            <a:ext cx="6279356" cy="635079"/>
          </a:xfrm>
          <a:prstGeom prst="rect">
            <a:avLst/>
          </a:prstGeom>
          <a:noFill/>
          <a:ln/>
        </p:spPr>
        <p:txBody>
          <a:bodyPr wrap="square" lIns="0" tIns="0" rIns="0" bIns="0" rtlCol="0" anchor="t"/>
          <a:lstStyle/>
          <a:p>
            <a:pPr marL="342892" indent="-342892">
              <a:lnSpc>
                <a:spcPts val="2500"/>
              </a:lnSpc>
              <a:buSzPct val="100000"/>
              <a:buFont typeface="+mj-lt"/>
              <a:buAutoNum type="arabicPeriod" startAt="3"/>
            </a:pPr>
            <a:r>
              <a:rPr lang="en-US" sz="1550" b="1" dirty="0">
                <a:solidFill>
                  <a:srgbClr val="4A4A45"/>
                </a:solidFill>
                <a:latin typeface="Lato" pitchFamily="34" charset="0"/>
                <a:ea typeface="Lato" pitchFamily="34" charset="-122"/>
                <a:cs typeface="Lato" pitchFamily="34" charset="-120"/>
              </a:rPr>
              <a:t>Calculate gradient of loss:</a:t>
            </a:r>
            <a:r>
              <a:rPr lang="en-US" sz="1550" dirty="0">
                <a:solidFill>
                  <a:srgbClr val="4A4A45"/>
                </a:solidFill>
                <a:latin typeface="Lato" pitchFamily="34" charset="0"/>
                <a:ea typeface="Lato" pitchFamily="34" charset="-122"/>
                <a:cs typeface="Lato" pitchFamily="34" charset="-120"/>
              </a:rPr>
              <a:t> Determine the direction of the steepest descent.</a:t>
            </a:r>
            <a:endParaRPr lang="en-US" sz="1550" dirty="0"/>
          </a:p>
        </p:txBody>
      </p:sp>
      <p:sp>
        <p:nvSpPr>
          <p:cNvPr id="8" name="Text 6"/>
          <p:cNvSpPr/>
          <p:nvPr/>
        </p:nvSpPr>
        <p:spPr>
          <a:xfrm>
            <a:off x="793790" y="5810250"/>
            <a:ext cx="6279356" cy="635079"/>
          </a:xfrm>
          <a:prstGeom prst="rect">
            <a:avLst/>
          </a:prstGeom>
          <a:noFill/>
          <a:ln/>
        </p:spPr>
        <p:txBody>
          <a:bodyPr wrap="square" lIns="0" tIns="0" rIns="0" bIns="0" rtlCol="0" anchor="t"/>
          <a:lstStyle/>
          <a:p>
            <a:pPr marL="342892" indent="-342892">
              <a:lnSpc>
                <a:spcPts val="2500"/>
              </a:lnSpc>
              <a:buSzPct val="100000"/>
              <a:buFont typeface="+mj-lt"/>
              <a:buAutoNum type="arabicPeriod" startAt="4"/>
            </a:pPr>
            <a:r>
              <a:rPr lang="en-US" sz="1550" b="1" dirty="0">
                <a:solidFill>
                  <a:srgbClr val="4A4A45"/>
                </a:solidFill>
                <a:latin typeface="Lato" pitchFamily="34" charset="0"/>
                <a:ea typeface="Lato" pitchFamily="34" charset="-122"/>
                <a:cs typeface="Lato" pitchFamily="34" charset="-120"/>
              </a:rPr>
              <a:t>Update weights:</a:t>
            </a:r>
            <a:r>
              <a:rPr lang="en-US" sz="1550" dirty="0">
                <a:solidFill>
                  <a:srgbClr val="4A4A45"/>
                </a:solidFill>
                <a:latin typeface="Lato" pitchFamily="34" charset="0"/>
                <a:ea typeface="Lato" pitchFamily="34" charset="-122"/>
                <a:cs typeface="Lato" pitchFamily="34" charset="-120"/>
              </a:rPr>
              <a:t> Adjust parameters in the direction that reduces the loss, using a learning rate (</a:t>
            </a:r>
            <a:r>
              <a:rPr lang="en-US" sz="1550" i="1" dirty="0">
                <a:solidFill>
                  <a:srgbClr val="4A4A45"/>
                </a:solidFill>
                <a:latin typeface="Lato" pitchFamily="34" charset="0"/>
                <a:ea typeface="Lato" pitchFamily="34" charset="-122"/>
                <a:cs typeface="Lato" pitchFamily="34" charset="-120"/>
              </a:rPr>
              <a:t>\alpha</a:t>
            </a:r>
            <a:r>
              <a:rPr lang="en-US" sz="1550" dirty="0">
                <a:solidFill>
                  <a:srgbClr val="4A4A45"/>
                </a:solidFill>
                <a:latin typeface="Lato" pitchFamily="34" charset="0"/>
                <a:ea typeface="Lato" pitchFamily="34" charset="-122"/>
                <a:cs typeface="Lato" pitchFamily="34" charset="-120"/>
              </a:rPr>
              <a:t>).</a:t>
            </a:r>
            <a:endParaRPr lang="en-US" sz="1550" dirty="0"/>
          </a:p>
        </p:txBody>
      </p:sp>
      <p:sp>
        <p:nvSpPr>
          <p:cNvPr id="9" name="Text 7"/>
          <p:cNvSpPr/>
          <p:nvPr/>
        </p:nvSpPr>
        <p:spPr>
          <a:xfrm>
            <a:off x="793790" y="6514743"/>
            <a:ext cx="6279356" cy="317540"/>
          </a:xfrm>
          <a:prstGeom prst="rect">
            <a:avLst/>
          </a:prstGeom>
          <a:noFill/>
          <a:ln/>
        </p:spPr>
        <p:txBody>
          <a:bodyPr wrap="none" lIns="0" tIns="0" rIns="0" bIns="0" rtlCol="0" anchor="t"/>
          <a:lstStyle/>
          <a:p>
            <a:pPr marL="685783" lvl="1" indent="-342892">
              <a:lnSpc>
                <a:spcPts val="2500"/>
              </a:lnSpc>
              <a:buSzPct val="100000"/>
              <a:buChar char="•"/>
            </a:pPr>
            <a:r>
              <a:rPr lang="en-US" sz="1550" i="1" dirty="0">
                <a:solidFill>
                  <a:srgbClr val="4A4A45"/>
                </a:solidFill>
                <a:latin typeface="Lato" pitchFamily="34" charset="0"/>
                <a:ea typeface="Lato" pitchFamily="34" charset="-122"/>
                <a:cs typeface="Lato" pitchFamily="34" charset="-120"/>
              </a:rPr>
              <a:t>w := w - \alpha \cdot dw</a:t>
            </a:r>
            <a:endParaRPr lang="en-US" sz="1550" dirty="0"/>
          </a:p>
        </p:txBody>
      </p:sp>
      <p:sp>
        <p:nvSpPr>
          <p:cNvPr id="10" name="Text 8"/>
          <p:cNvSpPr/>
          <p:nvPr/>
        </p:nvSpPr>
        <p:spPr>
          <a:xfrm>
            <a:off x="793790" y="6901696"/>
            <a:ext cx="6279356" cy="317540"/>
          </a:xfrm>
          <a:prstGeom prst="rect">
            <a:avLst/>
          </a:prstGeom>
          <a:noFill/>
          <a:ln/>
        </p:spPr>
        <p:txBody>
          <a:bodyPr wrap="none" lIns="0" tIns="0" rIns="0" bIns="0" rtlCol="0" anchor="t"/>
          <a:lstStyle/>
          <a:p>
            <a:pPr marL="685783" lvl="1" indent="-342892">
              <a:lnSpc>
                <a:spcPts val="2500"/>
              </a:lnSpc>
              <a:buSzPct val="100000"/>
              <a:buChar char="•"/>
            </a:pPr>
            <a:r>
              <a:rPr lang="en-US" sz="1550" i="1" dirty="0">
                <a:solidFill>
                  <a:srgbClr val="4A4A45"/>
                </a:solidFill>
                <a:latin typeface="Lato" pitchFamily="34" charset="0"/>
                <a:ea typeface="Lato" pitchFamily="34" charset="-122"/>
                <a:cs typeface="Lato" pitchFamily="34" charset="-120"/>
              </a:rPr>
              <a:t>b := b - \alpha \cdot db</a:t>
            </a:r>
            <a:endParaRPr lang="en-US" sz="1550" dirty="0"/>
          </a:p>
        </p:txBody>
      </p:sp>
      <p:pic>
        <p:nvPicPr>
          <p:cNvPr id="11" name="Image 0" descr="preencoded.png"/>
          <p:cNvPicPr>
            <a:picLocks noChangeAspect="1"/>
          </p:cNvPicPr>
          <p:nvPr/>
        </p:nvPicPr>
        <p:blipFill>
          <a:blip r:embed="rId3"/>
          <a:stretch>
            <a:fillRect/>
          </a:stretch>
        </p:blipFill>
        <p:spPr>
          <a:xfrm>
            <a:off x="7564875" y="2081930"/>
            <a:ext cx="6279356" cy="34360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21938"/>
            <a:ext cx="6713458"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Model Training and Evaluation</a:t>
            </a:r>
            <a:endParaRPr lang="en-US" sz="3900" dirty="0"/>
          </a:p>
        </p:txBody>
      </p:sp>
      <p:sp>
        <p:nvSpPr>
          <p:cNvPr id="3" name="Shape 1"/>
          <p:cNvSpPr/>
          <p:nvPr/>
        </p:nvSpPr>
        <p:spPr>
          <a:xfrm>
            <a:off x="793790" y="2536508"/>
            <a:ext cx="6422231" cy="1987510"/>
          </a:xfrm>
          <a:prstGeom prst="roundRect">
            <a:avLst>
              <a:gd name="adj" fmla="val 5521"/>
            </a:avLst>
          </a:prstGeom>
          <a:solidFill>
            <a:srgbClr val="EFECE6"/>
          </a:solidFill>
          <a:ln/>
        </p:spPr>
      </p:sp>
      <p:sp>
        <p:nvSpPr>
          <p:cNvPr id="4" name="Shape 2"/>
          <p:cNvSpPr/>
          <p:nvPr/>
        </p:nvSpPr>
        <p:spPr>
          <a:xfrm>
            <a:off x="793790" y="2513648"/>
            <a:ext cx="6422231" cy="91440"/>
          </a:xfrm>
          <a:prstGeom prst="roundRect">
            <a:avLst>
              <a:gd name="adj" fmla="val 32558"/>
            </a:avLst>
          </a:prstGeom>
          <a:solidFill>
            <a:srgbClr val="282824"/>
          </a:solidFill>
          <a:ln/>
        </p:spPr>
      </p:sp>
      <p:sp>
        <p:nvSpPr>
          <p:cNvPr id="5" name="Shape 3"/>
          <p:cNvSpPr/>
          <p:nvPr/>
        </p:nvSpPr>
        <p:spPr>
          <a:xfrm>
            <a:off x="3707252" y="2238854"/>
            <a:ext cx="595313" cy="595313"/>
          </a:xfrm>
          <a:prstGeom prst="roundRect">
            <a:avLst>
              <a:gd name="adj" fmla="val 153600"/>
            </a:avLst>
          </a:prstGeom>
          <a:solidFill>
            <a:srgbClr val="282824"/>
          </a:solidFill>
          <a:ln/>
        </p:spPr>
      </p:sp>
      <p:sp>
        <p:nvSpPr>
          <p:cNvPr id="6" name="Text 4"/>
          <p:cNvSpPr/>
          <p:nvPr/>
        </p:nvSpPr>
        <p:spPr>
          <a:xfrm>
            <a:off x="3885846" y="2387680"/>
            <a:ext cx="238125" cy="297656"/>
          </a:xfrm>
          <a:prstGeom prst="rect">
            <a:avLst/>
          </a:prstGeom>
          <a:noFill/>
          <a:ln/>
        </p:spPr>
        <p:txBody>
          <a:bodyPr wrap="none" lIns="0" tIns="0" rIns="0" bIns="0" rtlCol="0" anchor="t"/>
          <a:lstStyle/>
          <a:p>
            <a:pPr>
              <a:lnSpc>
                <a:spcPts val="3000"/>
              </a:lnSpc>
            </a:pPr>
            <a:r>
              <a:rPr lang="en-US" sz="1850" b="1" dirty="0">
                <a:solidFill>
                  <a:srgbClr val="FFFFFF"/>
                </a:solidFill>
                <a:latin typeface="Lato Bold" pitchFamily="34" charset="0"/>
                <a:ea typeface="Lato Bold" pitchFamily="34" charset="-122"/>
                <a:cs typeface="Lato Bold" pitchFamily="34" charset="-120"/>
              </a:rPr>
              <a:t>1</a:t>
            </a:r>
            <a:endParaRPr lang="en-US" sz="1850" dirty="0"/>
          </a:p>
        </p:txBody>
      </p:sp>
      <p:sp>
        <p:nvSpPr>
          <p:cNvPr id="7" name="Text 5"/>
          <p:cNvSpPr/>
          <p:nvPr/>
        </p:nvSpPr>
        <p:spPr>
          <a:xfrm>
            <a:off x="1015008" y="3032641"/>
            <a:ext cx="5979795" cy="95261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Logistic Regression model iteratively updated its weights and bias using the Gradient Descent algorithm, aiming to minimize the cost function over multiple epochs.</a:t>
            </a:r>
            <a:endParaRPr lang="en-US" sz="1550" dirty="0"/>
          </a:p>
        </p:txBody>
      </p:sp>
      <p:sp>
        <p:nvSpPr>
          <p:cNvPr id="8" name="Shape 6"/>
          <p:cNvSpPr/>
          <p:nvPr/>
        </p:nvSpPr>
        <p:spPr>
          <a:xfrm>
            <a:off x="7414382" y="2536509"/>
            <a:ext cx="6422231" cy="1987510"/>
          </a:xfrm>
          <a:prstGeom prst="roundRect">
            <a:avLst>
              <a:gd name="adj" fmla="val 5521"/>
            </a:avLst>
          </a:prstGeom>
          <a:solidFill>
            <a:srgbClr val="EFECE6"/>
          </a:solidFill>
          <a:ln/>
        </p:spPr>
      </p:sp>
      <p:sp>
        <p:nvSpPr>
          <p:cNvPr id="9" name="Shape 7"/>
          <p:cNvSpPr/>
          <p:nvPr/>
        </p:nvSpPr>
        <p:spPr>
          <a:xfrm>
            <a:off x="7414382" y="2513648"/>
            <a:ext cx="6422231" cy="91440"/>
          </a:xfrm>
          <a:prstGeom prst="roundRect">
            <a:avLst>
              <a:gd name="adj" fmla="val 32558"/>
            </a:avLst>
          </a:prstGeom>
          <a:solidFill>
            <a:srgbClr val="282824"/>
          </a:solidFill>
          <a:ln/>
        </p:spPr>
      </p:sp>
      <p:sp>
        <p:nvSpPr>
          <p:cNvPr id="10" name="Shape 8"/>
          <p:cNvSpPr/>
          <p:nvPr/>
        </p:nvSpPr>
        <p:spPr>
          <a:xfrm>
            <a:off x="10327841" y="2238854"/>
            <a:ext cx="595313" cy="595313"/>
          </a:xfrm>
          <a:prstGeom prst="roundRect">
            <a:avLst>
              <a:gd name="adj" fmla="val 153600"/>
            </a:avLst>
          </a:prstGeom>
          <a:solidFill>
            <a:srgbClr val="282824"/>
          </a:solidFill>
          <a:ln/>
        </p:spPr>
      </p:sp>
      <p:sp>
        <p:nvSpPr>
          <p:cNvPr id="11" name="Text 9"/>
          <p:cNvSpPr/>
          <p:nvPr/>
        </p:nvSpPr>
        <p:spPr>
          <a:xfrm>
            <a:off x="10506435" y="2387680"/>
            <a:ext cx="238125" cy="297656"/>
          </a:xfrm>
          <a:prstGeom prst="rect">
            <a:avLst/>
          </a:prstGeom>
          <a:noFill/>
          <a:ln/>
        </p:spPr>
        <p:txBody>
          <a:bodyPr wrap="none" lIns="0" tIns="0" rIns="0" bIns="0" rtlCol="0" anchor="t"/>
          <a:lstStyle/>
          <a:p>
            <a:pPr>
              <a:lnSpc>
                <a:spcPts val="3000"/>
              </a:lnSpc>
            </a:pPr>
            <a:r>
              <a:rPr lang="en-US" sz="1850" b="1" dirty="0">
                <a:solidFill>
                  <a:srgbClr val="FFFFFF"/>
                </a:solidFill>
                <a:latin typeface="Lato Bold" pitchFamily="34" charset="0"/>
                <a:ea typeface="Lato Bold" pitchFamily="34" charset="-122"/>
                <a:cs typeface="Lato Bold" pitchFamily="34" charset="-120"/>
              </a:rPr>
              <a:t>2</a:t>
            </a:r>
            <a:endParaRPr lang="en-US" sz="1850" dirty="0"/>
          </a:p>
        </p:txBody>
      </p:sp>
      <p:sp>
        <p:nvSpPr>
          <p:cNvPr id="12" name="Text 10"/>
          <p:cNvSpPr/>
          <p:nvPr/>
        </p:nvSpPr>
        <p:spPr>
          <a:xfrm>
            <a:off x="7635600" y="3032644"/>
            <a:ext cx="5979795"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dataset was strategically split into an 80% training set and a 20% testing set. This division ensures that the model is trained on a substantial portion of the data while reserving unseen data for an unbiased evaluation of its generalization capability.</a:t>
            </a:r>
            <a:endParaRPr lang="en-US" sz="1550" dirty="0"/>
          </a:p>
        </p:txBody>
      </p:sp>
      <p:sp>
        <p:nvSpPr>
          <p:cNvPr id="13" name="Shape 11"/>
          <p:cNvSpPr/>
          <p:nvPr/>
        </p:nvSpPr>
        <p:spPr>
          <a:xfrm>
            <a:off x="793790" y="5020032"/>
            <a:ext cx="6422231" cy="1987510"/>
          </a:xfrm>
          <a:prstGeom prst="roundRect">
            <a:avLst>
              <a:gd name="adj" fmla="val 5521"/>
            </a:avLst>
          </a:prstGeom>
          <a:solidFill>
            <a:srgbClr val="EFECE6"/>
          </a:solidFill>
          <a:ln/>
        </p:spPr>
      </p:sp>
      <p:sp>
        <p:nvSpPr>
          <p:cNvPr id="14" name="Shape 12"/>
          <p:cNvSpPr/>
          <p:nvPr/>
        </p:nvSpPr>
        <p:spPr>
          <a:xfrm>
            <a:off x="793790" y="4997172"/>
            <a:ext cx="6422231" cy="91440"/>
          </a:xfrm>
          <a:prstGeom prst="roundRect">
            <a:avLst>
              <a:gd name="adj" fmla="val 32558"/>
            </a:avLst>
          </a:prstGeom>
          <a:solidFill>
            <a:srgbClr val="282824"/>
          </a:solidFill>
          <a:ln/>
        </p:spPr>
      </p:sp>
      <p:sp>
        <p:nvSpPr>
          <p:cNvPr id="15" name="Shape 13"/>
          <p:cNvSpPr/>
          <p:nvPr/>
        </p:nvSpPr>
        <p:spPr>
          <a:xfrm>
            <a:off x="3707252" y="4722379"/>
            <a:ext cx="595313" cy="595313"/>
          </a:xfrm>
          <a:prstGeom prst="roundRect">
            <a:avLst>
              <a:gd name="adj" fmla="val 153600"/>
            </a:avLst>
          </a:prstGeom>
          <a:solidFill>
            <a:srgbClr val="282824"/>
          </a:solidFill>
          <a:ln/>
        </p:spPr>
      </p:sp>
      <p:sp>
        <p:nvSpPr>
          <p:cNvPr id="16" name="Text 14"/>
          <p:cNvSpPr/>
          <p:nvPr/>
        </p:nvSpPr>
        <p:spPr>
          <a:xfrm>
            <a:off x="3885846" y="4871205"/>
            <a:ext cx="238125" cy="297656"/>
          </a:xfrm>
          <a:prstGeom prst="rect">
            <a:avLst/>
          </a:prstGeom>
          <a:noFill/>
          <a:ln/>
        </p:spPr>
        <p:txBody>
          <a:bodyPr wrap="none" lIns="0" tIns="0" rIns="0" bIns="0" rtlCol="0" anchor="t"/>
          <a:lstStyle/>
          <a:p>
            <a:pPr>
              <a:lnSpc>
                <a:spcPts val="3000"/>
              </a:lnSpc>
            </a:pPr>
            <a:r>
              <a:rPr lang="en-US" sz="1850" b="1" dirty="0">
                <a:solidFill>
                  <a:srgbClr val="FFFFFF"/>
                </a:solidFill>
                <a:latin typeface="Lato Bold" pitchFamily="34" charset="0"/>
                <a:ea typeface="Lato Bold" pitchFamily="34" charset="-122"/>
                <a:cs typeface="Lato Bold" pitchFamily="34" charset="-120"/>
              </a:rPr>
              <a:t>3</a:t>
            </a:r>
            <a:endParaRPr lang="en-US" sz="1850" dirty="0"/>
          </a:p>
        </p:txBody>
      </p:sp>
      <p:sp>
        <p:nvSpPr>
          <p:cNvPr id="17" name="Text 15"/>
          <p:cNvSpPr/>
          <p:nvPr/>
        </p:nvSpPr>
        <p:spPr>
          <a:xfrm>
            <a:off x="1015008" y="5516166"/>
            <a:ext cx="5979795"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After training, the model's performance was rigorously tested on the unseen 20% of the data. This crucial step assesses how well the model predicts outcomes for new, unencountered instances, reflecting its real-world applicability.</a:t>
            </a:r>
            <a:endParaRPr lang="en-US" sz="1550" dirty="0"/>
          </a:p>
        </p:txBody>
      </p:sp>
      <p:sp>
        <p:nvSpPr>
          <p:cNvPr id="18" name="Shape 16"/>
          <p:cNvSpPr/>
          <p:nvPr/>
        </p:nvSpPr>
        <p:spPr>
          <a:xfrm>
            <a:off x="7414382" y="5020032"/>
            <a:ext cx="6422231" cy="1987510"/>
          </a:xfrm>
          <a:prstGeom prst="roundRect">
            <a:avLst>
              <a:gd name="adj" fmla="val 5521"/>
            </a:avLst>
          </a:prstGeom>
          <a:solidFill>
            <a:srgbClr val="EFECE6"/>
          </a:solidFill>
          <a:ln/>
        </p:spPr>
      </p:sp>
      <p:sp>
        <p:nvSpPr>
          <p:cNvPr id="19" name="Shape 17"/>
          <p:cNvSpPr/>
          <p:nvPr/>
        </p:nvSpPr>
        <p:spPr>
          <a:xfrm>
            <a:off x="7414382" y="4997172"/>
            <a:ext cx="6422231" cy="91440"/>
          </a:xfrm>
          <a:prstGeom prst="roundRect">
            <a:avLst>
              <a:gd name="adj" fmla="val 32558"/>
            </a:avLst>
          </a:prstGeom>
          <a:solidFill>
            <a:srgbClr val="282824"/>
          </a:solidFill>
          <a:ln/>
        </p:spPr>
      </p:sp>
      <p:sp>
        <p:nvSpPr>
          <p:cNvPr id="20" name="Shape 18"/>
          <p:cNvSpPr/>
          <p:nvPr/>
        </p:nvSpPr>
        <p:spPr>
          <a:xfrm>
            <a:off x="10327841" y="4722379"/>
            <a:ext cx="595313" cy="595313"/>
          </a:xfrm>
          <a:prstGeom prst="roundRect">
            <a:avLst>
              <a:gd name="adj" fmla="val 153600"/>
            </a:avLst>
          </a:prstGeom>
          <a:solidFill>
            <a:srgbClr val="282824"/>
          </a:solidFill>
          <a:ln/>
        </p:spPr>
      </p:sp>
      <p:sp>
        <p:nvSpPr>
          <p:cNvPr id="21" name="Text 19"/>
          <p:cNvSpPr/>
          <p:nvPr/>
        </p:nvSpPr>
        <p:spPr>
          <a:xfrm>
            <a:off x="10506435" y="4871205"/>
            <a:ext cx="238125" cy="297656"/>
          </a:xfrm>
          <a:prstGeom prst="rect">
            <a:avLst/>
          </a:prstGeom>
          <a:noFill/>
          <a:ln/>
        </p:spPr>
        <p:txBody>
          <a:bodyPr wrap="none" lIns="0" tIns="0" rIns="0" bIns="0" rtlCol="0" anchor="t"/>
          <a:lstStyle/>
          <a:p>
            <a:pPr>
              <a:lnSpc>
                <a:spcPts val="3000"/>
              </a:lnSpc>
            </a:pPr>
            <a:r>
              <a:rPr lang="en-US" sz="1850" b="1" dirty="0">
                <a:solidFill>
                  <a:srgbClr val="FFFFFF"/>
                </a:solidFill>
                <a:latin typeface="Lato Bold" pitchFamily="34" charset="0"/>
                <a:ea typeface="Lato Bold" pitchFamily="34" charset="-122"/>
                <a:cs typeface="Lato Bold" pitchFamily="34" charset="-120"/>
              </a:rPr>
              <a:t>4</a:t>
            </a:r>
            <a:endParaRPr lang="en-US" sz="1850" dirty="0"/>
          </a:p>
        </p:txBody>
      </p:sp>
      <p:sp>
        <p:nvSpPr>
          <p:cNvPr id="22" name="Text 20"/>
          <p:cNvSpPr/>
          <p:nvPr/>
        </p:nvSpPr>
        <p:spPr>
          <a:xfrm>
            <a:off x="7635600" y="5516169"/>
            <a:ext cx="5979795"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Accuracy was chosen as the primary metric to quantify the model's effectiveness. It represents the proportion of correctly classified instances (both malignant and benign) in the test set, providing a clear indication of the model's predictive power.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74495"/>
            <a:ext cx="4961811"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Results and Accuracy</a:t>
            </a:r>
            <a:endParaRPr lang="en-US" sz="3900" dirty="0"/>
          </a:p>
        </p:txBody>
      </p:sp>
      <p:sp>
        <p:nvSpPr>
          <p:cNvPr id="3" name="Text 1"/>
          <p:cNvSpPr/>
          <p:nvPr/>
        </p:nvSpPr>
        <p:spPr>
          <a:xfrm>
            <a:off x="793790" y="2770823"/>
            <a:ext cx="6279356"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Our Logistic Regression model achieved a remarkable accuracy of over 90% on the test set. This demonstrates the effectiveness of Logistic Regression in classifying breast cancer tumors as malignant or benign based on the provided features.</a:t>
            </a:r>
            <a:endParaRPr lang="en-US" sz="1550" dirty="0"/>
          </a:p>
        </p:txBody>
      </p:sp>
      <p:sp>
        <p:nvSpPr>
          <p:cNvPr id="4" name="Text 2"/>
          <p:cNvSpPr/>
          <p:nvPr/>
        </p:nvSpPr>
        <p:spPr>
          <a:xfrm>
            <a:off x="793790" y="4219575"/>
            <a:ext cx="6279356" cy="1270159"/>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The high accuracy indicates that the model effectively learned the underlying patterns in the data, making it a viable solution for this critical classification task. This performance underscores the potential of machine learning in medical diagnostics.</a:t>
            </a:r>
            <a:endParaRPr lang="en-US" sz="1550" dirty="0"/>
          </a:p>
        </p:txBody>
      </p:sp>
      <p:pic>
        <p:nvPicPr>
          <p:cNvPr id="5" name="Image 0" descr="preencoded.png"/>
          <p:cNvPicPr>
            <a:picLocks noChangeAspect="1"/>
          </p:cNvPicPr>
          <p:nvPr/>
        </p:nvPicPr>
        <p:blipFill>
          <a:blip r:embed="rId3"/>
          <a:stretch>
            <a:fillRect/>
          </a:stretch>
        </p:blipFill>
        <p:spPr>
          <a:xfrm>
            <a:off x="7564875" y="2815474"/>
            <a:ext cx="6279356" cy="3287435"/>
          </a:xfrm>
          <a:prstGeom prst="rect">
            <a:avLst/>
          </a:prstGeom>
        </p:spPr>
      </p:pic>
      <p:sp>
        <p:nvSpPr>
          <p:cNvPr id="6" name="Shape 3"/>
          <p:cNvSpPr/>
          <p:nvPr/>
        </p:nvSpPr>
        <p:spPr>
          <a:xfrm>
            <a:off x="8659179" y="6133386"/>
            <a:ext cx="198358" cy="198358"/>
          </a:xfrm>
          <a:prstGeom prst="roundRect">
            <a:avLst>
              <a:gd name="adj" fmla="val 9220"/>
            </a:avLst>
          </a:prstGeom>
          <a:solidFill>
            <a:srgbClr val="282824"/>
          </a:solidFill>
          <a:ln/>
        </p:spPr>
      </p:sp>
      <p:sp>
        <p:nvSpPr>
          <p:cNvPr id="7" name="Text 4"/>
          <p:cNvSpPr/>
          <p:nvPr/>
        </p:nvSpPr>
        <p:spPr>
          <a:xfrm>
            <a:off x="8918499" y="6133389"/>
            <a:ext cx="1709857" cy="198477"/>
          </a:xfrm>
          <a:prstGeom prst="rect">
            <a:avLst/>
          </a:prstGeom>
          <a:noFill/>
          <a:ln/>
        </p:spPr>
        <p:txBody>
          <a:bodyPr wrap="none" lIns="0" tIns="0" rIns="0" bIns="0" rtlCol="0" anchor="t"/>
          <a:lstStyle/>
          <a:p>
            <a:pPr>
              <a:lnSpc>
                <a:spcPts val="1550"/>
              </a:lnSpc>
            </a:pPr>
            <a:r>
              <a:rPr lang="en-US" sz="1550" dirty="0">
                <a:solidFill>
                  <a:srgbClr val="4A4A45"/>
                </a:solidFill>
                <a:latin typeface="Lato" pitchFamily="34" charset="0"/>
                <a:ea typeface="Lato" pitchFamily="34" charset="-122"/>
                <a:cs typeface="Lato" pitchFamily="34" charset="-120"/>
              </a:rPr>
              <a:t>Correctly Classified</a:t>
            </a:r>
            <a:endParaRPr lang="en-US" sz="1550" dirty="0"/>
          </a:p>
        </p:txBody>
      </p:sp>
      <p:sp>
        <p:nvSpPr>
          <p:cNvPr id="8" name="Shape 5"/>
          <p:cNvSpPr/>
          <p:nvPr/>
        </p:nvSpPr>
        <p:spPr>
          <a:xfrm>
            <a:off x="10780752" y="6133386"/>
            <a:ext cx="198358" cy="198358"/>
          </a:xfrm>
          <a:prstGeom prst="roundRect">
            <a:avLst>
              <a:gd name="adj" fmla="val 9220"/>
            </a:avLst>
          </a:prstGeom>
          <a:solidFill>
            <a:srgbClr val="7F7F73"/>
          </a:solidFill>
          <a:ln/>
        </p:spPr>
      </p:sp>
      <p:sp>
        <p:nvSpPr>
          <p:cNvPr id="9" name="Text 6"/>
          <p:cNvSpPr/>
          <p:nvPr/>
        </p:nvSpPr>
        <p:spPr>
          <a:xfrm>
            <a:off x="11040073" y="6133389"/>
            <a:ext cx="1837849" cy="198477"/>
          </a:xfrm>
          <a:prstGeom prst="rect">
            <a:avLst/>
          </a:prstGeom>
          <a:noFill/>
          <a:ln/>
        </p:spPr>
        <p:txBody>
          <a:bodyPr wrap="none" lIns="0" tIns="0" rIns="0" bIns="0" rtlCol="0" anchor="t"/>
          <a:lstStyle/>
          <a:p>
            <a:pPr>
              <a:lnSpc>
                <a:spcPts val="1550"/>
              </a:lnSpc>
            </a:pPr>
            <a:r>
              <a:rPr lang="en-US" sz="1550" dirty="0">
                <a:solidFill>
                  <a:srgbClr val="4A4A45"/>
                </a:solidFill>
                <a:latin typeface="Lato" pitchFamily="34" charset="0"/>
                <a:ea typeface="Lato" pitchFamily="34" charset="-122"/>
                <a:cs typeface="Lato" pitchFamily="34" charset="-120"/>
              </a:rPr>
              <a:t>Incorrectly Classified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380178"/>
            <a:ext cx="6332220" cy="620078"/>
          </a:xfrm>
          <a:prstGeom prst="rect">
            <a:avLst/>
          </a:prstGeom>
          <a:noFill/>
          <a:ln/>
        </p:spPr>
        <p:txBody>
          <a:bodyPr wrap="none" lIns="0" tIns="0" rIns="0" bIns="0" rtlCol="0" anchor="t"/>
          <a:lstStyle/>
          <a:p>
            <a:pPr>
              <a:lnSpc>
                <a:spcPts val="4850"/>
              </a:lnSpc>
            </a:pPr>
            <a:r>
              <a:rPr lang="en-US" sz="3900" b="1" dirty="0">
                <a:solidFill>
                  <a:srgbClr val="282824"/>
                </a:solidFill>
                <a:latin typeface="Lato Bold" pitchFamily="34" charset="0"/>
                <a:ea typeface="Lato Bold" pitchFamily="34" charset="-122"/>
                <a:cs typeface="Lato Bold" pitchFamily="34" charset="-120"/>
              </a:rPr>
              <a:t>Conclusion and Future Work</a:t>
            </a:r>
            <a:endParaRPr lang="en-US" sz="3900" dirty="0"/>
          </a:p>
        </p:txBody>
      </p:sp>
      <p:pic>
        <p:nvPicPr>
          <p:cNvPr id="3" name="Image 0" descr="preencoded.png"/>
          <p:cNvPicPr>
            <a:picLocks noChangeAspect="1"/>
          </p:cNvPicPr>
          <p:nvPr/>
        </p:nvPicPr>
        <p:blipFill>
          <a:blip r:embed="rId3"/>
          <a:stretch>
            <a:fillRect/>
          </a:stretch>
        </p:blipFill>
        <p:spPr>
          <a:xfrm>
            <a:off x="793790" y="3397091"/>
            <a:ext cx="496133" cy="496133"/>
          </a:xfrm>
          <a:prstGeom prst="rect">
            <a:avLst/>
          </a:prstGeom>
        </p:spPr>
      </p:pic>
      <p:sp>
        <p:nvSpPr>
          <p:cNvPr id="4" name="Text 1"/>
          <p:cNvSpPr/>
          <p:nvPr/>
        </p:nvSpPr>
        <p:spPr>
          <a:xfrm>
            <a:off x="1537930" y="3514844"/>
            <a:ext cx="2533293"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Effective Classification</a:t>
            </a:r>
            <a:endParaRPr lang="en-US" sz="1950" dirty="0"/>
          </a:p>
        </p:txBody>
      </p:sp>
      <p:sp>
        <p:nvSpPr>
          <p:cNvPr id="5" name="Text 2"/>
          <p:cNvSpPr/>
          <p:nvPr/>
        </p:nvSpPr>
        <p:spPr>
          <a:xfrm>
            <a:off x="1537930" y="3944064"/>
            <a:ext cx="3438049" cy="1587698"/>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Logistic Regression with Gradient Descent proves to be highly effective for breast cancer classification, achieving high accuracy with a simple, interpretable model.</a:t>
            </a:r>
            <a:endParaRPr lang="en-US" sz="1550" dirty="0"/>
          </a:p>
        </p:txBody>
      </p:sp>
      <p:pic>
        <p:nvPicPr>
          <p:cNvPr id="6" name="Image 1" descr="preencoded.png"/>
          <p:cNvPicPr>
            <a:picLocks noChangeAspect="1"/>
          </p:cNvPicPr>
          <p:nvPr/>
        </p:nvPicPr>
        <p:blipFill>
          <a:blip r:embed="rId4"/>
          <a:stretch>
            <a:fillRect/>
          </a:stretch>
        </p:blipFill>
        <p:spPr>
          <a:xfrm>
            <a:off x="5223989" y="3397094"/>
            <a:ext cx="496133" cy="496133"/>
          </a:xfrm>
          <a:prstGeom prst="rect">
            <a:avLst/>
          </a:prstGeom>
        </p:spPr>
      </p:pic>
      <p:sp>
        <p:nvSpPr>
          <p:cNvPr id="7" name="Text 3"/>
          <p:cNvSpPr/>
          <p:nvPr/>
        </p:nvSpPr>
        <p:spPr>
          <a:xfrm>
            <a:off x="5968130" y="3514844"/>
            <a:ext cx="2505551"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Further Improvements</a:t>
            </a:r>
            <a:endParaRPr lang="en-US" sz="1950" dirty="0"/>
          </a:p>
        </p:txBody>
      </p:sp>
      <p:sp>
        <p:nvSpPr>
          <p:cNvPr id="8" name="Text 4"/>
          <p:cNvSpPr/>
          <p:nvPr/>
        </p:nvSpPr>
        <p:spPr>
          <a:xfrm>
            <a:off x="5968127" y="3944064"/>
            <a:ext cx="3438168" cy="1905238"/>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Model performance can be significantly enhanced by implementing advanced techniques such as L1/L2 regularization to prevent overfitting and feature selection methods like PCA or RFE to identify the most impactful features.</a:t>
            </a:r>
            <a:endParaRPr lang="en-US" sz="1550" dirty="0"/>
          </a:p>
        </p:txBody>
      </p:sp>
      <p:pic>
        <p:nvPicPr>
          <p:cNvPr id="9" name="Image 2" descr="preencoded.png"/>
          <p:cNvPicPr>
            <a:picLocks noChangeAspect="1"/>
          </p:cNvPicPr>
          <p:nvPr/>
        </p:nvPicPr>
        <p:blipFill>
          <a:blip r:embed="rId5"/>
          <a:stretch>
            <a:fillRect/>
          </a:stretch>
        </p:blipFill>
        <p:spPr>
          <a:xfrm>
            <a:off x="9654305" y="3397094"/>
            <a:ext cx="496133" cy="496133"/>
          </a:xfrm>
          <a:prstGeom prst="rect">
            <a:avLst/>
          </a:prstGeom>
        </p:spPr>
      </p:pic>
      <p:sp>
        <p:nvSpPr>
          <p:cNvPr id="10" name="Text 5"/>
          <p:cNvSpPr/>
          <p:nvPr/>
        </p:nvSpPr>
        <p:spPr>
          <a:xfrm>
            <a:off x="10398446" y="3514844"/>
            <a:ext cx="2480905" cy="310158"/>
          </a:xfrm>
          <a:prstGeom prst="rect">
            <a:avLst/>
          </a:prstGeom>
          <a:noFill/>
          <a:ln/>
        </p:spPr>
        <p:txBody>
          <a:bodyPr wrap="none" lIns="0" tIns="0" rIns="0" bIns="0" rtlCol="0" anchor="t"/>
          <a:lstStyle/>
          <a:p>
            <a:pPr>
              <a:lnSpc>
                <a:spcPts val="2400"/>
              </a:lnSpc>
            </a:pPr>
            <a:r>
              <a:rPr lang="en-US" sz="1950" b="1" dirty="0">
                <a:solidFill>
                  <a:srgbClr val="4A4A45"/>
                </a:solidFill>
                <a:latin typeface="Lato Bold" pitchFamily="34" charset="0"/>
                <a:ea typeface="Lato Bold" pitchFamily="34" charset="-122"/>
                <a:cs typeface="Lato Bold" pitchFamily="34" charset="-120"/>
              </a:rPr>
              <a:t>Broader Impact</a:t>
            </a:r>
            <a:endParaRPr lang="en-US" sz="1950" dirty="0"/>
          </a:p>
        </p:txBody>
      </p:sp>
      <p:sp>
        <p:nvSpPr>
          <p:cNvPr id="11" name="Text 6"/>
          <p:cNvSpPr/>
          <p:nvPr/>
        </p:nvSpPr>
        <p:spPr>
          <a:xfrm>
            <a:off x="10398443" y="3944065"/>
            <a:ext cx="3438168" cy="1587698"/>
          </a:xfrm>
          <a:prstGeom prst="rect">
            <a:avLst/>
          </a:prstGeom>
          <a:noFill/>
          <a:ln/>
        </p:spPr>
        <p:txBody>
          <a:bodyPr wrap="square" lIns="0" tIns="0" rIns="0" bIns="0" rtlCol="0" anchor="t"/>
          <a:lstStyle/>
          <a:p>
            <a:pPr>
              <a:lnSpc>
                <a:spcPts val="2500"/>
              </a:lnSpc>
            </a:pPr>
            <a:r>
              <a:rPr lang="en-US" sz="1550" dirty="0">
                <a:solidFill>
                  <a:srgbClr val="4A4A45"/>
                </a:solidFill>
                <a:latin typeface="Lato" pitchFamily="34" charset="0"/>
                <a:ea typeface="Lato" pitchFamily="34" charset="-122"/>
                <a:cs typeface="Lato" pitchFamily="34" charset="-120"/>
              </a:rPr>
              <a:t>This work lays the foundation for developing more robust and reliable AI tools in medical diagnostics, contributing to earlier and more accurate detection of diseases.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856</Words>
  <Application>Microsoft Office PowerPoint</Application>
  <PresentationFormat>Custom</PresentationFormat>
  <Paragraphs>58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Lato Bold</vt: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Nazmus Sakib</cp:lastModifiedBy>
  <cp:revision>2</cp:revision>
  <dcterms:created xsi:type="dcterms:W3CDTF">2025-08-03T16:53:32Z</dcterms:created>
  <dcterms:modified xsi:type="dcterms:W3CDTF">2025-08-03T17:03:49Z</dcterms:modified>
</cp:coreProperties>
</file>