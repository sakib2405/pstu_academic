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Epilogue" panose="020B0604020202020204" charset="0"/>
      <p:regular r:id="rId14"/>
    </p:embeddedFont>
    <p:embeddedFont>
      <p:font typeface="Fraunces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0" d="100"/>
          <a:sy n="40" d="100"/>
        </p:scale>
        <p:origin x="1356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753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2606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Patuakhali Science and Technology University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68923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Faculty of Computer Science and Engineering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24303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CCE 322 :: Computer Peripheral and Interfacing Sessional Project Proposal</a:t>
            </a:r>
            <a:endParaRPr lang="en-US" sz="1750" dirty="0"/>
          </a:p>
        </p:txBody>
      </p:sp>
      <p:pic>
        <p:nvPicPr>
          <p:cNvPr id="2050" name="Picture 2" descr="Patuakhali Science and Technology University | The VALIDATE Network">
            <a:extLst>
              <a:ext uri="{FF2B5EF4-FFF2-40B4-BE49-F238E27FC236}">
                <a16:creationId xmlns:a16="http://schemas.microsoft.com/office/drawing/2014/main" id="{E8C51C8A-D89B-2B44-C07C-E96D307DD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211" y="0"/>
            <a:ext cx="628018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405" y="936069"/>
            <a:ext cx="12836843" cy="679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HeartGuard AI: AI-Powered ECG Analysis System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1405" y="2050971"/>
            <a:ext cx="1310759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revolutionary IoT and AI-based solution for cardiac health monitoring.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1405" y="2969895"/>
            <a:ext cx="6444972" cy="3730823"/>
          </a:xfrm>
          <a:prstGeom prst="roundRect">
            <a:avLst>
              <a:gd name="adj" fmla="val 3921"/>
            </a:avLst>
          </a:prstGeom>
          <a:solidFill>
            <a:srgbClr val="080E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1405" y="2939415"/>
            <a:ext cx="6444972" cy="121920"/>
          </a:xfrm>
          <a:prstGeom prst="roundRect">
            <a:avLst>
              <a:gd name="adj" fmla="val 74947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540" y="2643664"/>
            <a:ext cx="652582" cy="652582"/>
          </a:xfrm>
          <a:prstGeom prst="roundRect">
            <a:avLst>
              <a:gd name="adj" fmla="val 140120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53279" y="2806779"/>
            <a:ext cx="260985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09412" y="3513773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Submitted by: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9412" y="3984188"/>
            <a:ext cx="594895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MD. AFRIDI ALOM PRANTO (2102027)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9412" y="4408289"/>
            <a:ext cx="594895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SANDIPTA SAHA (2102056)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9412" y="4832390"/>
            <a:ext cx="594895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NAZMUS SAKIB (2102066)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9412" y="5256490"/>
            <a:ext cx="594895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MOHAMMAD FARHADUL HAQUE FUAD (2102067)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9412" y="5680591"/>
            <a:ext cx="594895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MD. NAZMUL HASAN KHOKUN (2102068)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9412" y="6104692"/>
            <a:ext cx="5948958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MD. TOFAIEL HUSSAIN TOTA (2002079)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23904" y="2969895"/>
            <a:ext cx="6445091" cy="3730823"/>
          </a:xfrm>
          <a:prstGeom prst="roundRect">
            <a:avLst>
              <a:gd name="adj" fmla="val 3921"/>
            </a:avLst>
          </a:prstGeom>
          <a:solidFill>
            <a:srgbClr val="080E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23904" y="2939415"/>
            <a:ext cx="6445091" cy="121920"/>
          </a:xfrm>
          <a:prstGeom prst="roundRect">
            <a:avLst>
              <a:gd name="adj" fmla="val 74947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320159" y="2643664"/>
            <a:ext cx="652582" cy="652582"/>
          </a:xfrm>
          <a:prstGeom prst="roundRect">
            <a:avLst>
              <a:gd name="adj" fmla="val 140120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898" y="2806779"/>
            <a:ext cx="260985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7671911" y="3513773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Submitted to: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671911" y="3984188"/>
            <a:ext cx="5949077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Sarna Majumder, Associate Professor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671911" y="4408289"/>
            <a:ext cx="5949077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Prof. Dr. Md Samsuzzaman, Professor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71911" y="4886801"/>
            <a:ext cx="5949077" cy="696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Dept. of Computer and Communication Engineering, PSTU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1405" y="6945392"/>
            <a:ext cx="1310759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Submission Date: 25 January 2026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4D0302-75CA-85AD-4FA5-E186E8EB64E5}"/>
              </a:ext>
            </a:extLst>
          </p:cNvPr>
          <p:cNvSpPr/>
          <p:nvPr/>
        </p:nvSpPr>
        <p:spPr>
          <a:xfrm>
            <a:off x="12817642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0700" y="481013"/>
            <a:ext cx="9186624" cy="54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Introduction: Bridging the Cardiac Care Gap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783318" y="1514744"/>
            <a:ext cx="5311378" cy="83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Cardiovascular diseases are a leading cause of mortality, especially in developing countries like Bangladesh, where advanced diagnostic tools are scarce.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83318" y="3678210"/>
            <a:ext cx="5311378" cy="838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Traditional ECG machines are expensive, require specialized technicians, and lack real-time analysis, leading to delayed diagnoses and increased health risks.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704" y="1485305"/>
            <a:ext cx="5311378" cy="53113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0255" y="7005072"/>
            <a:ext cx="11048881" cy="55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HeartGuard AI aims to democratize cardiac health monitoring, making it accessible to rural clinics, homes, and primary healthcare providers.</a:t>
            </a:r>
            <a:endParaRPr 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B22259-3949-4785-6A33-08E25B99682D}"/>
              </a:ext>
            </a:extLst>
          </p:cNvPr>
          <p:cNvSpPr/>
          <p:nvPr/>
        </p:nvSpPr>
        <p:spPr>
          <a:xfrm>
            <a:off x="12833684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910" y="1324570"/>
            <a:ext cx="6448901" cy="54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HeartGuard AI: Our Objectives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15910" y="2138363"/>
            <a:ext cx="7912179" cy="1059656"/>
          </a:xfrm>
          <a:prstGeom prst="roundRect">
            <a:avLst>
              <a:gd name="adj" fmla="val 10355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93050" y="2138363"/>
            <a:ext cx="91440" cy="1059656"/>
          </a:xfrm>
          <a:prstGeom prst="roundRect">
            <a:avLst>
              <a:gd name="adj" fmla="val 80834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83325" y="2337197"/>
            <a:ext cx="277737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Real-time ECG Monitoring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3325" y="2717721"/>
            <a:ext cx="7445931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Acquire and process ECG signals using affordable sensors for immediate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5910" y="3373993"/>
            <a:ext cx="7912179" cy="1059656"/>
          </a:xfrm>
          <a:prstGeom prst="roundRect">
            <a:avLst>
              <a:gd name="adj" fmla="val 10355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3050" y="3373993"/>
            <a:ext cx="91440" cy="1059656"/>
          </a:xfrm>
          <a:prstGeom prst="roundRect">
            <a:avLst>
              <a:gd name="adj" fmla="val 80834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83325" y="3572828"/>
            <a:ext cx="288798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AI-Based Disease Detection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3325" y="3953351"/>
            <a:ext cx="7445931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 machine learning models to identify cardiac conditions with high accuracy.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5910" y="4609624"/>
            <a:ext cx="7912179" cy="1059656"/>
          </a:xfrm>
          <a:prstGeom prst="roundRect">
            <a:avLst>
              <a:gd name="adj" fmla="val 10355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3050" y="4609624"/>
            <a:ext cx="91440" cy="1059656"/>
          </a:xfrm>
          <a:prstGeom prst="roundRect">
            <a:avLst>
              <a:gd name="adj" fmla="val 80834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83325" y="4808458"/>
            <a:ext cx="262235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User-Friendly &amp; Portable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83325" y="5188982"/>
            <a:ext cx="7445931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Develop a touchscreen GUI for non-experts and a low-cost, battery-powered design.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5910" y="5845254"/>
            <a:ext cx="7912179" cy="1059656"/>
          </a:xfrm>
          <a:prstGeom prst="roundRect">
            <a:avLst>
              <a:gd name="adj" fmla="val 10355"/>
            </a:avLst>
          </a:prstGeom>
          <a:solidFill>
            <a:srgbClr val="080E26"/>
          </a:solidFill>
          <a:ln w="2286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93050" y="5845254"/>
            <a:ext cx="91440" cy="1059656"/>
          </a:xfrm>
          <a:prstGeom prst="roundRect">
            <a:avLst>
              <a:gd name="adj" fmla="val 80834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3325" y="6044089"/>
            <a:ext cx="2936438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Comprehensive Assessment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83325" y="6424613"/>
            <a:ext cx="7445931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Integrate ECG with heart rate, SpO2, and temperature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5967174" y="692229"/>
            <a:ext cx="7272099" cy="42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Problem: Cardiac Diagnostic Challenges</a:t>
            </a:r>
            <a:endParaRPr lang="en-US" sz="2700" dirty="0"/>
          </a:p>
        </p:txBody>
      </p:sp>
      <p:sp>
        <p:nvSpPr>
          <p:cNvPr id="6" name="Shape 2"/>
          <p:cNvSpPr/>
          <p:nvPr/>
        </p:nvSpPr>
        <p:spPr>
          <a:xfrm>
            <a:off x="5967174" y="1327547"/>
            <a:ext cx="8182451" cy="1355884"/>
          </a:xfrm>
          <a:prstGeom prst="roundRect">
            <a:avLst>
              <a:gd name="adj" fmla="val 425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112073" y="1472446"/>
            <a:ext cx="412075" cy="412075"/>
          </a:xfrm>
          <a:prstGeom prst="roundRect">
            <a:avLst>
              <a:gd name="adj" fmla="val 22187916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5421" y="1585793"/>
            <a:ext cx="185380" cy="1853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12073" y="2021800"/>
            <a:ext cx="1717358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 Costs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112073" y="2318742"/>
            <a:ext cx="789265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Commercial ECG machines are unaffordable for small clinics.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967174" y="2820710"/>
            <a:ext cx="8182451" cy="1355884"/>
          </a:xfrm>
          <a:prstGeom prst="roundRect">
            <a:avLst>
              <a:gd name="adj" fmla="val 425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112073" y="2965609"/>
            <a:ext cx="412075" cy="412075"/>
          </a:xfrm>
          <a:prstGeom prst="roundRect">
            <a:avLst>
              <a:gd name="adj" fmla="val 22187916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5421" y="3078956"/>
            <a:ext cx="185380" cy="1853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12073" y="3514963"/>
            <a:ext cx="1717358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Lack of Expertise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112073" y="3811905"/>
            <a:ext cx="789265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Rural areas lack cardiologists, leading to misdiagnoses.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967174" y="4313873"/>
            <a:ext cx="8182451" cy="1355884"/>
          </a:xfrm>
          <a:prstGeom prst="roundRect">
            <a:avLst>
              <a:gd name="adj" fmla="val 425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6112073" y="4458772"/>
            <a:ext cx="412075" cy="412075"/>
          </a:xfrm>
          <a:prstGeom prst="roundRect">
            <a:avLst>
              <a:gd name="adj" fmla="val 22187916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5421" y="4572119"/>
            <a:ext cx="185380" cy="1853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12073" y="5008126"/>
            <a:ext cx="1858089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Real-Time Analysis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6112073" y="5305068"/>
            <a:ext cx="789265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Manual interpretation is time-consuming and error-prone.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5967174" y="5807035"/>
            <a:ext cx="8182451" cy="1355884"/>
          </a:xfrm>
          <a:prstGeom prst="roundRect">
            <a:avLst>
              <a:gd name="adj" fmla="val 425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112073" y="5951934"/>
            <a:ext cx="412075" cy="412075"/>
          </a:xfrm>
          <a:prstGeom prst="roundRect">
            <a:avLst>
              <a:gd name="adj" fmla="val 22187916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5421" y="6065282"/>
            <a:ext cx="185380" cy="1853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12073" y="6501289"/>
            <a:ext cx="1717358" cy="21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Limited Accessibility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112073" y="6798231"/>
            <a:ext cx="7892653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Remote patients struggle to reach hospitals for checks.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5967174" y="7317462"/>
            <a:ext cx="8182451" cy="219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HeartGuard AI provides an AI-driven, affordable ECG system to reduce healthcare disparities.</a:t>
            </a:r>
            <a:endParaRPr lang="en-US" sz="10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433AF-1E36-CD14-0359-ADF32B9DB705}"/>
              </a:ext>
            </a:extLst>
          </p:cNvPr>
          <p:cNvSpPr/>
          <p:nvPr/>
        </p:nvSpPr>
        <p:spPr>
          <a:xfrm>
            <a:off x="12817642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 descr="resolución de dudas o problemas. ilustración png 14432501 PNG">
            <a:extLst>
              <a:ext uri="{FF2B5EF4-FFF2-40B4-BE49-F238E27FC236}">
                <a16:creationId xmlns:a16="http://schemas.microsoft.com/office/drawing/2014/main" id="{3DDFD118-5CF9-6C89-4124-F432EE56B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46"/>
            <a:ext cx="5486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1747" y="1089541"/>
            <a:ext cx="7860506" cy="114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Project Scope: Functional &amp; Technical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1747" y="2693789"/>
            <a:ext cx="2750344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Functional Scope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641747" y="3220879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Patient registration &amp; ID generation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1747" y="3578423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ECG signal acquisition &amp;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1747" y="3935968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 analysis for disease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1747" y="4293513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 generation (PDF/SMS)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1747" y="4651058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Doctor review interface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1747" y="5008602"/>
            <a:ext cx="3706654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Follow-up reminders &amp; emergency protocols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03219" y="2693789"/>
            <a:ext cx="2750344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Technical Scope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803219" y="3220879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Sensor integration with Raspberry Pi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3219" y="3578423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Filtering algorithms &amp; ML models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03219" y="3935968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Python-based GUI &amp; database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03219" y="4293513"/>
            <a:ext cx="3706654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Power management for portability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1747" y="5934551"/>
            <a:ext cx="2750344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Target Users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641747" y="6553319"/>
            <a:ext cx="7860506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Rural clinics, primary healthcare centers, general practitioners, cardiologists, and patients requiring regular cardiac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818"/>
            <a:ext cx="93378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Methodology: System Architecture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90" y="2171105"/>
            <a:ext cx="4885014" cy="3329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89" y="5913001"/>
            <a:ext cx="11783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block diagram illustrates the HeartGuard AI system architecture, showing Raspberry Pi connected to sensors, processing pipeline, AI models, and output interfaces.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461794" y="2216393"/>
            <a:ext cx="375439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Raspberry Pi: The Core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8461794" y="295167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Signal acquisition &amp; processing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461794" y="3393877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AI model inference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461794" y="3836075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GUI &amp; database management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461794" y="4278273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 generation &amp; alerts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477836" y="4845248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Sensors connect via GPIO/ADC for data collection.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D35502-9C2C-D6A2-C446-C11334E72C91}"/>
              </a:ext>
            </a:extLst>
          </p:cNvPr>
          <p:cNvSpPr/>
          <p:nvPr/>
        </p:nvSpPr>
        <p:spPr>
          <a:xfrm>
            <a:off x="12817642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3384" y="648295"/>
            <a:ext cx="7870031" cy="113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Working Methodology: Step-by-Step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123384" y="1834122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123384" y="2120467"/>
            <a:ext cx="7870031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3384" y="2257151"/>
            <a:ext cx="301001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Initialization &amp; Registration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123384" y="2650652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Power on, load models, patient details input.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3384" y="3260252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3384" y="3546598"/>
            <a:ext cx="7870031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3384" y="3683281"/>
            <a:ext cx="3120271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ECG Recording &amp; Processing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23384" y="4076783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Electrode placement, 10-second recording, noise filtering, feature extraction.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23384" y="4686383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3384" y="4972728"/>
            <a:ext cx="7870031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3384" y="5109412"/>
            <a:ext cx="2590324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AI Analysis &amp; Reporting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123384" y="5502914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Run ML models for diagnosis, risk score, PDF/SMS report generation.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23384" y="6112514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3384" y="6398859"/>
            <a:ext cx="7870031" cy="22860"/>
          </a:xfrm>
          <a:prstGeom prst="rect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3384" y="6535543"/>
            <a:ext cx="297013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Doctor Review &amp; Follow-up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123384" y="6929044"/>
            <a:ext cx="7870031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Confirmation, notes, schedule reminders, historical tracking.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2A8A77-0070-14E9-9FA6-AF04FD34767C}"/>
              </a:ext>
            </a:extLst>
          </p:cNvPr>
          <p:cNvSpPr/>
          <p:nvPr/>
        </p:nvSpPr>
        <p:spPr>
          <a:xfrm>
            <a:off x="12817642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83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Technology Stack &amp; Components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428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Hardware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39494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Raspberry Pi 4 (4GB)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8371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AD8232 ECG Sensor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2793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MAX30102 Heart Rate + SpO2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72154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DHT22 Temperature Sensor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1637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7" Touchscreen Display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6059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Power Bank (20,000mAh)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274284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Software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4856321" y="339494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Python 3.9+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383714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Raspberry Pi OS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856321" y="42793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TensorFlow/Keras (ML)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856321" y="472154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SciPy/NumPy (Signal Processing)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4856321" y="55266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PyQt5 (GUI)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856321" y="59688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SQLite (Database)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856321" y="641103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ReportLab (PDF Generation)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93790" y="71083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Estimated Cost (Basic Version): </a:t>
            </a:r>
            <a:r>
              <a:rPr lang="en-US" sz="2400" b="1" dirty="0">
                <a:solidFill>
                  <a:srgbClr val="FFC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21,555 BDT</a:t>
            </a:r>
            <a:endParaRPr 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4560"/>
            <a:ext cx="96570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Expected Outcomes &amp; Future Vision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06968"/>
            <a:ext cx="4196358" cy="1685092"/>
          </a:xfrm>
          <a:prstGeom prst="roundRect">
            <a:avLst>
              <a:gd name="adj" fmla="val 323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2641402"/>
            <a:ext cx="30107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Affordable &amp; Accurate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13182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ECG analysis device with AI accuracy ≥ 95%.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406968"/>
            <a:ext cx="4196358" cy="1685092"/>
          </a:xfrm>
          <a:prstGeom prst="roundRect">
            <a:avLst>
              <a:gd name="adj" fmla="val 323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641402"/>
            <a:ext cx="34436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Life-Saving Interventions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13182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Potential for early detection and improved health outcomes.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406968"/>
            <a:ext cx="4196358" cy="1685092"/>
          </a:xfrm>
          <a:prstGeom prst="roundRect">
            <a:avLst>
              <a:gd name="adj" fmla="val 323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641402"/>
            <a:ext cx="3659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Cloud &amp; Mobile Integration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131820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Remote access and monitoring via mobile app.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318873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553307"/>
            <a:ext cx="39804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Advanced ML &amp; Telemedicine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043726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Multi-disease prediction and integration with telemedicine platforms.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318873"/>
            <a:ext cx="6407944" cy="1685092"/>
          </a:xfrm>
          <a:prstGeom prst="roundRect">
            <a:avLst>
              <a:gd name="adj" fmla="val 3230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5533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Miniaturization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043726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Future development for wearable devices.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2591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HeartGuard AI revolutionizes cardiac care by making ECG analysis accessible and intelligent, contributing to better health outcomes in Bangladesh.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82F804-696D-2D5C-4B9C-00CDAD8D85A2}"/>
              </a:ext>
            </a:extLst>
          </p:cNvPr>
          <p:cNvSpPr/>
          <p:nvPr/>
        </p:nvSpPr>
        <p:spPr>
          <a:xfrm>
            <a:off x="12817642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5ADABA-7185-D464-F87E-442F550CBE32}"/>
              </a:ext>
            </a:extLst>
          </p:cNvPr>
          <p:cNvSpPr/>
          <p:nvPr/>
        </p:nvSpPr>
        <p:spPr>
          <a:xfrm>
            <a:off x="12817642" y="7748337"/>
            <a:ext cx="1668379" cy="34802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bbon: Tilted Down 2">
            <a:extLst>
              <a:ext uri="{FF2B5EF4-FFF2-40B4-BE49-F238E27FC236}">
                <a16:creationId xmlns:a16="http://schemas.microsoft.com/office/drawing/2014/main" id="{30E984AA-4CFD-106C-DD6B-1C6D3C22F03F}"/>
              </a:ext>
            </a:extLst>
          </p:cNvPr>
          <p:cNvSpPr/>
          <p:nvPr/>
        </p:nvSpPr>
        <p:spPr>
          <a:xfrm>
            <a:off x="2943726" y="2265694"/>
            <a:ext cx="9577136" cy="3698212"/>
          </a:xfrm>
          <a:prstGeom prst="ribb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C3E17-C87E-B8B5-492D-8774F600C246}"/>
              </a:ext>
            </a:extLst>
          </p:cNvPr>
          <p:cNvSpPr txBox="1"/>
          <p:nvPr/>
        </p:nvSpPr>
        <p:spPr>
          <a:xfrm>
            <a:off x="5927558" y="2896105"/>
            <a:ext cx="36094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FFC000"/>
                </a:solidFill>
              </a:rPr>
              <a:t>Thank</a:t>
            </a:r>
            <a:r>
              <a:rPr lang="en-US" sz="9600" b="1" dirty="0"/>
              <a:t> </a:t>
            </a:r>
            <a:r>
              <a:rPr lang="en-US" sz="9600" b="1" dirty="0">
                <a:solidFill>
                  <a:srgbClr val="FFC000"/>
                </a:solidFill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95648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696</Words>
  <Application>Microsoft Office PowerPoint</Application>
  <PresentationFormat>Custom</PresentationFormat>
  <Paragraphs>118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Epilogue</vt:lpstr>
      <vt:lpstr>Fraunces Medium</vt:lpstr>
      <vt:lpstr>Fraunces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Nazmus Sakib</cp:lastModifiedBy>
  <cp:revision>4</cp:revision>
  <dcterms:created xsi:type="dcterms:W3CDTF">2026-01-25T16:58:33Z</dcterms:created>
  <dcterms:modified xsi:type="dcterms:W3CDTF">2026-01-25T17:15:24Z</dcterms:modified>
</cp:coreProperties>
</file>