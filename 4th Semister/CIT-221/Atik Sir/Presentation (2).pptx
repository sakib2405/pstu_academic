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notesMasterIdLst>
    <p:notesMasterId r:id="rId24"/>
  </p:notesMasterIdLst>
  <p:sldIdLst>
    <p:sldId id="258" r:id="rId2"/>
    <p:sldId id="256" r:id="rId3"/>
    <p:sldId id="280" r:id="rId4"/>
    <p:sldId id="279" r:id="rId5"/>
    <p:sldId id="257" r:id="rId6"/>
    <p:sldId id="281" r:id="rId7"/>
    <p:sldId id="267" r:id="rId8"/>
    <p:sldId id="282" r:id="rId9"/>
    <p:sldId id="268" r:id="rId10"/>
    <p:sldId id="260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63" r:id="rId22"/>
    <p:sldId id="26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Approximate Percentage Share (based on crop acreage)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Rice (Paddy)</c:v>
                </c:pt>
                <c:pt idx="1">
                  <c:v>Wheat</c:v>
                </c:pt>
                <c:pt idx="2">
                  <c:v>Jute</c:v>
                </c:pt>
                <c:pt idx="3">
                  <c:v>Rape and Mustard</c:v>
                </c:pt>
                <c:pt idx="4">
                  <c:v>Lentil</c:v>
                </c:pt>
                <c:pt idx="5">
                  <c:v>Chickling Vetch</c:v>
                </c:pt>
                <c:pt idx="6">
                  <c:v>Potato</c:v>
                </c:pt>
                <c:pt idx="7">
                  <c:v>Sugarcane</c:v>
                </c:pt>
                <c:pt idx="8">
                  <c:v>Chilli</c:v>
                </c:pt>
              </c:strCache>
            </c:strRef>
          </c:cat>
          <c:val>
            <c:numRef>
              <c:f>Sheet1!$B$2:$B$10</c:f>
              <c:numCache>
                <c:formatCode>0.00%</c:formatCode>
                <c:ptCount val="9"/>
                <c:pt idx="0">
                  <c:v>0.73939999999999995</c:v>
                </c:pt>
                <c:pt idx="1">
                  <c:v>4.4499999999999998E-2</c:v>
                </c:pt>
                <c:pt idx="2">
                  <c:v>3.9100000000000003E-2</c:v>
                </c:pt>
                <c:pt idx="3">
                  <c:v>3.0800000000000001E-2</c:v>
                </c:pt>
                <c:pt idx="4">
                  <c:v>1.54E-2</c:v>
                </c:pt>
                <c:pt idx="5">
                  <c:v>1.2500000000000001E-2</c:v>
                </c:pt>
                <c:pt idx="6">
                  <c:v>1.1299999999999999E-2</c:v>
                </c:pt>
                <c:pt idx="7">
                  <c:v>1.12E-2</c:v>
                </c:pt>
                <c:pt idx="8">
                  <c:v>1.0500000000000001E-2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67-4750-A9CF-2A2CE9A793D3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8486A-2A7A-41E5-ADFE-10CE5E37D192}" type="datetimeFigureOut">
              <a:rPr lang="en-GB" smtClean="0"/>
              <a:t>24/06/2025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A831B-4D99-4923-A232-C4E7F45570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662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A831B-4D99-4923-A232-C4E7F455706A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825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18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1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2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46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04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482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51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70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7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58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0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23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45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0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932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62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88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B8F4883-8607-42C3-A271-2AF41235018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44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9DF9FD-E140-46E5-2088-6DAD119FB70B}"/>
              </a:ext>
            </a:extLst>
          </p:cNvPr>
          <p:cNvSpPr txBox="1"/>
          <p:nvPr/>
        </p:nvSpPr>
        <p:spPr>
          <a:xfrm>
            <a:off x="1879600" y="2507181"/>
            <a:ext cx="3543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Name: Mehedi Hasan</a:t>
            </a:r>
            <a:endParaRPr lang="en-US" sz="18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ID No: 2102007</a:t>
            </a:r>
            <a:endParaRPr lang="en-US" sz="18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Reg No: 10134</a:t>
            </a:r>
            <a:endParaRPr lang="en-US" sz="18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Session: 2021-22</a:t>
            </a:r>
          </a:p>
          <a:p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Level-II, Semester-II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91A5D8-A3F2-70B3-3841-2642CC0C49B9}"/>
              </a:ext>
            </a:extLst>
          </p:cNvPr>
          <p:cNvSpPr txBox="1"/>
          <p:nvPr/>
        </p:nvSpPr>
        <p:spPr>
          <a:xfrm>
            <a:off x="8229600" y="2359434"/>
            <a:ext cx="38989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Name: Md. Afridi </a:t>
            </a:r>
            <a:r>
              <a:rPr lang="en-US" sz="1800" b="1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Alom</a:t>
            </a: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Pranto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ID No: 2102027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Reg No: 10154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Session: 2021-22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Level-II, Semester-II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806178-B74E-62E4-3B4B-9DBCF4937959}"/>
              </a:ext>
            </a:extLst>
          </p:cNvPr>
          <p:cNvSpPr txBox="1"/>
          <p:nvPr/>
        </p:nvSpPr>
        <p:spPr>
          <a:xfrm>
            <a:off x="5029200" y="444588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Name: Nazmus Sakib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ID No: 2102066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Reg No: 10193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Session: 2021-22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Level-II, Semester-II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6580286-5C85-9A28-642C-A860BEA16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500" y="444500"/>
            <a:ext cx="1905001" cy="192189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1844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56017A2-2CBB-5663-F348-43D898328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8309" y="306352"/>
            <a:ext cx="1921891" cy="192189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8466F5C-D11C-53B3-B5FC-81F03D3DE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900" y="2507181"/>
            <a:ext cx="1981200" cy="188790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3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65154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1852CE-CDB7-90EB-80A9-7A94C33B1455}"/>
              </a:ext>
            </a:extLst>
          </p:cNvPr>
          <p:cNvSpPr txBox="1"/>
          <p:nvPr/>
        </p:nvSpPr>
        <p:spPr>
          <a:xfrm>
            <a:off x="2259656" y="1554764"/>
            <a:ext cx="906526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Industry Type: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Auto Rice Mill</a:t>
            </a:r>
            <a:endParaRPr lang="en-US" sz="24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Visited Industry Name: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Kohinoor Auto Rice Limited</a:t>
            </a:r>
            <a:endParaRPr lang="en-US" sz="24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Location:</a:t>
            </a:r>
            <a:b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House: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Purbo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Sharikkhali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Bashak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Bazar,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Upazila: Patuakhali Sadar,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District: Patuakhali,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Division: Barisal.</a:t>
            </a:r>
            <a:endParaRPr lang="en-US" sz="24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Number of Total Workers: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45</a:t>
            </a:r>
            <a:endParaRPr lang="en-US" sz="2400" b="0" dirty="0">
              <a:effectLst/>
            </a:endParaRPr>
          </a:p>
          <a:p>
            <a:pPr algn="ctr"/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03868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C637BC-53E2-0F92-7289-DEEEFF3AAB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b="6324"/>
          <a:stretch/>
        </p:blipFill>
        <p:spPr>
          <a:xfrm>
            <a:off x="178632" y="1496560"/>
            <a:ext cx="5525881" cy="4335042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3DEE3A-8145-BCE3-A5A0-D9A775DE24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34482" y="1610438"/>
            <a:ext cx="5831287" cy="410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77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F37AA1-3654-9C10-860B-2CD32FEDE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67" b="12016"/>
          <a:stretch/>
        </p:blipFill>
        <p:spPr>
          <a:xfrm>
            <a:off x="822090" y="2587176"/>
            <a:ext cx="3661845" cy="42708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9735AB-3C23-62E0-5306-28DD76425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6324" y="82495"/>
            <a:ext cx="2467107" cy="32792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4EB6B2-DD05-CE33-6BEE-59A3A78E8E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1" t="-17737" r="8965" b="17737"/>
          <a:stretch/>
        </p:blipFill>
        <p:spPr>
          <a:xfrm>
            <a:off x="4801973" y="2768782"/>
            <a:ext cx="3996889" cy="3839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444EE3-22DD-4802-607B-5D1E4326B7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15" y="82495"/>
            <a:ext cx="4277970" cy="24063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57C922-503D-168C-58C2-169F3D2503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699" y="258057"/>
            <a:ext cx="3194633" cy="567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1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6C5D991-37D4-9206-0BE7-E6B05B217939}"/>
              </a:ext>
            </a:extLst>
          </p:cNvPr>
          <p:cNvSpPr txBox="1"/>
          <p:nvPr/>
        </p:nvSpPr>
        <p:spPr>
          <a:xfrm>
            <a:off x="1536700" y="902772"/>
            <a:ext cx="106553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 Problem Identification</a:t>
            </a:r>
            <a:endParaRPr lang="en-US" sz="20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Through interviews with staff and observation of current workflows, we identified the following key problems:</a:t>
            </a:r>
            <a:endParaRPr lang="en-US" sz="2000" b="0" dirty="0">
              <a:effectLst/>
            </a:endParaRP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Manual Record Keeping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Inventory records are maintained on paper or in basic spreadsheets, leading to errors, duplication, and data loss.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Lack of Real-time Inventory Updates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There is no system to update inventory in real-time as rice is processed, packaged, or shipped.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Poor Traceability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Tracking of raw materials, processing batches, and final products is difficult due to disjointed records.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Inefficient Reporting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Generating reports for stock, production, and sales takes considerable time and often lacks accuracy.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 Centralized System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Data is siloed across departments without centralized access or integration.</a:t>
            </a:r>
          </a:p>
        </p:txBody>
      </p:sp>
    </p:spTree>
    <p:extLst>
      <p:ext uri="{BB962C8B-B14F-4D97-AF65-F5344CB8AC3E}">
        <p14:creationId xmlns:p14="http://schemas.microsoft.com/office/powerpoint/2010/main" val="8723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28009-BFCB-50B1-31D0-D3AE69EF6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533" y="516685"/>
            <a:ext cx="10018711" cy="566738"/>
          </a:xfrm>
        </p:spPr>
        <p:txBody>
          <a:bodyPr>
            <a:noAutofit/>
          </a:bodyPr>
          <a:lstStyle/>
          <a:p>
            <a:r>
              <a:rPr lang="en-GB" sz="3600" dirty="0"/>
              <a:t>Feasibility Analysis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C336107-10DA-B09C-F0FD-A043A0F4AC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1764149"/>
              </p:ext>
            </p:extLst>
          </p:nvPr>
        </p:nvGraphicFramePr>
        <p:xfrm>
          <a:off x="6277664" y="1607736"/>
          <a:ext cx="5584651" cy="4450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628A2FE-ED9F-08AC-1421-82BA7B8F2A36}"/>
              </a:ext>
            </a:extLst>
          </p:cNvPr>
          <p:cNvSpPr txBox="1"/>
          <p:nvPr/>
        </p:nvSpPr>
        <p:spPr>
          <a:xfrm>
            <a:off x="1557495" y="1497204"/>
            <a:ext cx="46925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A report from 2021 mentions over </a:t>
            </a:r>
            <a:r>
              <a:rPr lang="en-GB" sz="2400" b="1" dirty="0">
                <a:solidFill>
                  <a:srgbClr val="FF0000"/>
                </a:solidFill>
              </a:rPr>
              <a:t>18,700</a:t>
            </a:r>
            <a:r>
              <a:rPr lang="en-GB" sz="2400" dirty="0"/>
              <a:t> rice mills in total (including public and private).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The total business market for Auto Rice Mills in Bangladesh is estimated at ৳500 billion per year.</a:t>
            </a:r>
          </a:p>
        </p:txBody>
      </p:sp>
    </p:spTree>
    <p:extLst>
      <p:ext uri="{BB962C8B-B14F-4D97-AF65-F5344CB8AC3E}">
        <p14:creationId xmlns:p14="http://schemas.microsoft.com/office/powerpoint/2010/main" val="3958520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1F031B-7EC2-E8A1-C44E-A5E60273DA32}"/>
              </a:ext>
            </a:extLst>
          </p:cNvPr>
          <p:cNvSpPr txBox="1"/>
          <p:nvPr/>
        </p:nvSpPr>
        <p:spPr>
          <a:xfrm>
            <a:off x="4420925" y="143122"/>
            <a:ext cx="6814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Our Business policy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EE46F6-762F-32B1-1244-EDC60A81F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11001">
            <a:off x="1522176" y="600015"/>
            <a:ext cx="2088361" cy="13914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2C3AA4-6C18-C88E-45F3-F96FE6D34877}"/>
              </a:ext>
            </a:extLst>
          </p:cNvPr>
          <p:cNvSpPr txBox="1"/>
          <p:nvPr/>
        </p:nvSpPr>
        <p:spPr>
          <a:xfrm>
            <a:off x="3784567" y="1393168"/>
            <a:ext cx="4293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software is absolutely free ! </a:t>
            </a:r>
          </a:p>
        </p:txBody>
      </p:sp>
      <p:pic>
        <p:nvPicPr>
          <p:cNvPr id="7" name="Graphic 6" descr="Face with heart eyes">
            <a:extLst>
              <a:ext uri="{FF2B5EF4-FFF2-40B4-BE49-F238E27FC236}">
                <a16:creationId xmlns:a16="http://schemas.microsoft.com/office/drawing/2014/main" id="{7338CBBC-6F4D-D419-2A07-4B4A81785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2222" y="917657"/>
            <a:ext cx="1311673" cy="1386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4A8C5B-E537-2D68-8231-03996113A7D8}"/>
              </a:ext>
            </a:extLst>
          </p:cNvPr>
          <p:cNvSpPr txBox="1"/>
          <p:nvPr/>
        </p:nvSpPr>
        <p:spPr>
          <a:xfrm>
            <a:off x="4420925" y="2366215"/>
            <a:ext cx="4500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💼 Revenue Summary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99F125-CE09-04B6-73B1-4BE90F4AEEFB}"/>
              </a:ext>
            </a:extLst>
          </p:cNvPr>
          <p:cNvSpPr txBox="1"/>
          <p:nvPr/>
        </p:nvSpPr>
        <p:spPr>
          <a:xfrm>
            <a:off x="3290824" y="3006241"/>
            <a:ext cx="830911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/>
              </a:rPr>
              <a:t>✅ Charge per Ton: 100 Tk</a:t>
            </a:r>
          </a:p>
          <a:p>
            <a:r>
              <a:rPr lang="en-US" sz="2000" dirty="0">
                <a:latin typeface="Calibri"/>
              </a:rPr>
              <a:t>✅ Monthly Processed Quantity: 35 – 45 tons</a:t>
            </a:r>
          </a:p>
          <a:p>
            <a:r>
              <a:rPr lang="en-US" sz="2000" dirty="0">
                <a:latin typeface="Calibri"/>
              </a:rPr>
              <a:t>✅ Average Processed Quantity: 40 tons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📅 Monthly Earnings:</a:t>
            </a:r>
          </a:p>
          <a:p>
            <a:r>
              <a:rPr lang="en-US" sz="2000" dirty="0">
                <a:latin typeface="Calibri"/>
              </a:rPr>
              <a:t>40 tons × 100 Tk = 4,000 Tk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📈 Yearly Earnings:</a:t>
            </a:r>
          </a:p>
          <a:p>
            <a:r>
              <a:rPr lang="en-US" sz="2000" dirty="0">
                <a:latin typeface="Calibri"/>
              </a:rPr>
              <a:t>4,000 Tk × 12 = 48,000 Tk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*This is the earning summary from only one Auto-Rice Mill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199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Woman holding sign">
            <a:extLst>
              <a:ext uri="{FF2B5EF4-FFF2-40B4-BE49-F238E27FC236}">
                <a16:creationId xmlns:a16="http://schemas.microsoft.com/office/drawing/2014/main" id="{CB389A42-9E2B-06E0-ABFB-1461B04B3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828" y="-99391"/>
            <a:ext cx="4153728" cy="73442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C9AD5B-DCCE-1C5E-D4AE-4AFBEAE65E89}"/>
              </a:ext>
            </a:extLst>
          </p:cNvPr>
          <p:cNvSpPr txBox="1"/>
          <p:nvPr/>
        </p:nvSpPr>
        <p:spPr>
          <a:xfrm>
            <a:off x="629892" y="1490008"/>
            <a:ext cx="3657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>
                <a:solidFill>
                  <a:srgbClr val="FF0000"/>
                </a:solidFill>
              </a:rPr>
              <a:t>Our </a:t>
            </a:r>
          </a:p>
          <a:p>
            <a:pPr algn="ctr"/>
            <a:r>
              <a:rPr lang="en-GB" sz="6000" b="1" dirty="0">
                <a:solidFill>
                  <a:srgbClr val="FF0000"/>
                </a:solidFill>
              </a:rPr>
              <a:t>Target</a:t>
            </a:r>
          </a:p>
        </p:txBody>
      </p:sp>
      <p:pic>
        <p:nvPicPr>
          <p:cNvPr id="7" name="Graphic 6" descr="A lightbulb">
            <a:extLst>
              <a:ext uri="{FF2B5EF4-FFF2-40B4-BE49-F238E27FC236}">
                <a16:creationId xmlns:a16="http://schemas.microsoft.com/office/drawing/2014/main" id="{19865B2F-B6BB-D47D-BFC8-41275B0A4D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4922" y="214914"/>
            <a:ext cx="1845365" cy="18453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2D6E00-3016-2F15-DCE3-AB3E388B0287}"/>
              </a:ext>
            </a:extLst>
          </p:cNvPr>
          <p:cNvSpPr txBox="1"/>
          <p:nvPr/>
        </p:nvSpPr>
        <p:spPr>
          <a:xfrm>
            <a:off x="5979497" y="1137596"/>
            <a:ext cx="5247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Our goal is to reach </a:t>
            </a:r>
            <a:r>
              <a:rPr lang="en-GB" sz="2400" b="1" dirty="0">
                <a:solidFill>
                  <a:srgbClr val="FF0000"/>
                </a:solidFill>
              </a:rPr>
              <a:t>5,000</a:t>
            </a:r>
            <a:r>
              <a:rPr lang="en-GB" sz="2400" dirty="0"/>
              <a:t> auto rice mills out of the </a:t>
            </a:r>
            <a:r>
              <a:rPr lang="en-GB" sz="2400" b="1" dirty="0">
                <a:solidFill>
                  <a:srgbClr val="FF0000"/>
                </a:solidFill>
              </a:rPr>
              <a:t>18,700</a:t>
            </a:r>
            <a:r>
              <a:rPr lang="en-GB" sz="2400" dirty="0"/>
              <a:t> currently in operation across Bangladesh.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2763E6-6046-44A2-554F-D9BD592A75FD}"/>
              </a:ext>
            </a:extLst>
          </p:cNvPr>
          <p:cNvSpPr txBox="1"/>
          <p:nvPr/>
        </p:nvSpPr>
        <p:spPr>
          <a:xfrm>
            <a:off x="6166338" y="3927324"/>
            <a:ext cx="57141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Estimated total annual income</a:t>
            </a:r>
          </a:p>
          <a:p>
            <a:endParaRPr lang="en-GB" sz="2400" dirty="0"/>
          </a:p>
          <a:p>
            <a:r>
              <a:rPr lang="en-GB" sz="3600" b="1" dirty="0">
                <a:solidFill>
                  <a:srgbClr val="FF0000"/>
                </a:solidFill>
              </a:rPr>
              <a:t>48,000 X5,000 = 240 Million</a:t>
            </a:r>
          </a:p>
        </p:txBody>
      </p:sp>
      <p:pic>
        <p:nvPicPr>
          <p:cNvPr id="16" name="Picture 15" descr="A person wearing a hat and glasses holding a fan of money&#10;&#10;AI-generated content may be incorrect.">
            <a:extLst>
              <a:ext uri="{FF2B5EF4-FFF2-40B4-BE49-F238E27FC236}">
                <a16:creationId xmlns:a16="http://schemas.microsoft.com/office/drawing/2014/main" id="{F1516C56-A070-1AFD-EA68-1BDA280F68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446" y="3927324"/>
            <a:ext cx="4572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208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69F56C-75D2-2420-BFB9-084236B27A42}"/>
              </a:ext>
            </a:extLst>
          </p:cNvPr>
          <p:cNvSpPr txBox="1"/>
          <p:nvPr/>
        </p:nvSpPr>
        <p:spPr>
          <a:xfrm>
            <a:off x="4715123" y="480158"/>
            <a:ext cx="6361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Why People Take Our Solution?</a:t>
            </a:r>
          </a:p>
        </p:txBody>
      </p:sp>
      <p:pic>
        <p:nvPicPr>
          <p:cNvPr id="4" name="Picture 3" descr="Businessman shrugging">
            <a:extLst>
              <a:ext uri="{FF2B5EF4-FFF2-40B4-BE49-F238E27FC236}">
                <a16:creationId xmlns:a16="http://schemas.microsoft.com/office/drawing/2014/main" id="{0443A29F-5120-BE44-6830-465072B0B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666" y="564541"/>
            <a:ext cx="2417508" cy="54100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0CA954-D51E-898C-E221-2ED45FD9092E}"/>
              </a:ext>
            </a:extLst>
          </p:cNvPr>
          <p:cNvSpPr txBox="1"/>
          <p:nvPr/>
        </p:nvSpPr>
        <p:spPr>
          <a:xfrm>
            <a:off x="1407380" y="1759448"/>
            <a:ext cx="6488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Visit and Talk with The Administrative Body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5B7D32-4E35-A853-F8CF-D62969651F85}"/>
              </a:ext>
            </a:extLst>
          </p:cNvPr>
          <p:cNvSpPr txBox="1"/>
          <p:nvPr/>
        </p:nvSpPr>
        <p:spPr>
          <a:xfrm>
            <a:off x="5788238" y="2874854"/>
            <a:ext cx="3694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Explain and Demonstrate</a:t>
            </a:r>
            <a:r>
              <a:rPr lang="en-US" sz="2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FC0F6B-62D6-0FA7-65F4-8535C543F299}"/>
              </a:ext>
            </a:extLst>
          </p:cNvPr>
          <p:cNvSpPr txBox="1"/>
          <p:nvPr/>
        </p:nvSpPr>
        <p:spPr>
          <a:xfrm>
            <a:off x="6970333" y="4154144"/>
            <a:ext cx="2512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Convince and Sell</a:t>
            </a:r>
          </a:p>
        </p:txBody>
      </p:sp>
    </p:spTree>
    <p:extLst>
      <p:ext uri="{BB962C8B-B14F-4D97-AF65-F5344CB8AC3E}">
        <p14:creationId xmlns:p14="http://schemas.microsoft.com/office/powerpoint/2010/main" val="3116375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337A8D-3858-AAEF-53DD-BEAF4397C7E4}"/>
              </a:ext>
            </a:extLst>
          </p:cNvPr>
          <p:cNvSpPr txBox="1"/>
          <p:nvPr/>
        </p:nvSpPr>
        <p:spPr>
          <a:xfrm>
            <a:off x="1949450" y="318533"/>
            <a:ext cx="8293100" cy="311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Target Users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Inventory Managers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Production Supervisors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Sales and Dispatch Officers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Administrative Staff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DCFD34-5A4E-B59B-08B6-2CE2A0A3F7A5}"/>
              </a:ext>
            </a:extLst>
          </p:cNvPr>
          <p:cNvSpPr txBox="1"/>
          <p:nvPr/>
        </p:nvSpPr>
        <p:spPr>
          <a:xfrm>
            <a:off x="1949450" y="3571477"/>
            <a:ext cx="8604250" cy="311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 Platform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Programming Language</a:t>
            </a: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C#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Framework</a:t>
            </a: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.NET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SQL-Server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36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4C6573-08B3-1F33-28BD-7EF3260C0F5B}"/>
              </a:ext>
            </a:extLst>
          </p:cNvPr>
          <p:cNvSpPr txBox="1"/>
          <p:nvPr/>
        </p:nvSpPr>
        <p:spPr>
          <a:xfrm>
            <a:off x="4532243" y="357809"/>
            <a:ext cx="568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Features of Our Software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C39BF-96EA-F387-2D03-F802F5296683}"/>
              </a:ext>
            </a:extLst>
          </p:cNvPr>
          <p:cNvSpPr txBox="1"/>
          <p:nvPr/>
        </p:nvSpPr>
        <p:spPr>
          <a:xfrm>
            <a:off x="1518700" y="1138061"/>
            <a:ext cx="416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Authentication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B0BCB-BF8D-095A-61A8-9A544C140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8313"/>
            <a:ext cx="5685183" cy="32080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54C960-1D5F-7AD6-32CF-DDEF3AB0C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624" y="1898871"/>
            <a:ext cx="5824670" cy="322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45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578B63-FC1C-72B5-0F85-27E7337C3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513" y="1120693"/>
            <a:ext cx="9695935" cy="5138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3433A0-0469-8ACC-A61E-D8BCF9F5ECAD}"/>
              </a:ext>
            </a:extLst>
          </p:cNvPr>
          <p:cNvSpPr txBox="1"/>
          <p:nvPr/>
        </p:nvSpPr>
        <p:spPr>
          <a:xfrm>
            <a:off x="5634682" y="409317"/>
            <a:ext cx="4926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Admin Panel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A9B733-AD57-F0F8-1AF5-3EF61DB0B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513" y="755434"/>
            <a:ext cx="10338487" cy="569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45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E44588-711F-365C-2F59-8FD0C09A9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043" y="482017"/>
            <a:ext cx="9997244" cy="589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861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0CD01D-1E0F-23BD-D258-1C05B558A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215" y="469128"/>
            <a:ext cx="9934305" cy="57759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A1131D-FDA1-C023-C86E-F6F6A6886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215" y="469128"/>
            <a:ext cx="10216498" cy="577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691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416186-6A95-C9EB-F0DD-DA74888C4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027" y="341906"/>
            <a:ext cx="8906103" cy="59634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5C2248-15F8-9D19-6612-5BD3DCAB2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026" y="216395"/>
            <a:ext cx="9685722" cy="640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22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3C3DAB-7219-07AD-51B8-5FE692821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715" y="540689"/>
            <a:ext cx="9581991" cy="54604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F45D3D-E053-4F31-1A4A-D3368CC26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488" y="409555"/>
            <a:ext cx="10438433" cy="600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908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B52EDF-FF12-2D94-8B07-5147005B8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444" y="405517"/>
            <a:ext cx="9373895" cy="55793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2A8D68-693B-7B5A-1464-4697D11D5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0788" y="337930"/>
            <a:ext cx="10093417" cy="606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246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6319E7-EBCC-3185-5DC6-F11C3F550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796" y="345560"/>
            <a:ext cx="10593788" cy="56348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973700-9C9D-6E98-D0E4-D38F46905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159" y="178903"/>
            <a:ext cx="10863435" cy="631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942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37FAB2-582E-3BE4-FF30-3C97790C0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80" y="358072"/>
            <a:ext cx="10119755" cy="545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403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2924FC-BDD8-E728-5FF3-DFC3CB804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8" y="1567357"/>
            <a:ext cx="5681244" cy="39748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0AFAB7-985C-516A-FEDC-BC951FF92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2681"/>
            <a:ext cx="8023585" cy="4807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851B0A-4ABE-D567-9FE8-42BEAFEC7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027" y="1289807"/>
            <a:ext cx="5502965" cy="380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03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D90991-6617-B604-5257-0497427C344B}"/>
              </a:ext>
            </a:extLst>
          </p:cNvPr>
          <p:cNvSpPr txBox="1"/>
          <p:nvPr/>
        </p:nvSpPr>
        <p:spPr>
          <a:xfrm>
            <a:off x="1892300" y="555296"/>
            <a:ext cx="10083800" cy="574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3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Outcome and Benefits</a:t>
            </a:r>
            <a:endParaRPr lang="en-US" sz="20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will bring the following benefits to Kohinoor Auto Rice Limited:</a:t>
            </a:r>
            <a:endParaRPr lang="en-US" sz="20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Reduced Manual Errors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Faster Decision Making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Improved Operational Visibility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Better Resource Planning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Enhanced Traceability and Accountability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215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C69402-0F91-5655-D9C4-171B595E5B84}"/>
              </a:ext>
            </a:extLst>
          </p:cNvPr>
          <p:cNvSpPr txBox="1"/>
          <p:nvPr/>
        </p:nvSpPr>
        <p:spPr>
          <a:xfrm>
            <a:off x="2628900" y="1892299"/>
            <a:ext cx="81788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/>
              <a:t>Thank</a:t>
            </a:r>
          </a:p>
          <a:p>
            <a:pPr algn="ctr"/>
            <a:r>
              <a:rPr lang="en-US" sz="11500" b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6979614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219</TotalTime>
  <Words>466</Words>
  <Application>Microsoft Office PowerPoint</Application>
  <PresentationFormat>Widescreen</PresentationFormat>
  <Paragraphs>81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Corbel</vt:lpstr>
      <vt:lpstr>Symbol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Feasibility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Nazmus Sakib</dc:creator>
  <cp:lastModifiedBy>Afridi Alom Pranto</cp:lastModifiedBy>
  <cp:revision>11</cp:revision>
  <dcterms:created xsi:type="dcterms:W3CDTF">2025-06-22T15:45:49Z</dcterms:created>
  <dcterms:modified xsi:type="dcterms:W3CDTF">2025-06-24T04:36:45Z</dcterms:modified>
</cp:coreProperties>
</file>